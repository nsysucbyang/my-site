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9"/>
  </p:notesMasterIdLst>
  <p:sldIdLst>
    <p:sldId id="256" r:id="rId2"/>
    <p:sldId id="265" r:id="rId3"/>
    <p:sldId id="322" r:id="rId4"/>
    <p:sldId id="323" r:id="rId5"/>
    <p:sldId id="324" r:id="rId6"/>
    <p:sldId id="325" r:id="rId7"/>
    <p:sldId id="321" r:id="rId8"/>
    <p:sldId id="326" r:id="rId9"/>
    <p:sldId id="327" r:id="rId10"/>
    <p:sldId id="328" r:id="rId11"/>
    <p:sldId id="329" r:id="rId12"/>
    <p:sldId id="330" r:id="rId13"/>
    <p:sldId id="331" r:id="rId14"/>
    <p:sldId id="332" r:id="rId15"/>
    <p:sldId id="333" r:id="rId16"/>
    <p:sldId id="291" r:id="rId17"/>
    <p:sldId id="334"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F8F"/>
    <a:srgbClr val="79FF8C"/>
    <a:srgbClr val="57FF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95" autoAdjust="0"/>
    <p:restoredTop sz="89286" autoAdjust="0"/>
  </p:normalViewPr>
  <p:slideViewPr>
    <p:cSldViewPr snapToGrid="0" snapToObjects="1">
      <p:cViewPr varScale="1">
        <p:scale>
          <a:sx n="58" d="100"/>
          <a:sy n="58" d="100"/>
        </p:scale>
        <p:origin x="95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87B1E-D7BB-234A-BB61-4186E7CB5889}" type="datetimeFigureOut">
              <a:rPr kumimoji="1" lang="zh-TW" altLang="en-US" smtClean="0"/>
              <a:t>2024/4/30</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56A01-BB7F-2749-98D2-EC6EAA37179B}" type="slidenum">
              <a:rPr kumimoji="1" lang="zh-TW" altLang="en-US" smtClean="0"/>
              <a:t>‹#›</a:t>
            </a:fld>
            <a:endParaRPr kumimoji="1" lang="zh-TW" altLang="en-US"/>
          </a:p>
        </p:txBody>
      </p:sp>
    </p:spTree>
    <p:extLst>
      <p:ext uri="{BB962C8B-B14F-4D97-AF65-F5344CB8AC3E}">
        <p14:creationId xmlns:p14="http://schemas.microsoft.com/office/powerpoint/2010/main" val="13944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2</a:t>
            </a:fld>
            <a:endParaRPr kumimoji="1" lang="zh-TW" altLang="en-US"/>
          </a:p>
        </p:txBody>
      </p:sp>
    </p:spTree>
    <p:extLst>
      <p:ext uri="{BB962C8B-B14F-4D97-AF65-F5344CB8AC3E}">
        <p14:creationId xmlns:p14="http://schemas.microsoft.com/office/powerpoint/2010/main" val="681718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3</a:t>
            </a:fld>
            <a:endParaRPr kumimoji="1" lang="zh-TW" altLang="en-US"/>
          </a:p>
        </p:txBody>
      </p:sp>
    </p:spTree>
    <p:extLst>
      <p:ext uri="{BB962C8B-B14F-4D97-AF65-F5344CB8AC3E}">
        <p14:creationId xmlns:p14="http://schemas.microsoft.com/office/powerpoint/2010/main" val="984507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4</a:t>
            </a:fld>
            <a:endParaRPr kumimoji="1" lang="zh-TW" altLang="en-US"/>
          </a:p>
        </p:txBody>
      </p:sp>
    </p:spTree>
    <p:extLst>
      <p:ext uri="{BB962C8B-B14F-4D97-AF65-F5344CB8AC3E}">
        <p14:creationId xmlns:p14="http://schemas.microsoft.com/office/powerpoint/2010/main" val="2798471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5</a:t>
            </a:fld>
            <a:endParaRPr kumimoji="1" lang="zh-TW" altLang="en-US"/>
          </a:p>
        </p:txBody>
      </p:sp>
    </p:spTree>
    <p:extLst>
      <p:ext uri="{BB962C8B-B14F-4D97-AF65-F5344CB8AC3E}">
        <p14:creationId xmlns:p14="http://schemas.microsoft.com/office/powerpoint/2010/main" val="3944340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6</a:t>
            </a:fld>
            <a:endParaRPr kumimoji="1" lang="zh-TW" altLang="en-US"/>
          </a:p>
        </p:txBody>
      </p:sp>
    </p:spTree>
    <p:extLst>
      <p:ext uri="{BB962C8B-B14F-4D97-AF65-F5344CB8AC3E}">
        <p14:creationId xmlns:p14="http://schemas.microsoft.com/office/powerpoint/2010/main" val="1258119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7</a:t>
            </a:fld>
            <a:endParaRPr kumimoji="1" lang="zh-TW" altLang="en-US"/>
          </a:p>
        </p:txBody>
      </p:sp>
    </p:spTree>
    <p:extLst>
      <p:ext uri="{BB962C8B-B14F-4D97-AF65-F5344CB8AC3E}">
        <p14:creationId xmlns:p14="http://schemas.microsoft.com/office/powerpoint/2010/main" val="130765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9</a:t>
            </a:fld>
            <a:endParaRPr kumimoji="1" lang="zh-TW" altLang="en-US"/>
          </a:p>
        </p:txBody>
      </p:sp>
    </p:spTree>
    <p:extLst>
      <p:ext uri="{BB962C8B-B14F-4D97-AF65-F5344CB8AC3E}">
        <p14:creationId xmlns:p14="http://schemas.microsoft.com/office/powerpoint/2010/main" val="1293081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10</a:t>
            </a:fld>
            <a:endParaRPr kumimoji="1" lang="zh-TW" altLang="en-US"/>
          </a:p>
        </p:txBody>
      </p:sp>
    </p:spTree>
    <p:extLst>
      <p:ext uri="{BB962C8B-B14F-4D97-AF65-F5344CB8AC3E}">
        <p14:creationId xmlns:p14="http://schemas.microsoft.com/office/powerpoint/2010/main" val="2129707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11</a:t>
            </a:fld>
            <a:endParaRPr kumimoji="1" lang="zh-TW" altLang="en-US"/>
          </a:p>
        </p:txBody>
      </p:sp>
    </p:spTree>
    <p:extLst>
      <p:ext uri="{BB962C8B-B14F-4D97-AF65-F5344CB8AC3E}">
        <p14:creationId xmlns:p14="http://schemas.microsoft.com/office/powerpoint/2010/main" val="628171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12</a:t>
            </a:fld>
            <a:endParaRPr kumimoji="1" lang="zh-TW" altLang="en-US"/>
          </a:p>
        </p:txBody>
      </p:sp>
    </p:spTree>
    <p:extLst>
      <p:ext uri="{BB962C8B-B14F-4D97-AF65-F5344CB8AC3E}">
        <p14:creationId xmlns:p14="http://schemas.microsoft.com/office/powerpoint/2010/main" val="763338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13</a:t>
            </a:fld>
            <a:endParaRPr kumimoji="1" lang="zh-TW" altLang="en-US"/>
          </a:p>
        </p:txBody>
      </p:sp>
    </p:spTree>
    <p:extLst>
      <p:ext uri="{BB962C8B-B14F-4D97-AF65-F5344CB8AC3E}">
        <p14:creationId xmlns:p14="http://schemas.microsoft.com/office/powerpoint/2010/main" val="3720629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14</a:t>
            </a:fld>
            <a:endParaRPr kumimoji="1" lang="zh-TW" altLang="en-US"/>
          </a:p>
        </p:txBody>
      </p:sp>
    </p:spTree>
    <p:extLst>
      <p:ext uri="{BB962C8B-B14F-4D97-AF65-F5344CB8AC3E}">
        <p14:creationId xmlns:p14="http://schemas.microsoft.com/office/powerpoint/2010/main" val="27672961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15</a:t>
            </a:fld>
            <a:endParaRPr kumimoji="1" lang="zh-TW" altLang="en-US"/>
          </a:p>
        </p:txBody>
      </p:sp>
    </p:spTree>
    <p:extLst>
      <p:ext uri="{BB962C8B-B14F-4D97-AF65-F5344CB8AC3E}">
        <p14:creationId xmlns:p14="http://schemas.microsoft.com/office/powerpoint/2010/main" val="552956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16</a:t>
            </a:fld>
            <a:endParaRPr kumimoji="1" lang="zh-TW" altLang="en-US"/>
          </a:p>
        </p:txBody>
      </p:sp>
    </p:spTree>
    <p:extLst>
      <p:ext uri="{BB962C8B-B14F-4D97-AF65-F5344CB8AC3E}">
        <p14:creationId xmlns:p14="http://schemas.microsoft.com/office/powerpoint/2010/main" val="3605535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17</a:t>
            </a:fld>
            <a:endParaRPr kumimoji="1" lang="zh-TW" altLang="en-US"/>
          </a:p>
        </p:txBody>
      </p:sp>
    </p:spTree>
    <p:extLst>
      <p:ext uri="{BB962C8B-B14F-4D97-AF65-F5344CB8AC3E}">
        <p14:creationId xmlns:p14="http://schemas.microsoft.com/office/powerpoint/2010/main" val="710910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D501DD-7617-CF45-952C-148738FE8509}"/>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349E178-73AA-644C-8223-66BF713642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653253A-849A-4D45-A3E7-4D1991E4C901}"/>
              </a:ext>
            </a:extLst>
          </p:cNvPr>
          <p:cNvSpPr>
            <a:spLocks noGrp="1"/>
          </p:cNvSpPr>
          <p:nvPr>
            <p:ph type="dt" sz="half" idx="10"/>
          </p:nvPr>
        </p:nvSpPr>
        <p:spPr/>
        <p:txBody>
          <a:bodyPr/>
          <a:lstStyle/>
          <a:p>
            <a:fld id="{A2F653D5-883A-5840-B916-BEC4DF4506D5}" type="datetime1">
              <a:rPr kumimoji="1" lang="zh-TW" altLang="en-US" smtClean="0"/>
              <a:t>2024/4/30</a:t>
            </a:fld>
            <a:endParaRPr kumimoji="1" lang="zh-TW" altLang="en-US"/>
          </a:p>
        </p:txBody>
      </p:sp>
      <p:sp>
        <p:nvSpPr>
          <p:cNvPr id="5" name="頁尾版面配置區 4">
            <a:extLst>
              <a:ext uri="{FF2B5EF4-FFF2-40B4-BE49-F238E27FC236}">
                <a16:creationId xmlns:a16="http://schemas.microsoft.com/office/drawing/2014/main" id="{A6ECDC78-3D4D-404B-AFA4-5B8A4BFDC68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B6C002C-0479-C74D-9FB3-84645C0AAB3D}"/>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0580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7A464A-FDF4-3341-B07B-24B820E47B20}"/>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4FA333E2-9D9C-8C49-8592-A408903CFAD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75D6F474-7FB1-5646-B2F2-525F8D173137}"/>
              </a:ext>
            </a:extLst>
          </p:cNvPr>
          <p:cNvSpPr>
            <a:spLocks noGrp="1"/>
          </p:cNvSpPr>
          <p:nvPr>
            <p:ph type="dt" sz="half" idx="10"/>
          </p:nvPr>
        </p:nvSpPr>
        <p:spPr/>
        <p:txBody>
          <a:bodyPr/>
          <a:lstStyle/>
          <a:p>
            <a:fld id="{252429E5-98E1-4140-9D90-8AD9B393DC63}" type="datetime1">
              <a:rPr kumimoji="1" lang="zh-TW" altLang="en-US" smtClean="0"/>
              <a:t>2024/4/30</a:t>
            </a:fld>
            <a:endParaRPr kumimoji="1" lang="zh-TW" altLang="en-US"/>
          </a:p>
        </p:txBody>
      </p:sp>
      <p:sp>
        <p:nvSpPr>
          <p:cNvPr id="5" name="頁尾版面配置區 4">
            <a:extLst>
              <a:ext uri="{FF2B5EF4-FFF2-40B4-BE49-F238E27FC236}">
                <a16:creationId xmlns:a16="http://schemas.microsoft.com/office/drawing/2014/main" id="{4534CE80-A870-164A-A65F-809FC9C002C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5BB9FA6-21BE-FF46-A0DD-80A4E3E45C48}"/>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23856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6485C0-58BA-C248-AFEC-796DBE7A28BC}"/>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0E020E7-FE89-E04B-A373-97BD15E9BA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1132D52-ED19-E540-984A-CB07B5F73432}"/>
              </a:ext>
            </a:extLst>
          </p:cNvPr>
          <p:cNvSpPr>
            <a:spLocks noGrp="1"/>
          </p:cNvSpPr>
          <p:nvPr>
            <p:ph type="dt" sz="half" idx="10"/>
          </p:nvPr>
        </p:nvSpPr>
        <p:spPr/>
        <p:txBody>
          <a:bodyPr/>
          <a:lstStyle/>
          <a:p>
            <a:fld id="{0D40C34D-36C3-F34E-AF6E-5E7D513EECD1}" type="datetime1">
              <a:rPr kumimoji="1" lang="zh-TW" altLang="en-US" smtClean="0"/>
              <a:t>2024/4/30</a:t>
            </a:fld>
            <a:endParaRPr kumimoji="1" lang="zh-TW" altLang="en-US"/>
          </a:p>
        </p:txBody>
      </p:sp>
      <p:sp>
        <p:nvSpPr>
          <p:cNvPr id="5" name="頁尾版面配置區 4">
            <a:extLst>
              <a:ext uri="{FF2B5EF4-FFF2-40B4-BE49-F238E27FC236}">
                <a16:creationId xmlns:a16="http://schemas.microsoft.com/office/drawing/2014/main" id="{7A6BDAE5-6429-1646-BE72-C577966D27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1FD161E-0E50-D549-9D79-396E6719964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48073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827E9-DFE9-224C-9899-DD344BC7F31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F56C89-BB60-5D4A-B951-F0C1C754587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16C126F-4174-1949-9558-B4C272D36FDA}"/>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04765A31-2149-0648-8A59-90D896183FFF}"/>
              </a:ext>
            </a:extLst>
          </p:cNvPr>
          <p:cNvSpPr>
            <a:spLocks noGrp="1"/>
          </p:cNvSpPr>
          <p:nvPr>
            <p:ph type="dt" sz="half" idx="10"/>
          </p:nvPr>
        </p:nvSpPr>
        <p:spPr/>
        <p:txBody>
          <a:bodyPr/>
          <a:lstStyle/>
          <a:p>
            <a:fld id="{82B76D90-58FA-0641-BF29-5E2687B5D06E}" type="datetime1">
              <a:rPr kumimoji="1" lang="zh-TW" altLang="en-US" smtClean="0"/>
              <a:t>2024/4/30</a:t>
            </a:fld>
            <a:endParaRPr kumimoji="1" lang="zh-TW" altLang="en-US"/>
          </a:p>
        </p:txBody>
      </p:sp>
      <p:sp>
        <p:nvSpPr>
          <p:cNvPr id="6" name="頁尾版面配置區 5">
            <a:extLst>
              <a:ext uri="{FF2B5EF4-FFF2-40B4-BE49-F238E27FC236}">
                <a16:creationId xmlns:a16="http://schemas.microsoft.com/office/drawing/2014/main" id="{EEC8BAB3-FB47-3344-B999-5CB7AACA707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B979C4-5F59-314A-943B-7732149E643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347998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75BCB-A32E-984F-994B-6AD69C18337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F3BBA48-11AB-EA42-B26E-97C56E55B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C045D110-23DF-BA43-8D13-0E9505DCCED9}"/>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0FA7828-C650-A046-B918-8845F0B6A8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2DE3B6E-6238-D149-9212-48351BD8A3B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A5BA387-FB25-3242-BD50-C95AE8C57586}"/>
              </a:ext>
            </a:extLst>
          </p:cNvPr>
          <p:cNvSpPr>
            <a:spLocks noGrp="1"/>
          </p:cNvSpPr>
          <p:nvPr>
            <p:ph type="dt" sz="half" idx="10"/>
          </p:nvPr>
        </p:nvSpPr>
        <p:spPr/>
        <p:txBody>
          <a:bodyPr/>
          <a:lstStyle/>
          <a:p>
            <a:fld id="{65C3B0E6-B8C8-474E-B122-D8F5DE0AFAD2}" type="datetime1">
              <a:rPr kumimoji="1" lang="zh-TW" altLang="en-US" smtClean="0"/>
              <a:t>2024/4/30</a:t>
            </a:fld>
            <a:endParaRPr kumimoji="1" lang="zh-TW" altLang="en-US"/>
          </a:p>
        </p:txBody>
      </p:sp>
      <p:sp>
        <p:nvSpPr>
          <p:cNvPr id="8" name="頁尾版面配置區 7">
            <a:extLst>
              <a:ext uri="{FF2B5EF4-FFF2-40B4-BE49-F238E27FC236}">
                <a16:creationId xmlns:a16="http://schemas.microsoft.com/office/drawing/2014/main" id="{DEDC4116-BEB6-7E4E-A4A7-D2553343B24F}"/>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0F097C-57D7-B44E-A73C-8373F218B190}"/>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07589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14667-755C-594C-B649-0C584C797C69}"/>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ABF655D-EEC9-1849-AFE9-30359B4DAFF8}"/>
              </a:ext>
            </a:extLst>
          </p:cNvPr>
          <p:cNvSpPr>
            <a:spLocks noGrp="1"/>
          </p:cNvSpPr>
          <p:nvPr>
            <p:ph type="dt" sz="half" idx="10"/>
          </p:nvPr>
        </p:nvSpPr>
        <p:spPr/>
        <p:txBody>
          <a:bodyPr/>
          <a:lstStyle/>
          <a:p>
            <a:fld id="{8869937B-9027-774A-B9FD-9279ACD255BD}" type="datetime1">
              <a:rPr kumimoji="1" lang="zh-TW" altLang="en-US" smtClean="0"/>
              <a:t>2024/4/30</a:t>
            </a:fld>
            <a:endParaRPr kumimoji="1" lang="zh-TW" altLang="en-US"/>
          </a:p>
        </p:txBody>
      </p:sp>
      <p:sp>
        <p:nvSpPr>
          <p:cNvPr id="4" name="頁尾版面配置區 3">
            <a:extLst>
              <a:ext uri="{FF2B5EF4-FFF2-40B4-BE49-F238E27FC236}">
                <a16:creationId xmlns:a16="http://schemas.microsoft.com/office/drawing/2014/main" id="{135848DC-EF7E-5E45-97D5-BB002916150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EF47D0D-FB63-C04A-88AA-4663F56A5B0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4429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30D0DAB-E3AB-C542-BAF1-FA0813FFFB56}"/>
              </a:ext>
            </a:extLst>
          </p:cNvPr>
          <p:cNvSpPr>
            <a:spLocks noGrp="1"/>
          </p:cNvSpPr>
          <p:nvPr>
            <p:ph type="dt" sz="half" idx="10"/>
          </p:nvPr>
        </p:nvSpPr>
        <p:spPr/>
        <p:txBody>
          <a:bodyPr/>
          <a:lstStyle/>
          <a:p>
            <a:fld id="{6C319104-FA4D-834B-9033-B46E2F34E77F}" type="datetime1">
              <a:rPr kumimoji="1" lang="zh-TW" altLang="en-US" smtClean="0"/>
              <a:t>2024/4/30</a:t>
            </a:fld>
            <a:endParaRPr kumimoji="1" lang="zh-TW" altLang="en-US"/>
          </a:p>
        </p:txBody>
      </p:sp>
      <p:sp>
        <p:nvSpPr>
          <p:cNvPr id="3" name="頁尾版面配置區 2">
            <a:extLst>
              <a:ext uri="{FF2B5EF4-FFF2-40B4-BE49-F238E27FC236}">
                <a16:creationId xmlns:a16="http://schemas.microsoft.com/office/drawing/2014/main" id="{A44257D8-EC9E-534F-9065-715A4574FDC7}"/>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0029C47-757A-114F-A178-225027BD7FD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7866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6441E4-4620-9244-B66E-26EC9ECBAE2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6E2631A-AADB-4344-B902-B53FE9F51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9D2930E1-81A7-6848-925D-24DF95107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4A1FEB3-ECC3-AD41-BEA6-44C6F60FF1DE}"/>
              </a:ext>
            </a:extLst>
          </p:cNvPr>
          <p:cNvSpPr>
            <a:spLocks noGrp="1"/>
          </p:cNvSpPr>
          <p:nvPr>
            <p:ph type="dt" sz="half" idx="10"/>
          </p:nvPr>
        </p:nvSpPr>
        <p:spPr/>
        <p:txBody>
          <a:bodyPr/>
          <a:lstStyle/>
          <a:p>
            <a:fld id="{BAC173C6-1BDC-EF4C-9138-1B867971D82A}" type="datetime1">
              <a:rPr kumimoji="1" lang="zh-TW" altLang="en-US" smtClean="0"/>
              <a:t>2024/4/30</a:t>
            </a:fld>
            <a:endParaRPr kumimoji="1" lang="zh-TW" altLang="en-US"/>
          </a:p>
        </p:txBody>
      </p:sp>
      <p:sp>
        <p:nvSpPr>
          <p:cNvPr id="6" name="頁尾版面配置區 5">
            <a:extLst>
              <a:ext uri="{FF2B5EF4-FFF2-40B4-BE49-F238E27FC236}">
                <a16:creationId xmlns:a16="http://schemas.microsoft.com/office/drawing/2014/main" id="{42CC6D6D-32D3-0F46-8645-9348CDCC2DA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0AFE86A-1C31-4A46-A584-5E4CEF4AEA2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80335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1D89C4-8B50-834A-81C5-869F9DC9C0F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D5534F9E-8511-5F4A-A82F-05692527D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zh-TW" altLang="en-US"/>
              <a:t>按一下圖示以新增圖片</a:t>
            </a:r>
          </a:p>
        </p:txBody>
      </p:sp>
      <p:sp>
        <p:nvSpPr>
          <p:cNvPr id="4" name="文字版面配置區 3">
            <a:extLst>
              <a:ext uri="{FF2B5EF4-FFF2-40B4-BE49-F238E27FC236}">
                <a16:creationId xmlns:a16="http://schemas.microsoft.com/office/drawing/2014/main" id="{AB5567A0-F6B9-9340-A872-76C4D3094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579205F-B98C-E943-92A5-27963140F3C8}"/>
              </a:ext>
            </a:extLst>
          </p:cNvPr>
          <p:cNvSpPr>
            <a:spLocks noGrp="1"/>
          </p:cNvSpPr>
          <p:nvPr>
            <p:ph type="dt" sz="half" idx="10"/>
          </p:nvPr>
        </p:nvSpPr>
        <p:spPr/>
        <p:txBody>
          <a:bodyPr/>
          <a:lstStyle/>
          <a:p>
            <a:fld id="{5708567F-5EDC-4F4F-93AF-7C8D00AA37FD}" type="datetime1">
              <a:rPr kumimoji="1" lang="zh-TW" altLang="en-US" smtClean="0"/>
              <a:t>2024/4/30</a:t>
            </a:fld>
            <a:endParaRPr kumimoji="1" lang="zh-TW" altLang="en-US"/>
          </a:p>
        </p:txBody>
      </p:sp>
      <p:sp>
        <p:nvSpPr>
          <p:cNvPr id="6" name="頁尾版面配置區 5">
            <a:extLst>
              <a:ext uri="{FF2B5EF4-FFF2-40B4-BE49-F238E27FC236}">
                <a16:creationId xmlns:a16="http://schemas.microsoft.com/office/drawing/2014/main" id="{30A25F96-ED76-8549-9FD6-2B59D2856A9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696D537-3F67-CD44-B755-194C465EDB5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31349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D6AB28-6653-9C49-A992-A4247978B7D2}"/>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6E57488-2CEC-AB48-B522-A9BF17B67ED1}"/>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F9DC675-96A7-5740-944C-CAFED91F8875}"/>
              </a:ext>
            </a:extLst>
          </p:cNvPr>
          <p:cNvSpPr>
            <a:spLocks noGrp="1"/>
          </p:cNvSpPr>
          <p:nvPr>
            <p:ph type="dt" sz="half" idx="10"/>
          </p:nvPr>
        </p:nvSpPr>
        <p:spPr/>
        <p:txBody>
          <a:bodyPr/>
          <a:lstStyle/>
          <a:p>
            <a:fld id="{419ABB45-072B-E944-9661-5DAAF6BF234C}" type="datetime1">
              <a:rPr kumimoji="1" lang="zh-TW" altLang="en-US" smtClean="0"/>
              <a:t>2024/4/30</a:t>
            </a:fld>
            <a:endParaRPr kumimoji="1" lang="zh-TW" altLang="en-US"/>
          </a:p>
        </p:txBody>
      </p:sp>
      <p:sp>
        <p:nvSpPr>
          <p:cNvPr id="5" name="頁尾版面配置區 4">
            <a:extLst>
              <a:ext uri="{FF2B5EF4-FFF2-40B4-BE49-F238E27FC236}">
                <a16:creationId xmlns:a16="http://schemas.microsoft.com/office/drawing/2014/main" id="{EE19B60E-DE36-CE48-92C7-29C904047F0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A11CB14-7E7D-DA4F-95BF-F4F6A71A702C}"/>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413784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3137A97-13EF-684A-A0A9-0B2C4B915BF7}"/>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14D9E75-6CF5-DE45-9FA4-3A5D546C876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846D7A-FDC0-584E-83DF-7CFDFE86ADAC}"/>
              </a:ext>
            </a:extLst>
          </p:cNvPr>
          <p:cNvSpPr>
            <a:spLocks noGrp="1"/>
          </p:cNvSpPr>
          <p:nvPr>
            <p:ph type="dt" sz="half" idx="10"/>
          </p:nvPr>
        </p:nvSpPr>
        <p:spPr/>
        <p:txBody>
          <a:bodyPr/>
          <a:lstStyle/>
          <a:p>
            <a:fld id="{FA3D0E93-5293-2E45-810C-52C7374A43E9}" type="datetime1">
              <a:rPr kumimoji="1" lang="zh-TW" altLang="en-US" smtClean="0"/>
              <a:t>2024/4/30</a:t>
            </a:fld>
            <a:endParaRPr kumimoji="1" lang="zh-TW" altLang="en-US"/>
          </a:p>
        </p:txBody>
      </p:sp>
      <p:sp>
        <p:nvSpPr>
          <p:cNvPr id="5" name="頁尾版面配置區 4">
            <a:extLst>
              <a:ext uri="{FF2B5EF4-FFF2-40B4-BE49-F238E27FC236}">
                <a16:creationId xmlns:a16="http://schemas.microsoft.com/office/drawing/2014/main" id="{B05227D2-8B70-D046-B3FE-419A3723BF4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C29F65E-93FE-3541-912C-7DF85AF21685}"/>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85396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422299C-DADF-924C-A256-3B359ECFB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7C0D55-55DC-8A4F-8D1C-054CD64B8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D4F6F637-18F3-BD4C-908D-9F4BD7CEC2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D2FFB-DAFA-B349-908F-41F05A7F02F7}" type="datetime1">
              <a:rPr kumimoji="1" lang="zh-TW" altLang="en-US" smtClean="0"/>
              <a:t>2024/4/30</a:t>
            </a:fld>
            <a:endParaRPr kumimoji="1" lang="zh-TW" altLang="en-US"/>
          </a:p>
        </p:txBody>
      </p:sp>
      <p:sp>
        <p:nvSpPr>
          <p:cNvPr id="5" name="頁尾版面配置區 4">
            <a:extLst>
              <a:ext uri="{FF2B5EF4-FFF2-40B4-BE49-F238E27FC236}">
                <a16:creationId xmlns:a16="http://schemas.microsoft.com/office/drawing/2014/main" id="{8189E3A8-AF3F-CA42-A297-2EE032B20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D309E7D-F646-F04E-B26F-BEF4E7288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96518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gif"/></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a:xfrm>
            <a:off x="546253" y="1121683"/>
            <a:ext cx="11099494" cy="2387600"/>
          </a:xfrm>
        </p:spPr>
        <p:txBody>
          <a:bodyPr anchor="ctr">
            <a:normAutofit/>
          </a:bodyPr>
          <a:lstStyle/>
          <a:p>
            <a:r>
              <a:rPr kumimoji="1" lang="en-US" altLang="zh-TW" sz="4800" dirty="0">
                <a:latin typeface="Times New Roman" panose="02020603050405020304" pitchFamily="18" charset="0"/>
                <a:cs typeface="Times New Roman" panose="02020603050405020304" pitchFamily="18" charset="0"/>
              </a:rPr>
              <a:t>An improved algorithm for string matching using index based shifting approach</a:t>
            </a:r>
            <a:endParaRPr kumimoji="1" lang="zh-TW" altLang="en-US" sz="4800" dirty="0">
              <a:latin typeface="Times" pitchFamily="2"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a:xfrm>
            <a:off x="447675" y="3565526"/>
            <a:ext cx="11296650" cy="1655762"/>
          </a:xfrm>
        </p:spPr>
        <p:txBody>
          <a:bodyPr>
            <a:noAutofit/>
          </a:bodyPr>
          <a:lstStyle/>
          <a:p>
            <a:pPr>
              <a:lnSpc>
                <a:spcPct val="100000"/>
              </a:lnSpc>
            </a:pPr>
            <a:r>
              <a:rPr lang="sv-SE" altLang="zh-TW" dirty="0">
                <a:latin typeface="Times New Roman" panose="02020603050405020304" pitchFamily="18" charset="0"/>
                <a:cs typeface="Times New Roman" panose="02020603050405020304" pitchFamily="18" charset="0"/>
              </a:rPr>
              <a:t>Tania Islam and Kamrul Hasan Talukder</a:t>
            </a:r>
          </a:p>
          <a:p>
            <a:pPr>
              <a:lnSpc>
                <a:spcPct val="100000"/>
              </a:lnSpc>
            </a:pPr>
            <a:r>
              <a:rPr lang="en-US" altLang="zh-TW" dirty="0">
                <a:latin typeface="Times New Roman" panose="02020603050405020304" pitchFamily="18" charset="0"/>
                <a:cs typeface="Times New Roman" panose="02020603050405020304" pitchFamily="18" charset="0"/>
              </a:rPr>
              <a:t>2017 20th International Conference of Computer and Information Technology (ICCIT), December 22-24, University of Asia Pacific, Dhaka, Bangladesh</a:t>
            </a: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573012" cy="646331"/>
          </a:xfrm>
          <a:prstGeom prst="rect">
            <a:avLst/>
          </a:prstGeom>
          <a:noFill/>
        </p:spPr>
        <p:txBody>
          <a:bodyPr wrap="none" rtlCol="0">
            <a:spAutoFit/>
          </a:bodyPr>
          <a:lstStyle/>
          <a:p>
            <a:r>
              <a:rPr kumimoji="1" lang="en-US" altLang="zh-TW" dirty="0">
                <a:latin typeface="Times" pitchFamily="2" charset="0"/>
              </a:rPr>
              <a:t>Presenter: Wen-Yu Chang</a:t>
            </a:r>
          </a:p>
          <a:p>
            <a:r>
              <a:rPr kumimoji="1" lang="en-US" altLang="zh-TW" dirty="0">
                <a:latin typeface="Times" pitchFamily="2" charset="0"/>
              </a:rPr>
              <a:t>Date:</a:t>
            </a:r>
            <a:r>
              <a:rPr kumimoji="1" lang="zh-TW" altLang="en-US" dirty="0">
                <a:latin typeface="Times" pitchFamily="2" charset="0"/>
              </a:rPr>
              <a:t> </a:t>
            </a:r>
            <a:r>
              <a:rPr kumimoji="1" lang="en-US" altLang="zh-TW" dirty="0">
                <a:latin typeface="Times" pitchFamily="2" charset="0"/>
              </a:rPr>
              <a:t>Apr.</a:t>
            </a:r>
            <a:r>
              <a:rPr kumimoji="1" lang="zh-TW" altLang="en-US" dirty="0">
                <a:latin typeface="Times" pitchFamily="2" charset="0"/>
              </a:rPr>
              <a:t> </a:t>
            </a:r>
            <a:r>
              <a:rPr kumimoji="1" lang="en-US" altLang="zh-TW" dirty="0">
                <a:latin typeface="Times" pitchFamily="2" charset="0"/>
              </a:rPr>
              <a:t>30,</a:t>
            </a:r>
            <a:r>
              <a:rPr kumimoji="1" lang="zh-TW" altLang="en-US" dirty="0">
                <a:latin typeface="Times" pitchFamily="2" charset="0"/>
              </a:rPr>
              <a:t> </a:t>
            </a:r>
            <a:r>
              <a:rPr kumimoji="1" lang="en-US" altLang="zh-TW" dirty="0">
                <a:latin typeface="Times" pitchFamily="2" charset="0"/>
              </a:rPr>
              <a:t>2024</a:t>
            </a:r>
            <a:endParaRPr kumimoji="1" lang="zh-TW" altLang="en-US" dirty="0">
              <a:latin typeface="Times" pitchFamily="2" charset="0"/>
            </a:endParaRPr>
          </a:p>
        </p:txBody>
      </p:sp>
    </p:spTree>
    <p:extLst>
      <p:ext uri="{BB962C8B-B14F-4D97-AF65-F5344CB8AC3E}">
        <p14:creationId xmlns:p14="http://schemas.microsoft.com/office/powerpoint/2010/main" val="399427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 (1/2)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481138"/>
            <a:ext cx="10515600" cy="4351338"/>
          </a:xfrm>
        </p:spPr>
        <p:txBody>
          <a:bodyPr>
            <a:noAutofit/>
          </a:bodyPr>
          <a:lstStyle/>
          <a:p>
            <a:pPr marL="0" indent="0" algn="just">
              <a:lnSpc>
                <a:spcPct val="150000"/>
              </a:lnSpc>
              <a:buNone/>
            </a:pPr>
            <a:r>
              <a:rPr lang="en-US" altLang="zh-TW" sz="2400" dirty="0">
                <a:latin typeface="Times" panose="02020603050405020304" pitchFamily="18" charset="0"/>
                <a:cs typeface="Times" panose="02020603050405020304" pitchFamily="18" charset="0"/>
              </a:rPr>
              <a:t>Bioinformatics is now considered as one of the most studied branches in biological science which deals with the exploring of different kinds of methods for analyzing, storing and retrieving biological data, such as protein sequences and nucleic acid (DNA/RNA), configurations, functions, pathways, and genetic relations. In bioinformatics, genomic sequence analysis has led to the evolution of well-organized pattern discovery algorithms to produce search over large DNA sequences. The most important factor for efficiency of a matching algorithm is depending on the total number of character comparisons. </a:t>
            </a:r>
            <a:endParaRPr lang="en" altLang="zh-TW" sz="2400" dirty="0">
              <a:latin typeface="Times" panose="02020603050405020304" pitchFamily="18" charset="0"/>
              <a:cs typeface="Times" panose="02020603050405020304" pitchFamily="18" charset="0"/>
            </a:endParaRP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2</a:t>
            </a:fld>
            <a:endParaRPr kumimoji="1" lang="zh-TW" altLang="en-US"/>
          </a:p>
        </p:txBody>
      </p:sp>
    </p:spTree>
    <p:extLst>
      <p:ext uri="{BB962C8B-B14F-4D97-AF65-F5344CB8AC3E}">
        <p14:creationId xmlns:p14="http://schemas.microsoft.com/office/powerpoint/2010/main" val="406922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 (2/2)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481138"/>
            <a:ext cx="10515600" cy="4351338"/>
          </a:xfrm>
        </p:spPr>
        <p:txBody>
          <a:bodyPr>
            <a:noAutofit/>
          </a:bodyPr>
          <a:lstStyle/>
          <a:p>
            <a:pPr marL="0" indent="0" algn="just">
              <a:lnSpc>
                <a:spcPct val="150000"/>
              </a:lnSpc>
              <a:buNone/>
            </a:pPr>
            <a:r>
              <a:rPr lang="en-US" altLang="zh-TW" sz="2400" dirty="0">
                <a:latin typeface="Times" panose="02020603050405020304" pitchFamily="18" charset="0"/>
                <a:cs typeface="Times" panose="02020603050405020304" pitchFamily="18" charset="0"/>
              </a:rPr>
              <a:t>Index Based Shift (IBS) algorithm which is the name chosen for our proposed algorithm was tested on different length of DNA sequences data set. The IBS algorithm shows great efficiency in terms of total number of character comparisons it requires than that of ABSBMH algorithm. The experimental result shows that our proposed IBS algorithm works better when length of pattern is increased.</a:t>
            </a:r>
            <a:endParaRPr lang="en" altLang="zh-TW" sz="2400" dirty="0">
              <a:latin typeface="Times" panose="02020603050405020304" pitchFamily="18" charset="0"/>
              <a:cs typeface="Times" panose="02020603050405020304" pitchFamily="18" charset="0"/>
            </a:endParaRP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3</a:t>
            </a:fld>
            <a:endParaRPr kumimoji="1" lang="zh-TW" altLang="en-US"/>
          </a:p>
        </p:txBody>
      </p:sp>
    </p:spTree>
    <p:extLst>
      <p:ext uri="{BB962C8B-B14F-4D97-AF65-F5344CB8AC3E}">
        <p14:creationId xmlns:p14="http://schemas.microsoft.com/office/powerpoint/2010/main" val="790073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Preprocessing Phase</a:t>
            </a:r>
            <a:r>
              <a:rPr kumimoji="1" lang="zh-TW" altLang="en-US" dirty="0">
                <a:latin typeface="Times" pitchFamily="2" charset="0"/>
              </a:rPr>
              <a:t> </a:t>
            </a:r>
            <a:r>
              <a:rPr kumimoji="1" lang="en-US" altLang="zh-TW" dirty="0">
                <a:latin typeface="Times" pitchFamily="2" charset="0"/>
              </a:rPr>
              <a:t>(1/2)</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4</a:t>
            </a:fld>
            <a:endParaRPr kumimoji="1" lang="zh-TW" altLang="en-US" dirty="0"/>
          </a:p>
        </p:txBody>
      </p:sp>
      <p:pic>
        <p:nvPicPr>
          <p:cNvPr id="5" name="圖片 4">
            <a:extLst>
              <a:ext uri="{FF2B5EF4-FFF2-40B4-BE49-F238E27FC236}">
                <a16:creationId xmlns:a16="http://schemas.microsoft.com/office/drawing/2014/main" id="{0D797498-0BA5-4D71-BADB-C4A73F0DA224}"/>
              </a:ext>
            </a:extLst>
          </p:cNvPr>
          <p:cNvPicPr>
            <a:picLocks noChangeAspect="1"/>
          </p:cNvPicPr>
          <p:nvPr/>
        </p:nvPicPr>
        <p:blipFill>
          <a:blip r:embed="rId3"/>
          <a:stretch>
            <a:fillRect/>
          </a:stretch>
        </p:blipFill>
        <p:spPr>
          <a:xfrm>
            <a:off x="644486" y="2391739"/>
            <a:ext cx="10903027" cy="2555160"/>
          </a:xfrm>
          <a:prstGeom prst="rect">
            <a:avLst/>
          </a:prstGeom>
        </p:spPr>
      </p:pic>
    </p:spTree>
    <p:extLst>
      <p:ext uri="{BB962C8B-B14F-4D97-AF65-F5344CB8AC3E}">
        <p14:creationId xmlns:p14="http://schemas.microsoft.com/office/powerpoint/2010/main" val="2596787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Preprocessing Phase (2/2)</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5</a:t>
            </a:fld>
            <a:endParaRPr kumimoji="1" lang="zh-TW" altLang="en-US" dirty="0"/>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545371D8-388A-4E2A-8A69-739CCD3E56F4}"/>
                  </a:ext>
                </a:extLst>
              </p:cNvPr>
              <p:cNvSpPr txBox="1"/>
              <p:nvPr/>
            </p:nvSpPr>
            <p:spPr>
              <a:xfrm>
                <a:off x="838199" y="1672662"/>
                <a:ext cx="10515601" cy="830997"/>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r>
                      <m:rPr>
                        <m:sty m:val="p"/>
                      </m:rPr>
                      <a:rPr lang="en-US" altLang="zh-TW" sz="2400" i="1" smtClean="0">
                        <a:latin typeface="Cambria Math" panose="02040503050406030204" pitchFamily="18" charset="0"/>
                        <a:cs typeface="Times" panose="02020603050405020304" pitchFamily="18" charset="0"/>
                      </a:rPr>
                      <m:t>S</m:t>
                    </m:r>
                    <m:r>
                      <a:rPr lang="en-US" altLang="zh-TW" sz="2400" b="0" i="1" smtClean="0">
                        <a:latin typeface="Cambria Math" panose="02040503050406030204" pitchFamily="18" charset="0"/>
                        <a:cs typeface="Times" panose="02020603050405020304" pitchFamily="18" charset="0"/>
                      </a:rPr>
                      <m:t>=</m:t>
                    </m:r>
                    <m:r>
                      <m:rPr>
                        <m:sty m:val="p"/>
                      </m:rPr>
                      <a:rPr lang="en-US" altLang="zh-TW" sz="2400">
                        <a:latin typeface="Cambria Math" panose="02040503050406030204" pitchFamily="18" charset="0"/>
                        <a:cs typeface="Times" panose="02020603050405020304" pitchFamily="18" charset="0"/>
                      </a:rPr>
                      <m:t>ATCTAACATCATAACCCTGCAGAGAGGAT</m:t>
                    </m:r>
                  </m:oMath>
                </a14:m>
                <a:endParaRPr lang="en-US" altLang="zh-TW" sz="2400"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14:m>
                  <m:oMath xmlns:m="http://schemas.openxmlformats.org/officeDocument/2006/math">
                    <m:r>
                      <m:rPr>
                        <m:sty m:val="p"/>
                      </m:rPr>
                      <a:rPr lang="en-US" altLang="zh-TW" sz="2400">
                        <a:latin typeface="Cambria Math" panose="02040503050406030204" pitchFamily="18" charset="0"/>
                        <a:cs typeface="Times" panose="02020603050405020304" pitchFamily="18" charset="0"/>
                      </a:rPr>
                      <m:t>P</m:t>
                    </m:r>
                    <m:r>
                      <a:rPr lang="en-US" altLang="zh-TW" sz="2400">
                        <a:latin typeface="Cambria Math" panose="02040503050406030204" pitchFamily="18" charset="0"/>
                        <a:cs typeface="Times" panose="02020603050405020304" pitchFamily="18" charset="0"/>
                      </a:rPr>
                      <m:t>=</m:t>
                    </m:r>
                    <m:r>
                      <m:rPr>
                        <m:sty m:val="p"/>
                      </m:rPr>
                      <a:rPr lang="en-US" altLang="zh-TW" sz="2400">
                        <a:latin typeface="Cambria Math" panose="02040503050406030204" pitchFamily="18" charset="0"/>
                        <a:cs typeface="Times" panose="02020603050405020304" pitchFamily="18" charset="0"/>
                      </a:rPr>
                      <m:t>GCAGAGAG</m:t>
                    </m:r>
                  </m:oMath>
                </a14:m>
                <a:endParaRPr lang="en-US" altLang="zh-TW" sz="2400" dirty="0">
                  <a:latin typeface="Times" panose="02020603050405020304" pitchFamily="18" charset="0"/>
                  <a:cs typeface="Times" panose="02020603050405020304" pitchFamily="18" charset="0"/>
                </a:endParaRPr>
              </a:p>
            </p:txBody>
          </p:sp>
        </mc:Choice>
        <mc:Fallback xmlns="">
          <p:sp>
            <p:nvSpPr>
              <p:cNvPr id="6" name="文字方塊 5">
                <a:extLst>
                  <a:ext uri="{FF2B5EF4-FFF2-40B4-BE49-F238E27FC236}">
                    <a16:creationId xmlns:a16="http://schemas.microsoft.com/office/drawing/2014/main" id="{545371D8-388A-4E2A-8A69-739CCD3E56F4}"/>
                  </a:ext>
                </a:extLst>
              </p:cNvPr>
              <p:cNvSpPr txBox="1">
                <a:spLocks noRot="1" noChangeAspect="1" noMove="1" noResize="1" noEditPoints="1" noAdjustHandles="1" noChangeArrowheads="1" noChangeShapeType="1" noTextEdit="1"/>
              </p:cNvSpPr>
              <p:nvPr/>
            </p:nvSpPr>
            <p:spPr>
              <a:xfrm>
                <a:off x="838199" y="1672662"/>
                <a:ext cx="10515601" cy="830997"/>
              </a:xfrm>
              <a:prstGeom prst="rect">
                <a:avLst/>
              </a:prstGeom>
              <a:blipFill>
                <a:blip r:embed="rId3"/>
                <a:stretch>
                  <a:fillRect l="-753" t="-2920" b="-13139"/>
                </a:stretch>
              </a:blipFill>
            </p:spPr>
            <p:txBody>
              <a:bodyPr/>
              <a:lstStyle/>
              <a:p>
                <a:r>
                  <a:rPr lang="zh-TW" altLang="en-US">
                    <a:noFill/>
                  </a:rPr>
                  <a:t> </a:t>
                </a:r>
              </a:p>
            </p:txBody>
          </p:sp>
        </mc:Fallback>
      </mc:AlternateContent>
      <p:pic>
        <p:nvPicPr>
          <p:cNvPr id="11" name="圖片 10">
            <a:extLst>
              <a:ext uri="{FF2B5EF4-FFF2-40B4-BE49-F238E27FC236}">
                <a16:creationId xmlns:a16="http://schemas.microsoft.com/office/drawing/2014/main" id="{DE04F16A-3E5B-43EB-9DDF-475C3E60813A}"/>
              </a:ext>
            </a:extLst>
          </p:cNvPr>
          <p:cNvPicPr>
            <a:picLocks noChangeAspect="1"/>
          </p:cNvPicPr>
          <p:nvPr/>
        </p:nvPicPr>
        <p:blipFill>
          <a:blip r:embed="rId4"/>
          <a:stretch>
            <a:fillRect/>
          </a:stretch>
        </p:blipFill>
        <p:spPr>
          <a:xfrm>
            <a:off x="901546" y="2570120"/>
            <a:ext cx="10388906" cy="2093826"/>
          </a:xfrm>
          <a:prstGeom prst="rect">
            <a:avLst/>
          </a:prstGeom>
        </p:spPr>
      </p:pic>
      <p:pic>
        <p:nvPicPr>
          <p:cNvPr id="13" name="圖片 12">
            <a:extLst>
              <a:ext uri="{FF2B5EF4-FFF2-40B4-BE49-F238E27FC236}">
                <a16:creationId xmlns:a16="http://schemas.microsoft.com/office/drawing/2014/main" id="{CE13D44A-CD40-410E-8089-E86536425330}"/>
              </a:ext>
            </a:extLst>
          </p:cNvPr>
          <p:cNvPicPr>
            <a:picLocks noChangeAspect="1"/>
          </p:cNvPicPr>
          <p:nvPr/>
        </p:nvPicPr>
        <p:blipFill>
          <a:blip r:embed="rId5"/>
          <a:stretch>
            <a:fillRect/>
          </a:stretch>
        </p:blipFill>
        <p:spPr>
          <a:xfrm>
            <a:off x="901546" y="4755195"/>
            <a:ext cx="4124901" cy="1276528"/>
          </a:xfrm>
          <a:prstGeom prst="rect">
            <a:avLst/>
          </a:prstGeom>
        </p:spPr>
      </p:pic>
    </p:spTree>
    <p:extLst>
      <p:ext uri="{BB962C8B-B14F-4D97-AF65-F5344CB8AC3E}">
        <p14:creationId xmlns:p14="http://schemas.microsoft.com/office/powerpoint/2010/main" val="3838820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Searching Phase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6</a:t>
            </a:fld>
            <a:endParaRPr kumimoji="1" lang="zh-TW" altLang="en-US" dirty="0"/>
          </a:p>
        </p:txBody>
      </p:sp>
      <p:sp>
        <p:nvSpPr>
          <p:cNvPr id="8" name="文字方塊 7">
            <a:extLst>
              <a:ext uri="{FF2B5EF4-FFF2-40B4-BE49-F238E27FC236}">
                <a16:creationId xmlns:a16="http://schemas.microsoft.com/office/drawing/2014/main" id="{8D52B901-6F49-429F-A1B9-1E17B3959FB2}"/>
              </a:ext>
            </a:extLst>
          </p:cNvPr>
          <p:cNvSpPr txBox="1"/>
          <p:nvPr/>
        </p:nvSpPr>
        <p:spPr>
          <a:xfrm>
            <a:off x="838199" y="1672662"/>
            <a:ext cx="10515601" cy="2308324"/>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First attempt</a:t>
            </a:r>
          </a:p>
          <a:p>
            <a:pPr marL="342900" indent="-342900">
              <a:buFont typeface="Arial" panose="020B0604020202020204" pitchFamily="34" charset="0"/>
              <a:buChar char="•"/>
            </a:pPr>
            <a:endParaRPr lang="en-US" altLang="zh-TW" sz="2400"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US" altLang="zh-TW" sz="2400"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US" altLang="zh-TW" sz="2400"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US" altLang="zh-TW" sz="2400"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Second attempt</a:t>
            </a:r>
          </a:p>
        </p:txBody>
      </p:sp>
      <p:graphicFrame>
        <p:nvGraphicFramePr>
          <p:cNvPr id="3" name="表格 4">
            <a:extLst>
              <a:ext uri="{FF2B5EF4-FFF2-40B4-BE49-F238E27FC236}">
                <a16:creationId xmlns:a16="http://schemas.microsoft.com/office/drawing/2014/main" id="{D0F8518B-EF4D-44F5-B985-237E622EAC66}"/>
              </a:ext>
            </a:extLst>
          </p:cNvPr>
          <p:cNvGraphicFramePr>
            <a:graphicFrameLocks noGrp="1"/>
          </p:cNvGraphicFramePr>
          <p:nvPr>
            <p:extLst>
              <p:ext uri="{D42A27DB-BD31-4B8C-83A1-F6EECF244321}">
                <p14:modId xmlns:p14="http://schemas.microsoft.com/office/powerpoint/2010/main" val="1167494340"/>
              </p:ext>
            </p:extLst>
          </p:nvPr>
        </p:nvGraphicFramePr>
        <p:xfrm>
          <a:off x="1622542" y="2244459"/>
          <a:ext cx="5767944" cy="914400"/>
        </p:xfrm>
        <a:graphic>
          <a:graphicData uri="http://schemas.openxmlformats.org/drawingml/2006/table">
            <a:tbl>
              <a:tblPr firstRow="1" bandRow="1">
                <a:tableStyleId>{5C22544A-7EE6-4342-B048-85BDC9FD1C3A}</a:tableStyleId>
              </a:tblPr>
              <a:tblGrid>
                <a:gridCol w="720993">
                  <a:extLst>
                    <a:ext uri="{9D8B030D-6E8A-4147-A177-3AD203B41FA5}">
                      <a16:colId xmlns:a16="http://schemas.microsoft.com/office/drawing/2014/main" val="4195470921"/>
                    </a:ext>
                  </a:extLst>
                </a:gridCol>
                <a:gridCol w="720993">
                  <a:extLst>
                    <a:ext uri="{9D8B030D-6E8A-4147-A177-3AD203B41FA5}">
                      <a16:colId xmlns:a16="http://schemas.microsoft.com/office/drawing/2014/main" val="2913099440"/>
                    </a:ext>
                  </a:extLst>
                </a:gridCol>
                <a:gridCol w="720993">
                  <a:extLst>
                    <a:ext uri="{9D8B030D-6E8A-4147-A177-3AD203B41FA5}">
                      <a16:colId xmlns:a16="http://schemas.microsoft.com/office/drawing/2014/main" val="1544953253"/>
                    </a:ext>
                  </a:extLst>
                </a:gridCol>
                <a:gridCol w="720993">
                  <a:extLst>
                    <a:ext uri="{9D8B030D-6E8A-4147-A177-3AD203B41FA5}">
                      <a16:colId xmlns:a16="http://schemas.microsoft.com/office/drawing/2014/main" val="2532663439"/>
                    </a:ext>
                  </a:extLst>
                </a:gridCol>
                <a:gridCol w="720993">
                  <a:extLst>
                    <a:ext uri="{9D8B030D-6E8A-4147-A177-3AD203B41FA5}">
                      <a16:colId xmlns:a16="http://schemas.microsoft.com/office/drawing/2014/main" val="4197939040"/>
                    </a:ext>
                  </a:extLst>
                </a:gridCol>
                <a:gridCol w="720993">
                  <a:extLst>
                    <a:ext uri="{9D8B030D-6E8A-4147-A177-3AD203B41FA5}">
                      <a16:colId xmlns:a16="http://schemas.microsoft.com/office/drawing/2014/main" val="1945187628"/>
                    </a:ext>
                  </a:extLst>
                </a:gridCol>
                <a:gridCol w="720993">
                  <a:extLst>
                    <a:ext uri="{9D8B030D-6E8A-4147-A177-3AD203B41FA5}">
                      <a16:colId xmlns:a16="http://schemas.microsoft.com/office/drawing/2014/main" val="1372385172"/>
                    </a:ext>
                  </a:extLst>
                </a:gridCol>
                <a:gridCol w="720993">
                  <a:extLst>
                    <a:ext uri="{9D8B030D-6E8A-4147-A177-3AD203B41FA5}">
                      <a16:colId xmlns:a16="http://schemas.microsoft.com/office/drawing/2014/main" val="1161766199"/>
                    </a:ext>
                  </a:extLst>
                </a:gridCol>
              </a:tblGrid>
              <a:tr h="3708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extLst>
                  <a:ext uri="{0D108BD9-81ED-4DB2-BD59-A6C34878D82A}">
                    <a16:rowId xmlns:a16="http://schemas.microsoft.com/office/drawing/2014/main" val="3611190456"/>
                  </a:ext>
                </a:extLst>
              </a:tr>
              <a:tr h="3708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extLst>
                  <a:ext uri="{0D108BD9-81ED-4DB2-BD59-A6C34878D82A}">
                    <a16:rowId xmlns:a16="http://schemas.microsoft.com/office/drawing/2014/main" val="3804261022"/>
                  </a:ext>
                </a:extLst>
              </a:tr>
            </a:tbl>
          </a:graphicData>
        </a:graphic>
      </p:graphicFrame>
      <p:graphicFrame>
        <p:nvGraphicFramePr>
          <p:cNvPr id="10" name="表格 4">
            <a:extLst>
              <a:ext uri="{FF2B5EF4-FFF2-40B4-BE49-F238E27FC236}">
                <a16:creationId xmlns:a16="http://schemas.microsoft.com/office/drawing/2014/main" id="{E16EB8F4-82E5-4E04-ADAF-ED9E2B5689BF}"/>
              </a:ext>
            </a:extLst>
          </p:cNvPr>
          <p:cNvGraphicFramePr>
            <a:graphicFrameLocks noGrp="1"/>
          </p:cNvGraphicFramePr>
          <p:nvPr>
            <p:extLst>
              <p:ext uri="{D42A27DB-BD31-4B8C-83A1-F6EECF244321}">
                <p14:modId xmlns:p14="http://schemas.microsoft.com/office/powerpoint/2010/main" val="1429045787"/>
              </p:ext>
            </p:extLst>
          </p:nvPr>
        </p:nvGraphicFramePr>
        <p:xfrm>
          <a:off x="1622542" y="4073092"/>
          <a:ext cx="5767944" cy="914400"/>
        </p:xfrm>
        <a:graphic>
          <a:graphicData uri="http://schemas.openxmlformats.org/drawingml/2006/table">
            <a:tbl>
              <a:tblPr firstRow="1" bandRow="1">
                <a:tableStyleId>{5C22544A-7EE6-4342-B048-85BDC9FD1C3A}</a:tableStyleId>
              </a:tblPr>
              <a:tblGrid>
                <a:gridCol w="720993">
                  <a:extLst>
                    <a:ext uri="{9D8B030D-6E8A-4147-A177-3AD203B41FA5}">
                      <a16:colId xmlns:a16="http://schemas.microsoft.com/office/drawing/2014/main" val="4195470921"/>
                    </a:ext>
                  </a:extLst>
                </a:gridCol>
                <a:gridCol w="720993">
                  <a:extLst>
                    <a:ext uri="{9D8B030D-6E8A-4147-A177-3AD203B41FA5}">
                      <a16:colId xmlns:a16="http://schemas.microsoft.com/office/drawing/2014/main" val="2913099440"/>
                    </a:ext>
                  </a:extLst>
                </a:gridCol>
                <a:gridCol w="720993">
                  <a:extLst>
                    <a:ext uri="{9D8B030D-6E8A-4147-A177-3AD203B41FA5}">
                      <a16:colId xmlns:a16="http://schemas.microsoft.com/office/drawing/2014/main" val="1544953253"/>
                    </a:ext>
                  </a:extLst>
                </a:gridCol>
                <a:gridCol w="720993">
                  <a:extLst>
                    <a:ext uri="{9D8B030D-6E8A-4147-A177-3AD203B41FA5}">
                      <a16:colId xmlns:a16="http://schemas.microsoft.com/office/drawing/2014/main" val="2532663439"/>
                    </a:ext>
                  </a:extLst>
                </a:gridCol>
                <a:gridCol w="720993">
                  <a:extLst>
                    <a:ext uri="{9D8B030D-6E8A-4147-A177-3AD203B41FA5}">
                      <a16:colId xmlns:a16="http://schemas.microsoft.com/office/drawing/2014/main" val="4197939040"/>
                    </a:ext>
                  </a:extLst>
                </a:gridCol>
                <a:gridCol w="720993">
                  <a:extLst>
                    <a:ext uri="{9D8B030D-6E8A-4147-A177-3AD203B41FA5}">
                      <a16:colId xmlns:a16="http://schemas.microsoft.com/office/drawing/2014/main" val="1945187628"/>
                    </a:ext>
                  </a:extLst>
                </a:gridCol>
                <a:gridCol w="720993">
                  <a:extLst>
                    <a:ext uri="{9D8B030D-6E8A-4147-A177-3AD203B41FA5}">
                      <a16:colId xmlns:a16="http://schemas.microsoft.com/office/drawing/2014/main" val="1372385172"/>
                    </a:ext>
                  </a:extLst>
                </a:gridCol>
                <a:gridCol w="720993">
                  <a:extLst>
                    <a:ext uri="{9D8B030D-6E8A-4147-A177-3AD203B41FA5}">
                      <a16:colId xmlns:a16="http://schemas.microsoft.com/office/drawing/2014/main" val="1161766199"/>
                    </a:ext>
                  </a:extLst>
                </a:gridCol>
              </a:tblGrid>
              <a:tr h="3708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8F8F"/>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1190456"/>
                  </a:ext>
                </a:extLst>
              </a:tr>
              <a:tr h="370840">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9FF8C"/>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8F8F"/>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4261022"/>
                  </a:ext>
                </a:extLst>
              </a:tr>
            </a:tbl>
          </a:graphicData>
        </a:graphic>
      </p:graphicFrame>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3584CE71-43F4-4F16-AA85-7C7416FFE67C}"/>
                  </a:ext>
                </a:extLst>
              </p:cNvPr>
              <p:cNvSpPr txBox="1"/>
              <p:nvPr/>
            </p:nvSpPr>
            <p:spPr>
              <a:xfrm>
                <a:off x="1245214" y="4525827"/>
                <a:ext cx="37732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TW" sz="2400" smtClean="0">
                          <a:latin typeface="Cambria Math" panose="02040503050406030204" pitchFamily="18" charset="0"/>
                          <a:cs typeface="Times" panose="02020603050405020304" pitchFamily="18" charset="0"/>
                        </a:rPr>
                        <m:t>P</m:t>
                      </m:r>
                    </m:oMath>
                  </m:oMathPara>
                </a14:m>
                <a:endParaRPr lang="zh-TW" altLang="en-US" sz="2400" dirty="0"/>
              </a:p>
            </p:txBody>
          </p:sp>
        </mc:Choice>
        <mc:Fallback xmlns="">
          <p:sp>
            <p:nvSpPr>
              <p:cNvPr id="11" name="文字方塊 10">
                <a:extLst>
                  <a:ext uri="{FF2B5EF4-FFF2-40B4-BE49-F238E27FC236}">
                    <a16:creationId xmlns:a16="http://schemas.microsoft.com/office/drawing/2014/main" id="{3584CE71-43F4-4F16-AA85-7C7416FFE67C}"/>
                  </a:ext>
                </a:extLst>
              </p:cNvPr>
              <p:cNvSpPr txBox="1">
                <a:spLocks noRot="1" noChangeAspect="1" noMove="1" noResize="1" noEditPoints="1" noAdjustHandles="1" noChangeArrowheads="1" noChangeShapeType="1" noTextEdit="1"/>
              </p:cNvSpPr>
              <p:nvPr/>
            </p:nvSpPr>
            <p:spPr>
              <a:xfrm>
                <a:off x="1245214" y="4525827"/>
                <a:ext cx="377328" cy="461665"/>
              </a:xfrm>
              <a:prstGeom prst="rect">
                <a:avLst/>
              </a:prstGeom>
              <a:blipFill>
                <a:blip r:embed="rId3"/>
                <a:stretch>
                  <a:fillRect l="-32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A730685B-3CB2-474B-A6B4-5EC6B246593B}"/>
                  </a:ext>
                </a:extLst>
              </p:cNvPr>
              <p:cNvSpPr txBox="1"/>
              <p:nvPr/>
            </p:nvSpPr>
            <p:spPr>
              <a:xfrm>
                <a:off x="1223486" y="2701659"/>
                <a:ext cx="37732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TW" sz="2400" smtClean="0">
                          <a:latin typeface="Cambria Math" panose="02040503050406030204" pitchFamily="18" charset="0"/>
                          <a:cs typeface="Times" panose="02020603050405020304" pitchFamily="18" charset="0"/>
                        </a:rPr>
                        <m:t>P</m:t>
                      </m:r>
                    </m:oMath>
                  </m:oMathPara>
                </a14:m>
                <a:endParaRPr lang="zh-TW" altLang="en-US" sz="2400" dirty="0"/>
              </a:p>
            </p:txBody>
          </p:sp>
        </mc:Choice>
        <mc:Fallback xmlns="">
          <p:sp>
            <p:nvSpPr>
              <p:cNvPr id="12" name="文字方塊 11">
                <a:extLst>
                  <a:ext uri="{FF2B5EF4-FFF2-40B4-BE49-F238E27FC236}">
                    <a16:creationId xmlns:a16="http://schemas.microsoft.com/office/drawing/2014/main" id="{A730685B-3CB2-474B-A6B4-5EC6B246593B}"/>
                  </a:ext>
                </a:extLst>
              </p:cNvPr>
              <p:cNvSpPr txBox="1">
                <a:spLocks noRot="1" noChangeAspect="1" noMove="1" noResize="1" noEditPoints="1" noAdjustHandles="1" noChangeArrowheads="1" noChangeShapeType="1" noTextEdit="1"/>
              </p:cNvSpPr>
              <p:nvPr/>
            </p:nvSpPr>
            <p:spPr>
              <a:xfrm>
                <a:off x="1223486" y="2701659"/>
                <a:ext cx="377328" cy="461665"/>
              </a:xfrm>
              <a:prstGeom prst="rect">
                <a:avLst/>
              </a:prstGeom>
              <a:blipFill>
                <a:blip r:embed="rId4"/>
                <a:stretch>
                  <a:fillRect l="-483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CEDC4128-BC21-48FB-AE19-232A2C89BE03}"/>
                  </a:ext>
                </a:extLst>
              </p:cNvPr>
              <p:cNvSpPr txBox="1"/>
              <p:nvPr/>
            </p:nvSpPr>
            <p:spPr>
              <a:xfrm>
                <a:off x="1234350" y="2244459"/>
                <a:ext cx="37732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TW" sz="2400" b="0" i="0" smtClean="0">
                          <a:latin typeface="Cambria Math" panose="02040503050406030204" pitchFamily="18" charset="0"/>
                        </a:rPr>
                        <m:t>S</m:t>
                      </m:r>
                      <m:r>
                        <a:rPr lang="en-US" altLang="zh-TW" sz="2400" b="0" i="0" smtClean="0">
                          <a:latin typeface="Cambria Math" panose="02040503050406030204" pitchFamily="18" charset="0"/>
                        </a:rPr>
                        <m:t>′</m:t>
                      </m:r>
                    </m:oMath>
                  </m:oMathPara>
                </a14:m>
                <a:endParaRPr lang="zh-TW" altLang="en-US" sz="2400" dirty="0"/>
              </a:p>
            </p:txBody>
          </p:sp>
        </mc:Choice>
        <mc:Fallback xmlns="">
          <p:sp>
            <p:nvSpPr>
              <p:cNvPr id="13" name="文字方塊 12">
                <a:extLst>
                  <a:ext uri="{FF2B5EF4-FFF2-40B4-BE49-F238E27FC236}">
                    <a16:creationId xmlns:a16="http://schemas.microsoft.com/office/drawing/2014/main" id="{CEDC4128-BC21-48FB-AE19-232A2C89BE03}"/>
                  </a:ext>
                </a:extLst>
              </p:cNvPr>
              <p:cNvSpPr txBox="1">
                <a:spLocks noRot="1" noChangeAspect="1" noMove="1" noResize="1" noEditPoints="1" noAdjustHandles="1" noChangeArrowheads="1" noChangeShapeType="1" noTextEdit="1"/>
              </p:cNvSpPr>
              <p:nvPr/>
            </p:nvSpPr>
            <p:spPr>
              <a:xfrm>
                <a:off x="1234350" y="2244459"/>
                <a:ext cx="377328" cy="461665"/>
              </a:xfrm>
              <a:prstGeom prst="rect">
                <a:avLst/>
              </a:prstGeom>
              <a:blipFill>
                <a:blip r:embed="rId5"/>
                <a:stretch>
                  <a:fillRect l="-6452" r="-1774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AF9B9753-23ED-4203-BB08-D919BB47BFC8}"/>
                  </a:ext>
                </a:extLst>
              </p:cNvPr>
              <p:cNvSpPr txBox="1"/>
              <p:nvPr/>
            </p:nvSpPr>
            <p:spPr>
              <a:xfrm>
                <a:off x="1245214" y="4071171"/>
                <a:ext cx="37732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TW" sz="2400" b="0" i="0" smtClean="0">
                          <a:latin typeface="Cambria Math" panose="02040503050406030204" pitchFamily="18" charset="0"/>
                        </a:rPr>
                        <m:t>S</m:t>
                      </m:r>
                      <m:r>
                        <a:rPr lang="en-US" altLang="zh-TW" sz="2400" b="0" i="0" smtClean="0">
                          <a:latin typeface="Cambria Math" panose="02040503050406030204" pitchFamily="18" charset="0"/>
                        </a:rPr>
                        <m:t>′</m:t>
                      </m:r>
                    </m:oMath>
                  </m:oMathPara>
                </a14:m>
                <a:endParaRPr lang="zh-TW" altLang="en-US" sz="2400" dirty="0"/>
              </a:p>
            </p:txBody>
          </p:sp>
        </mc:Choice>
        <mc:Fallback xmlns="">
          <p:sp>
            <p:nvSpPr>
              <p:cNvPr id="14" name="文字方塊 13">
                <a:extLst>
                  <a:ext uri="{FF2B5EF4-FFF2-40B4-BE49-F238E27FC236}">
                    <a16:creationId xmlns:a16="http://schemas.microsoft.com/office/drawing/2014/main" id="{AF9B9753-23ED-4203-BB08-D919BB47BFC8}"/>
                  </a:ext>
                </a:extLst>
              </p:cNvPr>
              <p:cNvSpPr txBox="1">
                <a:spLocks noRot="1" noChangeAspect="1" noMove="1" noResize="1" noEditPoints="1" noAdjustHandles="1" noChangeArrowheads="1" noChangeShapeType="1" noTextEdit="1"/>
              </p:cNvSpPr>
              <p:nvPr/>
            </p:nvSpPr>
            <p:spPr>
              <a:xfrm>
                <a:off x="1245214" y="4071171"/>
                <a:ext cx="377328" cy="461665"/>
              </a:xfrm>
              <a:prstGeom prst="rect">
                <a:avLst/>
              </a:prstGeom>
              <a:blipFill>
                <a:blip r:embed="rId6"/>
                <a:stretch>
                  <a:fillRect l="-6452" r="-1774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23953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Experiments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7</a:t>
            </a:fld>
            <a:endParaRPr kumimoji="1" lang="zh-TW" altLang="en-US" dirty="0"/>
          </a:p>
        </p:txBody>
      </p:sp>
      <p:pic>
        <p:nvPicPr>
          <p:cNvPr id="5" name="圖片 4">
            <a:extLst>
              <a:ext uri="{FF2B5EF4-FFF2-40B4-BE49-F238E27FC236}">
                <a16:creationId xmlns:a16="http://schemas.microsoft.com/office/drawing/2014/main" id="{1A3ADB8A-59D0-48F0-8325-F79968F650CA}"/>
              </a:ext>
            </a:extLst>
          </p:cNvPr>
          <p:cNvPicPr>
            <a:picLocks noChangeAspect="1"/>
          </p:cNvPicPr>
          <p:nvPr/>
        </p:nvPicPr>
        <p:blipFill>
          <a:blip r:embed="rId3"/>
          <a:stretch>
            <a:fillRect/>
          </a:stretch>
        </p:blipFill>
        <p:spPr>
          <a:xfrm>
            <a:off x="283248" y="1557524"/>
            <a:ext cx="4641292" cy="2306496"/>
          </a:xfrm>
          <a:prstGeom prst="rect">
            <a:avLst/>
          </a:prstGeom>
        </p:spPr>
      </p:pic>
      <p:pic>
        <p:nvPicPr>
          <p:cNvPr id="7" name="圖片 6">
            <a:extLst>
              <a:ext uri="{FF2B5EF4-FFF2-40B4-BE49-F238E27FC236}">
                <a16:creationId xmlns:a16="http://schemas.microsoft.com/office/drawing/2014/main" id="{C4D26D84-11B4-4185-84D2-AF6E7F25DE1C}"/>
              </a:ext>
            </a:extLst>
          </p:cNvPr>
          <p:cNvPicPr>
            <a:picLocks noChangeAspect="1"/>
          </p:cNvPicPr>
          <p:nvPr/>
        </p:nvPicPr>
        <p:blipFill>
          <a:blip r:embed="rId4"/>
          <a:stretch>
            <a:fillRect/>
          </a:stretch>
        </p:blipFill>
        <p:spPr>
          <a:xfrm>
            <a:off x="5185018" y="1557524"/>
            <a:ext cx="6807096" cy="4492103"/>
          </a:xfrm>
          <a:prstGeom prst="rect">
            <a:avLst/>
          </a:prstGeom>
        </p:spPr>
      </p:pic>
    </p:spTree>
    <p:extLst>
      <p:ext uri="{BB962C8B-B14F-4D97-AF65-F5344CB8AC3E}">
        <p14:creationId xmlns:p14="http://schemas.microsoft.com/office/powerpoint/2010/main" val="2882579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a:xfrm>
            <a:off x="546253" y="1121683"/>
            <a:ext cx="11099494" cy="2387600"/>
          </a:xfrm>
        </p:spPr>
        <p:txBody>
          <a:bodyPr anchor="ctr">
            <a:normAutofit/>
          </a:bodyPr>
          <a:lstStyle/>
          <a:p>
            <a:r>
              <a:rPr kumimoji="1" lang="en-US" altLang="zh-TW" sz="4800" dirty="0">
                <a:latin typeface="Times New Roman" panose="02020603050405020304" pitchFamily="18" charset="0"/>
                <a:cs typeface="Times New Roman" panose="02020603050405020304" pitchFamily="18" charset="0"/>
              </a:rPr>
              <a:t>An Efficient Hybrid Exact String Matching Algorithm to Minimize the Number of Attempts and Character Comparisons</a:t>
            </a:r>
            <a:endParaRPr kumimoji="1" lang="zh-TW" altLang="en-US" sz="4800" dirty="0">
              <a:latin typeface="Times" pitchFamily="2"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a:xfrm>
            <a:off x="447675" y="3565526"/>
            <a:ext cx="11296650" cy="1655762"/>
          </a:xfrm>
        </p:spPr>
        <p:txBody>
          <a:bodyPr>
            <a:noAutofit/>
          </a:bodyPr>
          <a:lstStyle/>
          <a:p>
            <a:pPr>
              <a:lnSpc>
                <a:spcPct val="100000"/>
              </a:lnSpc>
            </a:pPr>
            <a:r>
              <a:rPr lang="sv-SE" altLang="zh-TW" dirty="0">
                <a:latin typeface="Times New Roman" panose="02020603050405020304" pitchFamily="18" charset="0"/>
                <a:cs typeface="Times New Roman" panose="02020603050405020304" pitchFamily="18" charset="0"/>
              </a:rPr>
              <a:t>Prince Mahmud, Md. Sohel Rana and Kamrul Hasan Talukder</a:t>
            </a:r>
          </a:p>
          <a:p>
            <a:pPr>
              <a:lnSpc>
                <a:spcPct val="100000"/>
              </a:lnSpc>
            </a:pPr>
            <a:r>
              <a:rPr lang="en-US" altLang="zh-TW" dirty="0">
                <a:latin typeface="Times New Roman" panose="02020603050405020304" pitchFamily="18" charset="0"/>
                <a:cs typeface="Times New Roman" panose="02020603050405020304" pitchFamily="18" charset="0"/>
              </a:rPr>
              <a:t>2018 21st International Conference of Computer and Information Technology (ICCIT), 21-23 December, 2018, United International University, Dhaka, Bangladesh</a:t>
            </a: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573012" cy="646331"/>
          </a:xfrm>
          <a:prstGeom prst="rect">
            <a:avLst/>
          </a:prstGeom>
          <a:noFill/>
        </p:spPr>
        <p:txBody>
          <a:bodyPr wrap="none" rtlCol="0">
            <a:spAutoFit/>
          </a:bodyPr>
          <a:lstStyle/>
          <a:p>
            <a:r>
              <a:rPr kumimoji="1" lang="en-US" altLang="zh-TW" dirty="0">
                <a:latin typeface="Times" pitchFamily="2" charset="0"/>
              </a:rPr>
              <a:t>Presenter: Wen-Yu Chang</a:t>
            </a:r>
          </a:p>
          <a:p>
            <a:r>
              <a:rPr kumimoji="1" lang="en-US" altLang="zh-TW" dirty="0">
                <a:latin typeface="Times" pitchFamily="2" charset="0"/>
              </a:rPr>
              <a:t>Date:</a:t>
            </a:r>
            <a:r>
              <a:rPr kumimoji="1" lang="zh-TW" altLang="en-US" dirty="0">
                <a:latin typeface="Times" pitchFamily="2" charset="0"/>
              </a:rPr>
              <a:t> </a:t>
            </a:r>
            <a:r>
              <a:rPr kumimoji="1" lang="en-US" altLang="zh-TW" dirty="0">
                <a:latin typeface="Times" pitchFamily="2" charset="0"/>
              </a:rPr>
              <a:t>Apr.</a:t>
            </a:r>
            <a:r>
              <a:rPr kumimoji="1" lang="zh-TW" altLang="en-US" dirty="0">
                <a:latin typeface="Times" pitchFamily="2" charset="0"/>
              </a:rPr>
              <a:t> </a:t>
            </a:r>
            <a:r>
              <a:rPr kumimoji="1" lang="en-US" altLang="zh-TW" dirty="0">
                <a:latin typeface="Times" pitchFamily="2" charset="0"/>
              </a:rPr>
              <a:t>30,</a:t>
            </a:r>
            <a:r>
              <a:rPr kumimoji="1" lang="zh-TW" altLang="en-US" dirty="0">
                <a:latin typeface="Times" pitchFamily="2" charset="0"/>
              </a:rPr>
              <a:t> </a:t>
            </a:r>
            <a:r>
              <a:rPr kumimoji="1" lang="en-US" altLang="zh-TW" dirty="0">
                <a:latin typeface="Times" pitchFamily="2" charset="0"/>
              </a:rPr>
              <a:t>2024</a:t>
            </a:r>
            <a:endParaRPr kumimoji="1" lang="zh-TW" altLang="en-US" dirty="0">
              <a:latin typeface="Times" pitchFamily="2" charset="0"/>
            </a:endParaRPr>
          </a:p>
        </p:txBody>
      </p:sp>
    </p:spTree>
    <p:extLst>
      <p:ext uri="{BB962C8B-B14F-4D97-AF65-F5344CB8AC3E}">
        <p14:creationId xmlns:p14="http://schemas.microsoft.com/office/powerpoint/2010/main" val="3073230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 (1/2)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481138"/>
            <a:ext cx="10515600" cy="4351338"/>
          </a:xfrm>
        </p:spPr>
        <p:txBody>
          <a:bodyPr>
            <a:noAutofit/>
          </a:bodyPr>
          <a:lstStyle/>
          <a:p>
            <a:pPr marL="0" indent="0" algn="just">
              <a:lnSpc>
                <a:spcPct val="150000"/>
              </a:lnSpc>
              <a:buNone/>
            </a:pPr>
            <a:r>
              <a:rPr lang="en-US" altLang="zh-TW" sz="2400" dirty="0">
                <a:latin typeface="Times" panose="02020603050405020304" pitchFamily="18" charset="0"/>
                <a:cs typeface="Times" panose="02020603050405020304" pitchFamily="18" charset="0"/>
              </a:rPr>
              <a:t>String matching fundamentally is a classical problem of finding occurrence(s) of a pattern string within another string or body of text. String matching problems can be traced into intrusion detection in network, detecting plagiarism, information security, pattern recognition, document matching, text mining, speech analysis, application in bioinformatics and other diversified fields. Two important factors of string matching which are also the challenges of this paper are “number of attempts” and “number of character comparisons”. With these challenges of string matching, we have proposed a hybrid algorithm which is named as MAC (Minimum number of Attempts and Character Comparisons) algorithm. </a:t>
            </a:r>
            <a:endParaRPr lang="en" altLang="zh-TW" sz="2400" dirty="0">
              <a:latin typeface="Times" panose="02020603050405020304" pitchFamily="18" charset="0"/>
              <a:cs typeface="Times" panose="02020603050405020304" pitchFamily="18" charset="0"/>
            </a:endParaRP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9</a:t>
            </a:fld>
            <a:endParaRPr kumimoji="1" lang="zh-TW" altLang="en-US"/>
          </a:p>
        </p:txBody>
      </p:sp>
    </p:spTree>
    <p:extLst>
      <p:ext uri="{BB962C8B-B14F-4D97-AF65-F5344CB8AC3E}">
        <p14:creationId xmlns:p14="http://schemas.microsoft.com/office/powerpoint/2010/main" val="1294917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 (2/2)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481138"/>
            <a:ext cx="10515600" cy="4351338"/>
          </a:xfrm>
        </p:spPr>
        <p:txBody>
          <a:bodyPr>
            <a:noAutofit/>
          </a:bodyPr>
          <a:lstStyle/>
          <a:p>
            <a:pPr marL="0" indent="0" algn="just">
              <a:lnSpc>
                <a:spcPct val="150000"/>
              </a:lnSpc>
              <a:buNone/>
            </a:pPr>
            <a:r>
              <a:rPr lang="en-US" altLang="zh-TW" sz="2400" dirty="0">
                <a:latin typeface="Times" panose="02020603050405020304" pitchFamily="18" charset="0"/>
                <a:cs typeface="Times" panose="02020603050405020304" pitchFamily="18" charset="0"/>
              </a:rPr>
              <a:t>We have integrated the concepts of Berry-Ravindran (BR) algorithm and index based shifting approach with our new search technique to build our MAC algorithm. We have evaluated the MAC algorithm to analyze the performance for English text alongside biological data (DNA sequence and Protein sequence). The performance of MAC algorithm has turned out to be better than Maximum-Shift (MS) algorithm and Index Based Shifting (IBS) algorithm. The performance of the MAC algorithm is proficient for exact string matching for both small and large size of pattern length comparing with some existing algorithm to solve the string matching problem.</a:t>
            </a:r>
            <a:endParaRPr lang="en" altLang="zh-TW" sz="2400" dirty="0">
              <a:latin typeface="Times" panose="02020603050405020304" pitchFamily="18" charset="0"/>
              <a:cs typeface="Times" panose="02020603050405020304" pitchFamily="18" charset="0"/>
            </a:endParaRP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10</a:t>
            </a:fld>
            <a:endParaRPr kumimoji="1" lang="zh-TW" altLang="en-US"/>
          </a:p>
        </p:txBody>
      </p:sp>
    </p:spTree>
    <p:extLst>
      <p:ext uri="{BB962C8B-B14F-4D97-AF65-F5344CB8AC3E}">
        <p14:creationId xmlns:p14="http://schemas.microsoft.com/office/powerpoint/2010/main" val="885124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Preprocessing Phase</a:t>
            </a:r>
            <a:r>
              <a:rPr kumimoji="1" lang="zh-TW" altLang="en-US" dirty="0">
                <a:latin typeface="Times" pitchFamily="2" charset="0"/>
              </a:rPr>
              <a:t> </a:t>
            </a:r>
            <a:r>
              <a:rPr kumimoji="1" lang="en-US" altLang="zh-TW" dirty="0">
                <a:latin typeface="Times" pitchFamily="2" charset="0"/>
              </a:rPr>
              <a:t>(1/2)</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11</a:t>
            </a:fld>
            <a:endParaRPr kumimoji="1" lang="zh-TW" altLang="en-US" dirty="0"/>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510D1CD6-0691-4533-80A7-E24F6415AA53}"/>
                  </a:ext>
                </a:extLst>
              </p:cNvPr>
              <p:cNvSpPr txBox="1"/>
              <p:nvPr/>
            </p:nvSpPr>
            <p:spPr>
              <a:xfrm>
                <a:off x="838199" y="1672662"/>
                <a:ext cx="10515601" cy="1938992"/>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r>
                      <m:rPr>
                        <m:sty m:val="p"/>
                      </m:rPr>
                      <a:rPr lang="en-US" altLang="zh-TW" sz="2400" b="0" i="0" dirty="0" smtClean="0">
                        <a:solidFill>
                          <a:srgbClr val="333333"/>
                        </a:solidFill>
                        <a:effectLst/>
                        <a:latin typeface="Cambria Math" panose="02040503050406030204" pitchFamily="18" charset="0"/>
                      </a:rPr>
                      <m:t>T</m:t>
                    </m:r>
                    <m:r>
                      <a:rPr lang="en-US" altLang="zh-TW" sz="2400" b="0" i="0" dirty="0" smtClean="0">
                        <a:solidFill>
                          <a:srgbClr val="333333"/>
                        </a:solidFill>
                        <a:effectLst/>
                        <a:latin typeface="Cambria Math" panose="02040503050406030204" pitchFamily="18" charset="0"/>
                      </a:rPr>
                      <m:t>=</m:t>
                    </m:r>
                    <m:r>
                      <m:rPr>
                        <m:sty m:val="p"/>
                      </m:rPr>
                      <a:rPr lang="en-US" altLang="zh-TW" sz="2400" b="0" i="0" dirty="0" smtClean="0">
                        <a:solidFill>
                          <a:srgbClr val="333333"/>
                        </a:solidFill>
                        <a:effectLst/>
                        <a:latin typeface="Cambria Math" panose="02040503050406030204" pitchFamily="18" charset="0"/>
                      </a:rPr>
                      <m:t>ATCTAACATCATAACCCTAATTGGCAGAGAGAGAATCAATCGAATCA</m:t>
                    </m:r>
                  </m:oMath>
                </a14:m>
                <a:endParaRPr lang="en-US" altLang="zh-TW" sz="2400" b="0" dirty="0">
                  <a:solidFill>
                    <a:srgbClr val="333333"/>
                  </a:solidFill>
                  <a:effectLst/>
                  <a:latin typeface="Georgia" panose="02040502050405020303" pitchFamily="18" charset="0"/>
                </a:endParaRPr>
              </a:p>
              <a:p>
                <a:pPr marL="342900" indent="-342900">
                  <a:buFont typeface="Arial" panose="020B0604020202020204" pitchFamily="34" charset="0"/>
                  <a:buChar char="•"/>
                </a:pPr>
                <a14:m>
                  <m:oMath xmlns:m="http://schemas.openxmlformats.org/officeDocument/2006/math">
                    <m:r>
                      <m:rPr>
                        <m:sty m:val="p"/>
                      </m:rPr>
                      <a:rPr lang="en-US" altLang="zh-TW" sz="2400" b="0" i="0" dirty="0" smtClean="0">
                        <a:solidFill>
                          <a:srgbClr val="333333"/>
                        </a:solidFill>
                        <a:effectLst/>
                        <a:latin typeface="Cambria Math" panose="02040503050406030204" pitchFamily="18" charset="0"/>
                      </a:rPr>
                      <m:t>P</m:t>
                    </m:r>
                    <m:r>
                      <a:rPr lang="en-US" altLang="zh-TW" sz="2400" b="0" i="0" dirty="0" smtClean="0">
                        <a:solidFill>
                          <a:srgbClr val="333333"/>
                        </a:solidFill>
                        <a:effectLst/>
                        <a:latin typeface="Cambria Math" panose="02040503050406030204" pitchFamily="18" charset="0"/>
                      </a:rPr>
                      <m:t>=</m:t>
                    </m:r>
                    <m:r>
                      <m:rPr>
                        <m:sty m:val="p"/>
                      </m:rPr>
                      <a:rPr lang="en-US" altLang="zh-TW" sz="2400" b="0" i="0" dirty="0" smtClean="0">
                        <a:solidFill>
                          <a:srgbClr val="333333"/>
                        </a:solidFill>
                        <a:effectLst/>
                        <a:latin typeface="Cambria Math" panose="02040503050406030204" pitchFamily="18" charset="0"/>
                      </a:rPr>
                      <m:t>GCAGAGAG</m:t>
                    </m:r>
                  </m:oMath>
                </a14:m>
                <a:endParaRPr lang="en-US" altLang="zh-TW" sz="2400" b="0" dirty="0">
                  <a:solidFill>
                    <a:srgbClr val="333333"/>
                  </a:solidFill>
                  <a:effectLst/>
                  <a:latin typeface="Georgia" panose="02040502050405020303" pitchFamily="18" charset="0"/>
                </a:endParaRPr>
              </a:p>
              <a:p>
                <a:pPr marL="342900" indent="-342900">
                  <a:buFont typeface="Arial" panose="020B0604020202020204" pitchFamily="34" charset="0"/>
                  <a:buChar char="•"/>
                </a:pPr>
                <a14:m>
                  <m:oMath xmlns:m="http://schemas.openxmlformats.org/officeDocument/2006/math">
                    <m:r>
                      <a:rPr lang="en-US" altLang="zh-TW" sz="2400" b="0" i="1" smtClean="0">
                        <a:solidFill>
                          <a:srgbClr val="333333"/>
                        </a:solidFill>
                        <a:effectLst/>
                        <a:latin typeface="Cambria Math" panose="02040503050406030204" pitchFamily="18" charset="0"/>
                      </a:rPr>
                      <m:t>𝑛</m:t>
                    </m:r>
                    <m:r>
                      <a:rPr lang="en-US" altLang="zh-TW" sz="2400" b="0" i="1" smtClean="0">
                        <a:solidFill>
                          <a:srgbClr val="333333"/>
                        </a:solidFill>
                        <a:effectLst/>
                        <a:latin typeface="Cambria Math" panose="02040503050406030204" pitchFamily="18" charset="0"/>
                      </a:rPr>
                      <m:t>=47, </m:t>
                    </m:r>
                    <m:r>
                      <a:rPr lang="en-US" altLang="zh-TW" sz="2400" b="0" i="1" smtClean="0">
                        <a:solidFill>
                          <a:srgbClr val="333333"/>
                        </a:solidFill>
                        <a:effectLst/>
                        <a:latin typeface="Cambria Math" panose="02040503050406030204" pitchFamily="18" charset="0"/>
                      </a:rPr>
                      <m:t>𝑚</m:t>
                    </m:r>
                    <m:r>
                      <a:rPr lang="en-US" altLang="zh-TW" sz="2400" b="0" i="1" smtClean="0">
                        <a:solidFill>
                          <a:srgbClr val="333333"/>
                        </a:solidFill>
                        <a:effectLst/>
                        <a:latin typeface="Cambria Math" panose="02040503050406030204" pitchFamily="18" charset="0"/>
                      </a:rPr>
                      <m:t>=8</m:t>
                    </m:r>
                  </m:oMath>
                </a14:m>
                <a:endParaRPr lang="en-US" altLang="zh-TW" sz="2400" b="0" i="0" dirty="0">
                  <a:solidFill>
                    <a:srgbClr val="333333"/>
                  </a:solidFill>
                  <a:effectLst/>
                  <a:latin typeface="Georgia" panose="02040502050405020303" pitchFamily="18" charset="0"/>
                </a:endParaRPr>
              </a:p>
              <a:p>
                <a:pPr marL="342900" indent="-342900">
                  <a:buFont typeface="Arial" panose="020B0604020202020204" pitchFamily="34" charset="0"/>
                  <a:buChar char="•"/>
                </a:pPr>
                <a:endParaRPr lang="en-US" altLang="zh-TW" sz="2400" b="0" i="0" dirty="0">
                  <a:solidFill>
                    <a:srgbClr val="333333"/>
                  </a:solidFill>
                  <a:effectLst/>
                  <a:latin typeface="Georgia" panose="02040502050405020303" pitchFamily="18" charset="0"/>
                </a:endParaRPr>
              </a:p>
              <a:p>
                <a:pPr marL="342900" indent="-342900">
                  <a:buFont typeface="Arial" panose="020B0604020202020204" pitchFamily="34" charset="0"/>
                  <a:buChar char="•"/>
                </a:pPr>
                <a:r>
                  <a:rPr lang="en-US" altLang="zh-TW" sz="2400" b="0" i="0" dirty="0">
                    <a:solidFill>
                      <a:srgbClr val="333333"/>
                    </a:solidFill>
                    <a:effectLst/>
                    <a:latin typeface="Georgia" panose="02040502050405020303" pitchFamily="18" charset="0"/>
                  </a:rPr>
                  <a:t>Berry Ravindran bad character table (</a:t>
                </a:r>
                <a14:m>
                  <m:oMath xmlns:m="http://schemas.openxmlformats.org/officeDocument/2006/math">
                    <m:r>
                      <a:rPr lang="en-US" altLang="zh-TW" sz="2400" b="0" i="1" dirty="0" smtClean="0">
                        <a:solidFill>
                          <a:srgbClr val="333333"/>
                        </a:solidFill>
                        <a:effectLst/>
                        <a:latin typeface="Cambria Math" panose="02040503050406030204" pitchFamily="18" charset="0"/>
                      </a:rPr>
                      <m:t>𝑏𝑟𝐵𝑐</m:t>
                    </m:r>
                  </m:oMath>
                </a14:m>
                <a:r>
                  <a:rPr lang="en-US" altLang="zh-TW" sz="2400" b="0" i="0" dirty="0">
                    <a:solidFill>
                      <a:srgbClr val="333333"/>
                    </a:solidFill>
                    <a:effectLst/>
                    <a:latin typeface="Georgia" panose="02040502050405020303" pitchFamily="18" charset="0"/>
                  </a:rPr>
                  <a:t>)</a:t>
                </a:r>
                <a:endParaRPr lang="en-US" altLang="zh-TW" sz="2400" dirty="0">
                  <a:latin typeface="Times" panose="02020603050405020304" pitchFamily="18" charset="0"/>
                  <a:cs typeface="Times" panose="02020603050405020304" pitchFamily="18" charset="0"/>
                </a:endParaRPr>
              </a:p>
            </p:txBody>
          </p:sp>
        </mc:Choice>
        <mc:Fallback xmlns="">
          <p:sp>
            <p:nvSpPr>
              <p:cNvPr id="6" name="文字方塊 5">
                <a:extLst>
                  <a:ext uri="{FF2B5EF4-FFF2-40B4-BE49-F238E27FC236}">
                    <a16:creationId xmlns:a16="http://schemas.microsoft.com/office/drawing/2014/main" id="{510D1CD6-0691-4533-80A7-E24F6415AA53}"/>
                  </a:ext>
                </a:extLst>
              </p:cNvPr>
              <p:cNvSpPr txBox="1">
                <a:spLocks noRot="1" noChangeAspect="1" noMove="1" noResize="1" noEditPoints="1" noAdjustHandles="1" noChangeArrowheads="1" noChangeShapeType="1" noTextEdit="1"/>
              </p:cNvSpPr>
              <p:nvPr/>
            </p:nvSpPr>
            <p:spPr>
              <a:xfrm>
                <a:off x="838199" y="1672662"/>
                <a:ext cx="10515601" cy="1938992"/>
              </a:xfrm>
              <a:prstGeom prst="rect">
                <a:avLst/>
              </a:prstGeom>
              <a:blipFill>
                <a:blip r:embed="rId3"/>
                <a:stretch>
                  <a:fillRect l="-753" t="-1258" b="-6289"/>
                </a:stretch>
              </a:blipFill>
            </p:spPr>
            <p:txBody>
              <a:bodyPr/>
              <a:lstStyle/>
              <a:p>
                <a:r>
                  <a:rPr lang="zh-TW" altLang="en-US">
                    <a:noFill/>
                  </a:rPr>
                  <a:t> </a:t>
                </a:r>
              </a:p>
            </p:txBody>
          </p:sp>
        </mc:Fallback>
      </mc:AlternateContent>
      <p:graphicFrame>
        <p:nvGraphicFramePr>
          <p:cNvPr id="9" name="表格 8">
            <a:extLst>
              <a:ext uri="{FF2B5EF4-FFF2-40B4-BE49-F238E27FC236}">
                <a16:creationId xmlns:a16="http://schemas.microsoft.com/office/drawing/2014/main" id="{78498A93-EEB9-407D-915F-92720F5D1E88}"/>
              </a:ext>
            </a:extLst>
          </p:cNvPr>
          <p:cNvGraphicFramePr>
            <a:graphicFrameLocks noGrp="1"/>
          </p:cNvGraphicFramePr>
          <p:nvPr>
            <p:extLst>
              <p:ext uri="{D42A27DB-BD31-4B8C-83A1-F6EECF244321}">
                <p14:modId xmlns:p14="http://schemas.microsoft.com/office/powerpoint/2010/main" val="512240171"/>
              </p:ext>
            </p:extLst>
          </p:nvPr>
        </p:nvGraphicFramePr>
        <p:xfrm>
          <a:off x="1593767" y="3705143"/>
          <a:ext cx="3003470" cy="2804975"/>
        </p:xfrm>
        <a:graphic>
          <a:graphicData uri="http://schemas.openxmlformats.org/drawingml/2006/table">
            <a:tbl>
              <a:tblPr firstRow="1" bandRow="1">
                <a:tableStyleId>{5C22544A-7EE6-4342-B048-85BDC9FD1C3A}</a:tableStyleId>
              </a:tblPr>
              <a:tblGrid>
                <a:gridCol w="600694">
                  <a:extLst>
                    <a:ext uri="{9D8B030D-6E8A-4147-A177-3AD203B41FA5}">
                      <a16:colId xmlns:a16="http://schemas.microsoft.com/office/drawing/2014/main" val="2265005127"/>
                    </a:ext>
                  </a:extLst>
                </a:gridCol>
                <a:gridCol w="600694">
                  <a:extLst>
                    <a:ext uri="{9D8B030D-6E8A-4147-A177-3AD203B41FA5}">
                      <a16:colId xmlns:a16="http://schemas.microsoft.com/office/drawing/2014/main" val="3038674402"/>
                    </a:ext>
                  </a:extLst>
                </a:gridCol>
                <a:gridCol w="600694">
                  <a:extLst>
                    <a:ext uri="{9D8B030D-6E8A-4147-A177-3AD203B41FA5}">
                      <a16:colId xmlns:a16="http://schemas.microsoft.com/office/drawing/2014/main" val="4241917921"/>
                    </a:ext>
                  </a:extLst>
                </a:gridCol>
                <a:gridCol w="600694">
                  <a:extLst>
                    <a:ext uri="{9D8B030D-6E8A-4147-A177-3AD203B41FA5}">
                      <a16:colId xmlns:a16="http://schemas.microsoft.com/office/drawing/2014/main" val="1386874660"/>
                    </a:ext>
                  </a:extLst>
                </a:gridCol>
                <a:gridCol w="600694">
                  <a:extLst>
                    <a:ext uri="{9D8B030D-6E8A-4147-A177-3AD203B41FA5}">
                      <a16:colId xmlns:a16="http://schemas.microsoft.com/office/drawing/2014/main" val="3661793645"/>
                    </a:ext>
                  </a:extLst>
                </a:gridCol>
              </a:tblGrid>
              <a:tr h="560995">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1560245"/>
                  </a:ext>
                </a:extLst>
              </a:tr>
              <a:tr h="560995">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2025558"/>
                  </a:ext>
                </a:extLst>
              </a:tr>
              <a:tr h="560995">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4955491"/>
                  </a:ext>
                </a:extLst>
              </a:tr>
              <a:tr h="560995">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7334569"/>
                  </a:ext>
                </a:extLst>
              </a:tr>
              <a:tr h="560995">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8699624"/>
                  </a:ext>
                </a:extLst>
              </a:tr>
            </a:tbl>
          </a:graphicData>
        </a:graphic>
      </p:graphicFrame>
      <p:pic>
        <p:nvPicPr>
          <p:cNvPr id="1026" name="Picture 2">
            <a:extLst>
              <a:ext uri="{FF2B5EF4-FFF2-40B4-BE49-F238E27FC236}">
                <a16:creationId xmlns:a16="http://schemas.microsoft.com/office/drawing/2014/main" id="{C684FB51-D43F-46B4-936E-10AE17B001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7467" y="4239923"/>
            <a:ext cx="6717848" cy="1378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3962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Preprocessing Phase</a:t>
            </a:r>
            <a:r>
              <a:rPr kumimoji="1" lang="zh-TW" altLang="en-US" dirty="0">
                <a:latin typeface="Times" pitchFamily="2" charset="0"/>
              </a:rPr>
              <a:t> </a:t>
            </a:r>
            <a:r>
              <a:rPr kumimoji="1" lang="en-US" altLang="zh-TW" dirty="0">
                <a:latin typeface="Times" pitchFamily="2" charset="0"/>
              </a:rPr>
              <a:t>(2/2)</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12</a:t>
            </a:fld>
            <a:endParaRPr kumimoji="1" lang="zh-TW" altLang="en-US" dirty="0"/>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510D1CD6-0691-4533-80A7-E24F6415AA53}"/>
                  </a:ext>
                </a:extLst>
              </p:cNvPr>
              <p:cNvSpPr txBox="1"/>
              <p:nvPr/>
            </p:nvSpPr>
            <p:spPr>
              <a:xfrm>
                <a:off x="838199" y="1672662"/>
                <a:ext cx="10515601" cy="3785652"/>
              </a:xfrm>
              <a:prstGeom prst="rect">
                <a:avLst/>
              </a:prstGeom>
              <a:noFill/>
            </p:spPr>
            <p:txBody>
              <a:bodyPr wrap="square" rtlCol="0">
                <a:spAutoFit/>
              </a:bodyPr>
              <a:lstStyle/>
              <a:p>
                <a:pPr marL="342900" indent="-342900">
                  <a:buFont typeface="Arial" panose="020B0604020202020204" pitchFamily="34" charset="0"/>
                  <a:buChar char="•"/>
                </a:pPr>
                <a:r>
                  <a:rPr lang="en-US" altLang="zh-TW" sz="2400" b="0" i="0" dirty="0">
                    <a:solidFill>
                      <a:srgbClr val="333333"/>
                    </a:solidFill>
                    <a:effectLst/>
                    <a:latin typeface="Georgia" panose="02040502050405020303" pitchFamily="18" charset="0"/>
                  </a:rPr>
                  <a:t>Index table</a:t>
                </a: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r>
                  <a:rPr lang="en-US" altLang="zh-TW" sz="2400" b="0" i="0" dirty="0">
                    <a:solidFill>
                      <a:srgbClr val="333333"/>
                    </a:solidFill>
                    <a:effectLst/>
                    <a:latin typeface="Georgia" panose="02040502050405020303" pitchFamily="18" charset="0"/>
                  </a:rPr>
                  <a:t>Index based shifting value table (</a:t>
                </a:r>
                <a14:m>
                  <m:oMath xmlns:m="http://schemas.openxmlformats.org/officeDocument/2006/math">
                    <m:r>
                      <a:rPr lang="en-US" altLang="zh-TW" sz="2400" b="0" i="1" dirty="0" smtClean="0">
                        <a:solidFill>
                          <a:srgbClr val="333333"/>
                        </a:solidFill>
                        <a:effectLst/>
                        <a:latin typeface="Cambria Math" panose="02040503050406030204" pitchFamily="18" charset="0"/>
                      </a:rPr>
                      <m:t>𝐼𝑏𝑆𝑣</m:t>
                    </m:r>
                  </m:oMath>
                </a14:m>
                <a:r>
                  <a:rPr lang="en-US" altLang="zh-TW" sz="2400" b="0" i="0" dirty="0">
                    <a:solidFill>
                      <a:srgbClr val="333333"/>
                    </a:solidFill>
                    <a:effectLst/>
                    <a:latin typeface="Georgia" panose="02040502050405020303" pitchFamily="18" charset="0"/>
                  </a:rPr>
                  <a:t>)</a:t>
                </a:r>
                <a:endParaRPr lang="en-US" altLang="zh-TW" sz="2400" dirty="0">
                  <a:latin typeface="Times" panose="02020603050405020304" pitchFamily="18" charset="0"/>
                  <a:cs typeface="Times" panose="02020603050405020304" pitchFamily="18" charset="0"/>
                </a:endParaRPr>
              </a:p>
            </p:txBody>
          </p:sp>
        </mc:Choice>
        <mc:Fallback xmlns="">
          <p:sp>
            <p:nvSpPr>
              <p:cNvPr id="6" name="文字方塊 5">
                <a:extLst>
                  <a:ext uri="{FF2B5EF4-FFF2-40B4-BE49-F238E27FC236}">
                    <a16:creationId xmlns:a16="http://schemas.microsoft.com/office/drawing/2014/main" id="{510D1CD6-0691-4533-80A7-E24F6415AA53}"/>
                  </a:ext>
                </a:extLst>
              </p:cNvPr>
              <p:cNvSpPr txBox="1">
                <a:spLocks noRot="1" noChangeAspect="1" noMove="1" noResize="1" noEditPoints="1" noAdjustHandles="1" noChangeArrowheads="1" noChangeShapeType="1" noTextEdit="1"/>
              </p:cNvSpPr>
              <p:nvPr/>
            </p:nvSpPr>
            <p:spPr>
              <a:xfrm>
                <a:off x="838199" y="1672662"/>
                <a:ext cx="10515601" cy="3785652"/>
              </a:xfrm>
              <a:prstGeom prst="rect">
                <a:avLst/>
              </a:prstGeom>
              <a:blipFill>
                <a:blip r:embed="rId3"/>
                <a:stretch>
                  <a:fillRect l="-753" t="-1288" b="-2738"/>
                </a:stretch>
              </a:blipFill>
            </p:spPr>
            <p:txBody>
              <a:bodyPr/>
              <a:lstStyle/>
              <a:p>
                <a:r>
                  <a:rPr lang="zh-TW" altLang="en-US">
                    <a:noFill/>
                  </a:rPr>
                  <a:t> </a:t>
                </a:r>
              </a:p>
            </p:txBody>
          </p:sp>
        </mc:Fallback>
      </mc:AlternateContent>
      <p:graphicFrame>
        <p:nvGraphicFramePr>
          <p:cNvPr id="3" name="表格 4">
            <a:extLst>
              <a:ext uri="{FF2B5EF4-FFF2-40B4-BE49-F238E27FC236}">
                <a16:creationId xmlns:a16="http://schemas.microsoft.com/office/drawing/2014/main" id="{AFE046EB-BACE-41CB-A858-0C2E7F6F9830}"/>
              </a:ext>
            </a:extLst>
          </p:cNvPr>
          <p:cNvGraphicFramePr>
            <a:graphicFrameLocks noGrp="1"/>
          </p:cNvGraphicFramePr>
          <p:nvPr>
            <p:extLst>
              <p:ext uri="{D42A27DB-BD31-4B8C-83A1-F6EECF244321}">
                <p14:modId xmlns:p14="http://schemas.microsoft.com/office/powerpoint/2010/main" val="3904637154"/>
              </p:ext>
            </p:extLst>
          </p:nvPr>
        </p:nvGraphicFramePr>
        <p:xfrm>
          <a:off x="1649183" y="2137747"/>
          <a:ext cx="8893632" cy="2804975"/>
        </p:xfrm>
        <a:graphic>
          <a:graphicData uri="http://schemas.openxmlformats.org/drawingml/2006/table">
            <a:tbl>
              <a:tblPr firstRow="1" bandRow="1">
                <a:tableStyleId>{5C22544A-7EE6-4342-B048-85BDC9FD1C3A}</a:tableStyleId>
              </a:tblPr>
              <a:tblGrid>
                <a:gridCol w="808512">
                  <a:extLst>
                    <a:ext uri="{9D8B030D-6E8A-4147-A177-3AD203B41FA5}">
                      <a16:colId xmlns:a16="http://schemas.microsoft.com/office/drawing/2014/main" val="734379365"/>
                    </a:ext>
                  </a:extLst>
                </a:gridCol>
                <a:gridCol w="808512">
                  <a:extLst>
                    <a:ext uri="{9D8B030D-6E8A-4147-A177-3AD203B41FA5}">
                      <a16:colId xmlns:a16="http://schemas.microsoft.com/office/drawing/2014/main" val="2259459732"/>
                    </a:ext>
                  </a:extLst>
                </a:gridCol>
                <a:gridCol w="808512">
                  <a:extLst>
                    <a:ext uri="{9D8B030D-6E8A-4147-A177-3AD203B41FA5}">
                      <a16:colId xmlns:a16="http://schemas.microsoft.com/office/drawing/2014/main" val="2942269118"/>
                    </a:ext>
                  </a:extLst>
                </a:gridCol>
                <a:gridCol w="808512">
                  <a:extLst>
                    <a:ext uri="{9D8B030D-6E8A-4147-A177-3AD203B41FA5}">
                      <a16:colId xmlns:a16="http://schemas.microsoft.com/office/drawing/2014/main" val="1256231252"/>
                    </a:ext>
                  </a:extLst>
                </a:gridCol>
                <a:gridCol w="808512">
                  <a:extLst>
                    <a:ext uri="{9D8B030D-6E8A-4147-A177-3AD203B41FA5}">
                      <a16:colId xmlns:a16="http://schemas.microsoft.com/office/drawing/2014/main" val="1538823261"/>
                    </a:ext>
                  </a:extLst>
                </a:gridCol>
                <a:gridCol w="808512">
                  <a:extLst>
                    <a:ext uri="{9D8B030D-6E8A-4147-A177-3AD203B41FA5}">
                      <a16:colId xmlns:a16="http://schemas.microsoft.com/office/drawing/2014/main" val="2126521309"/>
                    </a:ext>
                  </a:extLst>
                </a:gridCol>
                <a:gridCol w="808512">
                  <a:extLst>
                    <a:ext uri="{9D8B030D-6E8A-4147-A177-3AD203B41FA5}">
                      <a16:colId xmlns:a16="http://schemas.microsoft.com/office/drawing/2014/main" val="2758042906"/>
                    </a:ext>
                  </a:extLst>
                </a:gridCol>
                <a:gridCol w="808512">
                  <a:extLst>
                    <a:ext uri="{9D8B030D-6E8A-4147-A177-3AD203B41FA5}">
                      <a16:colId xmlns:a16="http://schemas.microsoft.com/office/drawing/2014/main" val="213070629"/>
                    </a:ext>
                  </a:extLst>
                </a:gridCol>
                <a:gridCol w="808512">
                  <a:extLst>
                    <a:ext uri="{9D8B030D-6E8A-4147-A177-3AD203B41FA5}">
                      <a16:colId xmlns:a16="http://schemas.microsoft.com/office/drawing/2014/main" val="442983146"/>
                    </a:ext>
                  </a:extLst>
                </a:gridCol>
                <a:gridCol w="808512">
                  <a:extLst>
                    <a:ext uri="{9D8B030D-6E8A-4147-A177-3AD203B41FA5}">
                      <a16:colId xmlns:a16="http://schemas.microsoft.com/office/drawing/2014/main" val="2279591820"/>
                    </a:ext>
                  </a:extLst>
                </a:gridCol>
                <a:gridCol w="808512">
                  <a:extLst>
                    <a:ext uri="{9D8B030D-6E8A-4147-A177-3AD203B41FA5}">
                      <a16:colId xmlns:a16="http://schemas.microsoft.com/office/drawing/2014/main" val="1340073756"/>
                    </a:ext>
                  </a:extLst>
                </a:gridCol>
              </a:tblGrid>
              <a:tr h="560995">
                <a:tc rowSpan="2">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7006814"/>
                  </a:ext>
                </a:extLst>
              </a:tr>
              <a:tr h="560995">
                <a:tc v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3913556"/>
                  </a:ext>
                </a:extLst>
              </a:tr>
              <a:tr h="560995">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7712793"/>
                  </a:ext>
                </a:extLst>
              </a:tr>
              <a:tr h="560995">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769919"/>
                  </a:ext>
                </a:extLst>
              </a:tr>
              <a:tr h="560995">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3062559"/>
                  </a:ext>
                </a:extLst>
              </a:tr>
            </a:tbl>
          </a:graphicData>
        </a:graphic>
      </p:graphicFrame>
      <p:graphicFrame>
        <p:nvGraphicFramePr>
          <p:cNvPr id="8" name="表格 4">
            <a:extLst>
              <a:ext uri="{FF2B5EF4-FFF2-40B4-BE49-F238E27FC236}">
                <a16:creationId xmlns:a16="http://schemas.microsoft.com/office/drawing/2014/main" id="{19FBC269-AC02-48BE-A562-8A56AEFDFB10}"/>
              </a:ext>
            </a:extLst>
          </p:cNvPr>
          <p:cNvGraphicFramePr>
            <a:graphicFrameLocks noGrp="1"/>
          </p:cNvGraphicFramePr>
          <p:nvPr>
            <p:extLst>
              <p:ext uri="{D42A27DB-BD31-4B8C-83A1-F6EECF244321}">
                <p14:modId xmlns:p14="http://schemas.microsoft.com/office/powerpoint/2010/main" val="914313863"/>
              </p:ext>
            </p:extLst>
          </p:nvPr>
        </p:nvGraphicFramePr>
        <p:xfrm>
          <a:off x="1649183" y="5452089"/>
          <a:ext cx="5659584" cy="560995"/>
        </p:xfrm>
        <a:graphic>
          <a:graphicData uri="http://schemas.openxmlformats.org/drawingml/2006/table">
            <a:tbl>
              <a:tblPr firstRow="1" bandRow="1">
                <a:tableStyleId>{5C22544A-7EE6-4342-B048-85BDC9FD1C3A}</a:tableStyleId>
              </a:tblPr>
              <a:tblGrid>
                <a:gridCol w="808512">
                  <a:extLst>
                    <a:ext uri="{9D8B030D-6E8A-4147-A177-3AD203B41FA5}">
                      <a16:colId xmlns:a16="http://schemas.microsoft.com/office/drawing/2014/main" val="734379365"/>
                    </a:ext>
                  </a:extLst>
                </a:gridCol>
                <a:gridCol w="808512">
                  <a:extLst>
                    <a:ext uri="{9D8B030D-6E8A-4147-A177-3AD203B41FA5}">
                      <a16:colId xmlns:a16="http://schemas.microsoft.com/office/drawing/2014/main" val="2259459732"/>
                    </a:ext>
                  </a:extLst>
                </a:gridCol>
                <a:gridCol w="808512">
                  <a:extLst>
                    <a:ext uri="{9D8B030D-6E8A-4147-A177-3AD203B41FA5}">
                      <a16:colId xmlns:a16="http://schemas.microsoft.com/office/drawing/2014/main" val="2942269118"/>
                    </a:ext>
                  </a:extLst>
                </a:gridCol>
                <a:gridCol w="808512">
                  <a:extLst>
                    <a:ext uri="{9D8B030D-6E8A-4147-A177-3AD203B41FA5}">
                      <a16:colId xmlns:a16="http://schemas.microsoft.com/office/drawing/2014/main" val="1256231252"/>
                    </a:ext>
                  </a:extLst>
                </a:gridCol>
                <a:gridCol w="808512">
                  <a:extLst>
                    <a:ext uri="{9D8B030D-6E8A-4147-A177-3AD203B41FA5}">
                      <a16:colId xmlns:a16="http://schemas.microsoft.com/office/drawing/2014/main" val="1538823261"/>
                    </a:ext>
                  </a:extLst>
                </a:gridCol>
                <a:gridCol w="808512">
                  <a:extLst>
                    <a:ext uri="{9D8B030D-6E8A-4147-A177-3AD203B41FA5}">
                      <a16:colId xmlns:a16="http://schemas.microsoft.com/office/drawing/2014/main" val="2126521309"/>
                    </a:ext>
                  </a:extLst>
                </a:gridCol>
                <a:gridCol w="808512">
                  <a:extLst>
                    <a:ext uri="{9D8B030D-6E8A-4147-A177-3AD203B41FA5}">
                      <a16:colId xmlns:a16="http://schemas.microsoft.com/office/drawing/2014/main" val="2758042906"/>
                    </a:ext>
                  </a:extLst>
                </a:gridCol>
              </a:tblGrid>
              <a:tr h="560995">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769919"/>
                  </a:ext>
                </a:extLst>
              </a:tr>
            </a:tbl>
          </a:graphicData>
        </a:graphic>
      </p:graphicFrame>
    </p:spTree>
    <p:extLst>
      <p:ext uri="{BB962C8B-B14F-4D97-AF65-F5344CB8AC3E}">
        <p14:creationId xmlns:p14="http://schemas.microsoft.com/office/powerpoint/2010/main" val="1378715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64544BBF-010E-4615-A15C-ED0DCFF7BF76}"/>
                  </a:ext>
                </a:extLst>
              </p:cNvPr>
              <p:cNvSpPr txBox="1"/>
              <p:nvPr/>
            </p:nvSpPr>
            <p:spPr>
              <a:xfrm>
                <a:off x="7840336" y="1337736"/>
                <a:ext cx="3513464" cy="3785652"/>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r>
                      <a:rPr lang="en-US" altLang="zh-TW" sz="2400" b="0" i="1" dirty="0" smtClean="0">
                        <a:solidFill>
                          <a:srgbClr val="333333"/>
                        </a:solidFill>
                        <a:effectLst/>
                        <a:latin typeface="Cambria Math" panose="02040503050406030204" pitchFamily="18" charset="0"/>
                      </a:rPr>
                      <m:t>𝑏𝑟𝐵𝑐</m:t>
                    </m:r>
                  </m:oMath>
                </a14:m>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b="0" i="0" dirty="0">
                  <a:solidFill>
                    <a:srgbClr val="333333"/>
                  </a:solidFill>
                  <a:effectLst/>
                  <a:latin typeface="Georgia" panose="02040502050405020303" pitchFamily="18" charset="0"/>
                </a:endParaRPr>
              </a:p>
              <a:p>
                <a:pPr marL="342900" indent="-342900">
                  <a:buFont typeface="Arial" panose="020B0604020202020204" pitchFamily="34" charset="0"/>
                  <a:buChar char="•"/>
                </a:pPr>
                <a14:m>
                  <m:oMath xmlns:m="http://schemas.openxmlformats.org/officeDocument/2006/math">
                    <m:r>
                      <a:rPr lang="en-US" altLang="zh-TW" sz="2400" b="0" i="1" dirty="0" smtClean="0">
                        <a:solidFill>
                          <a:srgbClr val="333333"/>
                        </a:solidFill>
                        <a:effectLst/>
                        <a:latin typeface="Cambria Math" panose="02040503050406030204" pitchFamily="18" charset="0"/>
                      </a:rPr>
                      <m:t>𝐼𝑏𝑆𝑣</m:t>
                    </m:r>
                  </m:oMath>
                </a14:m>
                <a:endParaRPr lang="en-US" altLang="zh-TW" sz="2400" dirty="0">
                  <a:latin typeface="Times" panose="02020603050405020304" pitchFamily="18" charset="0"/>
                  <a:cs typeface="Times" panose="02020603050405020304" pitchFamily="18" charset="0"/>
                </a:endParaRPr>
              </a:p>
            </p:txBody>
          </p:sp>
        </mc:Choice>
        <mc:Fallback xmlns="">
          <p:sp>
            <p:nvSpPr>
              <p:cNvPr id="22" name="文字方塊 21">
                <a:extLst>
                  <a:ext uri="{FF2B5EF4-FFF2-40B4-BE49-F238E27FC236}">
                    <a16:creationId xmlns:a16="http://schemas.microsoft.com/office/drawing/2014/main" id="{64544BBF-010E-4615-A15C-ED0DCFF7BF76}"/>
                  </a:ext>
                </a:extLst>
              </p:cNvPr>
              <p:cNvSpPr txBox="1">
                <a:spLocks noRot="1" noChangeAspect="1" noMove="1" noResize="1" noEditPoints="1" noAdjustHandles="1" noChangeArrowheads="1" noChangeShapeType="1" noTextEdit="1"/>
              </p:cNvSpPr>
              <p:nvPr/>
            </p:nvSpPr>
            <p:spPr>
              <a:xfrm>
                <a:off x="7840336" y="1337736"/>
                <a:ext cx="3513464" cy="3785652"/>
              </a:xfrm>
              <a:prstGeom prst="rect">
                <a:avLst/>
              </a:prstGeom>
              <a:blipFill>
                <a:blip r:embed="rId3"/>
                <a:stretch>
                  <a:fillRect l="-2253" t="-644" b="-2254"/>
                </a:stretch>
              </a:blipFill>
            </p:spPr>
            <p:txBody>
              <a:bodyPr/>
              <a:lstStyle/>
              <a:p>
                <a:r>
                  <a:rPr lang="zh-TW" altLang="en-US">
                    <a:noFill/>
                  </a:rPr>
                  <a:t> </a:t>
                </a:r>
              </a:p>
            </p:txBody>
          </p:sp>
        </mc:Fallback>
      </mc:AlternateContent>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Searching Phase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13</a:t>
            </a:fld>
            <a:endParaRPr kumimoji="1" lang="zh-TW" altLang="en-US" dirty="0"/>
          </a:p>
        </p:txBody>
      </p:sp>
      <p:graphicFrame>
        <p:nvGraphicFramePr>
          <p:cNvPr id="15" name="表格 14">
            <a:extLst>
              <a:ext uri="{FF2B5EF4-FFF2-40B4-BE49-F238E27FC236}">
                <a16:creationId xmlns:a16="http://schemas.microsoft.com/office/drawing/2014/main" id="{14CE6CC0-4E7D-470C-8CA4-7A43E599795A}"/>
              </a:ext>
            </a:extLst>
          </p:cNvPr>
          <p:cNvGraphicFramePr>
            <a:graphicFrameLocks noGrp="1"/>
          </p:cNvGraphicFramePr>
          <p:nvPr>
            <p:extLst>
              <p:ext uri="{D42A27DB-BD31-4B8C-83A1-F6EECF244321}">
                <p14:modId xmlns:p14="http://schemas.microsoft.com/office/powerpoint/2010/main" val="3434099650"/>
              </p:ext>
            </p:extLst>
          </p:nvPr>
        </p:nvGraphicFramePr>
        <p:xfrm>
          <a:off x="7924800" y="1818266"/>
          <a:ext cx="2743200" cy="263771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265005127"/>
                    </a:ext>
                  </a:extLst>
                </a:gridCol>
                <a:gridCol w="548640">
                  <a:extLst>
                    <a:ext uri="{9D8B030D-6E8A-4147-A177-3AD203B41FA5}">
                      <a16:colId xmlns:a16="http://schemas.microsoft.com/office/drawing/2014/main" val="3038674402"/>
                    </a:ext>
                  </a:extLst>
                </a:gridCol>
                <a:gridCol w="548640">
                  <a:extLst>
                    <a:ext uri="{9D8B030D-6E8A-4147-A177-3AD203B41FA5}">
                      <a16:colId xmlns:a16="http://schemas.microsoft.com/office/drawing/2014/main" val="4241917921"/>
                    </a:ext>
                  </a:extLst>
                </a:gridCol>
                <a:gridCol w="548640">
                  <a:extLst>
                    <a:ext uri="{9D8B030D-6E8A-4147-A177-3AD203B41FA5}">
                      <a16:colId xmlns:a16="http://schemas.microsoft.com/office/drawing/2014/main" val="1386874660"/>
                    </a:ext>
                  </a:extLst>
                </a:gridCol>
                <a:gridCol w="548640">
                  <a:extLst>
                    <a:ext uri="{9D8B030D-6E8A-4147-A177-3AD203B41FA5}">
                      <a16:colId xmlns:a16="http://schemas.microsoft.com/office/drawing/2014/main" val="3661793645"/>
                    </a:ext>
                  </a:extLst>
                </a:gridCol>
              </a:tblGrid>
              <a:tr h="527542">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1560245"/>
                  </a:ext>
                </a:extLst>
              </a:tr>
              <a:tr h="527542">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2025558"/>
                  </a:ext>
                </a:extLst>
              </a:tr>
              <a:tr h="527542">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4955491"/>
                  </a:ext>
                </a:extLst>
              </a:tr>
              <a:tr h="527542">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7334569"/>
                  </a:ext>
                </a:extLst>
              </a:tr>
              <a:tr h="527542">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8699624"/>
                  </a:ext>
                </a:extLst>
              </a:tr>
            </a:tbl>
          </a:graphicData>
        </a:graphic>
      </p:graphicFrame>
      <p:graphicFrame>
        <p:nvGraphicFramePr>
          <p:cNvPr id="16" name="表格 4">
            <a:extLst>
              <a:ext uri="{FF2B5EF4-FFF2-40B4-BE49-F238E27FC236}">
                <a16:creationId xmlns:a16="http://schemas.microsoft.com/office/drawing/2014/main" id="{B5530D3C-F9CE-4D18-B8F8-FB62B0240B8F}"/>
              </a:ext>
            </a:extLst>
          </p:cNvPr>
          <p:cNvGraphicFramePr>
            <a:graphicFrameLocks noGrp="1"/>
          </p:cNvGraphicFramePr>
          <p:nvPr>
            <p:extLst>
              <p:ext uri="{D42A27DB-BD31-4B8C-83A1-F6EECF244321}">
                <p14:modId xmlns:p14="http://schemas.microsoft.com/office/powerpoint/2010/main" val="1080534003"/>
              </p:ext>
            </p:extLst>
          </p:nvPr>
        </p:nvGraphicFramePr>
        <p:xfrm>
          <a:off x="7924800" y="5133112"/>
          <a:ext cx="3924298" cy="496546"/>
        </p:xfrm>
        <a:graphic>
          <a:graphicData uri="http://schemas.openxmlformats.org/drawingml/2006/table">
            <a:tbl>
              <a:tblPr firstRow="1" bandRow="1">
                <a:tableStyleId>{5C22544A-7EE6-4342-B048-85BDC9FD1C3A}</a:tableStyleId>
              </a:tblPr>
              <a:tblGrid>
                <a:gridCol w="560614">
                  <a:extLst>
                    <a:ext uri="{9D8B030D-6E8A-4147-A177-3AD203B41FA5}">
                      <a16:colId xmlns:a16="http://schemas.microsoft.com/office/drawing/2014/main" val="734379365"/>
                    </a:ext>
                  </a:extLst>
                </a:gridCol>
                <a:gridCol w="560614">
                  <a:extLst>
                    <a:ext uri="{9D8B030D-6E8A-4147-A177-3AD203B41FA5}">
                      <a16:colId xmlns:a16="http://schemas.microsoft.com/office/drawing/2014/main" val="2259459732"/>
                    </a:ext>
                  </a:extLst>
                </a:gridCol>
                <a:gridCol w="560614">
                  <a:extLst>
                    <a:ext uri="{9D8B030D-6E8A-4147-A177-3AD203B41FA5}">
                      <a16:colId xmlns:a16="http://schemas.microsoft.com/office/drawing/2014/main" val="2942269118"/>
                    </a:ext>
                  </a:extLst>
                </a:gridCol>
                <a:gridCol w="560614">
                  <a:extLst>
                    <a:ext uri="{9D8B030D-6E8A-4147-A177-3AD203B41FA5}">
                      <a16:colId xmlns:a16="http://schemas.microsoft.com/office/drawing/2014/main" val="1256231252"/>
                    </a:ext>
                  </a:extLst>
                </a:gridCol>
                <a:gridCol w="560614">
                  <a:extLst>
                    <a:ext uri="{9D8B030D-6E8A-4147-A177-3AD203B41FA5}">
                      <a16:colId xmlns:a16="http://schemas.microsoft.com/office/drawing/2014/main" val="1538823261"/>
                    </a:ext>
                  </a:extLst>
                </a:gridCol>
                <a:gridCol w="560614">
                  <a:extLst>
                    <a:ext uri="{9D8B030D-6E8A-4147-A177-3AD203B41FA5}">
                      <a16:colId xmlns:a16="http://schemas.microsoft.com/office/drawing/2014/main" val="2126521309"/>
                    </a:ext>
                  </a:extLst>
                </a:gridCol>
                <a:gridCol w="560614">
                  <a:extLst>
                    <a:ext uri="{9D8B030D-6E8A-4147-A177-3AD203B41FA5}">
                      <a16:colId xmlns:a16="http://schemas.microsoft.com/office/drawing/2014/main" val="2758042906"/>
                    </a:ext>
                  </a:extLst>
                </a:gridCol>
              </a:tblGrid>
              <a:tr h="496546">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769919"/>
                  </a:ext>
                </a:extLst>
              </a:tr>
            </a:tbl>
          </a:graphicData>
        </a:graphic>
      </p:graphicFrame>
      <p:graphicFrame>
        <p:nvGraphicFramePr>
          <p:cNvPr id="17" name="表格 4">
            <a:extLst>
              <a:ext uri="{FF2B5EF4-FFF2-40B4-BE49-F238E27FC236}">
                <a16:creationId xmlns:a16="http://schemas.microsoft.com/office/drawing/2014/main" id="{C7416BDC-6D46-484F-BCA9-95A67A42107B}"/>
              </a:ext>
            </a:extLst>
          </p:cNvPr>
          <p:cNvGraphicFramePr>
            <a:graphicFrameLocks noGrp="1"/>
          </p:cNvGraphicFramePr>
          <p:nvPr>
            <p:extLst>
              <p:ext uri="{D42A27DB-BD31-4B8C-83A1-F6EECF244321}">
                <p14:modId xmlns:p14="http://schemas.microsoft.com/office/powerpoint/2010/main" val="1601029874"/>
              </p:ext>
            </p:extLst>
          </p:nvPr>
        </p:nvGraphicFramePr>
        <p:xfrm>
          <a:off x="1355274" y="2249152"/>
          <a:ext cx="5949040" cy="538666"/>
        </p:xfrm>
        <a:graphic>
          <a:graphicData uri="http://schemas.openxmlformats.org/drawingml/2006/table">
            <a:tbl>
              <a:tblPr firstRow="1" bandRow="1">
                <a:tableStyleId>{5C22544A-7EE6-4342-B048-85BDC9FD1C3A}</a:tableStyleId>
              </a:tblPr>
              <a:tblGrid>
                <a:gridCol w="371815">
                  <a:extLst>
                    <a:ext uri="{9D8B030D-6E8A-4147-A177-3AD203B41FA5}">
                      <a16:colId xmlns:a16="http://schemas.microsoft.com/office/drawing/2014/main" val="1124324542"/>
                    </a:ext>
                  </a:extLst>
                </a:gridCol>
                <a:gridCol w="371815">
                  <a:extLst>
                    <a:ext uri="{9D8B030D-6E8A-4147-A177-3AD203B41FA5}">
                      <a16:colId xmlns:a16="http://schemas.microsoft.com/office/drawing/2014/main" val="734379365"/>
                    </a:ext>
                  </a:extLst>
                </a:gridCol>
                <a:gridCol w="371815">
                  <a:extLst>
                    <a:ext uri="{9D8B030D-6E8A-4147-A177-3AD203B41FA5}">
                      <a16:colId xmlns:a16="http://schemas.microsoft.com/office/drawing/2014/main" val="2259459732"/>
                    </a:ext>
                  </a:extLst>
                </a:gridCol>
                <a:gridCol w="371815">
                  <a:extLst>
                    <a:ext uri="{9D8B030D-6E8A-4147-A177-3AD203B41FA5}">
                      <a16:colId xmlns:a16="http://schemas.microsoft.com/office/drawing/2014/main" val="2942269118"/>
                    </a:ext>
                  </a:extLst>
                </a:gridCol>
                <a:gridCol w="371815">
                  <a:extLst>
                    <a:ext uri="{9D8B030D-6E8A-4147-A177-3AD203B41FA5}">
                      <a16:colId xmlns:a16="http://schemas.microsoft.com/office/drawing/2014/main" val="1256231252"/>
                    </a:ext>
                  </a:extLst>
                </a:gridCol>
                <a:gridCol w="371815">
                  <a:extLst>
                    <a:ext uri="{9D8B030D-6E8A-4147-A177-3AD203B41FA5}">
                      <a16:colId xmlns:a16="http://schemas.microsoft.com/office/drawing/2014/main" val="1538823261"/>
                    </a:ext>
                  </a:extLst>
                </a:gridCol>
                <a:gridCol w="371815">
                  <a:extLst>
                    <a:ext uri="{9D8B030D-6E8A-4147-A177-3AD203B41FA5}">
                      <a16:colId xmlns:a16="http://schemas.microsoft.com/office/drawing/2014/main" val="2126521309"/>
                    </a:ext>
                  </a:extLst>
                </a:gridCol>
                <a:gridCol w="371815">
                  <a:extLst>
                    <a:ext uri="{9D8B030D-6E8A-4147-A177-3AD203B41FA5}">
                      <a16:colId xmlns:a16="http://schemas.microsoft.com/office/drawing/2014/main" val="2758042906"/>
                    </a:ext>
                  </a:extLst>
                </a:gridCol>
                <a:gridCol w="371815">
                  <a:extLst>
                    <a:ext uri="{9D8B030D-6E8A-4147-A177-3AD203B41FA5}">
                      <a16:colId xmlns:a16="http://schemas.microsoft.com/office/drawing/2014/main" val="1026239663"/>
                    </a:ext>
                  </a:extLst>
                </a:gridCol>
                <a:gridCol w="371815">
                  <a:extLst>
                    <a:ext uri="{9D8B030D-6E8A-4147-A177-3AD203B41FA5}">
                      <a16:colId xmlns:a16="http://schemas.microsoft.com/office/drawing/2014/main" val="4255421161"/>
                    </a:ext>
                  </a:extLst>
                </a:gridCol>
                <a:gridCol w="371815">
                  <a:extLst>
                    <a:ext uri="{9D8B030D-6E8A-4147-A177-3AD203B41FA5}">
                      <a16:colId xmlns:a16="http://schemas.microsoft.com/office/drawing/2014/main" val="1331944415"/>
                    </a:ext>
                  </a:extLst>
                </a:gridCol>
                <a:gridCol w="371815">
                  <a:extLst>
                    <a:ext uri="{9D8B030D-6E8A-4147-A177-3AD203B41FA5}">
                      <a16:colId xmlns:a16="http://schemas.microsoft.com/office/drawing/2014/main" val="4262925363"/>
                    </a:ext>
                  </a:extLst>
                </a:gridCol>
                <a:gridCol w="371815">
                  <a:extLst>
                    <a:ext uri="{9D8B030D-6E8A-4147-A177-3AD203B41FA5}">
                      <a16:colId xmlns:a16="http://schemas.microsoft.com/office/drawing/2014/main" val="206323065"/>
                    </a:ext>
                  </a:extLst>
                </a:gridCol>
                <a:gridCol w="371815">
                  <a:extLst>
                    <a:ext uri="{9D8B030D-6E8A-4147-A177-3AD203B41FA5}">
                      <a16:colId xmlns:a16="http://schemas.microsoft.com/office/drawing/2014/main" val="3136144109"/>
                    </a:ext>
                  </a:extLst>
                </a:gridCol>
                <a:gridCol w="371815">
                  <a:extLst>
                    <a:ext uri="{9D8B030D-6E8A-4147-A177-3AD203B41FA5}">
                      <a16:colId xmlns:a16="http://schemas.microsoft.com/office/drawing/2014/main" val="2290075862"/>
                    </a:ext>
                  </a:extLst>
                </a:gridCol>
                <a:gridCol w="371815">
                  <a:extLst>
                    <a:ext uri="{9D8B030D-6E8A-4147-A177-3AD203B41FA5}">
                      <a16:colId xmlns:a16="http://schemas.microsoft.com/office/drawing/2014/main" val="187554075"/>
                    </a:ext>
                  </a:extLst>
                </a:gridCol>
              </a:tblGrid>
              <a:tr h="538666">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8F8F"/>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769919"/>
                  </a:ext>
                </a:extLst>
              </a:tr>
            </a:tbl>
          </a:graphicData>
        </a:graphic>
      </p:graphicFrame>
      <p:graphicFrame>
        <p:nvGraphicFramePr>
          <p:cNvPr id="5" name="表格 4">
            <a:extLst>
              <a:ext uri="{FF2B5EF4-FFF2-40B4-BE49-F238E27FC236}">
                <a16:creationId xmlns:a16="http://schemas.microsoft.com/office/drawing/2014/main" id="{0087BE31-9CF4-42F6-A6EE-96A4F58F902C}"/>
              </a:ext>
            </a:extLst>
          </p:cNvPr>
          <p:cNvGraphicFramePr>
            <a:graphicFrameLocks noGrp="1"/>
          </p:cNvGraphicFramePr>
          <p:nvPr>
            <p:extLst>
              <p:ext uri="{D42A27DB-BD31-4B8C-83A1-F6EECF244321}">
                <p14:modId xmlns:p14="http://schemas.microsoft.com/office/powerpoint/2010/main" val="3695091982"/>
              </p:ext>
            </p:extLst>
          </p:nvPr>
        </p:nvGraphicFramePr>
        <p:xfrm>
          <a:off x="2842534" y="2922523"/>
          <a:ext cx="2974520" cy="538666"/>
        </p:xfrm>
        <a:graphic>
          <a:graphicData uri="http://schemas.openxmlformats.org/drawingml/2006/table">
            <a:tbl>
              <a:tblPr firstRow="1" bandRow="1">
                <a:tableStyleId>{5C22544A-7EE6-4342-B048-85BDC9FD1C3A}</a:tableStyleId>
              </a:tblPr>
              <a:tblGrid>
                <a:gridCol w="371815">
                  <a:extLst>
                    <a:ext uri="{9D8B030D-6E8A-4147-A177-3AD203B41FA5}">
                      <a16:colId xmlns:a16="http://schemas.microsoft.com/office/drawing/2014/main" val="944802406"/>
                    </a:ext>
                  </a:extLst>
                </a:gridCol>
                <a:gridCol w="371815">
                  <a:extLst>
                    <a:ext uri="{9D8B030D-6E8A-4147-A177-3AD203B41FA5}">
                      <a16:colId xmlns:a16="http://schemas.microsoft.com/office/drawing/2014/main" val="1567852864"/>
                    </a:ext>
                  </a:extLst>
                </a:gridCol>
                <a:gridCol w="371815">
                  <a:extLst>
                    <a:ext uri="{9D8B030D-6E8A-4147-A177-3AD203B41FA5}">
                      <a16:colId xmlns:a16="http://schemas.microsoft.com/office/drawing/2014/main" val="676979171"/>
                    </a:ext>
                  </a:extLst>
                </a:gridCol>
                <a:gridCol w="371815">
                  <a:extLst>
                    <a:ext uri="{9D8B030D-6E8A-4147-A177-3AD203B41FA5}">
                      <a16:colId xmlns:a16="http://schemas.microsoft.com/office/drawing/2014/main" val="4245580196"/>
                    </a:ext>
                  </a:extLst>
                </a:gridCol>
                <a:gridCol w="371815">
                  <a:extLst>
                    <a:ext uri="{9D8B030D-6E8A-4147-A177-3AD203B41FA5}">
                      <a16:colId xmlns:a16="http://schemas.microsoft.com/office/drawing/2014/main" val="1104589643"/>
                    </a:ext>
                  </a:extLst>
                </a:gridCol>
                <a:gridCol w="371815">
                  <a:extLst>
                    <a:ext uri="{9D8B030D-6E8A-4147-A177-3AD203B41FA5}">
                      <a16:colId xmlns:a16="http://schemas.microsoft.com/office/drawing/2014/main" val="3595797722"/>
                    </a:ext>
                  </a:extLst>
                </a:gridCol>
                <a:gridCol w="371815">
                  <a:extLst>
                    <a:ext uri="{9D8B030D-6E8A-4147-A177-3AD203B41FA5}">
                      <a16:colId xmlns:a16="http://schemas.microsoft.com/office/drawing/2014/main" val="2636931464"/>
                    </a:ext>
                  </a:extLst>
                </a:gridCol>
                <a:gridCol w="371815">
                  <a:extLst>
                    <a:ext uri="{9D8B030D-6E8A-4147-A177-3AD203B41FA5}">
                      <a16:colId xmlns:a16="http://schemas.microsoft.com/office/drawing/2014/main" val="941743881"/>
                    </a:ext>
                  </a:extLst>
                </a:gridCol>
              </a:tblGrid>
              <a:tr h="538666">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8F8F"/>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0432006"/>
                  </a:ext>
                </a:extLst>
              </a:tr>
            </a:tbl>
          </a:graphicData>
        </a:graphic>
      </p:graphicFrame>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C0F7F69C-5CD9-4C20-A6C2-89D79987E75F}"/>
                  </a:ext>
                </a:extLst>
              </p:cNvPr>
              <p:cNvSpPr txBox="1"/>
              <p:nvPr/>
            </p:nvSpPr>
            <p:spPr>
              <a:xfrm>
                <a:off x="838200" y="2961023"/>
                <a:ext cx="37732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TW" sz="2400" smtClean="0">
                          <a:latin typeface="Cambria Math" panose="02040503050406030204" pitchFamily="18" charset="0"/>
                          <a:cs typeface="Times" panose="02020603050405020304" pitchFamily="18" charset="0"/>
                        </a:rPr>
                        <m:t>P</m:t>
                      </m:r>
                    </m:oMath>
                  </m:oMathPara>
                </a14:m>
                <a:endParaRPr lang="zh-TW" altLang="en-US" sz="2400" dirty="0"/>
              </a:p>
            </p:txBody>
          </p:sp>
        </mc:Choice>
        <mc:Fallback xmlns="">
          <p:sp>
            <p:nvSpPr>
              <p:cNvPr id="18" name="文字方塊 17">
                <a:extLst>
                  <a:ext uri="{FF2B5EF4-FFF2-40B4-BE49-F238E27FC236}">
                    <a16:creationId xmlns:a16="http://schemas.microsoft.com/office/drawing/2014/main" id="{C0F7F69C-5CD9-4C20-A6C2-89D79987E75F}"/>
                  </a:ext>
                </a:extLst>
              </p:cNvPr>
              <p:cNvSpPr txBox="1">
                <a:spLocks noRot="1" noChangeAspect="1" noMove="1" noResize="1" noEditPoints="1" noAdjustHandles="1" noChangeArrowheads="1" noChangeShapeType="1" noTextEdit="1"/>
              </p:cNvSpPr>
              <p:nvPr/>
            </p:nvSpPr>
            <p:spPr>
              <a:xfrm>
                <a:off x="838200" y="2961023"/>
                <a:ext cx="377328" cy="461665"/>
              </a:xfrm>
              <a:prstGeom prst="rect">
                <a:avLst/>
              </a:prstGeom>
              <a:blipFill>
                <a:blip r:embed="rId4"/>
                <a:stretch>
                  <a:fillRect l="-49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0B7F9E7E-F166-4A8E-8131-DF9E8EABDF0C}"/>
                  </a:ext>
                </a:extLst>
              </p:cNvPr>
              <p:cNvSpPr txBox="1"/>
              <p:nvPr/>
            </p:nvSpPr>
            <p:spPr>
              <a:xfrm>
                <a:off x="838200" y="2289648"/>
                <a:ext cx="37732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TW" sz="2400" b="0" i="0" smtClean="0">
                          <a:latin typeface="Cambria Math" panose="02040503050406030204" pitchFamily="18" charset="0"/>
                        </a:rPr>
                        <m:t>T</m:t>
                      </m:r>
                    </m:oMath>
                  </m:oMathPara>
                </a14:m>
                <a:endParaRPr lang="zh-TW" altLang="en-US" sz="2400" dirty="0"/>
              </a:p>
            </p:txBody>
          </p:sp>
        </mc:Choice>
        <mc:Fallback xmlns="">
          <p:sp>
            <p:nvSpPr>
              <p:cNvPr id="19" name="文字方塊 18">
                <a:extLst>
                  <a:ext uri="{FF2B5EF4-FFF2-40B4-BE49-F238E27FC236}">
                    <a16:creationId xmlns:a16="http://schemas.microsoft.com/office/drawing/2014/main" id="{0B7F9E7E-F166-4A8E-8131-DF9E8EABDF0C}"/>
                  </a:ext>
                </a:extLst>
              </p:cNvPr>
              <p:cNvSpPr txBox="1">
                <a:spLocks noRot="1" noChangeAspect="1" noMove="1" noResize="1" noEditPoints="1" noAdjustHandles="1" noChangeArrowheads="1" noChangeShapeType="1" noTextEdit="1"/>
              </p:cNvSpPr>
              <p:nvPr/>
            </p:nvSpPr>
            <p:spPr>
              <a:xfrm>
                <a:off x="838200" y="2289648"/>
                <a:ext cx="377328" cy="461665"/>
              </a:xfrm>
              <a:prstGeom prst="rect">
                <a:avLst/>
              </a:prstGeom>
              <a:blipFill>
                <a:blip r:embed="rId5"/>
                <a:stretch>
                  <a:fillRect l="-4918" r="-163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551A85A2-A765-43B0-B44D-F97CCEE8912C}"/>
                  </a:ext>
                </a:extLst>
              </p:cNvPr>
              <p:cNvSpPr txBox="1"/>
              <p:nvPr/>
            </p:nvSpPr>
            <p:spPr>
              <a:xfrm>
                <a:off x="2842534" y="1722954"/>
                <a:ext cx="1127080"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=22</m:t>
                      </m:r>
                    </m:oMath>
                  </m:oMathPara>
                </a14:m>
                <a:endParaRPr lang="zh-TW" altLang="en-US" sz="2400" dirty="0"/>
              </a:p>
            </p:txBody>
          </p:sp>
        </mc:Choice>
        <mc:Fallback xmlns="">
          <p:sp>
            <p:nvSpPr>
              <p:cNvPr id="20" name="文字方塊 19">
                <a:extLst>
                  <a:ext uri="{FF2B5EF4-FFF2-40B4-BE49-F238E27FC236}">
                    <a16:creationId xmlns:a16="http://schemas.microsoft.com/office/drawing/2014/main" id="{551A85A2-A765-43B0-B44D-F97CCEE8912C}"/>
                  </a:ext>
                </a:extLst>
              </p:cNvPr>
              <p:cNvSpPr txBox="1">
                <a:spLocks noRot="1" noChangeAspect="1" noMove="1" noResize="1" noEditPoints="1" noAdjustHandles="1" noChangeArrowheads="1" noChangeShapeType="1" noTextEdit="1"/>
              </p:cNvSpPr>
              <p:nvPr/>
            </p:nvSpPr>
            <p:spPr>
              <a:xfrm>
                <a:off x="2842534" y="1722954"/>
                <a:ext cx="1127080" cy="461665"/>
              </a:xfrm>
              <a:prstGeom prst="rect">
                <a:avLst/>
              </a:prstGeom>
              <a:blipFill>
                <a:blip r:embed="rId6"/>
                <a:stretch>
                  <a:fillRect l="-4324" b="-17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1E105E6-45EE-44D8-898D-86B98F6A5700}"/>
                  </a:ext>
                </a:extLst>
              </p:cNvPr>
              <p:cNvSpPr txBox="1"/>
              <p:nvPr/>
            </p:nvSpPr>
            <p:spPr>
              <a:xfrm>
                <a:off x="4921703" y="681681"/>
                <a:ext cx="7243083" cy="64633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TW" sz="1800" b="0" i="0" dirty="0" smtClean="0">
                          <a:solidFill>
                            <a:srgbClr val="333333"/>
                          </a:solidFill>
                          <a:effectLst/>
                          <a:latin typeface="Cambria Math" panose="02040503050406030204" pitchFamily="18" charset="0"/>
                        </a:rPr>
                        <m:t>T</m:t>
                      </m:r>
                      <m:r>
                        <a:rPr lang="en-US" altLang="zh-TW" sz="1800" b="0" i="0" dirty="0" smtClean="0">
                          <a:solidFill>
                            <a:srgbClr val="333333"/>
                          </a:solidFill>
                          <a:effectLst/>
                          <a:latin typeface="Cambria Math" panose="02040503050406030204" pitchFamily="18" charset="0"/>
                        </a:rPr>
                        <m:t>=</m:t>
                      </m:r>
                      <m:r>
                        <m:rPr>
                          <m:sty m:val="p"/>
                        </m:rPr>
                        <a:rPr lang="en-US" altLang="zh-TW" sz="1800" b="0" i="0" dirty="0" smtClean="0">
                          <a:solidFill>
                            <a:srgbClr val="333333"/>
                          </a:solidFill>
                          <a:effectLst/>
                          <a:latin typeface="Cambria Math" panose="02040503050406030204" pitchFamily="18" charset="0"/>
                        </a:rPr>
                        <m:t>ATCTAACATCATAACCCTAATTGGCAGAGAGAGAATCAATCGAATCA</m:t>
                      </m:r>
                    </m:oMath>
                  </m:oMathPara>
                </a14:m>
                <a:endParaRPr lang="en-US" altLang="zh-TW" sz="1800" b="0" dirty="0">
                  <a:solidFill>
                    <a:srgbClr val="333333"/>
                  </a:solidFill>
                  <a:effectLst/>
                  <a:latin typeface="Georgia" panose="02040502050405020303" pitchFamily="18" charset="0"/>
                </a:endParaRPr>
              </a:p>
              <a:p>
                <a:pPr/>
                <a14:m>
                  <m:oMathPara xmlns:m="http://schemas.openxmlformats.org/officeDocument/2006/math">
                    <m:oMathParaPr>
                      <m:jc m:val="left"/>
                    </m:oMathParaPr>
                    <m:oMath xmlns:m="http://schemas.openxmlformats.org/officeDocument/2006/math">
                      <m:r>
                        <m:rPr>
                          <m:sty m:val="p"/>
                        </m:rPr>
                        <a:rPr lang="en-US" altLang="zh-TW" sz="1800" b="0" i="0" dirty="0" smtClean="0">
                          <a:solidFill>
                            <a:srgbClr val="333333"/>
                          </a:solidFill>
                          <a:effectLst/>
                          <a:latin typeface="Cambria Math" panose="02040503050406030204" pitchFamily="18" charset="0"/>
                        </a:rPr>
                        <m:t>P</m:t>
                      </m:r>
                      <m:r>
                        <a:rPr lang="en-US" altLang="zh-TW" sz="1800" b="0" i="0" dirty="0" smtClean="0">
                          <a:solidFill>
                            <a:srgbClr val="333333"/>
                          </a:solidFill>
                          <a:effectLst/>
                          <a:latin typeface="Cambria Math" panose="02040503050406030204" pitchFamily="18" charset="0"/>
                        </a:rPr>
                        <m:t>=</m:t>
                      </m:r>
                      <m:r>
                        <m:rPr>
                          <m:sty m:val="p"/>
                        </m:rPr>
                        <a:rPr lang="en-US" altLang="zh-TW" sz="1800" b="0" i="0" dirty="0" smtClean="0">
                          <a:solidFill>
                            <a:srgbClr val="333333"/>
                          </a:solidFill>
                          <a:effectLst/>
                          <a:latin typeface="Cambria Math" panose="02040503050406030204" pitchFamily="18" charset="0"/>
                        </a:rPr>
                        <m:t>GCAGAGAG</m:t>
                      </m:r>
                    </m:oMath>
                  </m:oMathPara>
                </a14:m>
                <a:endParaRPr lang="en-US" altLang="zh-TW" sz="1800" b="0" dirty="0">
                  <a:solidFill>
                    <a:srgbClr val="333333"/>
                  </a:solidFill>
                  <a:effectLst/>
                  <a:latin typeface="Georgia" panose="02040502050405020303" pitchFamily="18" charset="0"/>
                </a:endParaRPr>
              </a:p>
            </p:txBody>
          </p:sp>
        </mc:Choice>
        <mc:Fallback xmlns="">
          <p:sp>
            <p:nvSpPr>
              <p:cNvPr id="21" name="文字方塊 20">
                <a:extLst>
                  <a:ext uri="{FF2B5EF4-FFF2-40B4-BE49-F238E27FC236}">
                    <a16:creationId xmlns:a16="http://schemas.microsoft.com/office/drawing/2014/main" id="{51E105E6-45EE-44D8-898D-86B98F6A5700}"/>
                  </a:ext>
                </a:extLst>
              </p:cNvPr>
              <p:cNvSpPr txBox="1">
                <a:spLocks noRot="1" noChangeAspect="1" noMove="1" noResize="1" noEditPoints="1" noAdjustHandles="1" noChangeArrowheads="1" noChangeShapeType="1" noTextEdit="1"/>
              </p:cNvSpPr>
              <p:nvPr/>
            </p:nvSpPr>
            <p:spPr>
              <a:xfrm>
                <a:off x="4921703" y="681681"/>
                <a:ext cx="7243083" cy="646331"/>
              </a:xfrm>
              <a:prstGeom prst="rect">
                <a:avLst/>
              </a:prstGeom>
              <a:blipFill>
                <a:blip r:embed="rId7"/>
                <a:stretch>
                  <a:fillRect/>
                </a:stretch>
              </a:blipFill>
            </p:spPr>
            <p:txBody>
              <a:bodyPr/>
              <a:lstStyle/>
              <a:p>
                <a:r>
                  <a:rPr lang="zh-TW" altLang="en-US">
                    <a:noFill/>
                  </a:rPr>
                  <a:t> </a:t>
                </a:r>
              </a:p>
            </p:txBody>
          </p:sp>
        </mc:Fallback>
      </mc:AlternateContent>
      <p:sp>
        <p:nvSpPr>
          <p:cNvPr id="7" name="矩形 6">
            <a:extLst>
              <a:ext uri="{FF2B5EF4-FFF2-40B4-BE49-F238E27FC236}">
                <a16:creationId xmlns:a16="http://schemas.microsoft.com/office/drawing/2014/main" id="{C75356E2-15F4-463C-AE13-7F5ABDB1471A}"/>
              </a:ext>
            </a:extLst>
          </p:cNvPr>
          <p:cNvSpPr/>
          <p:nvPr/>
        </p:nvSpPr>
        <p:spPr>
          <a:xfrm>
            <a:off x="8427905" y="681681"/>
            <a:ext cx="1145754" cy="33187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94826BCF-4331-4DAF-B2D6-5E7A8A1CB836}"/>
              </a:ext>
            </a:extLst>
          </p:cNvPr>
          <p:cNvSpPr/>
          <p:nvPr/>
        </p:nvSpPr>
        <p:spPr>
          <a:xfrm>
            <a:off x="5817054" y="2249152"/>
            <a:ext cx="748999" cy="5386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978862F7-D573-4E96-9568-8E280351176D}"/>
                  </a:ext>
                </a:extLst>
              </p:cNvPr>
              <p:cNvSpPr txBox="1"/>
              <p:nvPr/>
            </p:nvSpPr>
            <p:spPr>
              <a:xfrm>
                <a:off x="837247" y="3856494"/>
                <a:ext cx="3779705" cy="83099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𝑏𝑟𝐵𝑐</m:t>
                      </m:r>
                      <m:d>
                        <m:dPr>
                          <m:begChr m:val="["/>
                          <m:endChr m:val="]"/>
                          <m:ctrlPr>
                            <a:rPr lang="en-US" altLang="zh-TW" sz="2400" b="0" i="1" smtClean="0">
                              <a:latin typeface="Cambria Math" panose="02040503050406030204" pitchFamily="18" charset="0"/>
                            </a:rPr>
                          </m:ctrlPr>
                        </m:dPr>
                        <m:e>
                          <m:r>
                            <m:rPr>
                              <m:sty m:val="p"/>
                            </m:rPr>
                            <a:rPr lang="en-US" altLang="zh-TW" sz="2400" b="0" i="0" smtClean="0">
                              <a:latin typeface="Cambria Math" panose="02040503050406030204" pitchFamily="18" charset="0"/>
                            </a:rPr>
                            <m:t>G</m:t>
                          </m:r>
                          <m:r>
                            <a:rPr lang="en-US" altLang="zh-TW" sz="2400" b="0" i="0" smtClean="0">
                              <a:latin typeface="Cambria Math" panose="02040503050406030204" pitchFamily="18" charset="0"/>
                            </a:rPr>
                            <m:t>, </m:t>
                          </m:r>
                          <m:r>
                            <m:rPr>
                              <m:sty m:val="p"/>
                            </m:rPr>
                            <a:rPr lang="en-US" altLang="zh-TW" sz="2400" b="0" i="0" smtClean="0">
                              <a:latin typeface="Cambria Math" panose="02040503050406030204" pitchFamily="18" charset="0"/>
                            </a:rPr>
                            <m:t>A</m:t>
                          </m:r>
                        </m:e>
                      </m:d>
                      <m:r>
                        <a:rPr lang="en-US" altLang="zh-TW" sz="2400" b="0" i="1" smtClean="0">
                          <a:latin typeface="Cambria Math" panose="02040503050406030204" pitchFamily="18" charset="0"/>
                        </a:rPr>
                        <m:t>=1</m:t>
                      </m:r>
                    </m:oMath>
                  </m:oMathPara>
                </a14:m>
                <a:endParaRPr lang="en-US" altLang="zh-TW" sz="2400" b="0" dirty="0"/>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𝐼𝑏𝑆𝑣</m:t>
                      </m:r>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1</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=23−22=1</m:t>
                      </m:r>
                    </m:oMath>
                  </m:oMathPara>
                </a14:m>
                <a:endParaRPr lang="zh-TW" altLang="en-US" sz="2400" dirty="0"/>
              </a:p>
            </p:txBody>
          </p:sp>
        </mc:Choice>
        <mc:Fallback xmlns="">
          <p:sp>
            <p:nvSpPr>
              <p:cNvPr id="24" name="文字方塊 23">
                <a:extLst>
                  <a:ext uri="{FF2B5EF4-FFF2-40B4-BE49-F238E27FC236}">
                    <a16:creationId xmlns:a16="http://schemas.microsoft.com/office/drawing/2014/main" id="{978862F7-D573-4E96-9568-8E280351176D}"/>
                  </a:ext>
                </a:extLst>
              </p:cNvPr>
              <p:cNvSpPr txBox="1">
                <a:spLocks noRot="1" noChangeAspect="1" noMove="1" noResize="1" noEditPoints="1" noAdjustHandles="1" noChangeArrowheads="1" noChangeShapeType="1" noTextEdit="1"/>
              </p:cNvSpPr>
              <p:nvPr/>
            </p:nvSpPr>
            <p:spPr>
              <a:xfrm>
                <a:off x="837247" y="3856494"/>
                <a:ext cx="3779705" cy="830997"/>
              </a:xfrm>
              <a:prstGeom prst="rect">
                <a:avLst/>
              </a:prstGeom>
              <a:blipFill>
                <a:blip r:embed="rId8"/>
                <a:stretch>
                  <a:fillRect l="-484" b="-882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05482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64544BBF-010E-4615-A15C-ED0DCFF7BF76}"/>
                  </a:ext>
                </a:extLst>
              </p:cNvPr>
              <p:cNvSpPr txBox="1"/>
              <p:nvPr/>
            </p:nvSpPr>
            <p:spPr>
              <a:xfrm>
                <a:off x="7840336" y="1337736"/>
                <a:ext cx="3513464" cy="3785652"/>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r>
                      <a:rPr lang="en-US" altLang="zh-TW" sz="2400" b="0" i="1" dirty="0" smtClean="0">
                        <a:solidFill>
                          <a:srgbClr val="333333"/>
                        </a:solidFill>
                        <a:effectLst/>
                        <a:latin typeface="Cambria Math" panose="02040503050406030204" pitchFamily="18" charset="0"/>
                      </a:rPr>
                      <m:t>𝑏𝑟𝐵𝑐</m:t>
                    </m:r>
                  </m:oMath>
                </a14:m>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b="0" i="0" dirty="0">
                  <a:solidFill>
                    <a:srgbClr val="333333"/>
                  </a:solidFill>
                  <a:effectLst/>
                  <a:latin typeface="Georgia" panose="02040502050405020303" pitchFamily="18" charset="0"/>
                </a:endParaRPr>
              </a:p>
              <a:p>
                <a:pPr marL="342900" indent="-342900">
                  <a:buFont typeface="Arial" panose="020B0604020202020204" pitchFamily="34" charset="0"/>
                  <a:buChar char="•"/>
                </a:pPr>
                <a14:m>
                  <m:oMath xmlns:m="http://schemas.openxmlformats.org/officeDocument/2006/math">
                    <m:r>
                      <a:rPr lang="en-US" altLang="zh-TW" sz="2400" b="0" i="1" dirty="0" smtClean="0">
                        <a:solidFill>
                          <a:srgbClr val="333333"/>
                        </a:solidFill>
                        <a:effectLst/>
                        <a:latin typeface="Cambria Math" panose="02040503050406030204" pitchFamily="18" charset="0"/>
                      </a:rPr>
                      <m:t>𝐼𝑏𝑆𝑣</m:t>
                    </m:r>
                  </m:oMath>
                </a14:m>
                <a:endParaRPr lang="en-US" altLang="zh-TW" sz="2400" dirty="0">
                  <a:latin typeface="Times" panose="02020603050405020304" pitchFamily="18" charset="0"/>
                  <a:cs typeface="Times" panose="02020603050405020304" pitchFamily="18" charset="0"/>
                </a:endParaRPr>
              </a:p>
            </p:txBody>
          </p:sp>
        </mc:Choice>
        <mc:Fallback xmlns="">
          <p:sp>
            <p:nvSpPr>
              <p:cNvPr id="22" name="文字方塊 21">
                <a:extLst>
                  <a:ext uri="{FF2B5EF4-FFF2-40B4-BE49-F238E27FC236}">
                    <a16:creationId xmlns:a16="http://schemas.microsoft.com/office/drawing/2014/main" id="{64544BBF-010E-4615-A15C-ED0DCFF7BF76}"/>
                  </a:ext>
                </a:extLst>
              </p:cNvPr>
              <p:cNvSpPr txBox="1">
                <a:spLocks noRot="1" noChangeAspect="1" noMove="1" noResize="1" noEditPoints="1" noAdjustHandles="1" noChangeArrowheads="1" noChangeShapeType="1" noTextEdit="1"/>
              </p:cNvSpPr>
              <p:nvPr/>
            </p:nvSpPr>
            <p:spPr>
              <a:xfrm>
                <a:off x="7840336" y="1337736"/>
                <a:ext cx="3513464" cy="3785652"/>
              </a:xfrm>
              <a:prstGeom prst="rect">
                <a:avLst/>
              </a:prstGeom>
              <a:blipFill>
                <a:blip r:embed="rId3"/>
                <a:stretch>
                  <a:fillRect l="-2253" t="-644" b="-2254"/>
                </a:stretch>
              </a:blipFill>
            </p:spPr>
            <p:txBody>
              <a:bodyPr/>
              <a:lstStyle/>
              <a:p>
                <a:r>
                  <a:rPr lang="zh-TW" altLang="en-US">
                    <a:noFill/>
                  </a:rPr>
                  <a:t> </a:t>
                </a:r>
              </a:p>
            </p:txBody>
          </p:sp>
        </mc:Fallback>
      </mc:AlternateContent>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Searching Phase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14</a:t>
            </a:fld>
            <a:endParaRPr kumimoji="1" lang="zh-TW" altLang="en-US" dirty="0"/>
          </a:p>
        </p:txBody>
      </p:sp>
      <p:graphicFrame>
        <p:nvGraphicFramePr>
          <p:cNvPr id="15" name="表格 14">
            <a:extLst>
              <a:ext uri="{FF2B5EF4-FFF2-40B4-BE49-F238E27FC236}">
                <a16:creationId xmlns:a16="http://schemas.microsoft.com/office/drawing/2014/main" id="{14CE6CC0-4E7D-470C-8CA4-7A43E599795A}"/>
              </a:ext>
            </a:extLst>
          </p:cNvPr>
          <p:cNvGraphicFramePr>
            <a:graphicFrameLocks noGrp="1"/>
          </p:cNvGraphicFramePr>
          <p:nvPr/>
        </p:nvGraphicFramePr>
        <p:xfrm>
          <a:off x="7924800" y="1818266"/>
          <a:ext cx="2743200" cy="263771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265005127"/>
                    </a:ext>
                  </a:extLst>
                </a:gridCol>
                <a:gridCol w="548640">
                  <a:extLst>
                    <a:ext uri="{9D8B030D-6E8A-4147-A177-3AD203B41FA5}">
                      <a16:colId xmlns:a16="http://schemas.microsoft.com/office/drawing/2014/main" val="3038674402"/>
                    </a:ext>
                  </a:extLst>
                </a:gridCol>
                <a:gridCol w="548640">
                  <a:extLst>
                    <a:ext uri="{9D8B030D-6E8A-4147-A177-3AD203B41FA5}">
                      <a16:colId xmlns:a16="http://schemas.microsoft.com/office/drawing/2014/main" val="4241917921"/>
                    </a:ext>
                  </a:extLst>
                </a:gridCol>
                <a:gridCol w="548640">
                  <a:extLst>
                    <a:ext uri="{9D8B030D-6E8A-4147-A177-3AD203B41FA5}">
                      <a16:colId xmlns:a16="http://schemas.microsoft.com/office/drawing/2014/main" val="1386874660"/>
                    </a:ext>
                  </a:extLst>
                </a:gridCol>
                <a:gridCol w="548640">
                  <a:extLst>
                    <a:ext uri="{9D8B030D-6E8A-4147-A177-3AD203B41FA5}">
                      <a16:colId xmlns:a16="http://schemas.microsoft.com/office/drawing/2014/main" val="3661793645"/>
                    </a:ext>
                  </a:extLst>
                </a:gridCol>
              </a:tblGrid>
              <a:tr h="527542">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1560245"/>
                  </a:ext>
                </a:extLst>
              </a:tr>
              <a:tr h="527542">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2025558"/>
                  </a:ext>
                </a:extLst>
              </a:tr>
              <a:tr h="527542">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4955491"/>
                  </a:ext>
                </a:extLst>
              </a:tr>
              <a:tr h="527542">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7334569"/>
                  </a:ext>
                </a:extLst>
              </a:tr>
              <a:tr h="527542">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8699624"/>
                  </a:ext>
                </a:extLst>
              </a:tr>
            </a:tbl>
          </a:graphicData>
        </a:graphic>
      </p:graphicFrame>
      <p:graphicFrame>
        <p:nvGraphicFramePr>
          <p:cNvPr id="16" name="表格 4">
            <a:extLst>
              <a:ext uri="{FF2B5EF4-FFF2-40B4-BE49-F238E27FC236}">
                <a16:creationId xmlns:a16="http://schemas.microsoft.com/office/drawing/2014/main" id="{B5530D3C-F9CE-4D18-B8F8-FB62B0240B8F}"/>
              </a:ext>
            </a:extLst>
          </p:cNvPr>
          <p:cNvGraphicFramePr>
            <a:graphicFrameLocks noGrp="1"/>
          </p:cNvGraphicFramePr>
          <p:nvPr>
            <p:extLst>
              <p:ext uri="{D42A27DB-BD31-4B8C-83A1-F6EECF244321}">
                <p14:modId xmlns:p14="http://schemas.microsoft.com/office/powerpoint/2010/main" val="2787162632"/>
              </p:ext>
            </p:extLst>
          </p:nvPr>
        </p:nvGraphicFramePr>
        <p:xfrm>
          <a:off x="7924800" y="5133112"/>
          <a:ext cx="3924298" cy="496546"/>
        </p:xfrm>
        <a:graphic>
          <a:graphicData uri="http://schemas.openxmlformats.org/drawingml/2006/table">
            <a:tbl>
              <a:tblPr firstRow="1" bandRow="1">
                <a:tableStyleId>{5C22544A-7EE6-4342-B048-85BDC9FD1C3A}</a:tableStyleId>
              </a:tblPr>
              <a:tblGrid>
                <a:gridCol w="560614">
                  <a:extLst>
                    <a:ext uri="{9D8B030D-6E8A-4147-A177-3AD203B41FA5}">
                      <a16:colId xmlns:a16="http://schemas.microsoft.com/office/drawing/2014/main" val="734379365"/>
                    </a:ext>
                  </a:extLst>
                </a:gridCol>
                <a:gridCol w="560614">
                  <a:extLst>
                    <a:ext uri="{9D8B030D-6E8A-4147-A177-3AD203B41FA5}">
                      <a16:colId xmlns:a16="http://schemas.microsoft.com/office/drawing/2014/main" val="2259459732"/>
                    </a:ext>
                  </a:extLst>
                </a:gridCol>
                <a:gridCol w="560614">
                  <a:extLst>
                    <a:ext uri="{9D8B030D-6E8A-4147-A177-3AD203B41FA5}">
                      <a16:colId xmlns:a16="http://schemas.microsoft.com/office/drawing/2014/main" val="2942269118"/>
                    </a:ext>
                  </a:extLst>
                </a:gridCol>
                <a:gridCol w="560614">
                  <a:extLst>
                    <a:ext uri="{9D8B030D-6E8A-4147-A177-3AD203B41FA5}">
                      <a16:colId xmlns:a16="http://schemas.microsoft.com/office/drawing/2014/main" val="1256231252"/>
                    </a:ext>
                  </a:extLst>
                </a:gridCol>
                <a:gridCol w="560614">
                  <a:extLst>
                    <a:ext uri="{9D8B030D-6E8A-4147-A177-3AD203B41FA5}">
                      <a16:colId xmlns:a16="http://schemas.microsoft.com/office/drawing/2014/main" val="1538823261"/>
                    </a:ext>
                  </a:extLst>
                </a:gridCol>
                <a:gridCol w="560614">
                  <a:extLst>
                    <a:ext uri="{9D8B030D-6E8A-4147-A177-3AD203B41FA5}">
                      <a16:colId xmlns:a16="http://schemas.microsoft.com/office/drawing/2014/main" val="2126521309"/>
                    </a:ext>
                  </a:extLst>
                </a:gridCol>
                <a:gridCol w="560614">
                  <a:extLst>
                    <a:ext uri="{9D8B030D-6E8A-4147-A177-3AD203B41FA5}">
                      <a16:colId xmlns:a16="http://schemas.microsoft.com/office/drawing/2014/main" val="2758042906"/>
                    </a:ext>
                  </a:extLst>
                </a:gridCol>
              </a:tblGrid>
              <a:tr h="496546">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769919"/>
                  </a:ext>
                </a:extLst>
              </a:tr>
            </a:tbl>
          </a:graphicData>
        </a:graphic>
      </p:graphicFrame>
      <p:graphicFrame>
        <p:nvGraphicFramePr>
          <p:cNvPr id="17" name="表格 4">
            <a:extLst>
              <a:ext uri="{FF2B5EF4-FFF2-40B4-BE49-F238E27FC236}">
                <a16:creationId xmlns:a16="http://schemas.microsoft.com/office/drawing/2014/main" id="{C7416BDC-6D46-484F-BCA9-95A67A42107B}"/>
              </a:ext>
            </a:extLst>
          </p:cNvPr>
          <p:cNvGraphicFramePr>
            <a:graphicFrameLocks noGrp="1"/>
          </p:cNvGraphicFramePr>
          <p:nvPr>
            <p:extLst>
              <p:ext uri="{D42A27DB-BD31-4B8C-83A1-F6EECF244321}">
                <p14:modId xmlns:p14="http://schemas.microsoft.com/office/powerpoint/2010/main" val="1169048537"/>
              </p:ext>
            </p:extLst>
          </p:nvPr>
        </p:nvGraphicFramePr>
        <p:xfrm>
          <a:off x="1355274" y="2249152"/>
          <a:ext cx="5949040" cy="538666"/>
        </p:xfrm>
        <a:graphic>
          <a:graphicData uri="http://schemas.openxmlformats.org/drawingml/2006/table">
            <a:tbl>
              <a:tblPr firstRow="1" bandRow="1">
                <a:tableStyleId>{5C22544A-7EE6-4342-B048-85BDC9FD1C3A}</a:tableStyleId>
              </a:tblPr>
              <a:tblGrid>
                <a:gridCol w="371815">
                  <a:extLst>
                    <a:ext uri="{9D8B030D-6E8A-4147-A177-3AD203B41FA5}">
                      <a16:colId xmlns:a16="http://schemas.microsoft.com/office/drawing/2014/main" val="1124324542"/>
                    </a:ext>
                  </a:extLst>
                </a:gridCol>
                <a:gridCol w="371815">
                  <a:extLst>
                    <a:ext uri="{9D8B030D-6E8A-4147-A177-3AD203B41FA5}">
                      <a16:colId xmlns:a16="http://schemas.microsoft.com/office/drawing/2014/main" val="734379365"/>
                    </a:ext>
                  </a:extLst>
                </a:gridCol>
                <a:gridCol w="371815">
                  <a:extLst>
                    <a:ext uri="{9D8B030D-6E8A-4147-A177-3AD203B41FA5}">
                      <a16:colId xmlns:a16="http://schemas.microsoft.com/office/drawing/2014/main" val="2259459732"/>
                    </a:ext>
                  </a:extLst>
                </a:gridCol>
                <a:gridCol w="371815">
                  <a:extLst>
                    <a:ext uri="{9D8B030D-6E8A-4147-A177-3AD203B41FA5}">
                      <a16:colId xmlns:a16="http://schemas.microsoft.com/office/drawing/2014/main" val="2942269118"/>
                    </a:ext>
                  </a:extLst>
                </a:gridCol>
                <a:gridCol w="371815">
                  <a:extLst>
                    <a:ext uri="{9D8B030D-6E8A-4147-A177-3AD203B41FA5}">
                      <a16:colId xmlns:a16="http://schemas.microsoft.com/office/drawing/2014/main" val="1256231252"/>
                    </a:ext>
                  </a:extLst>
                </a:gridCol>
                <a:gridCol w="371815">
                  <a:extLst>
                    <a:ext uri="{9D8B030D-6E8A-4147-A177-3AD203B41FA5}">
                      <a16:colId xmlns:a16="http://schemas.microsoft.com/office/drawing/2014/main" val="1538823261"/>
                    </a:ext>
                  </a:extLst>
                </a:gridCol>
                <a:gridCol w="371815">
                  <a:extLst>
                    <a:ext uri="{9D8B030D-6E8A-4147-A177-3AD203B41FA5}">
                      <a16:colId xmlns:a16="http://schemas.microsoft.com/office/drawing/2014/main" val="2126521309"/>
                    </a:ext>
                  </a:extLst>
                </a:gridCol>
                <a:gridCol w="371815">
                  <a:extLst>
                    <a:ext uri="{9D8B030D-6E8A-4147-A177-3AD203B41FA5}">
                      <a16:colId xmlns:a16="http://schemas.microsoft.com/office/drawing/2014/main" val="2758042906"/>
                    </a:ext>
                  </a:extLst>
                </a:gridCol>
                <a:gridCol w="371815">
                  <a:extLst>
                    <a:ext uri="{9D8B030D-6E8A-4147-A177-3AD203B41FA5}">
                      <a16:colId xmlns:a16="http://schemas.microsoft.com/office/drawing/2014/main" val="1026239663"/>
                    </a:ext>
                  </a:extLst>
                </a:gridCol>
                <a:gridCol w="371815">
                  <a:extLst>
                    <a:ext uri="{9D8B030D-6E8A-4147-A177-3AD203B41FA5}">
                      <a16:colId xmlns:a16="http://schemas.microsoft.com/office/drawing/2014/main" val="4255421161"/>
                    </a:ext>
                  </a:extLst>
                </a:gridCol>
                <a:gridCol w="371815">
                  <a:extLst>
                    <a:ext uri="{9D8B030D-6E8A-4147-A177-3AD203B41FA5}">
                      <a16:colId xmlns:a16="http://schemas.microsoft.com/office/drawing/2014/main" val="1331944415"/>
                    </a:ext>
                  </a:extLst>
                </a:gridCol>
                <a:gridCol w="371815">
                  <a:extLst>
                    <a:ext uri="{9D8B030D-6E8A-4147-A177-3AD203B41FA5}">
                      <a16:colId xmlns:a16="http://schemas.microsoft.com/office/drawing/2014/main" val="4262925363"/>
                    </a:ext>
                  </a:extLst>
                </a:gridCol>
                <a:gridCol w="371815">
                  <a:extLst>
                    <a:ext uri="{9D8B030D-6E8A-4147-A177-3AD203B41FA5}">
                      <a16:colId xmlns:a16="http://schemas.microsoft.com/office/drawing/2014/main" val="206323065"/>
                    </a:ext>
                  </a:extLst>
                </a:gridCol>
                <a:gridCol w="371815">
                  <a:extLst>
                    <a:ext uri="{9D8B030D-6E8A-4147-A177-3AD203B41FA5}">
                      <a16:colId xmlns:a16="http://schemas.microsoft.com/office/drawing/2014/main" val="3136144109"/>
                    </a:ext>
                  </a:extLst>
                </a:gridCol>
                <a:gridCol w="371815">
                  <a:extLst>
                    <a:ext uri="{9D8B030D-6E8A-4147-A177-3AD203B41FA5}">
                      <a16:colId xmlns:a16="http://schemas.microsoft.com/office/drawing/2014/main" val="2290075862"/>
                    </a:ext>
                  </a:extLst>
                </a:gridCol>
                <a:gridCol w="371815">
                  <a:extLst>
                    <a:ext uri="{9D8B030D-6E8A-4147-A177-3AD203B41FA5}">
                      <a16:colId xmlns:a16="http://schemas.microsoft.com/office/drawing/2014/main" val="187554075"/>
                    </a:ext>
                  </a:extLst>
                </a:gridCol>
              </a:tblGrid>
              <a:tr h="538666">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769919"/>
                  </a:ext>
                </a:extLst>
              </a:tr>
            </a:tbl>
          </a:graphicData>
        </a:graphic>
      </p:graphicFrame>
      <p:graphicFrame>
        <p:nvGraphicFramePr>
          <p:cNvPr id="5" name="表格 4">
            <a:extLst>
              <a:ext uri="{FF2B5EF4-FFF2-40B4-BE49-F238E27FC236}">
                <a16:creationId xmlns:a16="http://schemas.microsoft.com/office/drawing/2014/main" id="{0087BE31-9CF4-42F6-A6EE-96A4F58F902C}"/>
              </a:ext>
            </a:extLst>
          </p:cNvPr>
          <p:cNvGraphicFramePr>
            <a:graphicFrameLocks noGrp="1"/>
          </p:cNvGraphicFramePr>
          <p:nvPr>
            <p:extLst>
              <p:ext uri="{D42A27DB-BD31-4B8C-83A1-F6EECF244321}">
                <p14:modId xmlns:p14="http://schemas.microsoft.com/office/powerpoint/2010/main" val="1081660901"/>
              </p:ext>
            </p:extLst>
          </p:nvPr>
        </p:nvGraphicFramePr>
        <p:xfrm>
          <a:off x="2842534" y="2922523"/>
          <a:ext cx="2974520" cy="538666"/>
        </p:xfrm>
        <a:graphic>
          <a:graphicData uri="http://schemas.openxmlformats.org/drawingml/2006/table">
            <a:tbl>
              <a:tblPr firstRow="1" bandRow="1">
                <a:tableStyleId>{5C22544A-7EE6-4342-B048-85BDC9FD1C3A}</a:tableStyleId>
              </a:tblPr>
              <a:tblGrid>
                <a:gridCol w="371815">
                  <a:extLst>
                    <a:ext uri="{9D8B030D-6E8A-4147-A177-3AD203B41FA5}">
                      <a16:colId xmlns:a16="http://schemas.microsoft.com/office/drawing/2014/main" val="944802406"/>
                    </a:ext>
                  </a:extLst>
                </a:gridCol>
                <a:gridCol w="371815">
                  <a:extLst>
                    <a:ext uri="{9D8B030D-6E8A-4147-A177-3AD203B41FA5}">
                      <a16:colId xmlns:a16="http://schemas.microsoft.com/office/drawing/2014/main" val="1567852864"/>
                    </a:ext>
                  </a:extLst>
                </a:gridCol>
                <a:gridCol w="371815">
                  <a:extLst>
                    <a:ext uri="{9D8B030D-6E8A-4147-A177-3AD203B41FA5}">
                      <a16:colId xmlns:a16="http://schemas.microsoft.com/office/drawing/2014/main" val="676979171"/>
                    </a:ext>
                  </a:extLst>
                </a:gridCol>
                <a:gridCol w="371815">
                  <a:extLst>
                    <a:ext uri="{9D8B030D-6E8A-4147-A177-3AD203B41FA5}">
                      <a16:colId xmlns:a16="http://schemas.microsoft.com/office/drawing/2014/main" val="4245580196"/>
                    </a:ext>
                  </a:extLst>
                </a:gridCol>
                <a:gridCol w="371815">
                  <a:extLst>
                    <a:ext uri="{9D8B030D-6E8A-4147-A177-3AD203B41FA5}">
                      <a16:colId xmlns:a16="http://schemas.microsoft.com/office/drawing/2014/main" val="1104589643"/>
                    </a:ext>
                  </a:extLst>
                </a:gridCol>
                <a:gridCol w="371815">
                  <a:extLst>
                    <a:ext uri="{9D8B030D-6E8A-4147-A177-3AD203B41FA5}">
                      <a16:colId xmlns:a16="http://schemas.microsoft.com/office/drawing/2014/main" val="3595797722"/>
                    </a:ext>
                  </a:extLst>
                </a:gridCol>
                <a:gridCol w="371815">
                  <a:extLst>
                    <a:ext uri="{9D8B030D-6E8A-4147-A177-3AD203B41FA5}">
                      <a16:colId xmlns:a16="http://schemas.microsoft.com/office/drawing/2014/main" val="2636931464"/>
                    </a:ext>
                  </a:extLst>
                </a:gridCol>
                <a:gridCol w="371815">
                  <a:extLst>
                    <a:ext uri="{9D8B030D-6E8A-4147-A177-3AD203B41FA5}">
                      <a16:colId xmlns:a16="http://schemas.microsoft.com/office/drawing/2014/main" val="941743881"/>
                    </a:ext>
                  </a:extLst>
                </a:gridCol>
              </a:tblGrid>
              <a:tr h="538666">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0432006"/>
                  </a:ext>
                </a:extLst>
              </a:tr>
            </a:tbl>
          </a:graphicData>
        </a:graphic>
      </p:graphicFrame>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C0F7F69C-5CD9-4C20-A6C2-89D79987E75F}"/>
                  </a:ext>
                </a:extLst>
              </p:cNvPr>
              <p:cNvSpPr txBox="1"/>
              <p:nvPr/>
            </p:nvSpPr>
            <p:spPr>
              <a:xfrm>
                <a:off x="838200" y="2961023"/>
                <a:ext cx="37732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TW" sz="2400" smtClean="0">
                          <a:latin typeface="Cambria Math" panose="02040503050406030204" pitchFamily="18" charset="0"/>
                          <a:cs typeface="Times" panose="02020603050405020304" pitchFamily="18" charset="0"/>
                        </a:rPr>
                        <m:t>P</m:t>
                      </m:r>
                    </m:oMath>
                  </m:oMathPara>
                </a14:m>
                <a:endParaRPr lang="zh-TW" altLang="en-US" sz="2400" dirty="0"/>
              </a:p>
            </p:txBody>
          </p:sp>
        </mc:Choice>
        <mc:Fallback xmlns="">
          <p:sp>
            <p:nvSpPr>
              <p:cNvPr id="18" name="文字方塊 17">
                <a:extLst>
                  <a:ext uri="{FF2B5EF4-FFF2-40B4-BE49-F238E27FC236}">
                    <a16:creationId xmlns:a16="http://schemas.microsoft.com/office/drawing/2014/main" id="{C0F7F69C-5CD9-4C20-A6C2-89D79987E75F}"/>
                  </a:ext>
                </a:extLst>
              </p:cNvPr>
              <p:cNvSpPr txBox="1">
                <a:spLocks noRot="1" noChangeAspect="1" noMove="1" noResize="1" noEditPoints="1" noAdjustHandles="1" noChangeArrowheads="1" noChangeShapeType="1" noTextEdit="1"/>
              </p:cNvSpPr>
              <p:nvPr/>
            </p:nvSpPr>
            <p:spPr>
              <a:xfrm>
                <a:off x="838200" y="2961023"/>
                <a:ext cx="377328" cy="461665"/>
              </a:xfrm>
              <a:prstGeom prst="rect">
                <a:avLst/>
              </a:prstGeom>
              <a:blipFill>
                <a:blip r:embed="rId4"/>
                <a:stretch>
                  <a:fillRect l="-49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0B7F9E7E-F166-4A8E-8131-DF9E8EABDF0C}"/>
                  </a:ext>
                </a:extLst>
              </p:cNvPr>
              <p:cNvSpPr txBox="1"/>
              <p:nvPr/>
            </p:nvSpPr>
            <p:spPr>
              <a:xfrm>
                <a:off x="838200" y="2289648"/>
                <a:ext cx="37732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TW" sz="2400" b="0" i="0" smtClean="0">
                          <a:latin typeface="Cambria Math" panose="02040503050406030204" pitchFamily="18" charset="0"/>
                        </a:rPr>
                        <m:t>T</m:t>
                      </m:r>
                    </m:oMath>
                  </m:oMathPara>
                </a14:m>
                <a:endParaRPr lang="zh-TW" altLang="en-US" sz="2400" dirty="0"/>
              </a:p>
            </p:txBody>
          </p:sp>
        </mc:Choice>
        <mc:Fallback xmlns="">
          <p:sp>
            <p:nvSpPr>
              <p:cNvPr id="19" name="文字方塊 18">
                <a:extLst>
                  <a:ext uri="{FF2B5EF4-FFF2-40B4-BE49-F238E27FC236}">
                    <a16:creationId xmlns:a16="http://schemas.microsoft.com/office/drawing/2014/main" id="{0B7F9E7E-F166-4A8E-8131-DF9E8EABDF0C}"/>
                  </a:ext>
                </a:extLst>
              </p:cNvPr>
              <p:cNvSpPr txBox="1">
                <a:spLocks noRot="1" noChangeAspect="1" noMove="1" noResize="1" noEditPoints="1" noAdjustHandles="1" noChangeArrowheads="1" noChangeShapeType="1" noTextEdit="1"/>
              </p:cNvSpPr>
              <p:nvPr/>
            </p:nvSpPr>
            <p:spPr>
              <a:xfrm>
                <a:off x="838200" y="2289648"/>
                <a:ext cx="377328" cy="461665"/>
              </a:xfrm>
              <a:prstGeom prst="rect">
                <a:avLst/>
              </a:prstGeom>
              <a:blipFill>
                <a:blip r:embed="rId5"/>
                <a:stretch>
                  <a:fillRect l="-4918" r="-163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551A85A2-A765-43B0-B44D-F97CCEE8912C}"/>
                  </a:ext>
                </a:extLst>
              </p:cNvPr>
              <p:cNvSpPr txBox="1"/>
              <p:nvPr/>
            </p:nvSpPr>
            <p:spPr>
              <a:xfrm>
                <a:off x="2842534" y="1722954"/>
                <a:ext cx="1127080"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=23</m:t>
                      </m:r>
                    </m:oMath>
                  </m:oMathPara>
                </a14:m>
                <a:endParaRPr lang="zh-TW" altLang="en-US" sz="2400" dirty="0"/>
              </a:p>
            </p:txBody>
          </p:sp>
        </mc:Choice>
        <mc:Fallback xmlns="">
          <p:sp>
            <p:nvSpPr>
              <p:cNvPr id="20" name="文字方塊 19">
                <a:extLst>
                  <a:ext uri="{FF2B5EF4-FFF2-40B4-BE49-F238E27FC236}">
                    <a16:creationId xmlns:a16="http://schemas.microsoft.com/office/drawing/2014/main" id="{551A85A2-A765-43B0-B44D-F97CCEE8912C}"/>
                  </a:ext>
                </a:extLst>
              </p:cNvPr>
              <p:cNvSpPr txBox="1">
                <a:spLocks noRot="1" noChangeAspect="1" noMove="1" noResize="1" noEditPoints="1" noAdjustHandles="1" noChangeArrowheads="1" noChangeShapeType="1" noTextEdit="1"/>
              </p:cNvSpPr>
              <p:nvPr/>
            </p:nvSpPr>
            <p:spPr>
              <a:xfrm>
                <a:off x="2842534" y="1722954"/>
                <a:ext cx="1127080" cy="461665"/>
              </a:xfrm>
              <a:prstGeom prst="rect">
                <a:avLst/>
              </a:prstGeom>
              <a:blipFill>
                <a:blip r:embed="rId6"/>
                <a:stretch>
                  <a:fillRect l="-4324" b="-17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1E105E6-45EE-44D8-898D-86B98F6A5700}"/>
                  </a:ext>
                </a:extLst>
              </p:cNvPr>
              <p:cNvSpPr txBox="1"/>
              <p:nvPr/>
            </p:nvSpPr>
            <p:spPr>
              <a:xfrm>
                <a:off x="4921703" y="681681"/>
                <a:ext cx="7243083" cy="64633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TW" sz="1800" b="0" i="0" dirty="0" smtClean="0">
                          <a:solidFill>
                            <a:srgbClr val="333333"/>
                          </a:solidFill>
                          <a:effectLst/>
                          <a:latin typeface="Cambria Math" panose="02040503050406030204" pitchFamily="18" charset="0"/>
                        </a:rPr>
                        <m:t>T</m:t>
                      </m:r>
                      <m:r>
                        <a:rPr lang="en-US" altLang="zh-TW" sz="1800" b="0" i="0" dirty="0" smtClean="0">
                          <a:solidFill>
                            <a:srgbClr val="333333"/>
                          </a:solidFill>
                          <a:effectLst/>
                          <a:latin typeface="Cambria Math" panose="02040503050406030204" pitchFamily="18" charset="0"/>
                        </a:rPr>
                        <m:t>=</m:t>
                      </m:r>
                      <m:r>
                        <m:rPr>
                          <m:sty m:val="p"/>
                        </m:rPr>
                        <a:rPr lang="en-US" altLang="zh-TW" sz="1800" b="0" i="0" dirty="0" smtClean="0">
                          <a:solidFill>
                            <a:srgbClr val="333333"/>
                          </a:solidFill>
                          <a:effectLst/>
                          <a:latin typeface="Cambria Math" panose="02040503050406030204" pitchFamily="18" charset="0"/>
                        </a:rPr>
                        <m:t>ATCTAACATCATAACCCTAATTGGCAGAGAGAGAATCAATCGAATCA</m:t>
                      </m:r>
                    </m:oMath>
                  </m:oMathPara>
                </a14:m>
                <a:endParaRPr lang="en-US" altLang="zh-TW" sz="1800" b="0" dirty="0">
                  <a:solidFill>
                    <a:srgbClr val="333333"/>
                  </a:solidFill>
                  <a:effectLst/>
                  <a:latin typeface="Georgia" panose="02040502050405020303" pitchFamily="18" charset="0"/>
                </a:endParaRPr>
              </a:p>
              <a:p>
                <a:pPr/>
                <a14:m>
                  <m:oMathPara xmlns:m="http://schemas.openxmlformats.org/officeDocument/2006/math">
                    <m:oMathParaPr>
                      <m:jc m:val="left"/>
                    </m:oMathParaPr>
                    <m:oMath xmlns:m="http://schemas.openxmlformats.org/officeDocument/2006/math">
                      <m:r>
                        <m:rPr>
                          <m:sty m:val="p"/>
                        </m:rPr>
                        <a:rPr lang="en-US" altLang="zh-TW" sz="1800" b="0" i="0" dirty="0" smtClean="0">
                          <a:solidFill>
                            <a:srgbClr val="333333"/>
                          </a:solidFill>
                          <a:effectLst/>
                          <a:latin typeface="Cambria Math" panose="02040503050406030204" pitchFamily="18" charset="0"/>
                        </a:rPr>
                        <m:t>P</m:t>
                      </m:r>
                      <m:r>
                        <a:rPr lang="en-US" altLang="zh-TW" sz="1800" b="0" i="0" dirty="0" smtClean="0">
                          <a:solidFill>
                            <a:srgbClr val="333333"/>
                          </a:solidFill>
                          <a:effectLst/>
                          <a:latin typeface="Cambria Math" panose="02040503050406030204" pitchFamily="18" charset="0"/>
                        </a:rPr>
                        <m:t>=</m:t>
                      </m:r>
                      <m:r>
                        <m:rPr>
                          <m:sty m:val="p"/>
                        </m:rPr>
                        <a:rPr lang="en-US" altLang="zh-TW" sz="1800" b="0" i="0" dirty="0" smtClean="0">
                          <a:solidFill>
                            <a:srgbClr val="333333"/>
                          </a:solidFill>
                          <a:effectLst/>
                          <a:latin typeface="Cambria Math" panose="02040503050406030204" pitchFamily="18" charset="0"/>
                        </a:rPr>
                        <m:t>GCAGAGAG</m:t>
                      </m:r>
                    </m:oMath>
                  </m:oMathPara>
                </a14:m>
                <a:endParaRPr lang="en-US" altLang="zh-TW" sz="1800" b="0" dirty="0">
                  <a:solidFill>
                    <a:srgbClr val="333333"/>
                  </a:solidFill>
                  <a:effectLst/>
                  <a:latin typeface="Georgia" panose="02040502050405020303" pitchFamily="18" charset="0"/>
                </a:endParaRPr>
              </a:p>
            </p:txBody>
          </p:sp>
        </mc:Choice>
        <mc:Fallback xmlns="">
          <p:sp>
            <p:nvSpPr>
              <p:cNvPr id="21" name="文字方塊 20">
                <a:extLst>
                  <a:ext uri="{FF2B5EF4-FFF2-40B4-BE49-F238E27FC236}">
                    <a16:creationId xmlns:a16="http://schemas.microsoft.com/office/drawing/2014/main" id="{51E105E6-45EE-44D8-898D-86B98F6A5700}"/>
                  </a:ext>
                </a:extLst>
              </p:cNvPr>
              <p:cNvSpPr txBox="1">
                <a:spLocks noRot="1" noChangeAspect="1" noMove="1" noResize="1" noEditPoints="1" noAdjustHandles="1" noChangeArrowheads="1" noChangeShapeType="1" noTextEdit="1"/>
              </p:cNvSpPr>
              <p:nvPr/>
            </p:nvSpPr>
            <p:spPr>
              <a:xfrm>
                <a:off x="4921703" y="681681"/>
                <a:ext cx="7243083" cy="646331"/>
              </a:xfrm>
              <a:prstGeom prst="rect">
                <a:avLst/>
              </a:prstGeom>
              <a:blipFill>
                <a:blip r:embed="rId7"/>
                <a:stretch>
                  <a:fillRect/>
                </a:stretch>
              </a:blipFill>
            </p:spPr>
            <p:txBody>
              <a:bodyPr/>
              <a:lstStyle/>
              <a:p>
                <a:r>
                  <a:rPr lang="zh-TW" altLang="en-US">
                    <a:noFill/>
                  </a:rPr>
                  <a:t> </a:t>
                </a:r>
              </a:p>
            </p:txBody>
          </p:sp>
        </mc:Fallback>
      </mc:AlternateContent>
      <p:sp>
        <p:nvSpPr>
          <p:cNvPr id="7" name="矩形 6">
            <a:extLst>
              <a:ext uri="{FF2B5EF4-FFF2-40B4-BE49-F238E27FC236}">
                <a16:creationId xmlns:a16="http://schemas.microsoft.com/office/drawing/2014/main" id="{C75356E2-15F4-463C-AE13-7F5ABDB1471A}"/>
              </a:ext>
            </a:extLst>
          </p:cNvPr>
          <p:cNvSpPr/>
          <p:nvPr/>
        </p:nvSpPr>
        <p:spPr>
          <a:xfrm>
            <a:off x="8582142" y="681681"/>
            <a:ext cx="1134735" cy="33187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94826BCF-4331-4DAF-B2D6-5E7A8A1CB836}"/>
              </a:ext>
            </a:extLst>
          </p:cNvPr>
          <p:cNvSpPr/>
          <p:nvPr/>
        </p:nvSpPr>
        <p:spPr>
          <a:xfrm>
            <a:off x="5817054" y="2249152"/>
            <a:ext cx="748999" cy="5386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978862F7-D573-4E96-9568-8E280351176D}"/>
                  </a:ext>
                </a:extLst>
              </p:cNvPr>
              <p:cNvSpPr txBox="1"/>
              <p:nvPr/>
            </p:nvSpPr>
            <p:spPr>
              <a:xfrm>
                <a:off x="837247" y="3856494"/>
                <a:ext cx="3779705" cy="83099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𝑏𝑟𝐵𝑐</m:t>
                      </m:r>
                      <m:d>
                        <m:dPr>
                          <m:begChr m:val="["/>
                          <m:endChr m:val="]"/>
                          <m:ctrlPr>
                            <a:rPr lang="en-US" altLang="zh-TW" sz="2400" b="0" i="1" smtClean="0">
                              <a:latin typeface="Cambria Math" panose="02040503050406030204" pitchFamily="18" charset="0"/>
                            </a:rPr>
                          </m:ctrlPr>
                        </m:dPr>
                        <m:e>
                          <m:r>
                            <m:rPr>
                              <m:sty m:val="p"/>
                            </m:rPr>
                            <a:rPr lang="en-US" altLang="zh-TW" sz="2400" b="0" i="0" smtClean="0">
                              <a:latin typeface="Cambria Math" panose="02040503050406030204" pitchFamily="18" charset="0"/>
                            </a:rPr>
                            <m:t>A</m:t>
                          </m:r>
                          <m:r>
                            <a:rPr lang="en-US" altLang="zh-TW" sz="2400" b="0" i="0" smtClean="0">
                              <a:latin typeface="Cambria Math" panose="02040503050406030204" pitchFamily="18" charset="0"/>
                            </a:rPr>
                            <m:t>, </m:t>
                          </m:r>
                          <m:r>
                            <m:rPr>
                              <m:sty m:val="p"/>
                            </m:rPr>
                            <a:rPr lang="en-US" altLang="zh-TW" sz="2400" b="0" i="0" smtClean="0">
                              <a:latin typeface="Cambria Math" panose="02040503050406030204" pitchFamily="18" charset="0"/>
                            </a:rPr>
                            <m:t>G</m:t>
                          </m:r>
                        </m:e>
                      </m:d>
                      <m:r>
                        <a:rPr lang="en-US" altLang="zh-TW" sz="2400" b="0" i="1" smtClean="0">
                          <a:latin typeface="Cambria Math" panose="02040503050406030204" pitchFamily="18" charset="0"/>
                        </a:rPr>
                        <m:t>=2</m:t>
                      </m:r>
                    </m:oMath>
                  </m:oMathPara>
                </a14:m>
                <a:endParaRPr lang="en-US" altLang="zh-TW" sz="2400" b="0" dirty="0"/>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𝐼𝑏𝑆𝑣</m:t>
                      </m:r>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2</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=26−23=3</m:t>
                      </m:r>
                    </m:oMath>
                  </m:oMathPara>
                </a14:m>
                <a:endParaRPr lang="zh-TW" altLang="en-US" sz="2400" dirty="0"/>
              </a:p>
            </p:txBody>
          </p:sp>
        </mc:Choice>
        <mc:Fallback xmlns="">
          <p:sp>
            <p:nvSpPr>
              <p:cNvPr id="24" name="文字方塊 23">
                <a:extLst>
                  <a:ext uri="{FF2B5EF4-FFF2-40B4-BE49-F238E27FC236}">
                    <a16:creationId xmlns:a16="http://schemas.microsoft.com/office/drawing/2014/main" id="{978862F7-D573-4E96-9568-8E280351176D}"/>
                  </a:ext>
                </a:extLst>
              </p:cNvPr>
              <p:cNvSpPr txBox="1">
                <a:spLocks noRot="1" noChangeAspect="1" noMove="1" noResize="1" noEditPoints="1" noAdjustHandles="1" noChangeArrowheads="1" noChangeShapeType="1" noTextEdit="1"/>
              </p:cNvSpPr>
              <p:nvPr/>
            </p:nvSpPr>
            <p:spPr>
              <a:xfrm>
                <a:off x="837247" y="3856494"/>
                <a:ext cx="3779705" cy="830997"/>
              </a:xfrm>
              <a:prstGeom prst="rect">
                <a:avLst/>
              </a:prstGeom>
              <a:blipFill>
                <a:blip r:embed="rId8"/>
                <a:stretch>
                  <a:fillRect l="-484" b="-882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05610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64544BBF-010E-4615-A15C-ED0DCFF7BF76}"/>
                  </a:ext>
                </a:extLst>
              </p:cNvPr>
              <p:cNvSpPr txBox="1"/>
              <p:nvPr/>
            </p:nvSpPr>
            <p:spPr>
              <a:xfrm>
                <a:off x="7840336" y="1337736"/>
                <a:ext cx="3513464" cy="3785652"/>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r>
                      <a:rPr lang="en-US" altLang="zh-TW" sz="2400" b="0" i="1" dirty="0" smtClean="0">
                        <a:solidFill>
                          <a:srgbClr val="333333"/>
                        </a:solidFill>
                        <a:effectLst/>
                        <a:latin typeface="Cambria Math" panose="02040503050406030204" pitchFamily="18" charset="0"/>
                      </a:rPr>
                      <m:t>𝑏𝑟𝐵𝑐</m:t>
                    </m:r>
                  </m:oMath>
                </a14:m>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dirty="0">
                  <a:solidFill>
                    <a:srgbClr val="333333"/>
                  </a:solidFill>
                  <a:latin typeface="Georgia" panose="02040502050405020303" pitchFamily="18" charset="0"/>
                  <a:cs typeface="Times" panose="02020603050405020304" pitchFamily="18" charset="0"/>
                </a:endParaRPr>
              </a:p>
              <a:p>
                <a:endParaRPr lang="en-US" altLang="zh-TW" sz="2400" dirty="0">
                  <a:solidFill>
                    <a:srgbClr val="333333"/>
                  </a:solidFill>
                  <a:latin typeface="Georgia" panose="02040502050405020303" pitchFamily="18" charset="0"/>
                  <a:cs typeface="Times" panose="02020603050405020304" pitchFamily="18" charset="0"/>
                </a:endParaRPr>
              </a:p>
              <a:p>
                <a:pPr marL="342900" indent="-342900">
                  <a:buFont typeface="Arial" panose="020B0604020202020204" pitchFamily="34" charset="0"/>
                  <a:buChar char="•"/>
                </a:pPr>
                <a:endParaRPr lang="en-US" altLang="zh-TW" sz="2400" b="0" i="0" dirty="0">
                  <a:solidFill>
                    <a:srgbClr val="333333"/>
                  </a:solidFill>
                  <a:effectLst/>
                  <a:latin typeface="Georgia" panose="02040502050405020303" pitchFamily="18" charset="0"/>
                </a:endParaRPr>
              </a:p>
              <a:p>
                <a:pPr marL="342900" indent="-342900">
                  <a:buFont typeface="Arial" panose="020B0604020202020204" pitchFamily="34" charset="0"/>
                  <a:buChar char="•"/>
                </a:pPr>
                <a14:m>
                  <m:oMath xmlns:m="http://schemas.openxmlformats.org/officeDocument/2006/math">
                    <m:r>
                      <a:rPr lang="en-US" altLang="zh-TW" sz="2400" b="0" i="1" dirty="0" smtClean="0">
                        <a:solidFill>
                          <a:srgbClr val="333333"/>
                        </a:solidFill>
                        <a:effectLst/>
                        <a:latin typeface="Cambria Math" panose="02040503050406030204" pitchFamily="18" charset="0"/>
                      </a:rPr>
                      <m:t>𝐼𝑏𝑆𝑣</m:t>
                    </m:r>
                  </m:oMath>
                </a14:m>
                <a:endParaRPr lang="en-US" altLang="zh-TW" sz="2400" dirty="0">
                  <a:latin typeface="Times" panose="02020603050405020304" pitchFamily="18" charset="0"/>
                  <a:cs typeface="Times" panose="02020603050405020304" pitchFamily="18" charset="0"/>
                </a:endParaRPr>
              </a:p>
            </p:txBody>
          </p:sp>
        </mc:Choice>
        <mc:Fallback xmlns="">
          <p:sp>
            <p:nvSpPr>
              <p:cNvPr id="22" name="文字方塊 21">
                <a:extLst>
                  <a:ext uri="{FF2B5EF4-FFF2-40B4-BE49-F238E27FC236}">
                    <a16:creationId xmlns:a16="http://schemas.microsoft.com/office/drawing/2014/main" id="{64544BBF-010E-4615-A15C-ED0DCFF7BF76}"/>
                  </a:ext>
                </a:extLst>
              </p:cNvPr>
              <p:cNvSpPr txBox="1">
                <a:spLocks noRot="1" noChangeAspect="1" noMove="1" noResize="1" noEditPoints="1" noAdjustHandles="1" noChangeArrowheads="1" noChangeShapeType="1" noTextEdit="1"/>
              </p:cNvSpPr>
              <p:nvPr/>
            </p:nvSpPr>
            <p:spPr>
              <a:xfrm>
                <a:off x="7840336" y="1337736"/>
                <a:ext cx="3513464" cy="3785652"/>
              </a:xfrm>
              <a:prstGeom prst="rect">
                <a:avLst/>
              </a:prstGeom>
              <a:blipFill>
                <a:blip r:embed="rId3"/>
                <a:stretch>
                  <a:fillRect l="-2253" t="-644" b="-2254"/>
                </a:stretch>
              </a:blipFill>
            </p:spPr>
            <p:txBody>
              <a:bodyPr/>
              <a:lstStyle/>
              <a:p>
                <a:r>
                  <a:rPr lang="zh-TW" altLang="en-US">
                    <a:noFill/>
                  </a:rPr>
                  <a:t> </a:t>
                </a:r>
              </a:p>
            </p:txBody>
          </p:sp>
        </mc:Fallback>
      </mc:AlternateContent>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Searching Phase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15</a:t>
            </a:fld>
            <a:endParaRPr kumimoji="1" lang="zh-TW" altLang="en-US" dirty="0"/>
          </a:p>
        </p:txBody>
      </p:sp>
      <p:graphicFrame>
        <p:nvGraphicFramePr>
          <p:cNvPr id="15" name="表格 14">
            <a:extLst>
              <a:ext uri="{FF2B5EF4-FFF2-40B4-BE49-F238E27FC236}">
                <a16:creationId xmlns:a16="http://schemas.microsoft.com/office/drawing/2014/main" id="{14CE6CC0-4E7D-470C-8CA4-7A43E599795A}"/>
              </a:ext>
            </a:extLst>
          </p:cNvPr>
          <p:cNvGraphicFramePr>
            <a:graphicFrameLocks noGrp="1"/>
          </p:cNvGraphicFramePr>
          <p:nvPr/>
        </p:nvGraphicFramePr>
        <p:xfrm>
          <a:off x="7924800" y="1818266"/>
          <a:ext cx="2743200" cy="263771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265005127"/>
                    </a:ext>
                  </a:extLst>
                </a:gridCol>
                <a:gridCol w="548640">
                  <a:extLst>
                    <a:ext uri="{9D8B030D-6E8A-4147-A177-3AD203B41FA5}">
                      <a16:colId xmlns:a16="http://schemas.microsoft.com/office/drawing/2014/main" val="3038674402"/>
                    </a:ext>
                  </a:extLst>
                </a:gridCol>
                <a:gridCol w="548640">
                  <a:extLst>
                    <a:ext uri="{9D8B030D-6E8A-4147-A177-3AD203B41FA5}">
                      <a16:colId xmlns:a16="http://schemas.microsoft.com/office/drawing/2014/main" val="4241917921"/>
                    </a:ext>
                  </a:extLst>
                </a:gridCol>
                <a:gridCol w="548640">
                  <a:extLst>
                    <a:ext uri="{9D8B030D-6E8A-4147-A177-3AD203B41FA5}">
                      <a16:colId xmlns:a16="http://schemas.microsoft.com/office/drawing/2014/main" val="1386874660"/>
                    </a:ext>
                  </a:extLst>
                </a:gridCol>
                <a:gridCol w="548640">
                  <a:extLst>
                    <a:ext uri="{9D8B030D-6E8A-4147-A177-3AD203B41FA5}">
                      <a16:colId xmlns:a16="http://schemas.microsoft.com/office/drawing/2014/main" val="3661793645"/>
                    </a:ext>
                  </a:extLst>
                </a:gridCol>
              </a:tblGrid>
              <a:tr h="527542">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1560245"/>
                  </a:ext>
                </a:extLst>
              </a:tr>
              <a:tr h="527542">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2025558"/>
                  </a:ext>
                </a:extLst>
              </a:tr>
              <a:tr h="527542">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4955491"/>
                  </a:ext>
                </a:extLst>
              </a:tr>
              <a:tr h="527542">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7334569"/>
                  </a:ext>
                </a:extLst>
              </a:tr>
              <a:tr h="527542">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8699624"/>
                  </a:ext>
                </a:extLst>
              </a:tr>
            </a:tbl>
          </a:graphicData>
        </a:graphic>
      </p:graphicFrame>
      <p:graphicFrame>
        <p:nvGraphicFramePr>
          <p:cNvPr id="16" name="表格 4">
            <a:extLst>
              <a:ext uri="{FF2B5EF4-FFF2-40B4-BE49-F238E27FC236}">
                <a16:creationId xmlns:a16="http://schemas.microsoft.com/office/drawing/2014/main" id="{B5530D3C-F9CE-4D18-B8F8-FB62B0240B8F}"/>
              </a:ext>
            </a:extLst>
          </p:cNvPr>
          <p:cNvGraphicFramePr>
            <a:graphicFrameLocks noGrp="1"/>
          </p:cNvGraphicFramePr>
          <p:nvPr>
            <p:extLst>
              <p:ext uri="{D42A27DB-BD31-4B8C-83A1-F6EECF244321}">
                <p14:modId xmlns:p14="http://schemas.microsoft.com/office/powerpoint/2010/main" val="1071726512"/>
              </p:ext>
            </p:extLst>
          </p:nvPr>
        </p:nvGraphicFramePr>
        <p:xfrm>
          <a:off x="7924800" y="5133112"/>
          <a:ext cx="3924298" cy="496546"/>
        </p:xfrm>
        <a:graphic>
          <a:graphicData uri="http://schemas.openxmlformats.org/drawingml/2006/table">
            <a:tbl>
              <a:tblPr firstRow="1" bandRow="1">
                <a:tableStyleId>{5C22544A-7EE6-4342-B048-85BDC9FD1C3A}</a:tableStyleId>
              </a:tblPr>
              <a:tblGrid>
                <a:gridCol w="560614">
                  <a:extLst>
                    <a:ext uri="{9D8B030D-6E8A-4147-A177-3AD203B41FA5}">
                      <a16:colId xmlns:a16="http://schemas.microsoft.com/office/drawing/2014/main" val="734379365"/>
                    </a:ext>
                  </a:extLst>
                </a:gridCol>
                <a:gridCol w="560614">
                  <a:extLst>
                    <a:ext uri="{9D8B030D-6E8A-4147-A177-3AD203B41FA5}">
                      <a16:colId xmlns:a16="http://schemas.microsoft.com/office/drawing/2014/main" val="2259459732"/>
                    </a:ext>
                  </a:extLst>
                </a:gridCol>
                <a:gridCol w="560614">
                  <a:extLst>
                    <a:ext uri="{9D8B030D-6E8A-4147-A177-3AD203B41FA5}">
                      <a16:colId xmlns:a16="http://schemas.microsoft.com/office/drawing/2014/main" val="2942269118"/>
                    </a:ext>
                  </a:extLst>
                </a:gridCol>
                <a:gridCol w="560614">
                  <a:extLst>
                    <a:ext uri="{9D8B030D-6E8A-4147-A177-3AD203B41FA5}">
                      <a16:colId xmlns:a16="http://schemas.microsoft.com/office/drawing/2014/main" val="1256231252"/>
                    </a:ext>
                  </a:extLst>
                </a:gridCol>
                <a:gridCol w="560614">
                  <a:extLst>
                    <a:ext uri="{9D8B030D-6E8A-4147-A177-3AD203B41FA5}">
                      <a16:colId xmlns:a16="http://schemas.microsoft.com/office/drawing/2014/main" val="1538823261"/>
                    </a:ext>
                  </a:extLst>
                </a:gridCol>
                <a:gridCol w="560614">
                  <a:extLst>
                    <a:ext uri="{9D8B030D-6E8A-4147-A177-3AD203B41FA5}">
                      <a16:colId xmlns:a16="http://schemas.microsoft.com/office/drawing/2014/main" val="2126521309"/>
                    </a:ext>
                  </a:extLst>
                </a:gridCol>
                <a:gridCol w="560614">
                  <a:extLst>
                    <a:ext uri="{9D8B030D-6E8A-4147-A177-3AD203B41FA5}">
                      <a16:colId xmlns:a16="http://schemas.microsoft.com/office/drawing/2014/main" val="2758042906"/>
                    </a:ext>
                  </a:extLst>
                </a:gridCol>
              </a:tblGrid>
              <a:tr h="496546">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769919"/>
                  </a:ext>
                </a:extLst>
              </a:tr>
            </a:tbl>
          </a:graphicData>
        </a:graphic>
      </p:graphicFrame>
      <p:graphicFrame>
        <p:nvGraphicFramePr>
          <p:cNvPr id="17" name="表格 4">
            <a:extLst>
              <a:ext uri="{FF2B5EF4-FFF2-40B4-BE49-F238E27FC236}">
                <a16:creationId xmlns:a16="http://schemas.microsoft.com/office/drawing/2014/main" id="{C7416BDC-6D46-484F-BCA9-95A67A42107B}"/>
              </a:ext>
            </a:extLst>
          </p:cNvPr>
          <p:cNvGraphicFramePr>
            <a:graphicFrameLocks noGrp="1"/>
          </p:cNvGraphicFramePr>
          <p:nvPr>
            <p:extLst>
              <p:ext uri="{D42A27DB-BD31-4B8C-83A1-F6EECF244321}">
                <p14:modId xmlns:p14="http://schemas.microsoft.com/office/powerpoint/2010/main" val="4124836948"/>
              </p:ext>
            </p:extLst>
          </p:nvPr>
        </p:nvGraphicFramePr>
        <p:xfrm>
          <a:off x="1355274" y="2249152"/>
          <a:ext cx="5949040" cy="538666"/>
        </p:xfrm>
        <a:graphic>
          <a:graphicData uri="http://schemas.openxmlformats.org/drawingml/2006/table">
            <a:tbl>
              <a:tblPr firstRow="1" bandRow="1">
                <a:tableStyleId>{5C22544A-7EE6-4342-B048-85BDC9FD1C3A}</a:tableStyleId>
              </a:tblPr>
              <a:tblGrid>
                <a:gridCol w="371815">
                  <a:extLst>
                    <a:ext uri="{9D8B030D-6E8A-4147-A177-3AD203B41FA5}">
                      <a16:colId xmlns:a16="http://schemas.microsoft.com/office/drawing/2014/main" val="1124324542"/>
                    </a:ext>
                  </a:extLst>
                </a:gridCol>
                <a:gridCol w="371815">
                  <a:extLst>
                    <a:ext uri="{9D8B030D-6E8A-4147-A177-3AD203B41FA5}">
                      <a16:colId xmlns:a16="http://schemas.microsoft.com/office/drawing/2014/main" val="734379365"/>
                    </a:ext>
                  </a:extLst>
                </a:gridCol>
                <a:gridCol w="371815">
                  <a:extLst>
                    <a:ext uri="{9D8B030D-6E8A-4147-A177-3AD203B41FA5}">
                      <a16:colId xmlns:a16="http://schemas.microsoft.com/office/drawing/2014/main" val="2259459732"/>
                    </a:ext>
                  </a:extLst>
                </a:gridCol>
                <a:gridCol w="371815">
                  <a:extLst>
                    <a:ext uri="{9D8B030D-6E8A-4147-A177-3AD203B41FA5}">
                      <a16:colId xmlns:a16="http://schemas.microsoft.com/office/drawing/2014/main" val="2942269118"/>
                    </a:ext>
                  </a:extLst>
                </a:gridCol>
                <a:gridCol w="371815">
                  <a:extLst>
                    <a:ext uri="{9D8B030D-6E8A-4147-A177-3AD203B41FA5}">
                      <a16:colId xmlns:a16="http://schemas.microsoft.com/office/drawing/2014/main" val="1256231252"/>
                    </a:ext>
                  </a:extLst>
                </a:gridCol>
                <a:gridCol w="371815">
                  <a:extLst>
                    <a:ext uri="{9D8B030D-6E8A-4147-A177-3AD203B41FA5}">
                      <a16:colId xmlns:a16="http://schemas.microsoft.com/office/drawing/2014/main" val="1538823261"/>
                    </a:ext>
                  </a:extLst>
                </a:gridCol>
                <a:gridCol w="371815">
                  <a:extLst>
                    <a:ext uri="{9D8B030D-6E8A-4147-A177-3AD203B41FA5}">
                      <a16:colId xmlns:a16="http://schemas.microsoft.com/office/drawing/2014/main" val="2126521309"/>
                    </a:ext>
                  </a:extLst>
                </a:gridCol>
                <a:gridCol w="371815">
                  <a:extLst>
                    <a:ext uri="{9D8B030D-6E8A-4147-A177-3AD203B41FA5}">
                      <a16:colId xmlns:a16="http://schemas.microsoft.com/office/drawing/2014/main" val="2758042906"/>
                    </a:ext>
                  </a:extLst>
                </a:gridCol>
                <a:gridCol w="371815">
                  <a:extLst>
                    <a:ext uri="{9D8B030D-6E8A-4147-A177-3AD203B41FA5}">
                      <a16:colId xmlns:a16="http://schemas.microsoft.com/office/drawing/2014/main" val="1026239663"/>
                    </a:ext>
                  </a:extLst>
                </a:gridCol>
                <a:gridCol w="371815">
                  <a:extLst>
                    <a:ext uri="{9D8B030D-6E8A-4147-A177-3AD203B41FA5}">
                      <a16:colId xmlns:a16="http://schemas.microsoft.com/office/drawing/2014/main" val="4255421161"/>
                    </a:ext>
                  </a:extLst>
                </a:gridCol>
                <a:gridCol w="371815">
                  <a:extLst>
                    <a:ext uri="{9D8B030D-6E8A-4147-A177-3AD203B41FA5}">
                      <a16:colId xmlns:a16="http://schemas.microsoft.com/office/drawing/2014/main" val="1331944415"/>
                    </a:ext>
                  </a:extLst>
                </a:gridCol>
                <a:gridCol w="371815">
                  <a:extLst>
                    <a:ext uri="{9D8B030D-6E8A-4147-A177-3AD203B41FA5}">
                      <a16:colId xmlns:a16="http://schemas.microsoft.com/office/drawing/2014/main" val="4262925363"/>
                    </a:ext>
                  </a:extLst>
                </a:gridCol>
                <a:gridCol w="371815">
                  <a:extLst>
                    <a:ext uri="{9D8B030D-6E8A-4147-A177-3AD203B41FA5}">
                      <a16:colId xmlns:a16="http://schemas.microsoft.com/office/drawing/2014/main" val="206323065"/>
                    </a:ext>
                  </a:extLst>
                </a:gridCol>
                <a:gridCol w="371815">
                  <a:extLst>
                    <a:ext uri="{9D8B030D-6E8A-4147-A177-3AD203B41FA5}">
                      <a16:colId xmlns:a16="http://schemas.microsoft.com/office/drawing/2014/main" val="3136144109"/>
                    </a:ext>
                  </a:extLst>
                </a:gridCol>
                <a:gridCol w="371815">
                  <a:extLst>
                    <a:ext uri="{9D8B030D-6E8A-4147-A177-3AD203B41FA5}">
                      <a16:colId xmlns:a16="http://schemas.microsoft.com/office/drawing/2014/main" val="2290075862"/>
                    </a:ext>
                  </a:extLst>
                </a:gridCol>
                <a:gridCol w="371815">
                  <a:extLst>
                    <a:ext uri="{9D8B030D-6E8A-4147-A177-3AD203B41FA5}">
                      <a16:colId xmlns:a16="http://schemas.microsoft.com/office/drawing/2014/main" val="187554075"/>
                    </a:ext>
                  </a:extLst>
                </a:gridCol>
              </a:tblGrid>
              <a:tr h="538666">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8F8F"/>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769919"/>
                  </a:ext>
                </a:extLst>
              </a:tr>
            </a:tbl>
          </a:graphicData>
        </a:graphic>
      </p:graphicFrame>
      <p:graphicFrame>
        <p:nvGraphicFramePr>
          <p:cNvPr id="5" name="表格 4">
            <a:extLst>
              <a:ext uri="{FF2B5EF4-FFF2-40B4-BE49-F238E27FC236}">
                <a16:creationId xmlns:a16="http://schemas.microsoft.com/office/drawing/2014/main" id="{0087BE31-9CF4-42F6-A6EE-96A4F58F902C}"/>
              </a:ext>
            </a:extLst>
          </p:cNvPr>
          <p:cNvGraphicFramePr>
            <a:graphicFrameLocks noGrp="1"/>
          </p:cNvGraphicFramePr>
          <p:nvPr/>
        </p:nvGraphicFramePr>
        <p:xfrm>
          <a:off x="2842534" y="2922523"/>
          <a:ext cx="2974520" cy="538666"/>
        </p:xfrm>
        <a:graphic>
          <a:graphicData uri="http://schemas.openxmlformats.org/drawingml/2006/table">
            <a:tbl>
              <a:tblPr firstRow="1" bandRow="1">
                <a:tableStyleId>{5C22544A-7EE6-4342-B048-85BDC9FD1C3A}</a:tableStyleId>
              </a:tblPr>
              <a:tblGrid>
                <a:gridCol w="371815">
                  <a:extLst>
                    <a:ext uri="{9D8B030D-6E8A-4147-A177-3AD203B41FA5}">
                      <a16:colId xmlns:a16="http://schemas.microsoft.com/office/drawing/2014/main" val="944802406"/>
                    </a:ext>
                  </a:extLst>
                </a:gridCol>
                <a:gridCol w="371815">
                  <a:extLst>
                    <a:ext uri="{9D8B030D-6E8A-4147-A177-3AD203B41FA5}">
                      <a16:colId xmlns:a16="http://schemas.microsoft.com/office/drawing/2014/main" val="1567852864"/>
                    </a:ext>
                  </a:extLst>
                </a:gridCol>
                <a:gridCol w="371815">
                  <a:extLst>
                    <a:ext uri="{9D8B030D-6E8A-4147-A177-3AD203B41FA5}">
                      <a16:colId xmlns:a16="http://schemas.microsoft.com/office/drawing/2014/main" val="676979171"/>
                    </a:ext>
                  </a:extLst>
                </a:gridCol>
                <a:gridCol w="371815">
                  <a:extLst>
                    <a:ext uri="{9D8B030D-6E8A-4147-A177-3AD203B41FA5}">
                      <a16:colId xmlns:a16="http://schemas.microsoft.com/office/drawing/2014/main" val="4245580196"/>
                    </a:ext>
                  </a:extLst>
                </a:gridCol>
                <a:gridCol w="371815">
                  <a:extLst>
                    <a:ext uri="{9D8B030D-6E8A-4147-A177-3AD203B41FA5}">
                      <a16:colId xmlns:a16="http://schemas.microsoft.com/office/drawing/2014/main" val="1104589643"/>
                    </a:ext>
                  </a:extLst>
                </a:gridCol>
                <a:gridCol w="371815">
                  <a:extLst>
                    <a:ext uri="{9D8B030D-6E8A-4147-A177-3AD203B41FA5}">
                      <a16:colId xmlns:a16="http://schemas.microsoft.com/office/drawing/2014/main" val="3595797722"/>
                    </a:ext>
                  </a:extLst>
                </a:gridCol>
                <a:gridCol w="371815">
                  <a:extLst>
                    <a:ext uri="{9D8B030D-6E8A-4147-A177-3AD203B41FA5}">
                      <a16:colId xmlns:a16="http://schemas.microsoft.com/office/drawing/2014/main" val="2636931464"/>
                    </a:ext>
                  </a:extLst>
                </a:gridCol>
                <a:gridCol w="371815">
                  <a:extLst>
                    <a:ext uri="{9D8B030D-6E8A-4147-A177-3AD203B41FA5}">
                      <a16:colId xmlns:a16="http://schemas.microsoft.com/office/drawing/2014/main" val="941743881"/>
                    </a:ext>
                  </a:extLst>
                </a:gridCol>
              </a:tblGrid>
              <a:tr h="538666">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8F8F"/>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0432006"/>
                  </a:ext>
                </a:extLst>
              </a:tr>
            </a:tbl>
          </a:graphicData>
        </a:graphic>
      </p:graphicFrame>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C0F7F69C-5CD9-4C20-A6C2-89D79987E75F}"/>
                  </a:ext>
                </a:extLst>
              </p:cNvPr>
              <p:cNvSpPr txBox="1"/>
              <p:nvPr/>
            </p:nvSpPr>
            <p:spPr>
              <a:xfrm>
                <a:off x="838200" y="2961023"/>
                <a:ext cx="37732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TW" sz="2400" smtClean="0">
                          <a:latin typeface="Cambria Math" panose="02040503050406030204" pitchFamily="18" charset="0"/>
                          <a:cs typeface="Times" panose="02020603050405020304" pitchFamily="18" charset="0"/>
                        </a:rPr>
                        <m:t>P</m:t>
                      </m:r>
                    </m:oMath>
                  </m:oMathPara>
                </a14:m>
                <a:endParaRPr lang="zh-TW" altLang="en-US" sz="2400" dirty="0"/>
              </a:p>
            </p:txBody>
          </p:sp>
        </mc:Choice>
        <mc:Fallback xmlns="">
          <p:sp>
            <p:nvSpPr>
              <p:cNvPr id="18" name="文字方塊 17">
                <a:extLst>
                  <a:ext uri="{FF2B5EF4-FFF2-40B4-BE49-F238E27FC236}">
                    <a16:creationId xmlns:a16="http://schemas.microsoft.com/office/drawing/2014/main" id="{C0F7F69C-5CD9-4C20-A6C2-89D79987E75F}"/>
                  </a:ext>
                </a:extLst>
              </p:cNvPr>
              <p:cNvSpPr txBox="1">
                <a:spLocks noRot="1" noChangeAspect="1" noMove="1" noResize="1" noEditPoints="1" noAdjustHandles="1" noChangeArrowheads="1" noChangeShapeType="1" noTextEdit="1"/>
              </p:cNvSpPr>
              <p:nvPr/>
            </p:nvSpPr>
            <p:spPr>
              <a:xfrm>
                <a:off x="838200" y="2961023"/>
                <a:ext cx="377328" cy="461665"/>
              </a:xfrm>
              <a:prstGeom prst="rect">
                <a:avLst/>
              </a:prstGeom>
              <a:blipFill>
                <a:blip r:embed="rId4"/>
                <a:stretch>
                  <a:fillRect l="-49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0B7F9E7E-F166-4A8E-8131-DF9E8EABDF0C}"/>
                  </a:ext>
                </a:extLst>
              </p:cNvPr>
              <p:cNvSpPr txBox="1"/>
              <p:nvPr/>
            </p:nvSpPr>
            <p:spPr>
              <a:xfrm>
                <a:off x="838200" y="2289648"/>
                <a:ext cx="377328"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TW" sz="2400" b="0" i="0" smtClean="0">
                          <a:latin typeface="Cambria Math" panose="02040503050406030204" pitchFamily="18" charset="0"/>
                        </a:rPr>
                        <m:t>T</m:t>
                      </m:r>
                    </m:oMath>
                  </m:oMathPara>
                </a14:m>
                <a:endParaRPr lang="zh-TW" altLang="en-US" sz="2400" dirty="0"/>
              </a:p>
            </p:txBody>
          </p:sp>
        </mc:Choice>
        <mc:Fallback xmlns="">
          <p:sp>
            <p:nvSpPr>
              <p:cNvPr id="19" name="文字方塊 18">
                <a:extLst>
                  <a:ext uri="{FF2B5EF4-FFF2-40B4-BE49-F238E27FC236}">
                    <a16:creationId xmlns:a16="http://schemas.microsoft.com/office/drawing/2014/main" id="{0B7F9E7E-F166-4A8E-8131-DF9E8EABDF0C}"/>
                  </a:ext>
                </a:extLst>
              </p:cNvPr>
              <p:cNvSpPr txBox="1">
                <a:spLocks noRot="1" noChangeAspect="1" noMove="1" noResize="1" noEditPoints="1" noAdjustHandles="1" noChangeArrowheads="1" noChangeShapeType="1" noTextEdit="1"/>
              </p:cNvSpPr>
              <p:nvPr/>
            </p:nvSpPr>
            <p:spPr>
              <a:xfrm>
                <a:off x="838200" y="2289648"/>
                <a:ext cx="377328" cy="461665"/>
              </a:xfrm>
              <a:prstGeom prst="rect">
                <a:avLst/>
              </a:prstGeom>
              <a:blipFill>
                <a:blip r:embed="rId5"/>
                <a:stretch>
                  <a:fillRect l="-4918" r="-163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551A85A2-A765-43B0-B44D-F97CCEE8912C}"/>
                  </a:ext>
                </a:extLst>
              </p:cNvPr>
              <p:cNvSpPr txBox="1"/>
              <p:nvPr/>
            </p:nvSpPr>
            <p:spPr>
              <a:xfrm>
                <a:off x="2842534" y="1722954"/>
                <a:ext cx="1127080"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=26</m:t>
                      </m:r>
                    </m:oMath>
                  </m:oMathPara>
                </a14:m>
                <a:endParaRPr lang="zh-TW" altLang="en-US" sz="2400" dirty="0"/>
              </a:p>
            </p:txBody>
          </p:sp>
        </mc:Choice>
        <mc:Fallback xmlns="">
          <p:sp>
            <p:nvSpPr>
              <p:cNvPr id="20" name="文字方塊 19">
                <a:extLst>
                  <a:ext uri="{FF2B5EF4-FFF2-40B4-BE49-F238E27FC236}">
                    <a16:creationId xmlns:a16="http://schemas.microsoft.com/office/drawing/2014/main" id="{551A85A2-A765-43B0-B44D-F97CCEE8912C}"/>
                  </a:ext>
                </a:extLst>
              </p:cNvPr>
              <p:cNvSpPr txBox="1">
                <a:spLocks noRot="1" noChangeAspect="1" noMove="1" noResize="1" noEditPoints="1" noAdjustHandles="1" noChangeArrowheads="1" noChangeShapeType="1" noTextEdit="1"/>
              </p:cNvSpPr>
              <p:nvPr/>
            </p:nvSpPr>
            <p:spPr>
              <a:xfrm>
                <a:off x="2842534" y="1722954"/>
                <a:ext cx="1127080" cy="461665"/>
              </a:xfrm>
              <a:prstGeom prst="rect">
                <a:avLst/>
              </a:prstGeom>
              <a:blipFill>
                <a:blip r:embed="rId6"/>
                <a:stretch>
                  <a:fillRect l="-4324" b="-17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1E105E6-45EE-44D8-898D-86B98F6A5700}"/>
                  </a:ext>
                </a:extLst>
              </p:cNvPr>
              <p:cNvSpPr txBox="1"/>
              <p:nvPr/>
            </p:nvSpPr>
            <p:spPr>
              <a:xfrm>
                <a:off x="4921703" y="681681"/>
                <a:ext cx="7243083" cy="64633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TW" sz="1800" b="0" i="0" dirty="0" smtClean="0">
                          <a:solidFill>
                            <a:srgbClr val="333333"/>
                          </a:solidFill>
                          <a:effectLst/>
                          <a:latin typeface="Cambria Math" panose="02040503050406030204" pitchFamily="18" charset="0"/>
                        </a:rPr>
                        <m:t>T</m:t>
                      </m:r>
                      <m:r>
                        <a:rPr lang="en-US" altLang="zh-TW" sz="1800" b="0" i="0" dirty="0" smtClean="0">
                          <a:solidFill>
                            <a:srgbClr val="333333"/>
                          </a:solidFill>
                          <a:effectLst/>
                          <a:latin typeface="Cambria Math" panose="02040503050406030204" pitchFamily="18" charset="0"/>
                        </a:rPr>
                        <m:t>=</m:t>
                      </m:r>
                      <m:r>
                        <m:rPr>
                          <m:sty m:val="p"/>
                        </m:rPr>
                        <a:rPr lang="en-US" altLang="zh-TW" sz="1800" b="0" i="0" dirty="0" smtClean="0">
                          <a:solidFill>
                            <a:srgbClr val="333333"/>
                          </a:solidFill>
                          <a:effectLst/>
                          <a:latin typeface="Cambria Math" panose="02040503050406030204" pitchFamily="18" charset="0"/>
                        </a:rPr>
                        <m:t>ATCTAACATCATAACCCTAATTGGCAGAGAGAGAATCAATCGAATCA</m:t>
                      </m:r>
                    </m:oMath>
                  </m:oMathPara>
                </a14:m>
                <a:endParaRPr lang="en-US" altLang="zh-TW" sz="1800" b="0" dirty="0">
                  <a:solidFill>
                    <a:srgbClr val="333333"/>
                  </a:solidFill>
                  <a:effectLst/>
                  <a:latin typeface="Georgia" panose="02040502050405020303" pitchFamily="18" charset="0"/>
                </a:endParaRPr>
              </a:p>
              <a:p>
                <a:pPr/>
                <a14:m>
                  <m:oMathPara xmlns:m="http://schemas.openxmlformats.org/officeDocument/2006/math">
                    <m:oMathParaPr>
                      <m:jc m:val="left"/>
                    </m:oMathParaPr>
                    <m:oMath xmlns:m="http://schemas.openxmlformats.org/officeDocument/2006/math">
                      <m:r>
                        <m:rPr>
                          <m:sty m:val="p"/>
                        </m:rPr>
                        <a:rPr lang="en-US" altLang="zh-TW" sz="1800" b="0" i="0" dirty="0" smtClean="0">
                          <a:solidFill>
                            <a:srgbClr val="333333"/>
                          </a:solidFill>
                          <a:effectLst/>
                          <a:latin typeface="Cambria Math" panose="02040503050406030204" pitchFamily="18" charset="0"/>
                        </a:rPr>
                        <m:t>P</m:t>
                      </m:r>
                      <m:r>
                        <a:rPr lang="en-US" altLang="zh-TW" sz="1800" b="0" i="0" dirty="0" smtClean="0">
                          <a:solidFill>
                            <a:srgbClr val="333333"/>
                          </a:solidFill>
                          <a:effectLst/>
                          <a:latin typeface="Cambria Math" panose="02040503050406030204" pitchFamily="18" charset="0"/>
                        </a:rPr>
                        <m:t>=</m:t>
                      </m:r>
                      <m:r>
                        <m:rPr>
                          <m:sty m:val="p"/>
                        </m:rPr>
                        <a:rPr lang="en-US" altLang="zh-TW" sz="1800" b="0" i="0" dirty="0" smtClean="0">
                          <a:solidFill>
                            <a:srgbClr val="333333"/>
                          </a:solidFill>
                          <a:effectLst/>
                          <a:latin typeface="Cambria Math" panose="02040503050406030204" pitchFamily="18" charset="0"/>
                        </a:rPr>
                        <m:t>GCAGAGAG</m:t>
                      </m:r>
                    </m:oMath>
                  </m:oMathPara>
                </a14:m>
                <a:endParaRPr lang="en-US" altLang="zh-TW" sz="1800" b="0" dirty="0">
                  <a:solidFill>
                    <a:srgbClr val="333333"/>
                  </a:solidFill>
                  <a:effectLst/>
                  <a:latin typeface="Georgia" panose="02040502050405020303" pitchFamily="18" charset="0"/>
                </a:endParaRPr>
              </a:p>
            </p:txBody>
          </p:sp>
        </mc:Choice>
        <mc:Fallback xmlns="">
          <p:sp>
            <p:nvSpPr>
              <p:cNvPr id="21" name="文字方塊 20">
                <a:extLst>
                  <a:ext uri="{FF2B5EF4-FFF2-40B4-BE49-F238E27FC236}">
                    <a16:creationId xmlns:a16="http://schemas.microsoft.com/office/drawing/2014/main" id="{51E105E6-45EE-44D8-898D-86B98F6A5700}"/>
                  </a:ext>
                </a:extLst>
              </p:cNvPr>
              <p:cNvSpPr txBox="1">
                <a:spLocks noRot="1" noChangeAspect="1" noMove="1" noResize="1" noEditPoints="1" noAdjustHandles="1" noChangeArrowheads="1" noChangeShapeType="1" noTextEdit="1"/>
              </p:cNvSpPr>
              <p:nvPr/>
            </p:nvSpPr>
            <p:spPr>
              <a:xfrm>
                <a:off x="4921703" y="681681"/>
                <a:ext cx="7243083" cy="646331"/>
              </a:xfrm>
              <a:prstGeom prst="rect">
                <a:avLst/>
              </a:prstGeom>
              <a:blipFill>
                <a:blip r:embed="rId7"/>
                <a:stretch>
                  <a:fillRect/>
                </a:stretch>
              </a:blipFill>
            </p:spPr>
            <p:txBody>
              <a:bodyPr/>
              <a:lstStyle/>
              <a:p>
                <a:r>
                  <a:rPr lang="zh-TW" altLang="en-US">
                    <a:noFill/>
                  </a:rPr>
                  <a:t> </a:t>
                </a:r>
              </a:p>
            </p:txBody>
          </p:sp>
        </mc:Fallback>
      </mc:AlternateContent>
      <p:sp>
        <p:nvSpPr>
          <p:cNvPr id="9" name="矩形 8">
            <a:extLst>
              <a:ext uri="{FF2B5EF4-FFF2-40B4-BE49-F238E27FC236}">
                <a16:creationId xmlns:a16="http://schemas.microsoft.com/office/drawing/2014/main" id="{94826BCF-4331-4DAF-B2D6-5E7A8A1CB836}"/>
              </a:ext>
            </a:extLst>
          </p:cNvPr>
          <p:cNvSpPr/>
          <p:nvPr/>
        </p:nvSpPr>
        <p:spPr>
          <a:xfrm>
            <a:off x="5817054" y="2249152"/>
            <a:ext cx="748999" cy="5386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978862F7-D573-4E96-9568-8E280351176D}"/>
                  </a:ext>
                </a:extLst>
              </p:cNvPr>
              <p:cNvSpPr txBox="1"/>
              <p:nvPr/>
            </p:nvSpPr>
            <p:spPr>
              <a:xfrm>
                <a:off x="837247" y="3856494"/>
                <a:ext cx="3779705" cy="83099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𝑏𝑟𝐵𝑐</m:t>
                      </m:r>
                      <m:d>
                        <m:dPr>
                          <m:begChr m:val="["/>
                          <m:endChr m:val="]"/>
                          <m:ctrlPr>
                            <a:rPr lang="en-US" altLang="zh-TW" sz="2400" b="0" i="1" smtClean="0">
                              <a:latin typeface="Cambria Math" panose="02040503050406030204" pitchFamily="18" charset="0"/>
                            </a:rPr>
                          </m:ctrlPr>
                        </m:dPr>
                        <m:e>
                          <m:r>
                            <m:rPr>
                              <m:sty m:val="p"/>
                            </m:rPr>
                            <a:rPr lang="en-US" altLang="zh-TW" sz="2400" b="0" i="0" smtClean="0">
                              <a:latin typeface="Cambria Math" panose="02040503050406030204" pitchFamily="18" charset="0"/>
                            </a:rPr>
                            <m:t>A</m:t>
                          </m:r>
                          <m:r>
                            <a:rPr lang="en-US" altLang="zh-TW" sz="2400" b="0" i="0" smtClean="0">
                              <a:latin typeface="Cambria Math" panose="02040503050406030204" pitchFamily="18" charset="0"/>
                            </a:rPr>
                            <m:t>, </m:t>
                          </m:r>
                          <m:r>
                            <m:rPr>
                              <m:sty m:val="p"/>
                            </m:rPr>
                            <a:rPr lang="en-US" altLang="zh-TW" sz="2400" b="0" i="0" smtClean="0">
                              <a:latin typeface="Cambria Math" panose="02040503050406030204" pitchFamily="18" charset="0"/>
                            </a:rPr>
                            <m:t>T</m:t>
                          </m:r>
                        </m:e>
                      </m:d>
                      <m:r>
                        <a:rPr lang="en-US" altLang="zh-TW" sz="2400" b="0" i="1" smtClean="0">
                          <a:latin typeface="Cambria Math" panose="02040503050406030204" pitchFamily="18" charset="0"/>
                        </a:rPr>
                        <m:t>=10</m:t>
                      </m:r>
                    </m:oMath>
                  </m:oMathPara>
                </a14:m>
                <a:endParaRPr lang="en-US" altLang="zh-TW" sz="2400" b="0" dirty="0"/>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𝐼𝑏𝑆𝑣</m:t>
                      </m:r>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3</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=28−26=2</m:t>
                      </m:r>
                    </m:oMath>
                  </m:oMathPara>
                </a14:m>
                <a:endParaRPr lang="zh-TW" altLang="en-US" sz="2400" dirty="0"/>
              </a:p>
            </p:txBody>
          </p:sp>
        </mc:Choice>
        <mc:Fallback xmlns="">
          <p:sp>
            <p:nvSpPr>
              <p:cNvPr id="24" name="文字方塊 23">
                <a:extLst>
                  <a:ext uri="{FF2B5EF4-FFF2-40B4-BE49-F238E27FC236}">
                    <a16:creationId xmlns:a16="http://schemas.microsoft.com/office/drawing/2014/main" id="{978862F7-D573-4E96-9568-8E280351176D}"/>
                  </a:ext>
                </a:extLst>
              </p:cNvPr>
              <p:cNvSpPr txBox="1">
                <a:spLocks noRot="1" noChangeAspect="1" noMove="1" noResize="1" noEditPoints="1" noAdjustHandles="1" noChangeArrowheads="1" noChangeShapeType="1" noTextEdit="1"/>
              </p:cNvSpPr>
              <p:nvPr/>
            </p:nvSpPr>
            <p:spPr>
              <a:xfrm>
                <a:off x="837247" y="3856494"/>
                <a:ext cx="3779705" cy="830997"/>
              </a:xfrm>
              <a:prstGeom prst="rect">
                <a:avLst/>
              </a:prstGeom>
              <a:blipFill>
                <a:blip r:embed="rId8"/>
                <a:stretch>
                  <a:fillRect l="-484" b="-8824"/>
                </a:stretch>
              </a:blipFill>
            </p:spPr>
            <p:txBody>
              <a:bodyPr/>
              <a:lstStyle/>
              <a:p>
                <a:r>
                  <a:rPr lang="zh-TW" altLang="en-US">
                    <a:noFill/>
                  </a:rPr>
                  <a:t> </a:t>
                </a:r>
              </a:p>
            </p:txBody>
          </p:sp>
        </mc:Fallback>
      </mc:AlternateContent>
      <p:sp>
        <p:nvSpPr>
          <p:cNvPr id="23" name="矩形 22">
            <a:extLst>
              <a:ext uri="{FF2B5EF4-FFF2-40B4-BE49-F238E27FC236}">
                <a16:creationId xmlns:a16="http://schemas.microsoft.com/office/drawing/2014/main" id="{F724C75F-DEFA-423E-BD9F-22FE14056D7C}"/>
              </a:ext>
            </a:extLst>
          </p:cNvPr>
          <p:cNvSpPr/>
          <p:nvPr/>
        </p:nvSpPr>
        <p:spPr>
          <a:xfrm>
            <a:off x="8989769" y="681681"/>
            <a:ext cx="1134735" cy="33187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77759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Time Complexity</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16</a:t>
            </a:fld>
            <a:endParaRPr kumimoji="1" lang="zh-TW" altLang="en-US" dirty="0"/>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A5A7D3B6-7359-441B-AB5E-314EC32E34DE}"/>
                  </a:ext>
                </a:extLst>
              </p:cNvPr>
              <p:cNvSpPr txBox="1"/>
              <p:nvPr/>
            </p:nvSpPr>
            <p:spPr>
              <a:xfrm>
                <a:off x="838199" y="1691866"/>
                <a:ext cx="10515601" cy="246298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zh-TW" sz="2800" dirty="0">
                    <a:latin typeface="Times" pitchFamily="2" charset="0"/>
                  </a:rPr>
                  <a:t>Preprocessing</a:t>
                </a:r>
                <a:r>
                  <a:rPr lang="en-US" altLang="zh-TW" sz="2800" dirty="0">
                    <a:latin typeface="Times" panose="02020603050405020304" pitchFamily="18" charset="0"/>
                    <a:cs typeface="Times" panose="02020603050405020304" pitchFamily="18" charset="0"/>
                  </a:rPr>
                  <a:t>:</a:t>
                </a:r>
                <a:r>
                  <a:rPr lang="en-US" altLang="zh-TW" sz="2400" dirty="0">
                    <a:latin typeface="Times" panose="02020603050405020304" pitchFamily="18" charset="0"/>
                    <a:cs typeface="Times" panose="02020603050405020304" pitchFamily="18" charset="0"/>
                  </a:rPr>
                  <a:t> </a:t>
                </a:r>
              </a:p>
              <a:p>
                <a:pPr marL="800100" lvl="1" indent="-342900">
                  <a:lnSpc>
                    <a:spcPct val="150000"/>
                  </a:lnSpc>
                  <a:buFont typeface="Arial" panose="020B0604020202020204" pitchFamily="34" charset="0"/>
                  <a:buChar char="•"/>
                </a:pPr>
                <a:r>
                  <a:rPr lang="en-US" altLang="zh-TW" sz="2400" dirty="0">
                    <a:solidFill>
                      <a:srgbClr val="333333"/>
                    </a:solidFill>
                    <a:latin typeface="Georgia" panose="02040502050405020303" pitchFamily="18" charset="0"/>
                  </a:rPr>
                  <a:t>Berry Ravindran bad character table: </a:t>
                </a:r>
                <a:r>
                  <a:rPr lang="en-US" altLang="zh-TW" sz="2400" dirty="0">
                    <a:latin typeface="Times" panose="02020603050405020304" pitchFamily="18" charset="0"/>
                    <a:cs typeface="Times" panose="02020603050405020304" pitchFamily="18" charset="0"/>
                  </a:rPr>
                  <a:t>O</a:t>
                </a:r>
                <a14:m>
                  <m:oMath xmlns:m="http://schemas.openxmlformats.org/officeDocument/2006/math">
                    <m:r>
                      <a:rPr lang="en-US" altLang="zh-TW" sz="2400" i="1" dirty="0" smtClean="0">
                        <a:latin typeface="Cambria Math" panose="02040503050406030204" pitchFamily="18" charset="0"/>
                        <a:cs typeface="Times" panose="02020603050405020304" pitchFamily="18" charset="0"/>
                      </a:rPr>
                      <m:t>(</m:t>
                    </m:r>
                    <m:r>
                      <a:rPr lang="en-US" altLang="zh-TW" sz="2400" b="0" i="1" dirty="0" smtClean="0">
                        <a:latin typeface="Cambria Math" panose="02040503050406030204" pitchFamily="18" charset="0"/>
                        <a:cs typeface="Times" panose="02020603050405020304" pitchFamily="18" charset="0"/>
                      </a:rPr>
                      <m:t>𝑚</m:t>
                    </m:r>
                    <m:r>
                      <a:rPr lang="en-US" altLang="zh-TW" sz="2400" b="0" i="1" dirty="0" smtClean="0">
                        <a:latin typeface="Cambria Math" panose="02040503050406030204" pitchFamily="18" charset="0"/>
                        <a:cs typeface="Times" panose="02020603050405020304" pitchFamily="18" charset="0"/>
                      </a:rPr>
                      <m:t>+</m:t>
                    </m:r>
                    <m:sSup>
                      <m:sSupPr>
                        <m:ctrlPr>
                          <a:rPr lang="en-US" altLang="zh-TW" sz="2400" b="0" i="1" dirty="0" smtClean="0">
                            <a:latin typeface="Cambria Math" panose="02040503050406030204" pitchFamily="18" charset="0"/>
                            <a:cs typeface="Times" panose="02020603050405020304" pitchFamily="18" charset="0"/>
                          </a:rPr>
                        </m:ctrlPr>
                      </m:sSupPr>
                      <m:e>
                        <m:r>
                          <a:rPr lang="zh-TW" altLang="en-US" sz="2400" b="0" i="1" dirty="0" smtClean="0">
                            <a:latin typeface="Cambria Math" panose="02040503050406030204" pitchFamily="18" charset="0"/>
                            <a:cs typeface="Times" panose="02020603050405020304" pitchFamily="18" charset="0"/>
                          </a:rPr>
                          <m:t>𝜎</m:t>
                        </m:r>
                      </m:e>
                      <m:sup>
                        <m:r>
                          <a:rPr lang="en-US" altLang="zh-TW" sz="2400" b="0" i="1" dirty="0" smtClean="0">
                            <a:latin typeface="Cambria Math" panose="02040503050406030204" pitchFamily="18" charset="0"/>
                            <a:cs typeface="Times" panose="02020603050405020304" pitchFamily="18" charset="0"/>
                          </a:rPr>
                          <m:t>2</m:t>
                        </m:r>
                      </m:sup>
                    </m:sSup>
                    <m:r>
                      <a:rPr lang="en-US" altLang="zh-TW" sz="2400" b="0" i="1" dirty="0" smtClean="0">
                        <a:latin typeface="Cambria Math" panose="02040503050406030204" pitchFamily="18" charset="0"/>
                        <a:cs typeface="Times" panose="02020603050405020304" pitchFamily="18" charset="0"/>
                      </a:rPr>
                      <m:t>)</m:t>
                    </m:r>
                  </m:oMath>
                </a14:m>
                <a:endParaRPr lang="en-US" altLang="zh-TW" sz="2400" dirty="0">
                  <a:latin typeface="Times" panose="02020603050405020304" pitchFamily="18" charset="0"/>
                  <a:cs typeface="Times" panose="02020603050405020304" pitchFamily="18" charset="0"/>
                </a:endParaRPr>
              </a:p>
              <a:p>
                <a:pPr marL="800100" lvl="1" indent="-342900">
                  <a:lnSpc>
                    <a:spcPct val="150000"/>
                  </a:lnSpc>
                  <a:buFont typeface="Arial" panose="020B0604020202020204" pitchFamily="34" charset="0"/>
                  <a:buChar char="•"/>
                </a:pPr>
                <a:r>
                  <a:rPr lang="en-US" altLang="zh-TW" sz="2400" b="0" i="0" dirty="0">
                    <a:solidFill>
                      <a:srgbClr val="333333"/>
                    </a:solidFill>
                    <a:effectLst/>
                    <a:latin typeface="Georgia" panose="02040502050405020303" pitchFamily="18" charset="0"/>
                  </a:rPr>
                  <a:t>Index table: </a:t>
                </a:r>
                <a:r>
                  <a:rPr lang="en-US" altLang="zh-TW" sz="2400" dirty="0">
                    <a:latin typeface="Times" panose="02020603050405020304" pitchFamily="18" charset="0"/>
                    <a:cs typeface="Times" panose="02020603050405020304" pitchFamily="18" charset="0"/>
                  </a:rPr>
                  <a:t>O</a:t>
                </a:r>
                <a14:m>
                  <m:oMath xmlns:m="http://schemas.openxmlformats.org/officeDocument/2006/math">
                    <m:r>
                      <a:rPr lang="en-US" altLang="zh-TW" sz="2400" i="1" dirty="0" smtClean="0">
                        <a:latin typeface="Cambria Math" panose="02040503050406030204" pitchFamily="18" charset="0"/>
                        <a:cs typeface="Times" panose="02020603050405020304" pitchFamily="18" charset="0"/>
                      </a:rPr>
                      <m:t>(</m:t>
                    </m:r>
                    <m:r>
                      <a:rPr lang="en-US" altLang="zh-TW" sz="2400" b="0" i="1" dirty="0" smtClean="0">
                        <a:latin typeface="Cambria Math" panose="02040503050406030204" pitchFamily="18" charset="0"/>
                        <a:cs typeface="Times" panose="02020603050405020304" pitchFamily="18" charset="0"/>
                      </a:rPr>
                      <m:t>𝑛</m:t>
                    </m:r>
                    <m:r>
                      <a:rPr lang="en-US" altLang="zh-TW" sz="2400" b="0" i="1" dirty="0" smtClean="0">
                        <a:latin typeface="Cambria Math" panose="02040503050406030204" pitchFamily="18" charset="0"/>
                        <a:cs typeface="Times" panose="02020603050405020304" pitchFamily="18" charset="0"/>
                      </a:rPr>
                      <m:t>)</m:t>
                    </m:r>
                  </m:oMath>
                </a14:m>
                <a:endParaRPr lang="en-US" altLang="zh-TW" sz="2400" dirty="0">
                  <a:latin typeface="Times" panose="02020603050405020304" pitchFamily="18" charset="0"/>
                  <a:cs typeface="Times" panose="02020603050405020304" pitchFamily="18" charset="0"/>
                </a:endParaRPr>
              </a:p>
              <a:p>
                <a:pPr marL="342900" indent="-342900">
                  <a:lnSpc>
                    <a:spcPct val="150000"/>
                  </a:lnSpc>
                  <a:buFont typeface="Arial" panose="020B0604020202020204" pitchFamily="34" charset="0"/>
                  <a:buChar char="•"/>
                </a:pPr>
                <a:r>
                  <a:rPr lang="en-US" altLang="zh-TW" sz="2800" dirty="0">
                    <a:latin typeface="Times" panose="02020603050405020304" pitchFamily="18" charset="0"/>
                    <a:cs typeface="Times" panose="02020603050405020304" pitchFamily="18" charset="0"/>
                  </a:rPr>
                  <a:t>Searching: O</a:t>
                </a:r>
                <a14:m>
                  <m:oMath xmlns:m="http://schemas.openxmlformats.org/officeDocument/2006/math">
                    <m:r>
                      <a:rPr lang="en-US" altLang="zh-TW" sz="2800" i="1" dirty="0" smtClean="0">
                        <a:latin typeface="Cambria Math" panose="02040503050406030204" pitchFamily="18" charset="0"/>
                        <a:cs typeface="Times" panose="02020603050405020304" pitchFamily="18" charset="0"/>
                      </a:rPr>
                      <m:t>(</m:t>
                    </m:r>
                    <m:r>
                      <a:rPr lang="en-US" altLang="zh-TW" sz="2800" b="0" i="1" dirty="0" smtClean="0">
                        <a:latin typeface="Cambria Math" panose="02040503050406030204" pitchFamily="18" charset="0"/>
                        <a:cs typeface="Times" panose="02020603050405020304" pitchFamily="18" charset="0"/>
                      </a:rPr>
                      <m:t>𝑚𝑛</m:t>
                    </m:r>
                    <m:r>
                      <a:rPr lang="en-US" altLang="zh-TW" sz="2800" i="1" dirty="0" smtClean="0">
                        <a:latin typeface="Cambria Math" panose="02040503050406030204" pitchFamily="18" charset="0"/>
                        <a:cs typeface="Times" panose="02020603050405020304" pitchFamily="18" charset="0"/>
                      </a:rPr>
                      <m:t>)</m:t>
                    </m:r>
                  </m:oMath>
                </a14:m>
                <a:endParaRPr lang="en-US" altLang="zh-TW" sz="2800" dirty="0">
                  <a:latin typeface="Times" panose="02020603050405020304" pitchFamily="18" charset="0"/>
                  <a:cs typeface="Times" panose="02020603050405020304" pitchFamily="18" charset="0"/>
                </a:endParaRPr>
              </a:p>
            </p:txBody>
          </p:sp>
        </mc:Choice>
        <mc:Fallback xmlns="">
          <p:sp>
            <p:nvSpPr>
              <p:cNvPr id="5" name="文字方塊 4">
                <a:extLst>
                  <a:ext uri="{FF2B5EF4-FFF2-40B4-BE49-F238E27FC236}">
                    <a16:creationId xmlns:a16="http://schemas.microsoft.com/office/drawing/2014/main" id="{A5A7D3B6-7359-441B-AB5E-314EC32E34DE}"/>
                  </a:ext>
                </a:extLst>
              </p:cNvPr>
              <p:cNvSpPr txBox="1">
                <a:spLocks noRot="1" noChangeAspect="1" noMove="1" noResize="1" noEditPoints="1" noAdjustHandles="1" noChangeArrowheads="1" noChangeShapeType="1" noTextEdit="1"/>
              </p:cNvSpPr>
              <p:nvPr/>
            </p:nvSpPr>
            <p:spPr>
              <a:xfrm>
                <a:off x="838199" y="1691866"/>
                <a:ext cx="10515601" cy="2462982"/>
              </a:xfrm>
              <a:prstGeom prst="rect">
                <a:avLst/>
              </a:prstGeom>
              <a:blipFill>
                <a:blip r:embed="rId3"/>
                <a:stretch>
                  <a:fillRect l="-985" b="-420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30344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Experiments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17</a:t>
            </a:fld>
            <a:endParaRPr kumimoji="1" lang="zh-TW" altLang="en-US" dirty="0"/>
          </a:p>
        </p:txBody>
      </p:sp>
      <p:pic>
        <p:nvPicPr>
          <p:cNvPr id="6" name="圖片 5">
            <a:extLst>
              <a:ext uri="{FF2B5EF4-FFF2-40B4-BE49-F238E27FC236}">
                <a16:creationId xmlns:a16="http://schemas.microsoft.com/office/drawing/2014/main" id="{FDC7DCB9-7173-4A14-9224-26A5850B87A0}"/>
              </a:ext>
            </a:extLst>
          </p:cNvPr>
          <p:cNvPicPr>
            <a:picLocks noChangeAspect="1"/>
          </p:cNvPicPr>
          <p:nvPr/>
        </p:nvPicPr>
        <p:blipFill>
          <a:blip r:embed="rId3"/>
          <a:stretch>
            <a:fillRect/>
          </a:stretch>
        </p:blipFill>
        <p:spPr>
          <a:xfrm>
            <a:off x="729946" y="1487591"/>
            <a:ext cx="10732108" cy="3882818"/>
          </a:xfrm>
          <a:prstGeom prst="rect">
            <a:avLst/>
          </a:prstGeom>
        </p:spPr>
      </p:pic>
    </p:spTree>
    <p:extLst>
      <p:ext uri="{BB962C8B-B14F-4D97-AF65-F5344CB8AC3E}">
        <p14:creationId xmlns:p14="http://schemas.microsoft.com/office/powerpoint/2010/main" val="103005060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_chenya" id="{B41F7EED-78E0-1445-87EF-5AF1DA6E0F58}" vid="{D32384A1-BBDA-0D4F-B76D-4F110ED0331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佈景主題</Template>
  <TotalTime>7839</TotalTime>
  <Words>1013</Words>
  <Application>Microsoft Office PowerPoint</Application>
  <PresentationFormat>寬螢幕</PresentationFormat>
  <Paragraphs>420</Paragraphs>
  <Slides>17</Slides>
  <Notes>15</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17</vt:i4>
      </vt:variant>
    </vt:vector>
  </HeadingPairs>
  <TitlesOfParts>
    <vt:vector size="25" baseType="lpstr">
      <vt:lpstr>Arial</vt:lpstr>
      <vt:lpstr>Calibri</vt:lpstr>
      <vt:lpstr>Calibri Light</vt:lpstr>
      <vt:lpstr>Cambria Math</vt:lpstr>
      <vt:lpstr>Georgia</vt:lpstr>
      <vt:lpstr>Times</vt:lpstr>
      <vt:lpstr>Times New Roman</vt:lpstr>
      <vt:lpstr>Office 佈景主題</vt:lpstr>
      <vt:lpstr>An improved algorithm for string matching using index based shifting approach</vt:lpstr>
      <vt:lpstr>Abstract (1/2)</vt:lpstr>
      <vt:lpstr>Abstract (2/2)</vt:lpstr>
      <vt:lpstr>Preprocessing Phase (1/2)</vt:lpstr>
      <vt:lpstr>Preprocessing Phase (2/2)</vt:lpstr>
      <vt:lpstr>Searching Phase</vt:lpstr>
      <vt:lpstr>Experiments</vt:lpstr>
      <vt:lpstr>An Efficient Hybrid Exact String Matching Algorithm to Minimize the Number of Attempts and Character Comparisons</vt:lpstr>
      <vt:lpstr>Abstract (1/2)</vt:lpstr>
      <vt:lpstr>Abstract (2/2)</vt:lpstr>
      <vt:lpstr>Preprocessing Phase (1/2)</vt:lpstr>
      <vt:lpstr>Preprocessing Phase (2/2)</vt:lpstr>
      <vt:lpstr>Searching Phase</vt:lpstr>
      <vt:lpstr>Searching Phase</vt:lpstr>
      <vt:lpstr>Searching Phase</vt:lpstr>
      <vt:lpstr>Time Complexity</vt:lpstr>
      <vt:lpstr>Experiments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M113040012</dc:creator>
  <cp:lastModifiedBy>張紋瑜</cp:lastModifiedBy>
  <cp:revision>254</cp:revision>
  <dcterms:created xsi:type="dcterms:W3CDTF">2023-07-01T04:19:29Z</dcterms:created>
  <dcterms:modified xsi:type="dcterms:W3CDTF">2024-04-30T05:30:45Z</dcterms:modified>
</cp:coreProperties>
</file>