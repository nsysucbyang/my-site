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315" r:id="rId4"/>
    <p:sldId id="317" r:id="rId5"/>
    <p:sldId id="316" r:id="rId6"/>
    <p:sldId id="318" r:id="rId7"/>
    <p:sldId id="302" r:id="rId8"/>
    <p:sldId id="319" r:id="rId9"/>
    <p:sldId id="320" r:id="rId10"/>
    <p:sldId id="321" r:id="rId11"/>
    <p:sldId id="322" r:id="rId12"/>
    <p:sldId id="299" r:id="rId13"/>
    <p:sldId id="323" r:id="rId14"/>
    <p:sldId id="325" r:id="rId15"/>
    <p:sldId id="326" r:id="rId16"/>
    <p:sldId id="269"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楊景翔" initials="楊" lastIdx="5" clrIdx="0">
    <p:extLst>
      <p:ext uri="{19B8F6BF-5375-455C-9EA6-DF929625EA0E}">
        <p15:presenceInfo xmlns:p15="http://schemas.microsoft.com/office/powerpoint/2012/main" userId="S::1082941@ncyu.edu.tw::045835ec-170e-42bc-81c6-09db8fcf29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34" autoAdjust="0"/>
    <p:restoredTop sz="96370" autoAdjust="0"/>
  </p:normalViewPr>
  <p:slideViewPr>
    <p:cSldViewPr snapToGrid="0">
      <p:cViewPr varScale="1">
        <p:scale>
          <a:sx n="110" d="100"/>
          <a:sy n="110" d="100"/>
        </p:scale>
        <p:origin x="7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1-22T23:34:43.546" idx="1">
    <p:pos x="6114" y="2283"/>
    <p:text>對梯度小的樣本們乘上一個權重，來增加他們的梯度 (因為小的權重的資料會被剃除一部分，但這些資料的梯度還是有訓練的貢獻價值，所以對那些未被剃除小的梯度的資料再乘上權重，來彌補未被挑選的Data)</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01-23T01:37:23.326" idx="5">
    <p:pos x="7446" y="1295"/>
    <p:text>降序排序原因 : 大的conflict特徵被丟到新的bundle的機會大，如果是用升序排序的話，它勢必是最後才會被進行處理，那麼很容易走訪比較整個現有的bundle
如果透過降序排序可以減少此類情況</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7BF28-E50E-4388-A3E5-4D39E480B765}" type="datetimeFigureOut">
              <a:rPr lang="zh-TW" altLang="en-US" smtClean="0"/>
              <a:t>2024/1/23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2711A4-5F0E-4DF4-937D-81F030A1E9AA}" type="slidenum">
              <a:rPr lang="zh-TW" altLang="en-US" smtClean="0"/>
              <a:t>‹#›</a:t>
            </a:fld>
            <a:endParaRPr lang="zh-TW" altLang="en-US"/>
          </a:p>
        </p:txBody>
      </p:sp>
    </p:spTree>
    <p:extLst>
      <p:ext uri="{BB962C8B-B14F-4D97-AF65-F5344CB8AC3E}">
        <p14:creationId xmlns:p14="http://schemas.microsoft.com/office/powerpoint/2010/main" val="2004259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0C6C96-9558-5AB5-D1F9-BCC335655A0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FA7C56-9105-1E14-A17F-8A26FE9B3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5C84251-D4BA-53DC-3BEF-977567CB82AB}"/>
              </a:ext>
            </a:extLst>
          </p:cNvPr>
          <p:cNvSpPr>
            <a:spLocks noGrp="1"/>
          </p:cNvSpPr>
          <p:nvPr>
            <p:ph type="dt" sz="half" idx="10"/>
          </p:nvPr>
        </p:nvSpPr>
        <p:spPr/>
        <p:txBody>
          <a:bodyPr/>
          <a:lstStyle/>
          <a:p>
            <a:fld id="{CA8AC1E3-A6AB-47A3-8E64-C9F1D5D81A55}" type="datetime1">
              <a:rPr lang="zh-TW" altLang="en-US" smtClean="0"/>
              <a:t>2024/1/23</a:t>
            </a:fld>
            <a:endParaRPr lang="zh-TW" altLang="en-US"/>
          </a:p>
        </p:txBody>
      </p:sp>
      <p:sp>
        <p:nvSpPr>
          <p:cNvPr id="5" name="頁尾版面配置區 4">
            <a:extLst>
              <a:ext uri="{FF2B5EF4-FFF2-40B4-BE49-F238E27FC236}">
                <a16:creationId xmlns:a16="http://schemas.microsoft.com/office/drawing/2014/main" id="{64D25A00-DB5F-6575-598E-1BDA96E323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1AD27D-3D20-5E6D-7527-6A46BDF3ED17}"/>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67733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1BFF06-C706-AE49-8BDC-162AE3DCC49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6BB920A-B9BC-CE2C-E727-40FC0B9BE25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AEF194-C880-0ED0-C3B1-F5AA4AC7963D}"/>
              </a:ext>
            </a:extLst>
          </p:cNvPr>
          <p:cNvSpPr>
            <a:spLocks noGrp="1"/>
          </p:cNvSpPr>
          <p:nvPr>
            <p:ph type="dt" sz="half" idx="10"/>
          </p:nvPr>
        </p:nvSpPr>
        <p:spPr/>
        <p:txBody>
          <a:bodyPr/>
          <a:lstStyle/>
          <a:p>
            <a:fld id="{08FE8941-C9FC-4970-9D6F-BA72DC037752}" type="datetime1">
              <a:rPr lang="zh-TW" altLang="en-US" smtClean="0"/>
              <a:t>2024/1/23</a:t>
            </a:fld>
            <a:endParaRPr lang="zh-TW" altLang="en-US"/>
          </a:p>
        </p:txBody>
      </p:sp>
      <p:sp>
        <p:nvSpPr>
          <p:cNvPr id="5" name="頁尾版面配置區 4">
            <a:extLst>
              <a:ext uri="{FF2B5EF4-FFF2-40B4-BE49-F238E27FC236}">
                <a16:creationId xmlns:a16="http://schemas.microsoft.com/office/drawing/2014/main" id="{ACAB75C9-C024-B558-D45F-7857708774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5F45A64-F99E-C099-B11A-50A95E098FEF}"/>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3856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37508B-BEB1-C8F9-B516-0922DF72FB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803A960-423A-63C2-DE35-5ECFB4DE1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9DDC9D-F9A5-2607-75C3-0D12FFEC815E}"/>
              </a:ext>
            </a:extLst>
          </p:cNvPr>
          <p:cNvSpPr>
            <a:spLocks noGrp="1"/>
          </p:cNvSpPr>
          <p:nvPr>
            <p:ph type="dt" sz="half" idx="10"/>
          </p:nvPr>
        </p:nvSpPr>
        <p:spPr/>
        <p:txBody>
          <a:bodyPr/>
          <a:lstStyle/>
          <a:p>
            <a:fld id="{2039AE5F-5202-44CB-B5B5-2322DF70600B}" type="datetime1">
              <a:rPr lang="zh-TW" altLang="en-US" smtClean="0"/>
              <a:t>2024/1/23</a:t>
            </a:fld>
            <a:endParaRPr lang="zh-TW" altLang="en-US"/>
          </a:p>
        </p:txBody>
      </p:sp>
      <p:sp>
        <p:nvSpPr>
          <p:cNvPr id="5" name="頁尾版面配置區 4">
            <a:extLst>
              <a:ext uri="{FF2B5EF4-FFF2-40B4-BE49-F238E27FC236}">
                <a16:creationId xmlns:a16="http://schemas.microsoft.com/office/drawing/2014/main" id="{51737579-99A5-787F-A156-A914AC2691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DCF7EE7-94C2-1869-DD60-727D9699176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689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D93191-4D6D-0ABD-4FD0-D3DAEBA57E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01ED2BA-D421-7A64-DC46-93172086D2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A07B58A-5369-F605-DA10-8BA9C02942F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069A846-5B55-BD04-2DAB-0D2726E962A7}"/>
              </a:ext>
            </a:extLst>
          </p:cNvPr>
          <p:cNvSpPr>
            <a:spLocks noGrp="1"/>
          </p:cNvSpPr>
          <p:nvPr>
            <p:ph type="dt" sz="half" idx="10"/>
          </p:nvPr>
        </p:nvSpPr>
        <p:spPr/>
        <p:txBody>
          <a:bodyPr/>
          <a:lstStyle/>
          <a:p>
            <a:fld id="{0C3542C7-36FE-4BA7-9A3F-4A6D1DADBE08}" type="datetime1">
              <a:rPr lang="zh-TW" altLang="en-US" smtClean="0"/>
              <a:t>2024/1/23</a:t>
            </a:fld>
            <a:endParaRPr lang="zh-TW" altLang="en-US"/>
          </a:p>
        </p:txBody>
      </p:sp>
      <p:sp>
        <p:nvSpPr>
          <p:cNvPr id="6" name="頁尾版面配置區 5">
            <a:extLst>
              <a:ext uri="{FF2B5EF4-FFF2-40B4-BE49-F238E27FC236}">
                <a16:creationId xmlns:a16="http://schemas.microsoft.com/office/drawing/2014/main" id="{1502D24C-E889-D7B0-44D9-CE81B159E9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06439EF-16EE-FA12-79F3-B87E3982803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89808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F3233-C6E5-0B44-D100-310DB38E581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ED436CD-1CD4-D11C-BEAA-C41711900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1A8C39C-C632-D3AD-5AEA-87AD3CE7E47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78D980-ADEE-0381-3898-A79271B830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4163D17-2951-4369-D786-C80C0E0AC83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1A71428-24ED-C03C-2120-A1D148D10B70}"/>
              </a:ext>
            </a:extLst>
          </p:cNvPr>
          <p:cNvSpPr>
            <a:spLocks noGrp="1"/>
          </p:cNvSpPr>
          <p:nvPr>
            <p:ph type="dt" sz="half" idx="10"/>
          </p:nvPr>
        </p:nvSpPr>
        <p:spPr/>
        <p:txBody>
          <a:bodyPr/>
          <a:lstStyle/>
          <a:p>
            <a:fld id="{6719B4E3-C1A0-407D-A8C4-223029942A11}" type="datetime1">
              <a:rPr lang="zh-TW" altLang="en-US" smtClean="0"/>
              <a:t>2024/1/23</a:t>
            </a:fld>
            <a:endParaRPr lang="zh-TW" altLang="en-US"/>
          </a:p>
        </p:txBody>
      </p:sp>
      <p:sp>
        <p:nvSpPr>
          <p:cNvPr id="8" name="頁尾版面配置區 7">
            <a:extLst>
              <a:ext uri="{FF2B5EF4-FFF2-40B4-BE49-F238E27FC236}">
                <a16:creationId xmlns:a16="http://schemas.microsoft.com/office/drawing/2014/main" id="{82E1BEDD-6B2B-9839-FD27-D8A7C04DBCC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D55D63F-D8D7-440D-968C-FBBBB351775C}"/>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60010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201DAD-B1A7-6913-F8C4-3128A369DF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EEEE96D-DCE2-0290-7CB8-E2A347F5FB2E}"/>
              </a:ext>
            </a:extLst>
          </p:cNvPr>
          <p:cNvSpPr>
            <a:spLocks noGrp="1"/>
          </p:cNvSpPr>
          <p:nvPr>
            <p:ph type="dt" sz="half" idx="10"/>
          </p:nvPr>
        </p:nvSpPr>
        <p:spPr/>
        <p:txBody>
          <a:bodyPr/>
          <a:lstStyle/>
          <a:p>
            <a:fld id="{610827EF-4BCA-4B2D-96BC-800DE09072A1}" type="datetime1">
              <a:rPr lang="zh-TW" altLang="en-US" smtClean="0"/>
              <a:t>2024/1/23</a:t>
            </a:fld>
            <a:endParaRPr lang="zh-TW" altLang="en-US"/>
          </a:p>
        </p:txBody>
      </p:sp>
      <p:sp>
        <p:nvSpPr>
          <p:cNvPr id="4" name="頁尾版面配置區 3">
            <a:extLst>
              <a:ext uri="{FF2B5EF4-FFF2-40B4-BE49-F238E27FC236}">
                <a16:creationId xmlns:a16="http://schemas.microsoft.com/office/drawing/2014/main" id="{27DFB4F6-EB62-78FE-A3B6-22330318018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2C0C14C-28CD-EC7E-4309-732F432A8E7A}"/>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5894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58279C0-CD55-F003-AC5E-186052697790}"/>
              </a:ext>
            </a:extLst>
          </p:cNvPr>
          <p:cNvSpPr>
            <a:spLocks noGrp="1"/>
          </p:cNvSpPr>
          <p:nvPr>
            <p:ph type="dt" sz="half" idx="10"/>
          </p:nvPr>
        </p:nvSpPr>
        <p:spPr/>
        <p:txBody>
          <a:bodyPr/>
          <a:lstStyle/>
          <a:p>
            <a:fld id="{F1579947-85DC-4C95-80F0-0C9A313E1A00}" type="datetime1">
              <a:rPr lang="zh-TW" altLang="en-US" smtClean="0"/>
              <a:t>2024/1/23</a:t>
            </a:fld>
            <a:endParaRPr lang="zh-TW" altLang="en-US"/>
          </a:p>
        </p:txBody>
      </p:sp>
      <p:sp>
        <p:nvSpPr>
          <p:cNvPr id="3" name="頁尾版面配置區 2">
            <a:extLst>
              <a:ext uri="{FF2B5EF4-FFF2-40B4-BE49-F238E27FC236}">
                <a16:creationId xmlns:a16="http://schemas.microsoft.com/office/drawing/2014/main" id="{36E7F1EF-FFA4-134D-A4B0-3774C78AC9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AFB60E8-5211-F688-2F76-36E5498719CE}"/>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495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D1827A-CB14-C4D4-25E3-41710BF6EA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C3446C2-058B-FE7C-C4EA-39142F7D7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B9FA26-62A1-F41D-42AE-4B9FA400E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701A1DA-69F3-C87D-CD25-E5F434BE3BE3}"/>
              </a:ext>
            </a:extLst>
          </p:cNvPr>
          <p:cNvSpPr>
            <a:spLocks noGrp="1"/>
          </p:cNvSpPr>
          <p:nvPr>
            <p:ph type="dt" sz="half" idx="10"/>
          </p:nvPr>
        </p:nvSpPr>
        <p:spPr/>
        <p:txBody>
          <a:bodyPr/>
          <a:lstStyle/>
          <a:p>
            <a:fld id="{E504CBE8-F2E5-4D8C-86BB-4F11DA33B21D}" type="datetime1">
              <a:rPr lang="zh-TW" altLang="en-US" smtClean="0"/>
              <a:t>2024/1/23</a:t>
            </a:fld>
            <a:endParaRPr lang="zh-TW" altLang="en-US"/>
          </a:p>
        </p:txBody>
      </p:sp>
      <p:sp>
        <p:nvSpPr>
          <p:cNvPr id="6" name="頁尾版面配置區 5">
            <a:extLst>
              <a:ext uri="{FF2B5EF4-FFF2-40B4-BE49-F238E27FC236}">
                <a16:creationId xmlns:a16="http://schemas.microsoft.com/office/drawing/2014/main" id="{BE909FB9-26BE-EFF1-A2A0-2EDEAD11E9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0F42F7-4924-ACAA-4B7E-81847CCAE6B1}"/>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6170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F3A632-06E7-2518-793D-34E8E6D78B2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659DF59-8B59-165B-FC2D-788F2972E7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81BBEC0-7FEE-EE4F-6278-6FC2F230D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F0A4099-AD40-6407-4A6E-440F0C9ED57D}"/>
              </a:ext>
            </a:extLst>
          </p:cNvPr>
          <p:cNvSpPr>
            <a:spLocks noGrp="1"/>
          </p:cNvSpPr>
          <p:nvPr>
            <p:ph type="dt" sz="half" idx="10"/>
          </p:nvPr>
        </p:nvSpPr>
        <p:spPr/>
        <p:txBody>
          <a:bodyPr/>
          <a:lstStyle/>
          <a:p>
            <a:fld id="{D81B16DB-9686-447D-9D68-9652B275986F}" type="datetime1">
              <a:rPr lang="zh-TW" altLang="en-US" smtClean="0"/>
              <a:t>2024/1/23</a:t>
            </a:fld>
            <a:endParaRPr lang="zh-TW" altLang="en-US"/>
          </a:p>
        </p:txBody>
      </p:sp>
      <p:sp>
        <p:nvSpPr>
          <p:cNvPr id="6" name="頁尾版面配置區 5">
            <a:extLst>
              <a:ext uri="{FF2B5EF4-FFF2-40B4-BE49-F238E27FC236}">
                <a16:creationId xmlns:a16="http://schemas.microsoft.com/office/drawing/2014/main" id="{F165FF51-855C-82B4-240E-D1AF0254030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2CF40C-AF6C-C9FF-89A1-58A1B03B6C4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49678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9347-557F-B5D8-678D-276F907F4FD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8EED0EF-2EFC-0A2C-A1A1-566E81CDA31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A42852E-12ED-C0F2-A102-7A6CE771DF50}"/>
              </a:ext>
            </a:extLst>
          </p:cNvPr>
          <p:cNvSpPr>
            <a:spLocks noGrp="1"/>
          </p:cNvSpPr>
          <p:nvPr>
            <p:ph type="dt" sz="half" idx="10"/>
          </p:nvPr>
        </p:nvSpPr>
        <p:spPr/>
        <p:txBody>
          <a:bodyPr/>
          <a:lstStyle/>
          <a:p>
            <a:fld id="{5B06E588-B95B-4AB0-81F5-2FBB811781EB}" type="datetime1">
              <a:rPr lang="zh-TW" altLang="en-US" smtClean="0"/>
              <a:t>2024/1/23</a:t>
            </a:fld>
            <a:endParaRPr lang="zh-TW" altLang="en-US"/>
          </a:p>
        </p:txBody>
      </p:sp>
      <p:sp>
        <p:nvSpPr>
          <p:cNvPr id="5" name="頁尾版面配置區 4">
            <a:extLst>
              <a:ext uri="{FF2B5EF4-FFF2-40B4-BE49-F238E27FC236}">
                <a16:creationId xmlns:a16="http://schemas.microsoft.com/office/drawing/2014/main" id="{1D930DA9-725C-5B7A-5BFB-0B94FF4861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B92A56-D44A-B10D-C20D-AC8706D7822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99100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36CFAD-7B1A-4F41-7AA1-3F5865D1345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A3AE268-50FA-2DB3-85DF-75AC97871EF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969F98A-EAB9-3D3B-7A32-3741EF289F77}"/>
              </a:ext>
            </a:extLst>
          </p:cNvPr>
          <p:cNvSpPr>
            <a:spLocks noGrp="1"/>
          </p:cNvSpPr>
          <p:nvPr>
            <p:ph type="dt" sz="half" idx="10"/>
          </p:nvPr>
        </p:nvSpPr>
        <p:spPr/>
        <p:txBody>
          <a:bodyPr/>
          <a:lstStyle/>
          <a:p>
            <a:fld id="{6FF611F3-4FA6-41B2-81A4-6CC88E543A04}" type="datetime1">
              <a:rPr lang="zh-TW" altLang="en-US" smtClean="0"/>
              <a:t>2024/1/23</a:t>
            </a:fld>
            <a:endParaRPr lang="zh-TW" altLang="en-US"/>
          </a:p>
        </p:txBody>
      </p:sp>
      <p:sp>
        <p:nvSpPr>
          <p:cNvPr id="5" name="頁尾版面配置區 4">
            <a:extLst>
              <a:ext uri="{FF2B5EF4-FFF2-40B4-BE49-F238E27FC236}">
                <a16:creationId xmlns:a16="http://schemas.microsoft.com/office/drawing/2014/main" id="{AB6F795B-0E4E-9263-5414-6CF7A28738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952AC5-C821-BDC5-2B56-1AC08DD08A64}"/>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9192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A69BABF-6143-6E99-0B49-97D885BD7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B1DF635-42A0-B056-4EB4-97F7B309A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B49324-9375-D069-B743-3683D6438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CC5AE-261C-4E50-A59B-D2A2B1270A69}" type="datetime1">
              <a:rPr lang="zh-TW" altLang="en-US" smtClean="0"/>
              <a:t>2024/1/23</a:t>
            </a:fld>
            <a:endParaRPr lang="zh-TW" altLang="en-US"/>
          </a:p>
        </p:txBody>
      </p:sp>
      <p:sp>
        <p:nvSpPr>
          <p:cNvPr id="5" name="頁尾版面配置區 4">
            <a:extLst>
              <a:ext uri="{FF2B5EF4-FFF2-40B4-BE49-F238E27FC236}">
                <a16:creationId xmlns:a16="http://schemas.microsoft.com/office/drawing/2014/main" id="{28584CA7-762E-3A5A-304E-1EAAB6D16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A5B41FD-5E7A-AF87-9639-CB9054602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289768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D6ECA-8C9F-6ADC-F8D7-2A82572058E8}"/>
              </a:ext>
            </a:extLst>
          </p:cNvPr>
          <p:cNvSpPr>
            <a:spLocks noGrp="1"/>
          </p:cNvSpPr>
          <p:nvPr>
            <p:ph type="ctrTitle"/>
          </p:nvPr>
        </p:nvSpPr>
        <p:spPr>
          <a:xfrm>
            <a:off x="681162" y="517631"/>
            <a:ext cx="10829676" cy="2387600"/>
          </a:xfrm>
        </p:spPr>
        <p:txBody>
          <a:bodyPr>
            <a:noAutofit/>
          </a:bodyPr>
          <a:lstStyle/>
          <a:p>
            <a:r>
              <a:rPr lang="en-US" altLang="zh-TW" sz="4800" dirty="0" err="1">
                <a:latin typeface="Times New Roman" panose="02020603050405020304" pitchFamily="18" charset="0"/>
                <a:cs typeface="Times New Roman" panose="02020603050405020304" pitchFamily="18" charset="0"/>
              </a:rPr>
              <a:t>LightGBM</a:t>
            </a:r>
            <a:r>
              <a:rPr lang="en-US" altLang="zh-TW" sz="4800" dirty="0">
                <a:latin typeface="Times New Roman" panose="02020603050405020304" pitchFamily="18" charset="0"/>
                <a:cs typeface="Times New Roman" panose="02020603050405020304" pitchFamily="18" charset="0"/>
              </a:rPr>
              <a:t>: A Highly Efficient Gradient Boosting Decision Tree</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6739F88-A29A-4C56-52FA-D407B32738E9}"/>
              </a:ext>
            </a:extLst>
          </p:cNvPr>
          <p:cNvSpPr>
            <a:spLocks noGrp="1"/>
          </p:cNvSpPr>
          <p:nvPr>
            <p:ph type="subTitle" idx="1"/>
          </p:nvPr>
        </p:nvSpPr>
        <p:spPr>
          <a:xfrm>
            <a:off x="1524000" y="2928597"/>
            <a:ext cx="9144000" cy="1655762"/>
          </a:xfrm>
        </p:spPr>
        <p:txBody>
          <a:bodyPr/>
          <a:lstStyle/>
          <a:p>
            <a:r>
              <a:rPr lang="en-US" altLang="zh-TW" b="0" i="0" dirty="0">
                <a:solidFill>
                  <a:srgbClr val="222222"/>
                </a:solidFill>
                <a:effectLst/>
                <a:latin typeface="Times New Roman" panose="02020603050405020304" pitchFamily="18" charset="0"/>
                <a:cs typeface="Times New Roman" panose="02020603050405020304" pitchFamily="18" charset="0"/>
              </a:rPr>
              <a:t>KE, </a:t>
            </a:r>
            <a:r>
              <a:rPr lang="en-US" altLang="zh-TW" b="0" i="0" dirty="0" err="1">
                <a:solidFill>
                  <a:srgbClr val="222222"/>
                </a:solidFill>
                <a:effectLst/>
                <a:latin typeface="Times New Roman" panose="02020603050405020304" pitchFamily="18" charset="0"/>
                <a:cs typeface="Times New Roman" panose="02020603050405020304" pitchFamily="18" charset="0"/>
              </a:rPr>
              <a:t>Guolin</a:t>
            </a:r>
            <a:r>
              <a:rPr lang="en-US" altLang="zh-TW" b="0" i="0" dirty="0">
                <a:solidFill>
                  <a:srgbClr val="222222"/>
                </a:solidFill>
                <a:effectLst/>
                <a:latin typeface="Times New Roman" panose="02020603050405020304" pitchFamily="18" charset="0"/>
                <a:cs typeface="Times New Roman" panose="02020603050405020304" pitchFamily="18" charset="0"/>
              </a:rPr>
              <a:t>, et al.  </a:t>
            </a:r>
            <a:r>
              <a:rPr lang="en-US" altLang="zh-TW" b="0" i="1" dirty="0">
                <a:solidFill>
                  <a:srgbClr val="222222"/>
                </a:solidFill>
                <a:effectLst/>
                <a:latin typeface="Times New Roman" panose="02020603050405020304" pitchFamily="18" charset="0"/>
                <a:cs typeface="Times New Roman" panose="02020603050405020304" pitchFamily="18" charset="0"/>
              </a:rPr>
              <a:t>Advances in neural information processing systems</a:t>
            </a:r>
            <a:r>
              <a:rPr lang="en-US" altLang="zh-TW" b="0" i="0" dirty="0">
                <a:solidFill>
                  <a:srgbClr val="222222"/>
                </a:solidFill>
                <a:effectLst/>
                <a:latin typeface="Times New Roman" panose="02020603050405020304" pitchFamily="18" charset="0"/>
                <a:cs typeface="Times New Roman" panose="02020603050405020304" pitchFamily="18" charset="0"/>
              </a:rPr>
              <a:t>, 2017, 30.</a:t>
            </a:r>
            <a:endParaRPr lang="zh-TW" altLang="en-US" dirty="0">
              <a:solidFill>
                <a:srgbClr val="333333"/>
              </a:solidFill>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6BC2F8A-F57D-93E1-25E0-DACED7728107}"/>
              </a:ext>
            </a:extLst>
          </p:cNvPr>
          <p:cNvSpPr txBox="1"/>
          <p:nvPr/>
        </p:nvSpPr>
        <p:spPr>
          <a:xfrm>
            <a:off x="8410112" y="5913844"/>
            <a:ext cx="3657600"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 Jing-Xiang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Yang</a:t>
            </a:r>
          </a:p>
          <a:p>
            <a:r>
              <a:rPr lang="en-US" altLang="zh-TW" sz="2400" dirty="0">
                <a:latin typeface="Times New Roman" panose="02020603050405020304" pitchFamily="18" charset="0"/>
                <a:cs typeface="Times New Roman" panose="02020603050405020304" pitchFamily="18" charset="0"/>
              </a:rPr>
              <a:t>Date : </a:t>
            </a:r>
            <a:r>
              <a:rPr lang="en-US" altLang="zh-TW" sz="2400" b="0" i="0" dirty="0">
                <a:solidFill>
                  <a:srgbClr val="202124"/>
                </a:solidFill>
                <a:effectLst/>
                <a:latin typeface="Times New Roman" panose="02020603050405020304" pitchFamily="18" charset="0"/>
                <a:cs typeface="Times New Roman" panose="02020603050405020304" pitchFamily="18" charset="0"/>
              </a:rPr>
              <a:t>Jan. </a:t>
            </a:r>
            <a:r>
              <a:rPr lang="en-US" altLang="zh-TW" sz="2400" dirty="0">
                <a:solidFill>
                  <a:srgbClr val="202124"/>
                </a:solidFill>
                <a:latin typeface="Times New Roman" panose="02020603050405020304" pitchFamily="18" charset="0"/>
                <a:cs typeface="Times New Roman" panose="02020603050405020304" pitchFamily="18" charset="0"/>
              </a:rPr>
              <a:t>23</a:t>
            </a:r>
            <a:r>
              <a:rPr lang="en-US" altLang="zh-TW" sz="2400" b="0" i="0" dirty="0">
                <a:solidFill>
                  <a:srgbClr val="202124"/>
                </a:solidFill>
                <a:effectLst/>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2024</a:t>
            </a:r>
            <a:endParaRPr lang="zh-TW" altLang="en-US" sz="24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FCE74A8C-340A-9F93-5512-3E18A247C87B}"/>
              </a:ext>
            </a:extLst>
          </p:cNvPr>
          <p:cNvSpPr>
            <a:spLocks noGrp="1"/>
          </p:cNvSpPr>
          <p:nvPr>
            <p:ph type="sldNum" sz="quarter" idx="12"/>
          </p:nvPr>
        </p:nvSpPr>
        <p:spPr/>
        <p:txBody>
          <a:bodyPr/>
          <a:lstStyle/>
          <a:p>
            <a:fld id="{EFAEC03B-316C-4507-8207-D997BB28EB64}" type="slidenum">
              <a:rPr lang="zh-TW" altLang="en-US" smtClean="0"/>
              <a:t>1</a:t>
            </a:fld>
            <a:endParaRPr lang="zh-TW" altLang="en-US" dirty="0"/>
          </a:p>
        </p:txBody>
      </p:sp>
    </p:spTree>
    <p:extLst>
      <p:ext uri="{BB962C8B-B14F-4D97-AF65-F5344CB8AC3E}">
        <p14:creationId xmlns:p14="http://schemas.microsoft.com/office/powerpoint/2010/main" val="169461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r>
              <a:rPr lang="en-US" altLang="zh-TW" sz="4800" dirty="0">
                <a:latin typeface="Times New Roman" panose="02020603050405020304" pitchFamily="18" charset="0"/>
                <a:cs typeface="Times New Roman" panose="02020603050405020304" pitchFamily="18" charset="0"/>
              </a:rPr>
              <a:t>ABSTRACT(1/2)</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626843"/>
            <a:ext cx="10515600" cy="4351338"/>
          </a:xfrm>
        </p:spPr>
        <p:txBody>
          <a:bodyPr>
            <a:noAutofit/>
          </a:bodyPr>
          <a:lstStyle/>
          <a:p>
            <a:pPr marL="0" indent="0" algn="just">
              <a:buNone/>
            </a:pPr>
            <a:r>
              <a:rPr lang="en-US" altLang="zh-TW" sz="30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Gradient Boosting Decision Tree (GBDT) is a popular machine learning algorithm, and has quite a few effective implementations such as </a:t>
            </a:r>
            <a:r>
              <a:rPr lang="en-US" altLang="zh-TW" sz="2400" dirty="0" err="1">
                <a:latin typeface="Times New Roman" panose="02020603050405020304" pitchFamily="18" charset="0"/>
                <a:cs typeface="Times New Roman" panose="02020603050405020304" pitchFamily="18" charset="0"/>
              </a:rPr>
              <a:t>XGBoost</a:t>
            </a:r>
            <a:r>
              <a:rPr lang="en-US" altLang="zh-TW" sz="2400" dirty="0">
                <a:latin typeface="Times New Roman" panose="02020603050405020304" pitchFamily="18" charset="0"/>
                <a:cs typeface="Times New Roman" panose="02020603050405020304" pitchFamily="18" charset="0"/>
              </a:rPr>
              <a:t> and </a:t>
            </a:r>
            <a:r>
              <a:rPr lang="en-US" altLang="zh-TW" sz="2400" dirty="0" err="1">
                <a:latin typeface="Times New Roman" panose="02020603050405020304" pitchFamily="18" charset="0"/>
                <a:cs typeface="Times New Roman" panose="02020603050405020304" pitchFamily="18" charset="0"/>
              </a:rPr>
              <a:t>pGBRT</a:t>
            </a:r>
            <a:r>
              <a:rPr lang="en-US" altLang="zh-TW" sz="2400" dirty="0">
                <a:latin typeface="Times New Roman" panose="02020603050405020304" pitchFamily="18" charset="0"/>
                <a:cs typeface="Times New Roman" panose="02020603050405020304" pitchFamily="18" charset="0"/>
              </a:rPr>
              <a:t>. Although many engineering optimizations have been adopted in these implementations, the efficiency and scalability are still unsatisfactory when the feature dimension is high and data size is large. A major reason is that for each feature, they need to scan all the data instances to estimate the information gain of all possible split points, which is very time consuming. To tackle this problem, we propose two novel techniques: Gradient-based One-Side Sampling (GOSS) and Exclusive Feature Bundling (EFB). With GOSS, we exclude a significant proportion of data instances with small gradients, and only use the rest to estimate the information gain. We prove that, since the data instances with larger gradients play a more important role in the computation of information gain, GOSS can obtain quite accurate estimation of the information gain with a much smaller data size. </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1EABE3-FE2B-DB6E-974D-8180EF68BD5E}"/>
              </a:ext>
            </a:extLst>
          </p:cNvPr>
          <p:cNvSpPr>
            <a:spLocks noGrp="1"/>
          </p:cNvSpPr>
          <p:nvPr>
            <p:ph type="sldNum" sz="quarter" idx="12"/>
          </p:nvPr>
        </p:nvSpPr>
        <p:spPr/>
        <p:txBody>
          <a:bodyPr/>
          <a:lstStyle/>
          <a:p>
            <a:fld id="{EFAEC03B-316C-4507-8207-D997BB28EB64}" type="slidenum">
              <a:rPr lang="zh-TW" altLang="en-US" smtClean="0"/>
              <a:t>2</a:t>
            </a:fld>
            <a:endParaRPr lang="zh-TW" altLang="en-US"/>
          </a:p>
        </p:txBody>
      </p:sp>
    </p:spTree>
    <p:extLst>
      <p:ext uri="{BB962C8B-B14F-4D97-AF65-F5344CB8AC3E}">
        <p14:creationId xmlns:p14="http://schemas.microsoft.com/office/powerpoint/2010/main" val="1272369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r>
              <a:rPr lang="en-US" altLang="zh-TW" sz="4800" dirty="0">
                <a:latin typeface="Times New Roman" panose="02020603050405020304" pitchFamily="18" charset="0"/>
                <a:cs typeface="Times New Roman" panose="02020603050405020304" pitchFamily="18" charset="0"/>
              </a:rPr>
              <a:t>ABSTRACT(2/2)</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626843"/>
            <a:ext cx="10515600" cy="4351338"/>
          </a:xfrm>
        </p:spPr>
        <p:txBody>
          <a:bodyPr>
            <a:noAutofit/>
          </a:bodyPr>
          <a:lstStyle/>
          <a:p>
            <a:pPr marL="0" indent="0" algn="just">
              <a:buNone/>
            </a:pPr>
            <a:r>
              <a:rPr lang="en-US" altLang="zh-TW" sz="30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With EFB, we bundle mutually exclusive features (i.e., they rarely take nonzero values simultaneously), to reduce the number of features. We prove that finding the optimal bundling of exclusive features is NP-hard, but a greedy algorithm can achieve quite good approximation ratio (and thus can effectively reduce the number of features without hurting the accuracy of split point determination by much). We call our new GBDT implementation with GOSS and EFB </a:t>
            </a:r>
            <a:r>
              <a:rPr lang="en-US" altLang="zh-TW" sz="2400" dirty="0" err="1">
                <a:latin typeface="Times New Roman" panose="02020603050405020304" pitchFamily="18" charset="0"/>
                <a:cs typeface="Times New Roman" panose="02020603050405020304" pitchFamily="18" charset="0"/>
              </a:rPr>
              <a:t>LightGBM</a:t>
            </a:r>
            <a:r>
              <a:rPr lang="en-US" altLang="zh-TW" sz="2400" dirty="0">
                <a:latin typeface="Times New Roman" panose="02020603050405020304" pitchFamily="18" charset="0"/>
                <a:cs typeface="Times New Roman" panose="02020603050405020304" pitchFamily="18" charset="0"/>
              </a:rPr>
              <a:t>. Our experiments on multiple public datasets show that, </a:t>
            </a:r>
            <a:r>
              <a:rPr lang="en-US" altLang="zh-TW" sz="2400" dirty="0" err="1">
                <a:latin typeface="Times New Roman" panose="02020603050405020304" pitchFamily="18" charset="0"/>
                <a:cs typeface="Times New Roman" panose="02020603050405020304" pitchFamily="18" charset="0"/>
              </a:rPr>
              <a:t>LightGBM</a:t>
            </a:r>
            <a:r>
              <a:rPr lang="en-US" altLang="zh-TW" sz="2400" dirty="0">
                <a:latin typeface="Times New Roman" panose="02020603050405020304" pitchFamily="18" charset="0"/>
                <a:cs typeface="Times New Roman" panose="02020603050405020304" pitchFamily="18" charset="0"/>
              </a:rPr>
              <a:t> speeds up the training process of conventional GBDT by up to over 20 times while achieving almost the same accuracy. </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1EABE3-FE2B-DB6E-974D-8180EF68BD5E}"/>
              </a:ext>
            </a:extLst>
          </p:cNvPr>
          <p:cNvSpPr>
            <a:spLocks noGrp="1"/>
          </p:cNvSpPr>
          <p:nvPr>
            <p:ph type="sldNum" sz="quarter" idx="12"/>
          </p:nvPr>
        </p:nvSpPr>
        <p:spPr/>
        <p:txBody>
          <a:bodyPr/>
          <a:lstStyle/>
          <a:p>
            <a:fld id="{EFAEC03B-316C-4507-8207-D997BB28EB64}" type="slidenum">
              <a:rPr lang="zh-TW" altLang="en-US" smtClean="0"/>
              <a:t>3</a:t>
            </a:fld>
            <a:endParaRPr lang="zh-TW" altLang="en-US"/>
          </a:p>
        </p:txBody>
      </p:sp>
    </p:spTree>
    <p:extLst>
      <p:ext uri="{BB962C8B-B14F-4D97-AF65-F5344CB8AC3E}">
        <p14:creationId xmlns:p14="http://schemas.microsoft.com/office/powerpoint/2010/main" val="946001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GBDT</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4</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r>
              <a:rPr lang="en-US" altLang="zh-TW" sz="2800" dirty="0">
                <a:latin typeface="Times New Roman" panose="02020603050405020304" pitchFamily="18" charset="0"/>
                <a:cs typeface="Times New Roman" panose="02020603050405020304" pitchFamily="18" charset="0"/>
              </a:rPr>
              <a:t>A kind of a method in </a:t>
            </a:r>
            <a:r>
              <a:rPr lang="en-US" altLang="zh-TW" dirty="0">
                <a:latin typeface="Times New Roman" panose="02020603050405020304" pitchFamily="18" charset="0"/>
                <a:cs typeface="Times New Roman" panose="02020603050405020304" pitchFamily="18" charset="0"/>
              </a:rPr>
              <a:t>Machine Learning</a:t>
            </a:r>
          </a:p>
          <a:p>
            <a:r>
              <a:rPr lang="en-US" altLang="zh-TW" dirty="0">
                <a:latin typeface="Times New Roman" panose="02020603050405020304" pitchFamily="18" charset="0"/>
                <a:cs typeface="Times New Roman" panose="02020603050405020304" pitchFamily="18" charset="0"/>
              </a:rPr>
              <a:t>Training weak classifier sequentially (Decision Tree)</a:t>
            </a:r>
          </a:p>
          <a:p>
            <a:r>
              <a:rPr lang="en-US" altLang="zh-TW" dirty="0">
                <a:latin typeface="Times New Roman" panose="02020603050405020304" pitchFamily="18" charset="0"/>
                <a:cs typeface="Times New Roman" panose="02020603050405020304" pitchFamily="18" charset="0"/>
              </a:rPr>
              <a:t>Each model reduces the error of the previous one</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3476765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Contribution</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5</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r>
              <a:rPr lang="en-US" altLang="zh-TW" dirty="0">
                <a:latin typeface="Times New Roman" panose="02020603050405020304" pitchFamily="18" charset="0"/>
                <a:cs typeface="Times New Roman" panose="02020603050405020304" pitchFamily="18" charset="0"/>
              </a:rPr>
              <a:t>Gradient-based One-Side Sampling (GOSS)</a:t>
            </a:r>
          </a:p>
          <a:p>
            <a:r>
              <a:rPr lang="en-US" altLang="zh-TW" dirty="0">
                <a:latin typeface="Times New Roman" panose="02020603050405020304" pitchFamily="18" charset="0"/>
                <a:cs typeface="Times New Roman" panose="02020603050405020304" pitchFamily="18" charset="0"/>
              </a:rPr>
              <a:t>Exclusive Feature Bundling (EFB)</a:t>
            </a:r>
            <a:endParaRPr lang="en-US" altLang="zh-TW" dirty="0"/>
          </a:p>
          <a:p>
            <a:pPr marL="0" indent="0">
              <a:buNone/>
            </a:pPr>
            <a:endParaRPr lang="en-US" altLang="zh-TW" dirty="0">
              <a:latin typeface="Times New Roman" panose="02020603050405020304" pitchFamily="18" charset="0"/>
              <a:cs typeface="Times New Roman" panose="02020603050405020304" pitchFamily="18" charset="0"/>
            </a:endParaRPr>
          </a:p>
        </p:txBody>
      </p:sp>
      <p:sp>
        <p:nvSpPr>
          <p:cNvPr id="12" name="箭號: 向右 11">
            <a:extLst>
              <a:ext uri="{FF2B5EF4-FFF2-40B4-BE49-F238E27FC236}">
                <a16:creationId xmlns:a16="http://schemas.microsoft.com/office/drawing/2014/main" id="{FD99686B-6120-7D16-FD5D-203E37D831C9}"/>
              </a:ext>
            </a:extLst>
          </p:cNvPr>
          <p:cNvSpPr/>
          <p:nvPr/>
        </p:nvSpPr>
        <p:spPr>
          <a:xfrm>
            <a:off x="1025204" y="2995782"/>
            <a:ext cx="1015068" cy="4970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6" name="文字方塊 15">
            <a:extLst>
              <a:ext uri="{FF2B5EF4-FFF2-40B4-BE49-F238E27FC236}">
                <a16:creationId xmlns:a16="http://schemas.microsoft.com/office/drawing/2014/main" id="{E5B7274E-E660-8257-4ED0-3009E1386711}"/>
              </a:ext>
            </a:extLst>
          </p:cNvPr>
          <p:cNvSpPr txBox="1"/>
          <p:nvPr/>
        </p:nvSpPr>
        <p:spPr>
          <a:xfrm>
            <a:off x="2227276" y="2969610"/>
            <a:ext cx="4794309"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Improving Computation Speed</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203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GOSS</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6</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r>
              <a:rPr lang="en-US" altLang="zh-TW" dirty="0">
                <a:latin typeface="Times New Roman" panose="02020603050405020304" pitchFamily="18" charset="0"/>
                <a:cs typeface="Times New Roman" panose="02020603050405020304" pitchFamily="18" charset="0"/>
              </a:rPr>
              <a:t>Instances with larger gradients	</a:t>
            </a:r>
          </a:p>
          <a:p>
            <a:pPr marL="0" indent="0">
              <a:buNone/>
            </a:pPr>
            <a:r>
              <a:rPr lang="en-US" altLang="zh-TW" dirty="0">
                <a:latin typeface="Times New Roman" panose="02020603050405020304" pitchFamily="18" charset="0"/>
                <a:cs typeface="Times New Roman" panose="02020603050405020304" pitchFamily="18" charset="0"/>
              </a:rPr>
              <a:t>	  contribute more to the information gain</a:t>
            </a: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Keep those instances with large gradients</a:t>
            </a:r>
          </a:p>
          <a:p>
            <a:r>
              <a:rPr lang="en-US" altLang="zh-TW" dirty="0">
                <a:latin typeface="Times New Roman" panose="02020603050405020304" pitchFamily="18" charset="0"/>
                <a:cs typeface="Times New Roman" panose="02020603050405020304" pitchFamily="18" charset="0"/>
              </a:rPr>
              <a:t>Randomly drop those instances with small gradients</a:t>
            </a:r>
          </a:p>
          <a:p>
            <a:r>
              <a:rPr lang="en-US" altLang="zh-TW" dirty="0">
                <a:latin typeface="Times New Roman" panose="02020603050405020304" pitchFamily="18" charset="0"/>
                <a:cs typeface="Times New Roman" panose="02020603050405020304" pitchFamily="18" charset="0"/>
              </a:rPr>
              <a:t>More accurate gain estimation than uniformly random sampling</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箭號: 向右 4">
            <a:extLst>
              <a:ext uri="{FF2B5EF4-FFF2-40B4-BE49-F238E27FC236}">
                <a16:creationId xmlns:a16="http://schemas.microsoft.com/office/drawing/2014/main" id="{43FE91ED-BDB2-0037-C936-5E6F8DE94427}"/>
              </a:ext>
            </a:extLst>
          </p:cNvPr>
          <p:cNvSpPr/>
          <p:nvPr/>
        </p:nvSpPr>
        <p:spPr>
          <a:xfrm>
            <a:off x="1174458" y="2290194"/>
            <a:ext cx="587229" cy="343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12653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a:xfrm>
            <a:off x="838200" y="136525"/>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GOSS</a:t>
            </a:r>
            <a:endParaRPr lang="zh-TW" altLang="en-US" sz="4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7</a:t>
            </a:fld>
            <a:endParaRPr lang="zh-TW" altLang="en-US"/>
          </a:p>
        </p:txBody>
      </p:sp>
      <p:pic>
        <p:nvPicPr>
          <p:cNvPr id="8" name="內容版面配置區 7">
            <a:extLst>
              <a:ext uri="{FF2B5EF4-FFF2-40B4-BE49-F238E27FC236}">
                <a16:creationId xmlns:a16="http://schemas.microsoft.com/office/drawing/2014/main" id="{540E4F3D-5CF5-F8FD-0938-30470525C438}"/>
              </a:ext>
            </a:extLst>
          </p:cNvPr>
          <p:cNvPicPr>
            <a:picLocks noGrp="1" noChangeAspect="1"/>
          </p:cNvPicPr>
          <p:nvPr>
            <p:ph idx="1"/>
          </p:nvPr>
        </p:nvPicPr>
        <p:blipFill>
          <a:blip r:embed="rId2"/>
          <a:stretch>
            <a:fillRect/>
          </a:stretch>
        </p:blipFill>
        <p:spPr>
          <a:xfrm>
            <a:off x="309695" y="1197247"/>
            <a:ext cx="5148477" cy="5341665"/>
          </a:xfrm>
        </p:spPr>
      </p:pic>
      <p:sp>
        <p:nvSpPr>
          <p:cNvPr id="9" name="文字方塊 8">
            <a:extLst>
              <a:ext uri="{FF2B5EF4-FFF2-40B4-BE49-F238E27FC236}">
                <a16:creationId xmlns:a16="http://schemas.microsoft.com/office/drawing/2014/main" id="{8C596C96-A29F-1EB5-773A-0237B95C2D9A}"/>
              </a:ext>
            </a:extLst>
          </p:cNvPr>
          <p:cNvSpPr txBox="1"/>
          <p:nvPr/>
        </p:nvSpPr>
        <p:spPr>
          <a:xfrm>
            <a:off x="5458172" y="2119808"/>
            <a:ext cx="5993233" cy="3231654"/>
          </a:xfrm>
          <a:prstGeom prst="rect">
            <a:avLst/>
          </a:prstGeom>
          <a:noFill/>
        </p:spPr>
        <p:txBody>
          <a:bodyPr wrap="square" rtlCol="0">
            <a:spAutoFit/>
          </a:bodyPr>
          <a:lstStyle/>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Using current model to predict</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Calculating gradient</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Pick a% large gradient data  (</a:t>
            </a:r>
            <a:r>
              <a:rPr lang="en-US" altLang="zh-TW" sz="2400" dirty="0" err="1">
                <a:latin typeface="Times New Roman" panose="02020603050405020304" pitchFamily="18" charset="0"/>
                <a:cs typeface="Times New Roman" panose="02020603050405020304" pitchFamily="18" charset="0"/>
              </a:rPr>
              <a:t>topSet</a:t>
            </a:r>
            <a:r>
              <a:rPr lang="en-US" altLang="zh-TW"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Pick b% small gradient data  (</a:t>
            </a:r>
            <a:r>
              <a:rPr lang="en-US" altLang="zh-TW" sz="2400" dirty="0" err="1">
                <a:latin typeface="Times New Roman" panose="02020603050405020304" pitchFamily="18" charset="0"/>
                <a:cs typeface="Times New Roman" panose="02020603050405020304" pitchFamily="18" charset="0"/>
              </a:rPr>
              <a:t>randSet</a:t>
            </a:r>
            <a:r>
              <a:rPr lang="en-US" altLang="zh-TW"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altLang="zh-TW" sz="2400" dirty="0" err="1">
                <a:latin typeface="Times New Roman" panose="02020603050405020304" pitchFamily="18" charset="0"/>
                <a:cs typeface="Times New Roman" panose="02020603050405020304" pitchFamily="18" charset="0"/>
              </a:rPr>
              <a:t>randSet</a:t>
            </a:r>
            <a:r>
              <a:rPr lang="en-US" altLang="zh-TW" sz="2400" dirty="0">
                <a:latin typeface="Times New Roman" panose="02020603050405020304" pitchFamily="18" charset="0"/>
                <a:cs typeface="Times New Roman" panose="02020603050405020304" pitchFamily="18" charset="0"/>
              </a:rPr>
              <a:t> *= fact  (Assign weight)</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Train new learner by (g[</a:t>
            </a:r>
            <a:r>
              <a:rPr lang="en-US" altLang="zh-TW" sz="2400" dirty="0" err="1">
                <a:latin typeface="Times New Roman" panose="02020603050405020304" pitchFamily="18" charset="0"/>
                <a:cs typeface="Times New Roman" panose="02020603050405020304" pitchFamily="18" charset="0"/>
              </a:rPr>
              <a:t>topSet</a:t>
            </a:r>
            <a:r>
              <a:rPr lang="en-US" altLang="zh-TW" sz="2400" dirty="0">
                <a:latin typeface="Times New Roman" panose="02020603050405020304" pitchFamily="18" charset="0"/>
                <a:cs typeface="Times New Roman" panose="02020603050405020304" pitchFamily="18" charset="0"/>
              </a:rPr>
              <a:t>], g[</a:t>
            </a:r>
            <a:r>
              <a:rPr lang="en-US" altLang="zh-TW" sz="2400" dirty="0" err="1">
                <a:latin typeface="Times New Roman" panose="02020603050405020304" pitchFamily="18" charset="0"/>
                <a:cs typeface="Times New Roman" panose="02020603050405020304" pitchFamily="18" charset="0"/>
              </a:rPr>
              <a:t>randSet</a:t>
            </a:r>
            <a:r>
              <a:rPr lang="en-US" altLang="zh-TW"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Update model</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endParaRPr lang="zh-TW" altLang="en-US" dirty="0"/>
          </a:p>
        </p:txBody>
      </p:sp>
    </p:spTree>
    <p:extLst>
      <p:ext uri="{BB962C8B-B14F-4D97-AF65-F5344CB8AC3E}">
        <p14:creationId xmlns:p14="http://schemas.microsoft.com/office/powerpoint/2010/main" val="2213721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EFB</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8</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r>
              <a:rPr lang="en-US" altLang="zh-TW" dirty="0">
                <a:latin typeface="Times New Roman" panose="02020603050405020304" pitchFamily="18" charset="0"/>
                <a:cs typeface="Times New Roman" panose="02020603050405020304" pitchFamily="18" charset="0"/>
              </a:rPr>
              <a:t>High-dimensional data are usually very sparse</a:t>
            </a:r>
          </a:p>
          <a:p>
            <a:r>
              <a:rPr lang="en-US" altLang="zh-TW" dirty="0">
                <a:latin typeface="Times New Roman" panose="02020603050405020304" pitchFamily="18" charset="0"/>
                <a:cs typeface="Times New Roman" panose="02020603050405020304" pitchFamily="18" charset="0"/>
              </a:rPr>
              <a:t>In a sparse feature space, many features are (almost) exclusive</a:t>
            </a:r>
          </a:p>
          <a:p>
            <a:pPr marL="0" indent="0">
              <a:buNone/>
            </a:pPr>
            <a:r>
              <a:rPr lang="en-US" altLang="zh-TW" dirty="0">
                <a:latin typeface="Times New Roman" panose="02020603050405020304" pitchFamily="18" charset="0"/>
                <a:cs typeface="Times New Roman" panose="02020603050405020304" pitchFamily="18" charset="0"/>
              </a:rPr>
              <a:t>  &lt;</a:t>
            </a:r>
            <a:r>
              <a:rPr lang="en-US" altLang="zh-TW" dirty="0" err="1">
                <a:latin typeface="Times New Roman" panose="02020603050405020304" pitchFamily="18" charset="0"/>
                <a:cs typeface="Times New Roman" panose="02020603050405020304" pitchFamily="18" charset="0"/>
              </a:rPr>
              <a:t>x,y</a:t>
            </a:r>
            <a:r>
              <a:rPr lang="en-US" altLang="zh-TW" dirty="0">
                <a:latin typeface="Times New Roman" panose="02020603050405020304" pitchFamily="18" charset="0"/>
                <a:cs typeface="Times New Roman" panose="02020603050405020304" pitchFamily="18" charset="0"/>
              </a:rPr>
              <a:t>&gt; : &lt;12,0&gt;, &lt;0,13&gt;, &lt;174,0&gt;, &lt;0,25&gt;</a:t>
            </a: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Bundle such exclusive features  </a:t>
            </a:r>
          </a:p>
          <a:p>
            <a:pPr marL="0" indent="0">
              <a:buNone/>
            </a:pPr>
            <a:r>
              <a:rPr lang="en-US" altLang="zh-TW" dirty="0">
                <a:latin typeface="Times New Roman" panose="02020603050405020304" pitchFamily="18" charset="0"/>
                <a:cs typeface="Times New Roman" panose="02020603050405020304" pitchFamily="18" charset="0"/>
              </a:rPr>
              <a:t>   &lt;</a:t>
            </a:r>
            <a:r>
              <a:rPr lang="en-US" altLang="zh-TW" dirty="0" err="1">
                <a:latin typeface="Times New Roman" panose="02020603050405020304" pitchFamily="18" charset="0"/>
                <a:cs typeface="Times New Roman" panose="02020603050405020304" pitchFamily="18" charset="0"/>
              </a:rPr>
              <a:t>x,y</a:t>
            </a:r>
            <a:r>
              <a:rPr lang="en-US" altLang="zh-TW" dirty="0">
                <a:latin typeface="Times New Roman" panose="02020603050405020304" pitchFamily="18" charset="0"/>
                <a:cs typeface="Times New Roman" panose="02020603050405020304" pitchFamily="18" charset="0"/>
              </a:rPr>
              <a:t>&gt;          &lt;z&gt;</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2323401" y="3794029"/>
            <a:ext cx="914400" cy="914400"/>
          </a:xfrm>
          <a:prstGeom prst="rect">
            <a:avLst/>
          </a:prstGeom>
          <a:noFill/>
        </p:spPr>
        <p:txBody>
          <a:bodyPr wrap="square" rtlCol="0">
            <a:spAutoFit/>
          </a:bodyPr>
          <a:lstStyle/>
          <a:p>
            <a:endParaRPr lang="zh-TW" altLang="en-US" dirty="0"/>
          </a:p>
        </p:txBody>
      </p:sp>
      <p:sp>
        <p:nvSpPr>
          <p:cNvPr id="4" name="箭號: 向右 3">
            <a:extLst>
              <a:ext uri="{FF2B5EF4-FFF2-40B4-BE49-F238E27FC236}">
                <a16:creationId xmlns:a16="http://schemas.microsoft.com/office/drawing/2014/main" id="{F20BE27F-22D4-34BB-0021-D28682D97645}"/>
              </a:ext>
            </a:extLst>
          </p:cNvPr>
          <p:cNvSpPr/>
          <p:nvPr/>
        </p:nvSpPr>
        <p:spPr>
          <a:xfrm>
            <a:off x="2205566" y="4314470"/>
            <a:ext cx="575035" cy="3820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47230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a:xfrm>
            <a:off x="838200" y="136525"/>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EFB</a:t>
            </a:r>
            <a:endParaRPr lang="zh-TW" altLang="en-US" sz="4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9</a:t>
            </a:fld>
            <a:endParaRPr lang="zh-TW" altLang="en-US"/>
          </a:p>
        </p:txBody>
      </p:sp>
      <p:pic>
        <p:nvPicPr>
          <p:cNvPr id="7" name="內容版面配置區 6">
            <a:extLst>
              <a:ext uri="{FF2B5EF4-FFF2-40B4-BE49-F238E27FC236}">
                <a16:creationId xmlns:a16="http://schemas.microsoft.com/office/drawing/2014/main" id="{F0A4867F-5514-EE40-0EFF-F4A65D0592EF}"/>
              </a:ext>
            </a:extLst>
          </p:cNvPr>
          <p:cNvPicPr>
            <a:picLocks noGrp="1" noChangeAspect="1"/>
          </p:cNvPicPr>
          <p:nvPr>
            <p:ph idx="1"/>
          </p:nvPr>
        </p:nvPicPr>
        <p:blipFill>
          <a:blip r:embed="rId2"/>
          <a:stretch>
            <a:fillRect/>
          </a:stretch>
        </p:blipFill>
        <p:spPr>
          <a:xfrm>
            <a:off x="3804948" y="1986380"/>
            <a:ext cx="4582104" cy="4369970"/>
          </a:xfrm>
        </p:spPr>
      </p:pic>
      <p:sp>
        <p:nvSpPr>
          <p:cNvPr id="13" name="文字方塊 12">
            <a:extLst>
              <a:ext uri="{FF2B5EF4-FFF2-40B4-BE49-F238E27FC236}">
                <a16:creationId xmlns:a16="http://schemas.microsoft.com/office/drawing/2014/main" id="{78DAF561-49C1-3A4B-1FB5-47D77D96FD87}"/>
              </a:ext>
            </a:extLst>
          </p:cNvPr>
          <p:cNvSpPr txBox="1"/>
          <p:nvPr/>
        </p:nvSpPr>
        <p:spPr>
          <a:xfrm>
            <a:off x="660066" y="1462088"/>
            <a:ext cx="11142293"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Partitioning features to smallest number of exclusive bundles is NP-hard</a:t>
            </a:r>
            <a:endParaRPr lang="zh-TW" altLang="en-US" sz="2800" dirty="0">
              <a:latin typeface="Times New Roman" panose="02020603050405020304" pitchFamily="18" charset="0"/>
              <a:cs typeface="Times New Roman" panose="02020603050405020304" pitchFamily="18" charset="0"/>
            </a:endParaRPr>
          </a:p>
        </p:txBody>
      </p:sp>
      <p:sp>
        <p:nvSpPr>
          <p:cNvPr id="14" name="橢圓 13">
            <a:extLst>
              <a:ext uri="{FF2B5EF4-FFF2-40B4-BE49-F238E27FC236}">
                <a16:creationId xmlns:a16="http://schemas.microsoft.com/office/drawing/2014/main" id="{E24A75E5-286E-8C0B-0B3D-CEBFC8B878E4}"/>
              </a:ext>
            </a:extLst>
          </p:cNvPr>
          <p:cNvSpPr/>
          <p:nvPr/>
        </p:nvSpPr>
        <p:spPr>
          <a:xfrm>
            <a:off x="5788058" y="2177592"/>
            <a:ext cx="744717" cy="735290"/>
          </a:xfrm>
          <a:prstGeom prst="ellipse">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接點: 弧形 15">
            <a:extLst>
              <a:ext uri="{FF2B5EF4-FFF2-40B4-BE49-F238E27FC236}">
                <a16:creationId xmlns:a16="http://schemas.microsoft.com/office/drawing/2014/main" id="{CC8A4707-722C-E70B-D2F6-062AF5567CC0}"/>
              </a:ext>
            </a:extLst>
          </p:cNvPr>
          <p:cNvCxnSpPr/>
          <p:nvPr/>
        </p:nvCxnSpPr>
        <p:spPr>
          <a:xfrm>
            <a:off x="6532775" y="2413262"/>
            <a:ext cx="2573518" cy="593889"/>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52D66CC2-7098-30C4-4DAC-CB0489A03A7A}"/>
              </a:ext>
            </a:extLst>
          </p:cNvPr>
          <p:cNvSpPr txBox="1"/>
          <p:nvPr/>
        </p:nvSpPr>
        <p:spPr>
          <a:xfrm>
            <a:off x="-38383" y="3232110"/>
            <a:ext cx="2686449" cy="830997"/>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Conflict</a:t>
            </a:r>
          </a:p>
          <a:p>
            <a:pPr algn="ctr"/>
            <a:r>
              <a:rPr lang="en-US" altLang="zh-TW" sz="2400" dirty="0">
                <a:latin typeface="Times New Roman" panose="02020603050405020304" pitchFamily="18" charset="0"/>
                <a:cs typeface="Times New Roman" panose="02020603050405020304" pitchFamily="18" charset="0"/>
              </a:rPr>
              <a:t>(not exclusion)</a:t>
            </a:r>
            <a:endParaRPr lang="zh-TW" altLang="en-US" sz="2400" dirty="0">
              <a:latin typeface="Times New Roman" panose="02020603050405020304" pitchFamily="18" charset="0"/>
              <a:cs typeface="Times New Roman" panose="02020603050405020304" pitchFamily="18" charset="0"/>
            </a:endParaRPr>
          </a:p>
        </p:txBody>
      </p:sp>
      <p:cxnSp>
        <p:nvCxnSpPr>
          <p:cNvPr id="20" name="接點: 弧形 19">
            <a:extLst>
              <a:ext uri="{FF2B5EF4-FFF2-40B4-BE49-F238E27FC236}">
                <a16:creationId xmlns:a16="http://schemas.microsoft.com/office/drawing/2014/main" id="{B623226D-48D1-772E-81EE-989131ACE196}"/>
              </a:ext>
            </a:extLst>
          </p:cNvPr>
          <p:cNvCxnSpPr/>
          <p:nvPr/>
        </p:nvCxnSpPr>
        <p:spPr>
          <a:xfrm rot="10800000">
            <a:off x="2139886" y="3582186"/>
            <a:ext cx="2403835" cy="989814"/>
          </a:xfrm>
          <a:prstGeom prst="curvedConnector3">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1469DAD8-0E87-A869-66C2-A65D9C89B712}"/>
              </a:ext>
            </a:extLst>
          </p:cNvPr>
          <p:cNvSpPr txBox="1"/>
          <p:nvPr/>
        </p:nvSpPr>
        <p:spPr>
          <a:xfrm>
            <a:off x="9260602" y="2776318"/>
            <a:ext cx="1885361"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Feature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593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a:xfrm>
            <a:off x="838200" y="136525"/>
            <a:ext cx="10515600" cy="1325563"/>
          </a:xfrm>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EFB</a:t>
            </a:r>
            <a:endParaRPr lang="zh-TW" altLang="en-US" sz="4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10</a:t>
            </a:fld>
            <a:endParaRPr lang="zh-TW" altLang="en-US"/>
          </a:p>
        </p:txBody>
      </p:sp>
      <p:sp>
        <p:nvSpPr>
          <p:cNvPr id="9" name="文字方塊 8">
            <a:extLst>
              <a:ext uri="{FF2B5EF4-FFF2-40B4-BE49-F238E27FC236}">
                <a16:creationId xmlns:a16="http://schemas.microsoft.com/office/drawing/2014/main" id="{8C596C96-A29F-1EB5-773A-0237B95C2D9A}"/>
              </a:ext>
            </a:extLst>
          </p:cNvPr>
          <p:cNvSpPr txBox="1"/>
          <p:nvPr/>
        </p:nvSpPr>
        <p:spPr>
          <a:xfrm>
            <a:off x="6293035" y="2985889"/>
            <a:ext cx="5993233" cy="1846659"/>
          </a:xfrm>
          <a:prstGeom prst="rect">
            <a:avLst/>
          </a:prstGeom>
          <a:noFill/>
        </p:spPr>
        <p:txBody>
          <a:bodyPr wrap="square" rtlCol="0">
            <a:spAutoFit/>
          </a:bodyPr>
          <a:lstStyle/>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Ordering by the count of nonzero values</a:t>
            </a:r>
          </a:p>
          <a:p>
            <a:pPr marL="285750" indent="-285750">
              <a:buFont typeface="Arial" panose="020B0604020202020204" pitchFamily="34" charset="0"/>
              <a:buChar char="•"/>
            </a:pPr>
            <a:r>
              <a:rPr lang="en-US" altLang="zh-TW" sz="2400" dirty="0"/>
              <a:t>Checking each feature </a:t>
            </a:r>
          </a:p>
          <a:p>
            <a:r>
              <a:rPr lang="en-US" altLang="zh-TW" sz="2400" dirty="0"/>
              <a:t>	assign it to an existing bundle</a:t>
            </a:r>
          </a:p>
          <a:p>
            <a:r>
              <a:rPr lang="en-US" altLang="zh-TW" sz="2400" dirty="0"/>
              <a:t>	create a new bundle</a:t>
            </a:r>
          </a:p>
          <a:p>
            <a:pPr marL="285750" indent="-285750">
              <a:buFont typeface="Arial" panose="020B0604020202020204" pitchFamily="34" charset="0"/>
              <a:buChar char="•"/>
            </a:pPr>
            <a:endParaRPr lang="zh-TW" altLang="en-US" dirty="0"/>
          </a:p>
        </p:txBody>
      </p:sp>
      <p:pic>
        <p:nvPicPr>
          <p:cNvPr id="5" name="圖片 4">
            <a:extLst>
              <a:ext uri="{FF2B5EF4-FFF2-40B4-BE49-F238E27FC236}">
                <a16:creationId xmlns:a16="http://schemas.microsoft.com/office/drawing/2014/main" id="{0530AA09-97AF-1415-3A38-B84FC5AA17D7}"/>
              </a:ext>
            </a:extLst>
          </p:cNvPr>
          <p:cNvPicPr>
            <a:picLocks noChangeAspect="1"/>
          </p:cNvPicPr>
          <p:nvPr/>
        </p:nvPicPr>
        <p:blipFill>
          <a:blip r:embed="rId2"/>
          <a:stretch>
            <a:fillRect/>
          </a:stretch>
        </p:blipFill>
        <p:spPr>
          <a:xfrm>
            <a:off x="168088" y="1275283"/>
            <a:ext cx="5927912" cy="5081067"/>
          </a:xfrm>
          <a:prstGeom prst="rect">
            <a:avLst/>
          </a:prstGeom>
        </p:spPr>
      </p:pic>
      <p:sp>
        <p:nvSpPr>
          <p:cNvPr id="10" name="橢圓 9">
            <a:extLst>
              <a:ext uri="{FF2B5EF4-FFF2-40B4-BE49-F238E27FC236}">
                <a16:creationId xmlns:a16="http://schemas.microsoft.com/office/drawing/2014/main" id="{EB5988B7-05FD-38E7-230D-C561E46A6E8D}"/>
              </a:ext>
            </a:extLst>
          </p:cNvPr>
          <p:cNvSpPr/>
          <p:nvPr/>
        </p:nvSpPr>
        <p:spPr>
          <a:xfrm>
            <a:off x="1498862" y="4332927"/>
            <a:ext cx="4440024" cy="499621"/>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接點: 弧形 11">
            <a:extLst>
              <a:ext uri="{FF2B5EF4-FFF2-40B4-BE49-F238E27FC236}">
                <a16:creationId xmlns:a16="http://schemas.microsoft.com/office/drawing/2014/main" id="{1445BAF8-173F-B444-7295-EB068EEFE4F6}"/>
              </a:ext>
            </a:extLst>
          </p:cNvPr>
          <p:cNvCxnSpPr/>
          <p:nvPr/>
        </p:nvCxnSpPr>
        <p:spPr>
          <a:xfrm flipV="1">
            <a:off x="6096000" y="4025245"/>
            <a:ext cx="1049518" cy="55749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橢圓 12">
            <a:extLst>
              <a:ext uri="{FF2B5EF4-FFF2-40B4-BE49-F238E27FC236}">
                <a16:creationId xmlns:a16="http://schemas.microsoft.com/office/drawing/2014/main" id="{5C702F9A-72D6-FE7D-7DB2-9F69206B09D7}"/>
              </a:ext>
            </a:extLst>
          </p:cNvPr>
          <p:cNvSpPr/>
          <p:nvPr/>
        </p:nvSpPr>
        <p:spPr>
          <a:xfrm>
            <a:off x="1057374" y="5344638"/>
            <a:ext cx="4440024" cy="499621"/>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接點: 弧形 13">
            <a:extLst>
              <a:ext uri="{FF2B5EF4-FFF2-40B4-BE49-F238E27FC236}">
                <a16:creationId xmlns:a16="http://schemas.microsoft.com/office/drawing/2014/main" id="{794948F8-B19A-18DE-AF8F-41AB11253E80}"/>
              </a:ext>
            </a:extLst>
          </p:cNvPr>
          <p:cNvCxnSpPr>
            <a:cxnSpLocks/>
          </p:cNvCxnSpPr>
          <p:nvPr/>
        </p:nvCxnSpPr>
        <p:spPr>
          <a:xfrm flipV="1">
            <a:off x="5571241" y="4332927"/>
            <a:ext cx="1668545" cy="128338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8852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Merging Feature</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11</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838200" y="1690688"/>
            <a:ext cx="10515600" cy="4351338"/>
          </a:xfrm>
        </p:spPr>
        <p:txBody>
          <a:bodyPr/>
          <a:lstStyle/>
          <a:p>
            <a:pPr marL="0" indent="0">
              <a:buNone/>
            </a:pPr>
            <a:r>
              <a:rPr lang="en-US" altLang="zh-TW" dirty="0">
                <a:latin typeface="Times New Roman" panose="02020603050405020304" pitchFamily="18" charset="0"/>
                <a:cs typeface="Times New Roman" panose="02020603050405020304" pitchFamily="18" charset="0"/>
              </a:rPr>
              <a:t>x takes value from [0, 10)</a:t>
            </a:r>
          </a:p>
          <a:p>
            <a:pPr marL="0" indent="0">
              <a:buNone/>
            </a:pPr>
            <a:r>
              <a:rPr lang="en-US" altLang="zh-TW" dirty="0">
                <a:latin typeface="Times New Roman" panose="02020603050405020304" pitchFamily="18" charset="0"/>
                <a:cs typeface="Times New Roman" panose="02020603050405020304" pitchFamily="18" charset="0"/>
              </a:rPr>
              <a:t>y takes value from [0, 20)</a:t>
            </a:r>
          </a:p>
          <a:p>
            <a:pPr marL="0" indent="0">
              <a:buNone/>
            </a:pPr>
            <a:endParaRPr lang="en-US" altLang="zh-TW"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zh-TW" dirty="0"/>
              <a:t>add an offset</a:t>
            </a:r>
            <a:r>
              <a:rPr lang="en-US" altLang="zh-TW" dirty="0">
                <a:latin typeface="Times New Roman" panose="02020603050405020304" pitchFamily="18" charset="0"/>
                <a:cs typeface="Times New Roman" panose="02020603050405020304" pitchFamily="18" charset="0"/>
              </a:rPr>
              <a:t>   y : [0, 20] -&gt; [10, 30)</a:t>
            </a:r>
          </a:p>
          <a:p>
            <a:pPr marL="514350" indent="-514350">
              <a:buFont typeface="+mj-lt"/>
              <a:buAutoNum type="arabicPeriod"/>
            </a:pPr>
            <a:r>
              <a:rPr lang="en-US" altLang="zh-TW" dirty="0"/>
              <a:t>Merge</a:t>
            </a:r>
            <a:r>
              <a:rPr lang="en-US" altLang="zh-TW" dirty="0">
                <a:latin typeface="Times New Roman" panose="02020603050405020304" pitchFamily="18" charset="0"/>
                <a:cs typeface="Times New Roman" panose="02020603050405020304" pitchFamily="18" charset="0"/>
              </a:rPr>
              <a:t> and get feature bundle z : [0, 30)</a:t>
            </a:r>
          </a:p>
          <a:p>
            <a:pPr marL="514350" indent="-514350">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2323401" y="3794029"/>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3291888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Experiments</a:t>
            </a:r>
            <a:endParaRPr lang="zh-TW" altLang="en-US" sz="4800"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1FE795CF-AAC6-681E-3347-F4FF23B6C266}"/>
              </a:ext>
            </a:extLst>
          </p:cNvPr>
          <p:cNvPicPr>
            <a:picLocks noGrp="1" noChangeAspect="1"/>
          </p:cNvPicPr>
          <p:nvPr>
            <p:ph idx="1"/>
          </p:nvPr>
        </p:nvPicPr>
        <p:blipFill>
          <a:blip r:embed="rId2"/>
          <a:stretch>
            <a:fillRect/>
          </a:stretch>
        </p:blipFill>
        <p:spPr>
          <a:xfrm>
            <a:off x="1006965" y="2506370"/>
            <a:ext cx="9732466" cy="2207031"/>
          </a:xfrm>
        </p:spPr>
      </p:pic>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12</a:t>
            </a:fld>
            <a:endParaRPr lang="zh-TW" altLang="en-US"/>
          </a:p>
        </p:txBody>
      </p:sp>
    </p:spTree>
    <p:extLst>
      <p:ext uri="{BB962C8B-B14F-4D97-AF65-F5344CB8AC3E}">
        <p14:creationId xmlns:p14="http://schemas.microsoft.com/office/powerpoint/2010/main" val="866908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Experiments</a:t>
            </a:r>
            <a:endParaRPr lang="zh-TW" altLang="en-US" sz="4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13</a:t>
            </a:fld>
            <a:endParaRPr lang="zh-TW" altLang="en-US"/>
          </a:p>
        </p:txBody>
      </p:sp>
      <p:pic>
        <p:nvPicPr>
          <p:cNvPr id="12" name="內容版面配置區 11">
            <a:extLst>
              <a:ext uri="{FF2B5EF4-FFF2-40B4-BE49-F238E27FC236}">
                <a16:creationId xmlns:a16="http://schemas.microsoft.com/office/drawing/2014/main" id="{6FFCA44C-82D1-BD9D-0393-1F21BCD7DAD1}"/>
              </a:ext>
            </a:extLst>
          </p:cNvPr>
          <p:cNvPicPr>
            <a:picLocks noGrp="1" noChangeAspect="1"/>
          </p:cNvPicPr>
          <p:nvPr>
            <p:ph idx="1"/>
          </p:nvPr>
        </p:nvPicPr>
        <p:blipFill>
          <a:blip r:embed="rId2"/>
          <a:stretch>
            <a:fillRect/>
          </a:stretch>
        </p:blipFill>
        <p:spPr>
          <a:xfrm>
            <a:off x="367221" y="2421562"/>
            <a:ext cx="11615248" cy="2737420"/>
          </a:xfrm>
        </p:spPr>
      </p:pic>
    </p:spTree>
    <p:extLst>
      <p:ext uri="{BB962C8B-B14F-4D97-AF65-F5344CB8AC3E}">
        <p14:creationId xmlns:p14="http://schemas.microsoft.com/office/powerpoint/2010/main" val="2154161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Experiments</a:t>
            </a:r>
            <a:endParaRPr lang="zh-TW" altLang="en-US" sz="4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14</a:t>
            </a:fld>
            <a:endParaRPr lang="zh-TW" altLang="en-US"/>
          </a:p>
        </p:txBody>
      </p:sp>
      <p:pic>
        <p:nvPicPr>
          <p:cNvPr id="8" name="內容版面配置區 7">
            <a:extLst>
              <a:ext uri="{FF2B5EF4-FFF2-40B4-BE49-F238E27FC236}">
                <a16:creationId xmlns:a16="http://schemas.microsoft.com/office/drawing/2014/main" id="{5467B7E3-1761-30BB-31EB-FB269B5AAB7A}"/>
              </a:ext>
            </a:extLst>
          </p:cNvPr>
          <p:cNvPicPr>
            <a:picLocks noGrp="1" noChangeAspect="1"/>
          </p:cNvPicPr>
          <p:nvPr>
            <p:ph idx="1"/>
          </p:nvPr>
        </p:nvPicPr>
        <p:blipFill>
          <a:blip r:embed="rId2"/>
          <a:stretch>
            <a:fillRect/>
          </a:stretch>
        </p:blipFill>
        <p:spPr>
          <a:xfrm>
            <a:off x="492430" y="2422689"/>
            <a:ext cx="11455630" cy="2790334"/>
          </a:xfrm>
        </p:spPr>
      </p:pic>
    </p:spTree>
    <p:extLst>
      <p:ext uri="{BB962C8B-B14F-4D97-AF65-F5344CB8AC3E}">
        <p14:creationId xmlns:p14="http://schemas.microsoft.com/office/powerpoint/2010/main" val="421541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Experiments</a:t>
            </a:r>
            <a:endParaRPr lang="zh-TW" altLang="en-US" sz="48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B83179E-22C4-4236-E2D4-6F81ADB26387}"/>
              </a:ext>
            </a:extLst>
          </p:cNvPr>
          <p:cNvSpPr>
            <a:spLocks noGrp="1"/>
          </p:cNvSpPr>
          <p:nvPr>
            <p:ph type="sldNum" sz="quarter" idx="12"/>
          </p:nvPr>
        </p:nvSpPr>
        <p:spPr/>
        <p:txBody>
          <a:bodyPr/>
          <a:lstStyle/>
          <a:p>
            <a:fld id="{EFAEC03B-316C-4507-8207-D997BB28EB64}" type="slidenum">
              <a:rPr lang="zh-TW" altLang="en-US" smtClean="0"/>
              <a:t>15</a:t>
            </a:fld>
            <a:endParaRPr lang="zh-TW" altLang="en-US"/>
          </a:p>
        </p:txBody>
      </p:sp>
      <p:pic>
        <p:nvPicPr>
          <p:cNvPr id="5" name="圖片 4">
            <a:extLst>
              <a:ext uri="{FF2B5EF4-FFF2-40B4-BE49-F238E27FC236}">
                <a16:creationId xmlns:a16="http://schemas.microsoft.com/office/drawing/2014/main" id="{26E31EDA-6208-CAB9-A2BA-B938A2FE09AA}"/>
              </a:ext>
            </a:extLst>
          </p:cNvPr>
          <p:cNvPicPr>
            <a:picLocks noChangeAspect="1"/>
          </p:cNvPicPr>
          <p:nvPr/>
        </p:nvPicPr>
        <p:blipFill>
          <a:blip r:embed="rId2"/>
          <a:stretch>
            <a:fillRect/>
          </a:stretch>
        </p:blipFill>
        <p:spPr>
          <a:xfrm>
            <a:off x="3163817" y="1643126"/>
            <a:ext cx="5864365" cy="4351337"/>
          </a:xfrm>
          <a:prstGeom prst="rect">
            <a:avLst/>
          </a:prstGeom>
        </p:spPr>
      </p:pic>
      <p:sp>
        <p:nvSpPr>
          <p:cNvPr id="7" name="內容版面配置區 6">
            <a:extLst>
              <a:ext uri="{FF2B5EF4-FFF2-40B4-BE49-F238E27FC236}">
                <a16:creationId xmlns:a16="http://schemas.microsoft.com/office/drawing/2014/main" id="{37D60083-2414-5FC8-D96D-8B27616AD524}"/>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870265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994B9074-FFE2-64E5-A801-528B60039244}"/>
              </a:ext>
            </a:extLst>
          </p:cNvPr>
          <p:cNvSpPr txBox="1"/>
          <p:nvPr/>
        </p:nvSpPr>
        <p:spPr>
          <a:xfrm>
            <a:off x="4500980" y="2228671"/>
            <a:ext cx="8416031" cy="1200329"/>
          </a:xfrm>
          <a:prstGeom prst="rect">
            <a:avLst/>
          </a:prstGeom>
          <a:noFill/>
        </p:spPr>
        <p:txBody>
          <a:bodyPr wrap="square" rtlCol="0">
            <a:spAutoFit/>
          </a:bodyPr>
          <a:lstStyle/>
          <a:p>
            <a:r>
              <a:rPr lang="en-US" altLang="zh-TW" sz="7200" dirty="0">
                <a:latin typeface="Times New Roman" panose="02020603050405020304" pitchFamily="18" charset="0"/>
                <a:ea typeface="+mj-ea"/>
                <a:cs typeface="Times New Roman" panose="02020603050405020304" pitchFamily="18" charset="0"/>
              </a:rPr>
              <a:t>Thanks</a:t>
            </a:r>
            <a:endParaRPr lang="zh-TW" altLang="en-US" sz="7200" dirty="0">
              <a:latin typeface="Times New Roman" panose="02020603050405020304" pitchFamily="18" charset="0"/>
              <a:ea typeface="+mj-ea"/>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470088EC-5D8D-9A95-DC6D-2DD90021AD39}"/>
              </a:ext>
            </a:extLst>
          </p:cNvPr>
          <p:cNvSpPr>
            <a:spLocks noGrp="1"/>
          </p:cNvSpPr>
          <p:nvPr>
            <p:ph type="sldNum" sz="quarter" idx="12"/>
          </p:nvPr>
        </p:nvSpPr>
        <p:spPr/>
        <p:txBody>
          <a:bodyPr/>
          <a:lstStyle/>
          <a:p>
            <a:fld id="{EFAEC03B-316C-4507-8207-D997BB28EB64}" type="slidenum">
              <a:rPr lang="zh-TW" altLang="en-US" smtClean="0"/>
              <a:t>16</a:t>
            </a:fld>
            <a:endParaRPr lang="zh-TW" altLang="en-US"/>
          </a:p>
        </p:txBody>
      </p:sp>
    </p:spTree>
    <p:extLst>
      <p:ext uri="{BB962C8B-B14F-4D97-AF65-F5344CB8AC3E}">
        <p14:creationId xmlns:p14="http://schemas.microsoft.com/office/powerpoint/2010/main" val="381990533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3798</TotalTime>
  <Words>630</Words>
  <Application>Microsoft Office PowerPoint</Application>
  <PresentationFormat>寬螢幕</PresentationFormat>
  <Paragraphs>79</Paragraphs>
  <Slides>16</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Arial</vt:lpstr>
      <vt:lpstr>Calibri</vt:lpstr>
      <vt:lpstr>Calibri Light</vt:lpstr>
      <vt:lpstr>Times New Roman</vt:lpstr>
      <vt:lpstr>Office 佈景主題</vt:lpstr>
      <vt:lpstr>LightGBM: A Highly Efficient Gradient Boosting Decision Tree</vt:lpstr>
      <vt:lpstr>ABSTRACT(1/2)</vt:lpstr>
      <vt:lpstr>ABSTRACT(2/2)</vt:lpstr>
      <vt:lpstr>GBDT</vt:lpstr>
      <vt:lpstr>Contribution</vt:lpstr>
      <vt:lpstr>GOSS</vt:lpstr>
      <vt:lpstr>GOSS</vt:lpstr>
      <vt:lpstr>EFB</vt:lpstr>
      <vt:lpstr>EFB</vt:lpstr>
      <vt:lpstr>EFB</vt:lpstr>
      <vt:lpstr>Merging Feature</vt:lpstr>
      <vt:lpstr>Experiments</vt:lpstr>
      <vt:lpstr>Experiments</vt:lpstr>
      <vt:lpstr>Experiments</vt:lpstr>
      <vt:lpstr>Experiments</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Prediction Based on Genetic Algorithm Feature Selection and Long Short-Term Memory Neural Network </dc:title>
  <dc:creator>楊景翔</dc:creator>
  <cp:lastModifiedBy>楊景翔</cp:lastModifiedBy>
  <cp:revision>23</cp:revision>
  <dcterms:created xsi:type="dcterms:W3CDTF">2023-09-05T08:57:34Z</dcterms:created>
  <dcterms:modified xsi:type="dcterms:W3CDTF">2024-01-23T06:38:55Z</dcterms:modified>
</cp:coreProperties>
</file>