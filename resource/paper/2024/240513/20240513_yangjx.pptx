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317" r:id="rId4"/>
    <p:sldId id="335" r:id="rId5"/>
    <p:sldId id="348" r:id="rId6"/>
    <p:sldId id="349" r:id="rId7"/>
    <p:sldId id="350" r:id="rId8"/>
    <p:sldId id="353" r:id="rId9"/>
    <p:sldId id="354" r:id="rId10"/>
    <p:sldId id="355" r:id="rId11"/>
    <p:sldId id="356" r:id="rId12"/>
    <p:sldId id="357" r:id="rId13"/>
    <p:sldId id="358" r:id="rId14"/>
    <p:sldId id="359" r:id="rId15"/>
    <p:sldId id="360" r:id="rId16"/>
    <p:sldId id="361" r:id="rId17"/>
    <p:sldId id="362" r:id="rId18"/>
    <p:sldId id="363" r:id="rId19"/>
    <p:sldId id="269" r:id="rId2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楊景翔" initials="楊" lastIdx="20" clrIdx="0">
    <p:extLst>
      <p:ext uri="{19B8F6BF-5375-455C-9EA6-DF929625EA0E}">
        <p15:presenceInfo xmlns:p15="http://schemas.microsoft.com/office/powerpoint/2012/main" userId="S::1082941@ncyu.edu.tw::045835ec-170e-42bc-81c6-09db8fcf29c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834" autoAdjust="0"/>
    <p:restoredTop sz="96370" autoAdjust="0"/>
  </p:normalViewPr>
  <p:slideViewPr>
    <p:cSldViewPr snapToGrid="0">
      <p:cViewPr varScale="1">
        <p:scale>
          <a:sx n="86" d="100"/>
          <a:sy n="86" d="100"/>
        </p:scale>
        <p:origin x="75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4-05-12T22:51:26.391" idx="19">
    <p:pos x="3132" y="2326"/>
    <p:text>找到對佳解的比率</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57BF28-E50E-4388-A3E5-4D39E480B765}" type="datetimeFigureOut">
              <a:rPr lang="zh-TW" altLang="en-US" smtClean="0"/>
              <a:t>2024/5/13</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2711A4-5F0E-4DF4-937D-81F030A1E9AA}" type="slidenum">
              <a:rPr lang="zh-TW" altLang="en-US" smtClean="0"/>
              <a:t>‹#›</a:t>
            </a:fld>
            <a:endParaRPr lang="zh-TW" altLang="en-US"/>
          </a:p>
        </p:txBody>
      </p:sp>
    </p:spTree>
    <p:extLst>
      <p:ext uri="{BB962C8B-B14F-4D97-AF65-F5344CB8AC3E}">
        <p14:creationId xmlns:p14="http://schemas.microsoft.com/office/powerpoint/2010/main" val="2004259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0C6C96-9558-5AB5-D1F9-BCC335655A0D}"/>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5DFA7C56-9105-1E14-A17F-8A26FE9B3E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55C84251-D4BA-53DC-3BEF-977567CB82AB}"/>
              </a:ext>
            </a:extLst>
          </p:cNvPr>
          <p:cNvSpPr>
            <a:spLocks noGrp="1"/>
          </p:cNvSpPr>
          <p:nvPr>
            <p:ph type="dt" sz="half" idx="10"/>
          </p:nvPr>
        </p:nvSpPr>
        <p:spPr/>
        <p:txBody>
          <a:bodyPr/>
          <a:lstStyle/>
          <a:p>
            <a:fld id="{CA8AC1E3-A6AB-47A3-8E64-C9F1D5D81A55}" type="datetime1">
              <a:rPr lang="zh-TW" altLang="en-US" smtClean="0"/>
              <a:t>2024/5/13</a:t>
            </a:fld>
            <a:endParaRPr lang="zh-TW" altLang="en-US"/>
          </a:p>
        </p:txBody>
      </p:sp>
      <p:sp>
        <p:nvSpPr>
          <p:cNvPr id="5" name="頁尾版面配置區 4">
            <a:extLst>
              <a:ext uri="{FF2B5EF4-FFF2-40B4-BE49-F238E27FC236}">
                <a16:creationId xmlns:a16="http://schemas.microsoft.com/office/drawing/2014/main" id="{64D25A00-DB5F-6575-598E-1BDA96E3230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C1AD27D-3D20-5E6D-7527-6A46BDF3ED17}"/>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2677338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1BFF06-C706-AE49-8BDC-162AE3DCC495}"/>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6BB920A-B9BC-CE2C-E727-40FC0B9BE257}"/>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6AEF194-C880-0ED0-C3B1-F5AA4AC7963D}"/>
              </a:ext>
            </a:extLst>
          </p:cNvPr>
          <p:cNvSpPr>
            <a:spLocks noGrp="1"/>
          </p:cNvSpPr>
          <p:nvPr>
            <p:ph type="dt" sz="half" idx="10"/>
          </p:nvPr>
        </p:nvSpPr>
        <p:spPr/>
        <p:txBody>
          <a:bodyPr/>
          <a:lstStyle/>
          <a:p>
            <a:fld id="{08FE8941-C9FC-4970-9D6F-BA72DC037752}" type="datetime1">
              <a:rPr lang="zh-TW" altLang="en-US" smtClean="0"/>
              <a:t>2024/5/13</a:t>
            </a:fld>
            <a:endParaRPr lang="zh-TW" altLang="en-US"/>
          </a:p>
        </p:txBody>
      </p:sp>
      <p:sp>
        <p:nvSpPr>
          <p:cNvPr id="5" name="頁尾版面配置區 4">
            <a:extLst>
              <a:ext uri="{FF2B5EF4-FFF2-40B4-BE49-F238E27FC236}">
                <a16:creationId xmlns:a16="http://schemas.microsoft.com/office/drawing/2014/main" id="{ACAB75C9-C024-B558-D45F-78577087743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5F45A64-F99E-C099-B11A-50A95E098FEF}"/>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338568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37508B-BEB1-C8F9-B516-0922DF72FB65}"/>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F803A960-423A-63C2-DE35-5ECFB4DE1D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C49DDC9D-F9A5-2607-75C3-0D12FFEC815E}"/>
              </a:ext>
            </a:extLst>
          </p:cNvPr>
          <p:cNvSpPr>
            <a:spLocks noGrp="1"/>
          </p:cNvSpPr>
          <p:nvPr>
            <p:ph type="dt" sz="half" idx="10"/>
          </p:nvPr>
        </p:nvSpPr>
        <p:spPr/>
        <p:txBody>
          <a:bodyPr/>
          <a:lstStyle/>
          <a:p>
            <a:fld id="{2039AE5F-5202-44CB-B5B5-2322DF70600B}" type="datetime1">
              <a:rPr lang="zh-TW" altLang="en-US" smtClean="0"/>
              <a:t>2024/5/13</a:t>
            </a:fld>
            <a:endParaRPr lang="zh-TW" altLang="en-US"/>
          </a:p>
        </p:txBody>
      </p:sp>
      <p:sp>
        <p:nvSpPr>
          <p:cNvPr id="5" name="頁尾版面配置區 4">
            <a:extLst>
              <a:ext uri="{FF2B5EF4-FFF2-40B4-BE49-F238E27FC236}">
                <a16:creationId xmlns:a16="http://schemas.microsoft.com/office/drawing/2014/main" id="{51737579-99A5-787F-A156-A914AC26919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DCF7EE7-94C2-1869-DD60-727D9699176B}"/>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17689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D93191-4D6D-0ABD-4FD0-D3DAEBA57EE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801ED2BA-D421-7A64-DC46-93172086D236}"/>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4A07B58A-5369-F605-DA10-8BA9C02942FE}"/>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0069A846-5B55-BD04-2DAB-0D2726E962A7}"/>
              </a:ext>
            </a:extLst>
          </p:cNvPr>
          <p:cNvSpPr>
            <a:spLocks noGrp="1"/>
          </p:cNvSpPr>
          <p:nvPr>
            <p:ph type="dt" sz="half" idx="10"/>
          </p:nvPr>
        </p:nvSpPr>
        <p:spPr/>
        <p:txBody>
          <a:bodyPr/>
          <a:lstStyle/>
          <a:p>
            <a:fld id="{0C3542C7-36FE-4BA7-9A3F-4A6D1DADBE08}" type="datetime1">
              <a:rPr lang="zh-TW" altLang="en-US" smtClean="0"/>
              <a:t>2024/5/13</a:t>
            </a:fld>
            <a:endParaRPr lang="zh-TW" altLang="en-US"/>
          </a:p>
        </p:txBody>
      </p:sp>
      <p:sp>
        <p:nvSpPr>
          <p:cNvPr id="6" name="頁尾版面配置區 5">
            <a:extLst>
              <a:ext uri="{FF2B5EF4-FFF2-40B4-BE49-F238E27FC236}">
                <a16:creationId xmlns:a16="http://schemas.microsoft.com/office/drawing/2014/main" id="{1502D24C-E889-D7B0-44D9-CE81B159E96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F06439EF-16EE-FA12-79F3-B87E3982803B}"/>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3898087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6F3233-C6E5-0B44-D100-310DB38E5811}"/>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ED436CD-1CD4-D11C-BEAA-C417119007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91A8C39C-C632-D3AD-5AEA-87AD3CE7E477}"/>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2A78D980-ADEE-0381-3898-A79271B830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B4163D17-2951-4369-D786-C80C0E0AC83F}"/>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D1A71428-24ED-C03C-2120-A1D148D10B70}"/>
              </a:ext>
            </a:extLst>
          </p:cNvPr>
          <p:cNvSpPr>
            <a:spLocks noGrp="1"/>
          </p:cNvSpPr>
          <p:nvPr>
            <p:ph type="dt" sz="half" idx="10"/>
          </p:nvPr>
        </p:nvSpPr>
        <p:spPr/>
        <p:txBody>
          <a:bodyPr/>
          <a:lstStyle/>
          <a:p>
            <a:fld id="{6719B4E3-C1A0-407D-A8C4-223029942A11}" type="datetime1">
              <a:rPr lang="zh-TW" altLang="en-US" smtClean="0"/>
              <a:t>2024/5/13</a:t>
            </a:fld>
            <a:endParaRPr lang="zh-TW" altLang="en-US"/>
          </a:p>
        </p:txBody>
      </p:sp>
      <p:sp>
        <p:nvSpPr>
          <p:cNvPr id="8" name="頁尾版面配置區 7">
            <a:extLst>
              <a:ext uri="{FF2B5EF4-FFF2-40B4-BE49-F238E27FC236}">
                <a16:creationId xmlns:a16="http://schemas.microsoft.com/office/drawing/2014/main" id="{82E1BEDD-6B2B-9839-FD27-D8A7C04DBCCF}"/>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5D55D63F-D8D7-440D-968C-FBBBB351775C}"/>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600100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201DAD-B1A7-6913-F8C4-3128A369DFE2}"/>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3EEEE96D-DCE2-0290-7CB8-E2A347F5FB2E}"/>
              </a:ext>
            </a:extLst>
          </p:cNvPr>
          <p:cNvSpPr>
            <a:spLocks noGrp="1"/>
          </p:cNvSpPr>
          <p:nvPr>
            <p:ph type="dt" sz="half" idx="10"/>
          </p:nvPr>
        </p:nvSpPr>
        <p:spPr/>
        <p:txBody>
          <a:bodyPr/>
          <a:lstStyle/>
          <a:p>
            <a:fld id="{610827EF-4BCA-4B2D-96BC-800DE09072A1}" type="datetime1">
              <a:rPr lang="zh-TW" altLang="en-US" smtClean="0"/>
              <a:t>2024/5/13</a:t>
            </a:fld>
            <a:endParaRPr lang="zh-TW" altLang="en-US"/>
          </a:p>
        </p:txBody>
      </p:sp>
      <p:sp>
        <p:nvSpPr>
          <p:cNvPr id="4" name="頁尾版面配置區 3">
            <a:extLst>
              <a:ext uri="{FF2B5EF4-FFF2-40B4-BE49-F238E27FC236}">
                <a16:creationId xmlns:a16="http://schemas.microsoft.com/office/drawing/2014/main" id="{27DFB4F6-EB62-78FE-A3B6-223303180182}"/>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12C0C14C-28CD-EC7E-4309-732F432A8E7A}"/>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1758946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958279C0-CD55-F003-AC5E-186052697790}"/>
              </a:ext>
            </a:extLst>
          </p:cNvPr>
          <p:cNvSpPr>
            <a:spLocks noGrp="1"/>
          </p:cNvSpPr>
          <p:nvPr>
            <p:ph type="dt" sz="half" idx="10"/>
          </p:nvPr>
        </p:nvSpPr>
        <p:spPr/>
        <p:txBody>
          <a:bodyPr/>
          <a:lstStyle/>
          <a:p>
            <a:fld id="{F1579947-85DC-4C95-80F0-0C9A313E1A00}" type="datetime1">
              <a:rPr lang="zh-TW" altLang="en-US" smtClean="0"/>
              <a:t>2024/5/13</a:t>
            </a:fld>
            <a:endParaRPr lang="zh-TW" altLang="en-US"/>
          </a:p>
        </p:txBody>
      </p:sp>
      <p:sp>
        <p:nvSpPr>
          <p:cNvPr id="3" name="頁尾版面配置區 2">
            <a:extLst>
              <a:ext uri="{FF2B5EF4-FFF2-40B4-BE49-F238E27FC236}">
                <a16:creationId xmlns:a16="http://schemas.microsoft.com/office/drawing/2014/main" id="{36E7F1EF-FFA4-134D-A4B0-3774C78AC96B}"/>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6AFB60E8-5211-F688-2F76-36E5498719CE}"/>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1495588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D1827A-CB14-C4D4-25E3-41710BF6EA74}"/>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C3446C2-058B-FE7C-C4EA-39142F7D7E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A2B9FA26-62A1-F41D-42AE-4B9FA400E1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1701A1DA-69F3-C87D-CD25-E5F434BE3BE3}"/>
              </a:ext>
            </a:extLst>
          </p:cNvPr>
          <p:cNvSpPr>
            <a:spLocks noGrp="1"/>
          </p:cNvSpPr>
          <p:nvPr>
            <p:ph type="dt" sz="half" idx="10"/>
          </p:nvPr>
        </p:nvSpPr>
        <p:spPr/>
        <p:txBody>
          <a:bodyPr/>
          <a:lstStyle/>
          <a:p>
            <a:fld id="{E504CBE8-F2E5-4D8C-86BB-4F11DA33B21D}" type="datetime1">
              <a:rPr lang="zh-TW" altLang="en-US" smtClean="0"/>
              <a:t>2024/5/13</a:t>
            </a:fld>
            <a:endParaRPr lang="zh-TW" altLang="en-US"/>
          </a:p>
        </p:txBody>
      </p:sp>
      <p:sp>
        <p:nvSpPr>
          <p:cNvPr id="6" name="頁尾版面配置區 5">
            <a:extLst>
              <a:ext uri="{FF2B5EF4-FFF2-40B4-BE49-F238E27FC236}">
                <a16:creationId xmlns:a16="http://schemas.microsoft.com/office/drawing/2014/main" id="{BE909FB9-26BE-EFF1-A2A0-2EDEAD11E9C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80F42F7-4924-ACAA-4B7E-81847CCAE6B1}"/>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4061708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4F3A632-06E7-2518-793D-34E8E6D78B2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B659DF59-8B59-165B-FC2D-788F2972E7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B81BBEC0-7FEE-EE4F-6278-6FC2F230D0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3F0A4099-AD40-6407-4A6E-440F0C9ED57D}"/>
              </a:ext>
            </a:extLst>
          </p:cNvPr>
          <p:cNvSpPr>
            <a:spLocks noGrp="1"/>
          </p:cNvSpPr>
          <p:nvPr>
            <p:ph type="dt" sz="half" idx="10"/>
          </p:nvPr>
        </p:nvSpPr>
        <p:spPr/>
        <p:txBody>
          <a:bodyPr/>
          <a:lstStyle/>
          <a:p>
            <a:fld id="{D81B16DB-9686-447D-9D68-9652B275986F}" type="datetime1">
              <a:rPr lang="zh-TW" altLang="en-US" smtClean="0"/>
              <a:t>2024/5/13</a:t>
            </a:fld>
            <a:endParaRPr lang="zh-TW" altLang="en-US"/>
          </a:p>
        </p:txBody>
      </p:sp>
      <p:sp>
        <p:nvSpPr>
          <p:cNvPr id="6" name="頁尾版面配置區 5">
            <a:extLst>
              <a:ext uri="{FF2B5EF4-FFF2-40B4-BE49-F238E27FC236}">
                <a16:creationId xmlns:a16="http://schemas.microsoft.com/office/drawing/2014/main" id="{F165FF51-855C-82B4-240E-D1AF0254030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C02CF40C-AF6C-C9FF-89A1-58A1B03B6C4B}"/>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3496780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EE39347-557F-B5D8-678D-276F907F4FD5}"/>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A8EED0EF-2EFC-0A2C-A1A1-566E81CDA31F}"/>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A42852E-12ED-C0F2-A102-7A6CE771DF50}"/>
              </a:ext>
            </a:extLst>
          </p:cNvPr>
          <p:cNvSpPr>
            <a:spLocks noGrp="1"/>
          </p:cNvSpPr>
          <p:nvPr>
            <p:ph type="dt" sz="half" idx="10"/>
          </p:nvPr>
        </p:nvSpPr>
        <p:spPr/>
        <p:txBody>
          <a:bodyPr/>
          <a:lstStyle/>
          <a:p>
            <a:fld id="{5B06E588-B95B-4AB0-81F5-2FBB811781EB}" type="datetime1">
              <a:rPr lang="zh-TW" altLang="en-US" smtClean="0"/>
              <a:t>2024/5/13</a:t>
            </a:fld>
            <a:endParaRPr lang="zh-TW" altLang="en-US"/>
          </a:p>
        </p:txBody>
      </p:sp>
      <p:sp>
        <p:nvSpPr>
          <p:cNvPr id="5" name="頁尾版面配置區 4">
            <a:extLst>
              <a:ext uri="{FF2B5EF4-FFF2-40B4-BE49-F238E27FC236}">
                <a16:creationId xmlns:a16="http://schemas.microsoft.com/office/drawing/2014/main" id="{1D930DA9-725C-5B7A-5BFB-0B94FF48611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8B92A56-D44A-B10D-C20D-AC8706D7822B}"/>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2991004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EB36CFAD-7B1A-4F41-7AA1-3F5865D1345D}"/>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0A3AE268-50FA-2DB3-85DF-75AC97871EF2}"/>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969F98A-EAB9-3D3B-7A32-3741EF289F77}"/>
              </a:ext>
            </a:extLst>
          </p:cNvPr>
          <p:cNvSpPr>
            <a:spLocks noGrp="1"/>
          </p:cNvSpPr>
          <p:nvPr>
            <p:ph type="dt" sz="half" idx="10"/>
          </p:nvPr>
        </p:nvSpPr>
        <p:spPr/>
        <p:txBody>
          <a:bodyPr/>
          <a:lstStyle/>
          <a:p>
            <a:fld id="{6FF611F3-4FA6-41B2-81A4-6CC88E543A04}" type="datetime1">
              <a:rPr lang="zh-TW" altLang="en-US" smtClean="0"/>
              <a:t>2024/5/13</a:t>
            </a:fld>
            <a:endParaRPr lang="zh-TW" altLang="en-US"/>
          </a:p>
        </p:txBody>
      </p:sp>
      <p:sp>
        <p:nvSpPr>
          <p:cNvPr id="5" name="頁尾版面配置區 4">
            <a:extLst>
              <a:ext uri="{FF2B5EF4-FFF2-40B4-BE49-F238E27FC236}">
                <a16:creationId xmlns:a16="http://schemas.microsoft.com/office/drawing/2014/main" id="{AB6F795B-0E4E-9263-5414-6CF7A28738E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E952AC5-C821-BDC5-2B56-1AC08DD08A64}"/>
              </a:ext>
            </a:extLst>
          </p:cNvPr>
          <p:cNvSpPr>
            <a:spLocks noGrp="1"/>
          </p:cNvSpPr>
          <p:nvPr>
            <p:ph type="sldNum" sz="quarter" idx="12"/>
          </p:nvPr>
        </p:nvSpPr>
        <p:spPr/>
        <p:txBody>
          <a:body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40919230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9A69BABF-6143-6E99-0B49-97D885BD74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7B1DF635-42A0-B056-4EB4-97F7B309A0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7B49324-9375-D069-B743-3683D64388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FCC5AE-261C-4E50-A59B-D2A2B1270A69}" type="datetime1">
              <a:rPr lang="zh-TW" altLang="en-US" smtClean="0"/>
              <a:t>2024/5/13</a:t>
            </a:fld>
            <a:endParaRPr lang="zh-TW" altLang="en-US"/>
          </a:p>
        </p:txBody>
      </p:sp>
      <p:sp>
        <p:nvSpPr>
          <p:cNvPr id="5" name="頁尾版面配置區 4">
            <a:extLst>
              <a:ext uri="{FF2B5EF4-FFF2-40B4-BE49-F238E27FC236}">
                <a16:creationId xmlns:a16="http://schemas.microsoft.com/office/drawing/2014/main" id="{28584CA7-762E-3A5A-304E-1EAAB6D161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EA5B41FD-5E7A-AF87-9639-CB90546025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AEC03B-316C-4507-8207-D997BB28EB64}" type="slidenum">
              <a:rPr lang="zh-TW" altLang="en-US" smtClean="0"/>
              <a:t>‹#›</a:t>
            </a:fld>
            <a:endParaRPr lang="zh-TW" altLang="en-US"/>
          </a:p>
        </p:txBody>
      </p:sp>
    </p:spTree>
    <p:extLst>
      <p:ext uri="{BB962C8B-B14F-4D97-AF65-F5344CB8AC3E}">
        <p14:creationId xmlns:p14="http://schemas.microsoft.com/office/powerpoint/2010/main" val="4289768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5D6ECA-8C9F-6ADC-F8D7-2A82572058E8}"/>
              </a:ext>
            </a:extLst>
          </p:cNvPr>
          <p:cNvSpPr>
            <a:spLocks noGrp="1"/>
          </p:cNvSpPr>
          <p:nvPr>
            <p:ph type="ctrTitle"/>
          </p:nvPr>
        </p:nvSpPr>
        <p:spPr>
          <a:xfrm>
            <a:off x="681162" y="136525"/>
            <a:ext cx="10829676" cy="2387600"/>
          </a:xfrm>
        </p:spPr>
        <p:txBody>
          <a:bodyPr>
            <a:noAutofit/>
          </a:bodyPr>
          <a:lstStyle/>
          <a:p>
            <a:r>
              <a:rPr lang="en-US" altLang="zh-TW" sz="4800" dirty="0">
                <a:latin typeface="Times New Roman" panose="02020603050405020304" pitchFamily="18" charset="0"/>
                <a:cs typeface="Times New Roman" panose="02020603050405020304" pitchFamily="18" charset="0"/>
              </a:rPr>
              <a:t>Spider Monkey Optimization algorithm for numerical optimization</a:t>
            </a:r>
            <a:endParaRPr lang="en-US" altLang="zh-TW" sz="4800" b="0" i="0" dirty="0">
              <a:effectLst/>
              <a:highlight>
                <a:srgbClr val="FFFFFF"/>
              </a:highlight>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B6739F88-A29A-4C56-52FA-D407B32738E9}"/>
              </a:ext>
            </a:extLst>
          </p:cNvPr>
          <p:cNvSpPr>
            <a:spLocks noGrp="1"/>
          </p:cNvSpPr>
          <p:nvPr>
            <p:ph type="subTitle" idx="1"/>
          </p:nvPr>
        </p:nvSpPr>
        <p:spPr>
          <a:xfrm>
            <a:off x="1524000" y="2928597"/>
            <a:ext cx="9144000" cy="1655762"/>
          </a:xfrm>
        </p:spPr>
        <p:txBody>
          <a:bodyPr/>
          <a:lstStyle/>
          <a:p>
            <a:r>
              <a:rPr lang="en-US" altLang="zh-TW" b="0" i="0" dirty="0">
                <a:solidFill>
                  <a:srgbClr val="222222"/>
                </a:solidFill>
                <a:effectLst/>
                <a:highlight>
                  <a:srgbClr val="FFFFFF"/>
                </a:highlight>
                <a:latin typeface="Times New Roman" panose="02020603050405020304" pitchFamily="18" charset="0"/>
                <a:cs typeface="Times New Roman" panose="02020603050405020304" pitchFamily="18" charset="0"/>
              </a:rPr>
              <a:t>Bansal, Jagdish Chand, et al. </a:t>
            </a:r>
          </a:p>
          <a:p>
            <a:r>
              <a:rPr lang="en-US" altLang="zh-TW" b="0" i="1" dirty="0">
                <a:solidFill>
                  <a:srgbClr val="222222"/>
                </a:solidFill>
                <a:effectLst/>
                <a:highlight>
                  <a:srgbClr val="FFFFFF"/>
                </a:highlight>
                <a:latin typeface="Times New Roman" panose="02020603050405020304" pitchFamily="18" charset="0"/>
                <a:cs typeface="Times New Roman" panose="02020603050405020304" pitchFamily="18" charset="0"/>
              </a:rPr>
              <a:t>Memetic computing</a:t>
            </a:r>
            <a:r>
              <a:rPr lang="en-US" altLang="zh-TW" b="0" i="0" dirty="0">
                <a:solidFill>
                  <a:srgbClr val="222222"/>
                </a:solidFill>
                <a:effectLst/>
                <a:highlight>
                  <a:srgbClr val="FFFFFF"/>
                </a:highlight>
                <a:latin typeface="Times New Roman" panose="02020603050405020304" pitchFamily="18" charset="0"/>
                <a:cs typeface="Times New Roman" panose="02020603050405020304" pitchFamily="18" charset="0"/>
              </a:rPr>
              <a:t> 6 (2014): 31-47.</a:t>
            </a:r>
            <a:endParaRPr lang="zh-TW" altLang="en-US" dirty="0">
              <a:solidFill>
                <a:srgbClr val="333333"/>
              </a:solidFill>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D6BC2F8A-F57D-93E1-25E0-DACED7728107}"/>
              </a:ext>
            </a:extLst>
          </p:cNvPr>
          <p:cNvSpPr txBox="1"/>
          <p:nvPr/>
        </p:nvSpPr>
        <p:spPr>
          <a:xfrm>
            <a:off x="8410112" y="5913844"/>
            <a:ext cx="3657600" cy="830997"/>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Presenter : Jing-Xiang</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Yang</a:t>
            </a:r>
          </a:p>
          <a:p>
            <a:r>
              <a:rPr lang="en-US" altLang="zh-TW" sz="2400" dirty="0">
                <a:latin typeface="Times New Roman" panose="02020603050405020304" pitchFamily="18" charset="0"/>
                <a:cs typeface="Times New Roman" panose="02020603050405020304" pitchFamily="18" charset="0"/>
              </a:rPr>
              <a:t>Date : </a:t>
            </a:r>
            <a:r>
              <a:rPr lang="en-US" altLang="zh-TW" sz="2400" dirty="0">
                <a:solidFill>
                  <a:srgbClr val="202124"/>
                </a:solidFill>
                <a:latin typeface="Times New Roman" panose="02020603050405020304" pitchFamily="18" charset="0"/>
                <a:cs typeface="Times New Roman" panose="02020603050405020304" pitchFamily="18" charset="0"/>
              </a:rPr>
              <a:t>May</a:t>
            </a:r>
            <a:r>
              <a:rPr lang="en-US" altLang="zh-TW" sz="2400" b="0" i="0" dirty="0">
                <a:solidFill>
                  <a:srgbClr val="202124"/>
                </a:solidFill>
                <a:effectLst/>
                <a:latin typeface="Times New Roman" panose="02020603050405020304" pitchFamily="18" charset="0"/>
                <a:cs typeface="Times New Roman" panose="02020603050405020304" pitchFamily="18" charset="0"/>
              </a:rPr>
              <a:t>. </a:t>
            </a:r>
            <a:r>
              <a:rPr lang="en-US" altLang="zh-TW" sz="2400" dirty="0">
                <a:solidFill>
                  <a:srgbClr val="202124"/>
                </a:solidFill>
                <a:latin typeface="Times New Roman" panose="02020603050405020304" pitchFamily="18" charset="0"/>
                <a:cs typeface="Times New Roman" panose="02020603050405020304" pitchFamily="18" charset="0"/>
              </a:rPr>
              <a:t>13</a:t>
            </a:r>
            <a:r>
              <a:rPr lang="en-US" altLang="zh-TW" sz="2400" b="0" i="0" dirty="0">
                <a:solidFill>
                  <a:srgbClr val="202124"/>
                </a:solidFill>
                <a:effectLst/>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2024</a:t>
            </a:r>
            <a:endParaRPr lang="zh-TW" altLang="en-US" sz="2400"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FCE74A8C-340A-9F93-5512-3E18A247C87B}"/>
              </a:ext>
            </a:extLst>
          </p:cNvPr>
          <p:cNvSpPr>
            <a:spLocks noGrp="1"/>
          </p:cNvSpPr>
          <p:nvPr>
            <p:ph type="sldNum" sz="quarter" idx="12"/>
          </p:nvPr>
        </p:nvSpPr>
        <p:spPr/>
        <p:txBody>
          <a:bodyPr/>
          <a:lstStyle/>
          <a:p>
            <a:fld id="{EFAEC03B-316C-4507-8207-D997BB28EB64}" type="slidenum">
              <a:rPr lang="zh-TW" altLang="en-US" smtClean="0"/>
              <a:t>1</a:t>
            </a:fld>
            <a:endParaRPr lang="zh-TW" altLang="en-US" dirty="0"/>
          </a:p>
        </p:txBody>
      </p:sp>
    </p:spTree>
    <p:extLst>
      <p:ext uri="{BB962C8B-B14F-4D97-AF65-F5344CB8AC3E}">
        <p14:creationId xmlns:p14="http://schemas.microsoft.com/office/powerpoint/2010/main" val="1694615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p:txBody>
          <a:bodyPr/>
          <a:lstStyle/>
          <a:p>
            <a:pPr algn="ctr"/>
            <a:r>
              <a:rPr lang="en-US" altLang="zh-TW" sz="4800" dirty="0">
                <a:latin typeface="Times New Roman" panose="02020603050405020304" pitchFamily="18" charset="0"/>
                <a:cs typeface="Times New Roman" panose="02020603050405020304" pitchFamily="18" charset="0"/>
              </a:rPr>
              <a:t>ABSTRACT</a:t>
            </a:r>
            <a:endParaRPr lang="zh-TW" altLang="en-US" sz="48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E295AD0F-78B0-3EC9-0878-946F93F0535E}"/>
              </a:ext>
            </a:extLst>
          </p:cNvPr>
          <p:cNvSpPr>
            <a:spLocks noGrp="1"/>
          </p:cNvSpPr>
          <p:nvPr>
            <p:ph idx="1"/>
          </p:nvPr>
        </p:nvSpPr>
        <p:spPr>
          <a:xfrm>
            <a:off x="838200" y="1626843"/>
            <a:ext cx="10515600" cy="4351338"/>
          </a:xfrm>
        </p:spPr>
        <p:txBody>
          <a:bodyPr>
            <a:noAutofit/>
          </a:bodyPr>
          <a:lstStyle/>
          <a:p>
            <a:pPr marL="0" indent="0" algn="just">
              <a:buNone/>
            </a:pPr>
            <a:r>
              <a:rPr lang="en-US" altLang="zh-TW" sz="30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 Swarm intelligence is one of the most promising area for the researchers in the field of numerical optimization. Researchers have developed many algorithms by simulating the swarming behavior of various creatures like ants, honey bees, fish, birds and the findings are very motivating. In this paper, a new approach for numerical optimization is proposed by modeling the foraging behavior of spider monkeys. Spider monkeys have been categorized as fission–fusion social structure based animals. The animals which follow fission– fusion social systems, split themselves from large to smaller groups and vice-versa based on the scarcity or availability of food. The proposed swarm intelligence approach is named as Spider Monkey Optimization (SMO) algorithm and can broadly be classified as an algorithm inspired by intelligent foraging behavior of fission–fusion social structure based animals.</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441EABE3-FE2B-DB6E-974D-8180EF68BD5E}"/>
              </a:ext>
            </a:extLst>
          </p:cNvPr>
          <p:cNvSpPr>
            <a:spLocks noGrp="1"/>
          </p:cNvSpPr>
          <p:nvPr>
            <p:ph type="sldNum" sz="quarter" idx="12"/>
          </p:nvPr>
        </p:nvSpPr>
        <p:spPr/>
        <p:txBody>
          <a:bodyPr/>
          <a:lstStyle/>
          <a:p>
            <a:fld id="{EFAEC03B-316C-4507-8207-D997BB28EB64}" type="slidenum">
              <a:rPr lang="zh-TW" altLang="en-US" smtClean="0"/>
              <a:t>2</a:t>
            </a:fld>
            <a:endParaRPr lang="zh-TW" altLang="en-US"/>
          </a:p>
        </p:txBody>
      </p:sp>
    </p:spTree>
    <p:extLst>
      <p:ext uri="{BB962C8B-B14F-4D97-AF65-F5344CB8AC3E}">
        <p14:creationId xmlns:p14="http://schemas.microsoft.com/office/powerpoint/2010/main" val="1272369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86FCF2-9C67-4E71-A2AE-11F3068C8104}"/>
              </a:ext>
            </a:extLst>
          </p:cNvPr>
          <p:cNvSpPr>
            <a:spLocks noGrp="1"/>
          </p:cNvSpPr>
          <p:nvPr>
            <p:ph type="title"/>
          </p:nvPr>
        </p:nvSpPr>
        <p:spPr/>
        <p:txBody>
          <a:bodyPr>
            <a:normAutofit/>
          </a:bodyPr>
          <a:lstStyle/>
          <a:p>
            <a:pPr algn="ctr"/>
            <a:r>
              <a:rPr lang="en-US" altLang="zh-TW" sz="4800" dirty="0">
                <a:latin typeface="Times New Roman" panose="02020603050405020304" pitchFamily="18" charset="0"/>
                <a:cs typeface="Times New Roman" panose="02020603050405020304" pitchFamily="18" charset="0"/>
              </a:rPr>
              <a:t>Numerical Optimization</a:t>
            </a:r>
            <a:endParaRPr lang="zh-TW" altLang="en-US" sz="4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E11B5102-CACD-3DEE-577C-C29FA51D1436}"/>
              </a:ext>
            </a:extLst>
          </p:cNvPr>
          <p:cNvSpPr>
            <a:spLocks noGrp="1"/>
          </p:cNvSpPr>
          <p:nvPr>
            <p:ph type="sldNum" sz="quarter" idx="12"/>
          </p:nvPr>
        </p:nvSpPr>
        <p:spPr/>
        <p:txBody>
          <a:bodyPr/>
          <a:lstStyle/>
          <a:p>
            <a:fld id="{EFAEC03B-316C-4507-8207-D997BB28EB64}" type="slidenum">
              <a:rPr lang="zh-TW" altLang="en-US" smtClean="0"/>
              <a:t>3</a:t>
            </a:fld>
            <a:endParaRPr lang="zh-TW" altLang="en-US" dirty="0"/>
          </a:p>
        </p:txBody>
      </p:sp>
      <p:sp>
        <p:nvSpPr>
          <p:cNvPr id="7" name="內容版面配置區 6">
            <a:extLst>
              <a:ext uri="{FF2B5EF4-FFF2-40B4-BE49-F238E27FC236}">
                <a16:creationId xmlns:a16="http://schemas.microsoft.com/office/drawing/2014/main" id="{9FD87D4D-44F9-D751-EFFB-CC17FBF9DDD9}"/>
              </a:ext>
            </a:extLst>
          </p:cNvPr>
          <p:cNvSpPr>
            <a:spLocks noGrp="1"/>
          </p:cNvSpPr>
          <p:nvPr>
            <p:ph idx="1"/>
          </p:nvPr>
        </p:nvSpPr>
        <p:spPr>
          <a:xfrm>
            <a:off x="530913" y="1797220"/>
            <a:ext cx="11127377" cy="424732"/>
          </a:xfr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Finding the minimum or maximum value of a certain objective function.</a:t>
            </a:r>
          </a:p>
        </p:txBody>
      </p:sp>
      <p:sp>
        <p:nvSpPr>
          <p:cNvPr id="13" name="文字方塊 12">
            <a:extLst>
              <a:ext uri="{FF2B5EF4-FFF2-40B4-BE49-F238E27FC236}">
                <a16:creationId xmlns:a16="http://schemas.microsoft.com/office/drawing/2014/main" id="{2B5BEFFB-FCCD-449F-C53F-3C3194830800}"/>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66798146-BD47-B2E7-0E64-82ACA33259FE}"/>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BA563692-1EDE-8604-AED9-1609375068D6}"/>
              </a:ext>
            </a:extLst>
          </p:cNvPr>
          <p:cNvSpPr txBox="1"/>
          <p:nvPr/>
        </p:nvSpPr>
        <p:spPr>
          <a:xfrm>
            <a:off x="5916076" y="2971800"/>
            <a:ext cx="914400" cy="914400"/>
          </a:xfrm>
          <a:prstGeom prst="rect">
            <a:avLst/>
          </a:prstGeom>
          <a:noFill/>
        </p:spPr>
        <p:txBody>
          <a:bodyPr wrap="square" rtlCol="0">
            <a:spAutoFit/>
          </a:bodyPr>
          <a:lstStyle/>
          <a:p>
            <a:endParaRPr lang="zh-TW" altLang="en-US" dirty="0"/>
          </a:p>
        </p:txBody>
      </p:sp>
      <p:pic>
        <p:nvPicPr>
          <p:cNvPr id="6" name="圖片 5">
            <a:extLst>
              <a:ext uri="{FF2B5EF4-FFF2-40B4-BE49-F238E27FC236}">
                <a16:creationId xmlns:a16="http://schemas.microsoft.com/office/drawing/2014/main" id="{17210BFF-D14E-58A0-4233-9C6D0CF43BC1}"/>
              </a:ext>
            </a:extLst>
          </p:cNvPr>
          <p:cNvPicPr>
            <a:picLocks noChangeAspect="1"/>
          </p:cNvPicPr>
          <p:nvPr/>
        </p:nvPicPr>
        <p:blipFill>
          <a:blip r:embed="rId2"/>
          <a:stretch>
            <a:fillRect/>
          </a:stretch>
        </p:blipFill>
        <p:spPr>
          <a:xfrm>
            <a:off x="2898221" y="2624811"/>
            <a:ext cx="6392760" cy="4022476"/>
          </a:xfrm>
          <a:prstGeom prst="rect">
            <a:avLst/>
          </a:prstGeom>
        </p:spPr>
      </p:pic>
    </p:spTree>
    <p:extLst>
      <p:ext uri="{BB962C8B-B14F-4D97-AF65-F5344CB8AC3E}">
        <p14:creationId xmlns:p14="http://schemas.microsoft.com/office/powerpoint/2010/main" val="3476765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277A-687F-76D2-48D5-C6059E0B4D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5624941-FE7D-A0A7-56F0-91C663F33433}"/>
              </a:ext>
            </a:extLst>
          </p:cNvPr>
          <p:cNvSpPr>
            <a:spLocks noGrp="1"/>
          </p:cNvSpPr>
          <p:nvPr>
            <p:ph type="title"/>
          </p:nvPr>
        </p:nvSpPr>
        <p:spPr/>
        <p:txBody>
          <a:bodyPr>
            <a:normAutofit/>
          </a:bodyPr>
          <a:lstStyle/>
          <a:p>
            <a:pPr algn="ctr"/>
            <a:r>
              <a:rPr lang="en-US" altLang="zh-TW" sz="4800" dirty="0">
                <a:latin typeface="Times New Roman" panose="02020603050405020304" pitchFamily="18" charset="0"/>
                <a:cs typeface="Times New Roman" panose="02020603050405020304" pitchFamily="18" charset="0"/>
              </a:rPr>
              <a:t>Spider Monkey Optimization algorithm</a:t>
            </a:r>
            <a:endParaRPr lang="zh-TW" altLang="en-US" sz="4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0490BFA9-2E4B-8E2E-8E0A-7E6419523F33}"/>
              </a:ext>
            </a:extLst>
          </p:cNvPr>
          <p:cNvSpPr>
            <a:spLocks noGrp="1"/>
          </p:cNvSpPr>
          <p:nvPr>
            <p:ph type="sldNum" sz="quarter" idx="12"/>
          </p:nvPr>
        </p:nvSpPr>
        <p:spPr/>
        <p:txBody>
          <a:bodyPr/>
          <a:lstStyle/>
          <a:p>
            <a:fld id="{EFAEC03B-316C-4507-8207-D997BB28EB64}" type="slidenum">
              <a:rPr lang="zh-TW" altLang="en-US" smtClean="0"/>
              <a:t>4</a:t>
            </a:fld>
            <a:endParaRPr lang="zh-TW" altLang="en-US" dirty="0"/>
          </a:p>
        </p:txBody>
      </p:sp>
      <p:sp>
        <p:nvSpPr>
          <p:cNvPr id="7" name="內容版面配置區 6">
            <a:extLst>
              <a:ext uri="{FF2B5EF4-FFF2-40B4-BE49-F238E27FC236}">
                <a16:creationId xmlns:a16="http://schemas.microsoft.com/office/drawing/2014/main" id="{C15825DB-F76F-4782-0861-DD98604C85D1}"/>
              </a:ext>
            </a:extLst>
          </p:cNvPr>
          <p:cNvSpPr>
            <a:spLocks noGrp="1"/>
          </p:cNvSpPr>
          <p:nvPr>
            <p:ph idx="1"/>
          </p:nvPr>
        </p:nvSpPr>
        <p:spPr>
          <a:xfrm>
            <a:off x="601884" y="1847850"/>
            <a:ext cx="11179629" cy="4351338"/>
          </a:xfrm>
        </p:spPr>
        <p:txBody>
          <a:bodyPr/>
          <a:lstStyle/>
          <a:p>
            <a:r>
              <a:rPr lang="en-US" altLang="zh-TW" sz="2400" dirty="0">
                <a:latin typeface="Times New Roman" panose="02020603050405020304" pitchFamily="18" charset="0"/>
                <a:cs typeface="Times New Roman" panose="02020603050405020304" pitchFamily="18" charset="0"/>
              </a:rPr>
              <a:t>Based on the foraging behavior of spider monkeys   </a:t>
            </a:r>
          </a:p>
          <a:p>
            <a:r>
              <a:rPr lang="en-US" altLang="zh-TW" sz="2400" dirty="0">
                <a:latin typeface="Times New Roman" panose="02020603050405020304" pitchFamily="18" charset="0"/>
                <a:cs typeface="Times New Roman" panose="02020603050405020304" pitchFamily="18" charset="0"/>
              </a:rPr>
              <a:t>Spider Monkeys follow </a:t>
            </a:r>
            <a:r>
              <a:rPr lang="en-US" altLang="zh-TW" sz="2400" dirty="0">
                <a:solidFill>
                  <a:srgbClr val="FF0000"/>
                </a:solidFill>
                <a:latin typeface="Times New Roman" panose="02020603050405020304" pitchFamily="18" charset="0"/>
                <a:cs typeface="Times New Roman" panose="02020603050405020304" pitchFamily="18" charset="0"/>
              </a:rPr>
              <a:t>fission–fusion social system</a:t>
            </a:r>
          </a:p>
        </p:txBody>
      </p:sp>
      <p:sp>
        <p:nvSpPr>
          <p:cNvPr id="13" name="文字方塊 12">
            <a:extLst>
              <a:ext uri="{FF2B5EF4-FFF2-40B4-BE49-F238E27FC236}">
                <a16:creationId xmlns:a16="http://schemas.microsoft.com/office/drawing/2014/main" id="{54087C22-34AA-60B8-4F51-490A80FD208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3D81718B-1108-4621-7F0F-9BE08E979CC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728D8A3F-909C-679A-BBCA-57447ECA1099}"/>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Tree>
    <p:extLst>
      <p:ext uri="{BB962C8B-B14F-4D97-AF65-F5344CB8AC3E}">
        <p14:creationId xmlns:p14="http://schemas.microsoft.com/office/powerpoint/2010/main" val="1670526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277A-687F-76D2-48D5-C6059E0B4D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5624941-FE7D-A0A7-56F0-91C663F33433}"/>
              </a:ext>
            </a:extLst>
          </p:cNvPr>
          <p:cNvSpPr>
            <a:spLocks noGrp="1"/>
          </p:cNvSpPr>
          <p:nvPr>
            <p:ph type="title"/>
          </p:nvPr>
        </p:nvSpPr>
        <p:spPr/>
        <p:txBody>
          <a:bodyPr>
            <a:normAutofit/>
          </a:bodyPr>
          <a:lstStyle/>
          <a:p>
            <a:pPr algn="ctr"/>
            <a:r>
              <a:rPr lang="en-US" altLang="zh-TW" sz="4800" spc="-50" dirty="0">
                <a:latin typeface="Times New Roman" panose="02020603050405020304" pitchFamily="18" charset="0"/>
                <a:ea typeface="+mj-ea"/>
                <a:cs typeface="Times New Roman" panose="02020603050405020304" pitchFamily="18" charset="0"/>
              </a:rPr>
              <a:t>Fission–Fusion Social Structure (FFSS)</a:t>
            </a:r>
            <a:endParaRPr lang="zh-TW" altLang="en-US" sz="4800" spc="-50" dirty="0">
              <a:latin typeface="Times New Roman" panose="02020603050405020304" pitchFamily="18" charset="0"/>
              <a:ea typeface="+mj-ea"/>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0490BFA9-2E4B-8E2E-8E0A-7E6419523F33}"/>
              </a:ext>
            </a:extLst>
          </p:cNvPr>
          <p:cNvSpPr>
            <a:spLocks noGrp="1"/>
          </p:cNvSpPr>
          <p:nvPr>
            <p:ph type="sldNum" sz="quarter" idx="12"/>
          </p:nvPr>
        </p:nvSpPr>
        <p:spPr/>
        <p:txBody>
          <a:bodyPr/>
          <a:lstStyle/>
          <a:p>
            <a:fld id="{EFAEC03B-316C-4507-8207-D997BB28EB64}" type="slidenum">
              <a:rPr lang="zh-TW" altLang="en-US" smtClean="0"/>
              <a:t>5</a:t>
            </a:fld>
            <a:endParaRPr lang="zh-TW" altLang="en-US" dirty="0"/>
          </a:p>
        </p:txBody>
      </p:sp>
      <p:pic>
        <p:nvPicPr>
          <p:cNvPr id="5" name="內容版面配置區 4">
            <a:extLst>
              <a:ext uri="{FF2B5EF4-FFF2-40B4-BE49-F238E27FC236}">
                <a16:creationId xmlns:a16="http://schemas.microsoft.com/office/drawing/2014/main" id="{7520449A-2836-D026-7A70-5B9E92C634DC}"/>
              </a:ext>
            </a:extLst>
          </p:cNvPr>
          <p:cNvPicPr>
            <a:picLocks noGrp="1" noChangeAspect="1"/>
          </p:cNvPicPr>
          <p:nvPr>
            <p:ph idx="1"/>
          </p:nvPr>
        </p:nvPicPr>
        <p:blipFill>
          <a:blip r:embed="rId2"/>
          <a:stretch>
            <a:fillRect/>
          </a:stretch>
        </p:blipFill>
        <p:spPr>
          <a:xfrm>
            <a:off x="962214" y="1416696"/>
            <a:ext cx="11179175" cy="4117678"/>
          </a:xfrm>
        </p:spPr>
      </p:pic>
      <p:sp>
        <p:nvSpPr>
          <p:cNvPr id="13" name="文字方塊 12">
            <a:extLst>
              <a:ext uri="{FF2B5EF4-FFF2-40B4-BE49-F238E27FC236}">
                <a16:creationId xmlns:a16="http://schemas.microsoft.com/office/drawing/2014/main" id="{54087C22-34AA-60B8-4F51-490A80FD208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3D81718B-1108-4621-7F0F-9BE08E979CC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728D8A3F-909C-679A-BBCA-57447ECA1099}"/>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8" name="文字方塊 7">
            <a:extLst>
              <a:ext uri="{FF2B5EF4-FFF2-40B4-BE49-F238E27FC236}">
                <a16:creationId xmlns:a16="http://schemas.microsoft.com/office/drawing/2014/main" id="{00EE3528-A33C-E289-5DD0-C268A834BEEA}"/>
              </a:ext>
            </a:extLst>
          </p:cNvPr>
          <p:cNvSpPr txBox="1"/>
          <p:nvPr/>
        </p:nvSpPr>
        <p:spPr>
          <a:xfrm>
            <a:off x="1077898" y="5714529"/>
            <a:ext cx="9424386" cy="461665"/>
          </a:xfrm>
          <a:prstGeom prst="rect">
            <a:avLst/>
          </a:prstGeom>
          <a:noFill/>
        </p:spPr>
        <p:txBody>
          <a:bodyPr wrap="square">
            <a:spAutoFit/>
          </a:bodyPr>
          <a:lstStyle/>
          <a:p>
            <a:pPr marL="457200" indent="-4572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FFSS can minimize direct foraging competition among group members</a:t>
            </a:r>
          </a:p>
        </p:txBody>
      </p:sp>
    </p:spTree>
    <p:extLst>
      <p:ext uri="{BB962C8B-B14F-4D97-AF65-F5344CB8AC3E}">
        <p14:creationId xmlns:p14="http://schemas.microsoft.com/office/powerpoint/2010/main" val="1577859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277A-687F-76D2-48D5-C6059E0B4D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5624941-FE7D-A0A7-56F0-91C663F33433}"/>
              </a:ext>
            </a:extLst>
          </p:cNvPr>
          <p:cNvSpPr>
            <a:spLocks noGrp="1"/>
          </p:cNvSpPr>
          <p:nvPr>
            <p:ph type="title"/>
          </p:nvPr>
        </p:nvSpPr>
        <p:spPr/>
        <p:txBody>
          <a:bodyPr>
            <a:normAutofit/>
          </a:bodyPr>
          <a:lstStyle/>
          <a:p>
            <a:pPr algn="ctr"/>
            <a:r>
              <a:rPr lang="en-US" altLang="zh-TW" sz="4800" dirty="0">
                <a:latin typeface="Times New Roman" panose="02020603050405020304" pitchFamily="18" charset="0"/>
                <a:cs typeface="Times New Roman" panose="02020603050405020304" pitchFamily="18" charset="0"/>
              </a:rPr>
              <a:t>Some Terms</a:t>
            </a:r>
            <a:endParaRPr lang="zh-TW" altLang="en-US" sz="4800"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0490BFA9-2E4B-8E2E-8E0A-7E6419523F33}"/>
              </a:ext>
            </a:extLst>
          </p:cNvPr>
          <p:cNvSpPr>
            <a:spLocks noGrp="1"/>
          </p:cNvSpPr>
          <p:nvPr>
            <p:ph type="sldNum" sz="quarter" idx="12"/>
          </p:nvPr>
        </p:nvSpPr>
        <p:spPr/>
        <p:txBody>
          <a:bodyPr/>
          <a:lstStyle/>
          <a:p>
            <a:fld id="{EFAEC03B-316C-4507-8207-D997BB28EB64}" type="slidenum">
              <a:rPr lang="zh-TW" altLang="en-US" smtClean="0"/>
              <a:t>6</a:t>
            </a:fld>
            <a:endParaRPr lang="zh-TW" altLang="en-US" dirty="0"/>
          </a:p>
        </p:txBody>
      </p:sp>
      <p:sp>
        <p:nvSpPr>
          <p:cNvPr id="7" name="內容版面配置區 6">
            <a:extLst>
              <a:ext uri="{FF2B5EF4-FFF2-40B4-BE49-F238E27FC236}">
                <a16:creationId xmlns:a16="http://schemas.microsoft.com/office/drawing/2014/main" id="{C15825DB-F76F-4782-0861-DD98604C85D1}"/>
              </a:ext>
            </a:extLst>
          </p:cNvPr>
          <p:cNvSpPr>
            <a:spLocks noGrp="1"/>
          </p:cNvSpPr>
          <p:nvPr>
            <p:ph idx="1"/>
          </p:nvPr>
        </p:nvSpPr>
        <p:spPr>
          <a:xfrm>
            <a:off x="601884" y="1847850"/>
            <a:ext cx="11179629" cy="4351338"/>
          </a:xfrm>
        </p:spPr>
        <p:txBody>
          <a:bodyPr/>
          <a:lstStyle/>
          <a:p>
            <a:r>
              <a:rPr lang="en-US" altLang="zh-TW" sz="2400" dirty="0">
                <a:latin typeface="Times New Roman" panose="02020603050405020304" pitchFamily="18" charset="0"/>
                <a:cs typeface="Times New Roman" panose="02020603050405020304" pitchFamily="18" charset="0"/>
              </a:rPr>
              <a:t>Fitness function         evaluate the quality of candidate solutions</a:t>
            </a:r>
          </a:p>
          <a:p>
            <a:pPr marL="0" indent="0">
              <a:buNone/>
            </a:pPr>
            <a:r>
              <a:rPr lang="en-US" altLang="zh-TW" sz="2400" dirty="0">
                <a:latin typeface="Times New Roman" panose="02020603050405020304" pitchFamily="18" charset="0"/>
                <a:cs typeface="Times New Roman" panose="02020603050405020304" pitchFamily="18" charset="0"/>
              </a:rPr>
              <a:t> </a:t>
            </a:r>
          </a:p>
          <a:p>
            <a:r>
              <a:rPr lang="en-US" altLang="zh-TW" sz="2400" dirty="0">
                <a:latin typeface="Times New Roman" panose="02020603050405020304" pitchFamily="18" charset="0"/>
                <a:cs typeface="Times New Roman" panose="02020603050405020304" pitchFamily="18" charset="0"/>
              </a:rPr>
              <a:t>Exploration         capacity to uncover the global optimum by probing unknown areas</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Exploitation        improving solutions by leveraging past successes.</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        (Local Leader ) : with best fitness value in local group</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       (Global Leader ) : with best fitness value in global group</a:t>
            </a:r>
          </a:p>
          <a:p>
            <a:endParaRPr lang="en-US" altLang="zh-TW" sz="2400" dirty="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54087C22-34AA-60B8-4F51-490A80FD208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3D81718B-1108-4621-7F0F-9BE08E979CC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728D8A3F-909C-679A-BBCA-57447ECA1099}"/>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4" name="箭號: 向右 3">
            <a:extLst>
              <a:ext uri="{FF2B5EF4-FFF2-40B4-BE49-F238E27FC236}">
                <a16:creationId xmlns:a16="http://schemas.microsoft.com/office/drawing/2014/main" id="{2A25A22C-726E-DA45-7C74-95A343849CC5}"/>
              </a:ext>
            </a:extLst>
          </p:cNvPr>
          <p:cNvSpPr/>
          <p:nvPr/>
        </p:nvSpPr>
        <p:spPr>
          <a:xfrm>
            <a:off x="3089429" y="1926454"/>
            <a:ext cx="301841" cy="3018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箭號: 向右 4">
            <a:extLst>
              <a:ext uri="{FF2B5EF4-FFF2-40B4-BE49-F238E27FC236}">
                <a16:creationId xmlns:a16="http://schemas.microsoft.com/office/drawing/2014/main" id="{D7866029-847C-CACE-22C9-BEC7AF6015F2}"/>
              </a:ext>
            </a:extLst>
          </p:cNvPr>
          <p:cNvSpPr/>
          <p:nvPr/>
        </p:nvSpPr>
        <p:spPr>
          <a:xfrm>
            <a:off x="2544074" y="2822976"/>
            <a:ext cx="301841" cy="3018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箭號: 向右 7">
            <a:extLst>
              <a:ext uri="{FF2B5EF4-FFF2-40B4-BE49-F238E27FC236}">
                <a16:creationId xmlns:a16="http://schemas.microsoft.com/office/drawing/2014/main" id="{36582926-D3F7-6E25-3D1B-59D98F022E28}"/>
              </a:ext>
            </a:extLst>
          </p:cNvPr>
          <p:cNvSpPr/>
          <p:nvPr/>
        </p:nvSpPr>
        <p:spPr>
          <a:xfrm>
            <a:off x="2544074" y="3771346"/>
            <a:ext cx="301841" cy="3018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9" name="圖片 8">
            <a:extLst>
              <a:ext uri="{FF2B5EF4-FFF2-40B4-BE49-F238E27FC236}">
                <a16:creationId xmlns:a16="http://schemas.microsoft.com/office/drawing/2014/main" id="{E7C2298C-B4FC-D036-4A2C-83675020C46B}"/>
              </a:ext>
            </a:extLst>
          </p:cNvPr>
          <p:cNvPicPr>
            <a:picLocks noChangeAspect="1"/>
          </p:cNvPicPr>
          <p:nvPr/>
        </p:nvPicPr>
        <p:blipFill>
          <a:blip r:embed="rId2"/>
          <a:stretch>
            <a:fillRect/>
          </a:stretch>
        </p:blipFill>
        <p:spPr>
          <a:xfrm>
            <a:off x="909221" y="4502274"/>
            <a:ext cx="496605" cy="567069"/>
          </a:xfrm>
          <a:prstGeom prst="rect">
            <a:avLst/>
          </a:prstGeom>
        </p:spPr>
      </p:pic>
      <p:pic>
        <p:nvPicPr>
          <p:cNvPr id="10" name="圖片 9">
            <a:extLst>
              <a:ext uri="{FF2B5EF4-FFF2-40B4-BE49-F238E27FC236}">
                <a16:creationId xmlns:a16="http://schemas.microsoft.com/office/drawing/2014/main" id="{2B085C42-F20D-29C2-A8F0-D9B0D4845293}"/>
              </a:ext>
            </a:extLst>
          </p:cNvPr>
          <p:cNvPicPr>
            <a:picLocks noChangeAspect="1"/>
          </p:cNvPicPr>
          <p:nvPr/>
        </p:nvPicPr>
        <p:blipFill>
          <a:blip r:embed="rId2"/>
          <a:stretch>
            <a:fillRect/>
          </a:stretch>
        </p:blipFill>
        <p:spPr>
          <a:xfrm>
            <a:off x="909220" y="5427166"/>
            <a:ext cx="496605" cy="567069"/>
          </a:xfrm>
          <a:prstGeom prst="rect">
            <a:avLst/>
          </a:prstGeom>
        </p:spPr>
      </p:pic>
    </p:spTree>
    <p:extLst>
      <p:ext uri="{BB962C8B-B14F-4D97-AF65-F5344CB8AC3E}">
        <p14:creationId xmlns:p14="http://schemas.microsoft.com/office/powerpoint/2010/main" val="3762390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277A-687F-76D2-48D5-C6059E0B4D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5624941-FE7D-A0A7-56F0-91C663F33433}"/>
              </a:ext>
            </a:extLst>
          </p:cNvPr>
          <p:cNvSpPr>
            <a:spLocks noGrp="1"/>
          </p:cNvSpPr>
          <p:nvPr>
            <p:ph type="title"/>
          </p:nvPr>
        </p:nvSpPr>
        <p:spPr/>
        <p:txBody>
          <a:bodyPr>
            <a:normAutofit/>
          </a:bodyPr>
          <a:lstStyle/>
          <a:p>
            <a:pPr algn="ctr"/>
            <a:r>
              <a:rPr lang="en-US" altLang="zh-TW" sz="48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Main steps of (SMO)</a:t>
            </a:r>
          </a:p>
        </p:txBody>
      </p:sp>
      <p:sp>
        <p:nvSpPr>
          <p:cNvPr id="3" name="投影片編號版面配置區 2">
            <a:extLst>
              <a:ext uri="{FF2B5EF4-FFF2-40B4-BE49-F238E27FC236}">
                <a16:creationId xmlns:a16="http://schemas.microsoft.com/office/drawing/2014/main" id="{0490BFA9-2E4B-8E2E-8E0A-7E6419523F33}"/>
              </a:ext>
            </a:extLst>
          </p:cNvPr>
          <p:cNvSpPr>
            <a:spLocks noGrp="1"/>
          </p:cNvSpPr>
          <p:nvPr>
            <p:ph type="sldNum" sz="quarter" idx="12"/>
          </p:nvPr>
        </p:nvSpPr>
        <p:spPr/>
        <p:txBody>
          <a:bodyPr/>
          <a:lstStyle/>
          <a:p>
            <a:fld id="{EFAEC03B-316C-4507-8207-D997BB28EB64}" type="slidenum">
              <a:rPr lang="zh-TW" altLang="en-US" smtClean="0"/>
              <a:t>7</a:t>
            </a:fld>
            <a:endParaRPr lang="zh-TW" altLang="en-US" dirty="0"/>
          </a:p>
        </p:txBody>
      </p:sp>
      <p:sp>
        <p:nvSpPr>
          <p:cNvPr id="7" name="內容版面配置區 6">
            <a:extLst>
              <a:ext uri="{FF2B5EF4-FFF2-40B4-BE49-F238E27FC236}">
                <a16:creationId xmlns:a16="http://schemas.microsoft.com/office/drawing/2014/main" id="{C15825DB-F76F-4782-0861-DD98604C85D1}"/>
              </a:ext>
            </a:extLst>
          </p:cNvPr>
          <p:cNvSpPr>
            <a:spLocks noGrp="1"/>
          </p:cNvSpPr>
          <p:nvPr>
            <p:ph idx="1"/>
          </p:nvPr>
        </p:nvSpPr>
        <p:spPr>
          <a:xfrm>
            <a:off x="610761" y="1847850"/>
            <a:ext cx="11179629" cy="4351338"/>
          </a:xfrm>
        </p:spPr>
        <p:txBody>
          <a:bodyPr/>
          <a:lstStyle/>
          <a:p>
            <a:pPr marL="342900" indent="-342900">
              <a:buFont typeface="+mj-lt"/>
              <a:buAutoNum type="arabicPeriod"/>
            </a:pPr>
            <a:r>
              <a:rPr lang="en-US" altLang="zh-TW" sz="2400" dirty="0">
                <a:latin typeface="Times New Roman" panose="02020603050405020304" pitchFamily="18" charset="0"/>
                <a:cs typeface="Times New Roman" panose="02020603050405020304" pitchFamily="18" charset="0"/>
              </a:rPr>
              <a:t>Local Leader phase                      (Exploitation)</a:t>
            </a:r>
          </a:p>
          <a:p>
            <a:pPr marL="342900" indent="-342900">
              <a:buFont typeface="+mj-lt"/>
              <a:buAutoNum type="arabicPeriod"/>
            </a:pPr>
            <a:r>
              <a:rPr lang="en-US" altLang="zh-TW" sz="2400" dirty="0">
                <a:latin typeface="Times New Roman" panose="02020603050405020304" pitchFamily="18" charset="0"/>
                <a:cs typeface="Times New Roman" panose="02020603050405020304" pitchFamily="18" charset="0"/>
              </a:rPr>
              <a:t>Global Leader phase                    (Exploitation)</a:t>
            </a:r>
          </a:p>
          <a:p>
            <a:pPr marL="342900" indent="-342900">
              <a:buFont typeface="+mj-lt"/>
              <a:buAutoNum type="arabicPeriod"/>
            </a:pPr>
            <a:r>
              <a:rPr lang="en-US" altLang="zh-TW" sz="2400" dirty="0">
                <a:latin typeface="Times New Roman" panose="02020603050405020304" pitchFamily="18" charset="0"/>
                <a:cs typeface="Times New Roman" panose="02020603050405020304" pitchFamily="18" charset="0"/>
              </a:rPr>
              <a:t>Local Leader Learning phase</a:t>
            </a:r>
          </a:p>
          <a:p>
            <a:pPr marL="342900" indent="-342900">
              <a:buFont typeface="+mj-lt"/>
              <a:buAutoNum type="arabicPeriod"/>
            </a:pPr>
            <a:r>
              <a:rPr lang="en-US" altLang="zh-TW" sz="2400" dirty="0">
                <a:latin typeface="Times New Roman" panose="02020603050405020304" pitchFamily="18" charset="0"/>
                <a:cs typeface="Times New Roman" panose="02020603050405020304" pitchFamily="18" charset="0"/>
              </a:rPr>
              <a:t>Global Leader Learning phase</a:t>
            </a:r>
          </a:p>
          <a:p>
            <a:pPr marL="342900" indent="-342900">
              <a:buFont typeface="+mj-lt"/>
              <a:buAutoNum type="arabicPeriod"/>
            </a:pPr>
            <a:r>
              <a:rPr lang="en-US" altLang="zh-TW" sz="2400" dirty="0">
                <a:latin typeface="Times New Roman" panose="02020603050405020304" pitchFamily="18" charset="0"/>
                <a:cs typeface="Times New Roman" panose="02020603050405020304" pitchFamily="18" charset="0"/>
              </a:rPr>
              <a:t>Local Leader Decision phase       (Exploration)</a:t>
            </a:r>
          </a:p>
          <a:p>
            <a:pPr marL="342900" indent="-342900">
              <a:buFont typeface="+mj-lt"/>
              <a:buAutoNum type="arabicPeriod"/>
            </a:pPr>
            <a:r>
              <a:rPr lang="en-US" altLang="zh-TW" sz="2400" dirty="0">
                <a:latin typeface="Times New Roman" panose="02020603050405020304" pitchFamily="18" charset="0"/>
                <a:cs typeface="Times New Roman" panose="02020603050405020304" pitchFamily="18" charset="0"/>
              </a:rPr>
              <a:t> Global Leader Decision phase    (Exploration)</a:t>
            </a:r>
          </a:p>
        </p:txBody>
      </p:sp>
      <p:sp>
        <p:nvSpPr>
          <p:cNvPr id="13" name="文字方塊 12">
            <a:extLst>
              <a:ext uri="{FF2B5EF4-FFF2-40B4-BE49-F238E27FC236}">
                <a16:creationId xmlns:a16="http://schemas.microsoft.com/office/drawing/2014/main" id="{54087C22-34AA-60B8-4F51-490A80FD208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3D81718B-1108-4621-7F0F-9BE08E979CC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728D8A3F-909C-679A-BBCA-57447ECA1099}"/>
              </a:ext>
            </a:extLst>
          </p:cNvPr>
          <p:cNvSpPr txBox="1"/>
          <p:nvPr/>
        </p:nvSpPr>
        <p:spPr>
          <a:xfrm>
            <a:off x="7696200" y="2971800"/>
            <a:ext cx="914400" cy="914400"/>
          </a:xfrm>
          <a:prstGeom prst="rect">
            <a:avLst/>
          </a:prstGeom>
          <a:noFill/>
        </p:spPr>
        <p:txBody>
          <a:bodyPr wrap="square" rtlCol="0">
            <a:spAutoFit/>
          </a:bodyPr>
          <a:lstStyle/>
          <a:p>
            <a:endParaRPr lang="zh-TW" altLang="en-US" dirty="0"/>
          </a:p>
        </p:txBody>
      </p:sp>
    </p:spTree>
    <p:extLst>
      <p:ext uri="{BB962C8B-B14F-4D97-AF65-F5344CB8AC3E}">
        <p14:creationId xmlns:p14="http://schemas.microsoft.com/office/powerpoint/2010/main" val="16643718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F4BFB81D-5DB3-E6EC-0944-CB1411D9935F}"/>
              </a:ext>
            </a:extLst>
          </p:cNvPr>
          <p:cNvSpPr>
            <a:spLocks noGrp="1"/>
          </p:cNvSpPr>
          <p:nvPr>
            <p:ph type="sldNum" sz="quarter" idx="12"/>
          </p:nvPr>
        </p:nvSpPr>
        <p:spPr/>
        <p:txBody>
          <a:bodyPr/>
          <a:lstStyle/>
          <a:p>
            <a:fld id="{EFAEC03B-316C-4507-8207-D997BB28EB64}" type="slidenum">
              <a:rPr lang="zh-TW" altLang="en-US" smtClean="0"/>
              <a:t>8</a:t>
            </a:fld>
            <a:endParaRPr lang="zh-TW" altLang="en-US"/>
          </a:p>
        </p:txBody>
      </p:sp>
      <p:pic>
        <p:nvPicPr>
          <p:cNvPr id="6" name="圖片 5">
            <a:extLst>
              <a:ext uri="{FF2B5EF4-FFF2-40B4-BE49-F238E27FC236}">
                <a16:creationId xmlns:a16="http://schemas.microsoft.com/office/drawing/2014/main" id="{BE977F95-3EC1-8F0A-8C2B-5F377DA83866}"/>
              </a:ext>
            </a:extLst>
          </p:cNvPr>
          <p:cNvPicPr>
            <a:picLocks noChangeAspect="1"/>
          </p:cNvPicPr>
          <p:nvPr/>
        </p:nvPicPr>
        <p:blipFill>
          <a:blip r:embed="rId2"/>
          <a:stretch>
            <a:fillRect/>
          </a:stretch>
        </p:blipFill>
        <p:spPr>
          <a:xfrm>
            <a:off x="2736723" y="0"/>
            <a:ext cx="5741452" cy="6702731"/>
          </a:xfrm>
          <a:prstGeom prst="rect">
            <a:avLst/>
          </a:prstGeom>
        </p:spPr>
      </p:pic>
    </p:spTree>
    <p:extLst>
      <p:ext uri="{BB962C8B-B14F-4D97-AF65-F5344CB8AC3E}">
        <p14:creationId xmlns:p14="http://schemas.microsoft.com/office/powerpoint/2010/main" val="2476058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277A-687F-76D2-48D5-C6059E0B4D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5624941-FE7D-A0A7-56F0-91C663F33433}"/>
              </a:ext>
            </a:extLst>
          </p:cNvPr>
          <p:cNvSpPr>
            <a:spLocks noGrp="1"/>
          </p:cNvSpPr>
          <p:nvPr>
            <p:ph type="title"/>
          </p:nvPr>
        </p:nvSpPr>
        <p:spPr>
          <a:xfrm>
            <a:off x="942775" y="136525"/>
            <a:ext cx="10515600" cy="1325563"/>
          </a:xfrm>
        </p:spPr>
        <p:txBody>
          <a:bodyPr>
            <a:normAutofit/>
          </a:bodyPr>
          <a:lstStyle/>
          <a:p>
            <a:pPr algn="ctr"/>
            <a:r>
              <a:rPr lang="en-US" altLang="zh-TW" sz="48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Local Leader phase</a:t>
            </a:r>
          </a:p>
        </p:txBody>
      </p:sp>
      <p:sp>
        <p:nvSpPr>
          <p:cNvPr id="3" name="投影片編號版面配置區 2">
            <a:extLst>
              <a:ext uri="{FF2B5EF4-FFF2-40B4-BE49-F238E27FC236}">
                <a16:creationId xmlns:a16="http://schemas.microsoft.com/office/drawing/2014/main" id="{0490BFA9-2E4B-8E2E-8E0A-7E6419523F33}"/>
              </a:ext>
            </a:extLst>
          </p:cNvPr>
          <p:cNvSpPr>
            <a:spLocks noGrp="1"/>
          </p:cNvSpPr>
          <p:nvPr>
            <p:ph type="sldNum" sz="quarter" idx="12"/>
          </p:nvPr>
        </p:nvSpPr>
        <p:spPr/>
        <p:txBody>
          <a:bodyPr/>
          <a:lstStyle/>
          <a:p>
            <a:fld id="{EFAEC03B-316C-4507-8207-D997BB28EB64}" type="slidenum">
              <a:rPr lang="zh-TW" altLang="en-US" smtClean="0"/>
              <a:t>9</a:t>
            </a:fld>
            <a:endParaRPr lang="zh-TW" altLang="en-US" dirty="0"/>
          </a:p>
        </p:txBody>
      </p:sp>
      <p:sp>
        <p:nvSpPr>
          <p:cNvPr id="7" name="內容版面配置區 6">
            <a:extLst>
              <a:ext uri="{FF2B5EF4-FFF2-40B4-BE49-F238E27FC236}">
                <a16:creationId xmlns:a16="http://schemas.microsoft.com/office/drawing/2014/main" id="{C15825DB-F76F-4782-0861-DD98604C85D1}"/>
              </a:ext>
            </a:extLst>
          </p:cNvPr>
          <p:cNvSpPr>
            <a:spLocks noGrp="1"/>
          </p:cNvSpPr>
          <p:nvPr>
            <p:ph idx="1"/>
          </p:nvPr>
        </p:nvSpPr>
        <p:spPr>
          <a:xfrm>
            <a:off x="610761" y="1847850"/>
            <a:ext cx="11179629" cy="4351338"/>
          </a:xfrm>
        </p:spPr>
        <p:txBody>
          <a:bodyPr/>
          <a:lstStyle/>
          <a:p>
            <a:pPr marL="0" indent="0">
              <a:buNone/>
            </a:pPr>
            <a:r>
              <a:rPr lang="en-US" altLang="zh-TW" sz="2400" dirty="0">
                <a:latin typeface="Times New Roman" panose="02020603050405020304" pitchFamily="18" charset="0"/>
                <a:cs typeface="Times New Roman" panose="02020603050405020304" pitchFamily="18" charset="0"/>
              </a:rPr>
              <a:t>           </a:t>
            </a:r>
          </a:p>
          <a:p>
            <a:pPr marL="0" indent="0">
              <a:buNone/>
            </a:pPr>
            <a:endParaRPr lang="en-US" altLang="zh-TW" sz="24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altLang="zh-TW"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54087C22-34AA-60B8-4F51-490A80FD208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3D81718B-1108-4621-7F0F-9BE08E979CC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728D8A3F-909C-679A-BBCA-57447ECA1099}"/>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5" name="文字方塊 4">
            <a:extLst>
              <a:ext uri="{FF2B5EF4-FFF2-40B4-BE49-F238E27FC236}">
                <a16:creationId xmlns:a16="http://schemas.microsoft.com/office/drawing/2014/main" id="{D6A7B7C1-DC12-AD48-D2A6-8450200A7E40}"/>
              </a:ext>
            </a:extLst>
          </p:cNvPr>
          <p:cNvSpPr txBox="1"/>
          <p:nvPr/>
        </p:nvSpPr>
        <p:spPr>
          <a:xfrm>
            <a:off x="610761" y="1388417"/>
            <a:ext cx="11513975" cy="461665"/>
          </a:xfrm>
          <a:prstGeom prst="rect">
            <a:avLst/>
          </a:prstGeom>
          <a:noFill/>
        </p:spPr>
        <p:txBody>
          <a:bodyPr wrap="square" rtlCol="0">
            <a:spAutoFit/>
          </a:bodyPr>
          <a:lstStyle/>
          <a:p>
            <a:pPr marL="457200" indent="-4572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Update position based on local leader and group member experience</a:t>
            </a:r>
            <a:endParaRPr lang="zh-TW" altLang="en-US" sz="2400"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824C071B-AEC2-58B7-DCA3-A6F67FE5B392}"/>
              </a:ext>
            </a:extLst>
          </p:cNvPr>
          <p:cNvPicPr>
            <a:picLocks noChangeAspect="1"/>
          </p:cNvPicPr>
          <p:nvPr/>
        </p:nvPicPr>
        <p:blipFill>
          <a:blip r:embed="rId2"/>
          <a:stretch>
            <a:fillRect/>
          </a:stretch>
        </p:blipFill>
        <p:spPr>
          <a:xfrm>
            <a:off x="2675852" y="2233785"/>
            <a:ext cx="6499032" cy="3579467"/>
          </a:xfrm>
          <a:prstGeom prst="rect">
            <a:avLst/>
          </a:prstGeom>
        </p:spPr>
      </p:pic>
      <p:sp>
        <p:nvSpPr>
          <p:cNvPr id="8" name="橢圓 7">
            <a:extLst>
              <a:ext uri="{FF2B5EF4-FFF2-40B4-BE49-F238E27FC236}">
                <a16:creationId xmlns:a16="http://schemas.microsoft.com/office/drawing/2014/main" id="{F67A84F2-77F2-DF1F-E87B-BA5D441DA386}"/>
              </a:ext>
            </a:extLst>
          </p:cNvPr>
          <p:cNvSpPr/>
          <p:nvPr/>
        </p:nvSpPr>
        <p:spPr>
          <a:xfrm>
            <a:off x="4935508" y="3552909"/>
            <a:ext cx="1979720" cy="719091"/>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a:extLst>
              <a:ext uri="{FF2B5EF4-FFF2-40B4-BE49-F238E27FC236}">
                <a16:creationId xmlns:a16="http://schemas.microsoft.com/office/drawing/2014/main" id="{B6200DA4-158A-B1D9-8CB8-3285C0207C02}"/>
              </a:ext>
            </a:extLst>
          </p:cNvPr>
          <p:cNvSpPr/>
          <p:nvPr/>
        </p:nvSpPr>
        <p:spPr>
          <a:xfrm>
            <a:off x="7065537" y="3553822"/>
            <a:ext cx="2086965" cy="719091"/>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263886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277A-687F-76D2-48D5-C6059E0B4D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5624941-FE7D-A0A7-56F0-91C663F33433}"/>
              </a:ext>
            </a:extLst>
          </p:cNvPr>
          <p:cNvSpPr>
            <a:spLocks noGrp="1"/>
          </p:cNvSpPr>
          <p:nvPr>
            <p:ph type="title"/>
          </p:nvPr>
        </p:nvSpPr>
        <p:spPr>
          <a:xfrm>
            <a:off x="836802" y="126579"/>
            <a:ext cx="10515600" cy="1325563"/>
          </a:xfrm>
        </p:spPr>
        <p:txBody>
          <a:bodyPr>
            <a:normAutofit/>
          </a:bodyPr>
          <a:lstStyle/>
          <a:p>
            <a:pPr algn="ctr"/>
            <a:r>
              <a:rPr lang="en-US" altLang="zh-TW" sz="48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Global Leader phase</a:t>
            </a:r>
          </a:p>
        </p:txBody>
      </p:sp>
      <p:sp>
        <p:nvSpPr>
          <p:cNvPr id="3" name="投影片編號版面配置區 2">
            <a:extLst>
              <a:ext uri="{FF2B5EF4-FFF2-40B4-BE49-F238E27FC236}">
                <a16:creationId xmlns:a16="http://schemas.microsoft.com/office/drawing/2014/main" id="{0490BFA9-2E4B-8E2E-8E0A-7E6419523F33}"/>
              </a:ext>
            </a:extLst>
          </p:cNvPr>
          <p:cNvSpPr>
            <a:spLocks noGrp="1"/>
          </p:cNvSpPr>
          <p:nvPr>
            <p:ph type="sldNum" sz="quarter" idx="12"/>
          </p:nvPr>
        </p:nvSpPr>
        <p:spPr/>
        <p:txBody>
          <a:bodyPr/>
          <a:lstStyle/>
          <a:p>
            <a:fld id="{EFAEC03B-316C-4507-8207-D997BB28EB64}" type="slidenum">
              <a:rPr lang="zh-TW" altLang="en-US" smtClean="0"/>
              <a:t>10</a:t>
            </a:fld>
            <a:endParaRPr lang="zh-TW" altLang="en-US" dirty="0"/>
          </a:p>
        </p:txBody>
      </p:sp>
      <p:sp>
        <p:nvSpPr>
          <p:cNvPr id="7" name="內容版面配置區 6">
            <a:extLst>
              <a:ext uri="{FF2B5EF4-FFF2-40B4-BE49-F238E27FC236}">
                <a16:creationId xmlns:a16="http://schemas.microsoft.com/office/drawing/2014/main" id="{C15825DB-F76F-4782-0861-DD98604C85D1}"/>
              </a:ext>
            </a:extLst>
          </p:cNvPr>
          <p:cNvSpPr>
            <a:spLocks noGrp="1"/>
          </p:cNvSpPr>
          <p:nvPr>
            <p:ph idx="1"/>
          </p:nvPr>
        </p:nvSpPr>
        <p:spPr>
          <a:xfrm>
            <a:off x="610761" y="1847850"/>
            <a:ext cx="11179629" cy="4351338"/>
          </a:xfrm>
        </p:spPr>
        <p:txBody>
          <a:bodyPr/>
          <a:lstStyle/>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altLang="zh-TW"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54087C22-34AA-60B8-4F51-490A80FD208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3D81718B-1108-4621-7F0F-9BE08E979CC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728D8A3F-909C-679A-BBCA-57447ECA1099}"/>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5" name="文字方塊 4">
            <a:extLst>
              <a:ext uri="{FF2B5EF4-FFF2-40B4-BE49-F238E27FC236}">
                <a16:creationId xmlns:a16="http://schemas.microsoft.com/office/drawing/2014/main" id="{D6A7B7C1-DC12-AD48-D2A6-8450200A7E40}"/>
              </a:ext>
            </a:extLst>
          </p:cNvPr>
          <p:cNvSpPr txBox="1"/>
          <p:nvPr/>
        </p:nvSpPr>
        <p:spPr>
          <a:xfrm>
            <a:off x="610761" y="1327476"/>
            <a:ext cx="11513975" cy="461665"/>
          </a:xfrm>
          <a:prstGeom prst="rect">
            <a:avLst/>
          </a:prstGeom>
          <a:noFill/>
        </p:spPr>
        <p:txBody>
          <a:bodyPr wrap="square" rtlCol="0">
            <a:spAutoFit/>
          </a:bodyPr>
          <a:lstStyle/>
          <a:p>
            <a:pPr marL="457200" indent="-4572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Update position based on global leader and group member experience</a:t>
            </a:r>
            <a:endParaRPr lang="zh-TW" altLang="en-US" sz="2400" dirty="0">
              <a:latin typeface="Times New Roman" panose="02020603050405020304" pitchFamily="18" charset="0"/>
              <a:cs typeface="Times New Roman" panose="02020603050405020304" pitchFamily="18" charset="0"/>
            </a:endParaRPr>
          </a:p>
        </p:txBody>
      </p:sp>
      <p:pic>
        <p:nvPicPr>
          <p:cNvPr id="12" name="圖片 11">
            <a:extLst>
              <a:ext uri="{FF2B5EF4-FFF2-40B4-BE49-F238E27FC236}">
                <a16:creationId xmlns:a16="http://schemas.microsoft.com/office/drawing/2014/main" id="{E5F4D68D-CEE2-7014-09B8-78DC17AF560D}"/>
              </a:ext>
            </a:extLst>
          </p:cNvPr>
          <p:cNvPicPr>
            <a:picLocks noChangeAspect="1"/>
          </p:cNvPicPr>
          <p:nvPr/>
        </p:nvPicPr>
        <p:blipFill>
          <a:blip r:embed="rId2"/>
          <a:stretch>
            <a:fillRect/>
          </a:stretch>
        </p:blipFill>
        <p:spPr>
          <a:xfrm>
            <a:off x="3281239" y="1847850"/>
            <a:ext cx="5626726" cy="4961199"/>
          </a:xfrm>
          <a:prstGeom prst="rect">
            <a:avLst/>
          </a:prstGeom>
        </p:spPr>
      </p:pic>
      <p:sp>
        <p:nvSpPr>
          <p:cNvPr id="16" name="橢圓 15">
            <a:extLst>
              <a:ext uri="{FF2B5EF4-FFF2-40B4-BE49-F238E27FC236}">
                <a16:creationId xmlns:a16="http://schemas.microsoft.com/office/drawing/2014/main" id="{DA1B15D5-6401-1D63-362E-8CDD1D4732D5}"/>
              </a:ext>
            </a:extLst>
          </p:cNvPr>
          <p:cNvSpPr/>
          <p:nvPr/>
        </p:nvSpPr>
        <p:spPr>
          <a:xfrm>
            <a:off x="5100262" y="4672553"/>
            <a:ext cx="1819841" cy="423229"/>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橢圓 16">
            <a:extLst>
              <a:ext uri="{FF2B5EF4-FFF2-40B4-BE49-F238E27FC236}">
                <a16:creationId xmlns:a16="http://schemas.microsoft.com/office/drawing/2014/main" id="{910930D2-1A0D-D001-F42D-A71150AE9860}"/>
              </a:ext>
            </a:extLst>
          </p:cNvPr>
          <p:cNvSpPr/>
          <p:nvPr/>
        </p:nvSpPr>
        <p:spPr>
          <a:xfrm>
            <a:off x="6972763" y="4716473"/>
            <a:ext cx="1882542" cy="335388"/>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28801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277A-687F-76D2-48D5-C6059E0B4D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5624941-FE7D-A0A7-56F0-91C663F33433}"/>
              </a:ext>
            </a:extLst>
          </p:cNvPr>
          <p:cNvSpPr>
            <a:spLocks noGrp="1"/>
          </p:cNvSpPr>
          <p:nvPr>
            <p:ph type="title"/>
          </p:nvPr>
        </p:nvSpPr>
        <p:spPr>
          <a:xfrm>
            <a:off x="942775" y="658812"/>
            <a:ext cx="10515600" cy="1325563"/>
          </a:xfrm>
        </p:spPr>
        <p:txBody>
          <a:bodyPr>
            <a:normAutofit/>
          </a:bodyPr>
          <a:lstStyle/>
          <a:p>
            <a:pPr algn="ctr"/>
            <a:r>
              <a:rPr lang="en-US" altLang="zh-TW" sz="48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Local/Global Leader Learning phase </a:t>
            </a:r>
            <a:endParaRPr lang="zh-TW" altLang="en-US" sz="48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0490BFA9-2E4B-8E2E-8E0A-7E6419523F33}"/>
              </a:ext>
            </a:extLst>
          </p:cNvPr>
          <p:cNvSpPr>
            <a:spLocks noGrp="1"/>
          </p:cNvSpPr>
          <p:nvPr>
            <p:ph type="sldNum" sz="quarter" idx="12"/>
          </p:nvPr>
        </p:nvSpPr>
        <p:spPr/>
        <p:txBody>
          <a:bodyPr/>
          <a:lstStyle/>
          <a:p>
            <a:fld id="{EFAEC03B-316C-4507-8207-D997BB28EB64}" type="slidenum">
              <a:rPr lang="zh-TW" altLang="en-US" smtClean="0"/>
              <a:t>11</a:t>
            </a:fld>
            <a:endParaRPr lang="zh-TW" altLang="en-US" dirty="0"/>
          </a:p>
        </p:txBody>
      </p:sp>
      <p:sp>
        <p:nvSpPr>
          <p:cNvPr id="7" name="內容版面配置區 6">
            <a:extLst>
              <a:ext uri="{FF2B5EF4-FFF2-40B4-BE49-F238E27FC236}">
                <a16:creationId xmlns:a16="http://schemas.microsoft.com/office/drawing/2014/main" id="{C15825DB-F76F-4782-0861-DD98604C85D1}"/>
              </a:ext>
            </a:extLst>
          </p:cNvPr>
          <p:cNvSpPr>
            <a:spLocks noGrp="1"/>
          </p:cNvSpPr>
          <p:nvPr>
            <p:ph idx="1"/>
          </p:nvPr>
        </p:nvSpPr>
        <p:spPr>
          <a:xfrm>
            <a:off x="610761" y="1847850"/>
            <a:ext cx="11179629" cy="4351338"/>
          </a:xfrm>
        </p:spPr>
        <p:txBody>
          <a:bodyPr/>
          <a:lstStyle/>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altLang="zh-TW"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54087C22-34AA-60B8-4F51-490A80FD208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3D81718B-1108-4621-7F0F-9BE08E979CC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728D8A3F-909C-679A-BBCA-57447ECA1099}"/>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5" name="文字方塊 4">
            <a:extLst>
              <a:ext uri="{FF2B5EF4-FFF2-40B4-BE49-F238E27FC236}">
                <a16:creationId xmlns:a16="http://schemas.microsoft.com/office/drawing/2014/main" id="{D6A7B7C1-DC12-AD48-D2A6-8450200A7E40}"/>
              </a:ext>
            </a:extLst>
          </p:cNvPr>
          <p:cNvSpPr txBox="1"/>
          <p:nvPr/>
        </p:nvSpPr>
        <p:spPr>
          <a:xfrm>
            <a:off x="610761" y="2141537"/>
            <a:ext cx="11513975" cy="461665"/>
          </a:xfrm>
          <a:prstGeom prst="rect">
            <a:avLst/>
          </a:prstGeom>
          <a:noFill/>
        </p:spPr>
        <p:txBody>
          <a:bodyPr wrap="square" rtlCol="0">
            <a:spAutoFit/>
          </a:bodyPr>
          <a:lstStyle/>
          <a:p>
            <a:pPr marL="457200" indent="-4572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Update Leader position by applying the greedy selection in the population</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89019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277A-687F-76D2-48D5-C6059E0B4D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5624941-FE7D-A0A7-56F0-91C663F33433}"/>
              </a:ext>
            </a:extLst>
          </p:cNvPr>
          <p:cNvSpPr>
            <a:spLocks noGrp="1"/>
          </p:cNvSpPr>
          <p:nvPr>
            <p:ph type="title"/>
          </p:nvPr>
        </p:nvSpPr>
        <p:spPr>
          <a:xfrm>
            <a:off x="1109948" y="268194"/>
            <a:ext cx="10515600" cy="1325563"/>
          </a:xfrm>
        </p:spPr>
        <p:txBody>
          <a:bodyPr>
            <a:normAutofit/>
          </a:bodyPr>
          <a:lstStyle/>
          <a:p>
            <a:pPr algn="ctr"/>
            <a:r>
              <a:rPr lang="en-US" altLang="zh-TW" sz="48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Local Leader Decision phase</a:t>
            </a:r>
          </a:p>
        </p:txBody>
      </p:sp>
      <p:sp>
        <p:nvSpPr>
          <p:cNvPr id="3" name="投影片編號版面配置區 2">
            <a:extLst>
              <a:ext uri="{FF2B5EF4-FFF2-40B4-BE49-F238E27FC236}">
                <a16:creationId xmlns:a16="http://schemas.microsoft.com/office/drawing/2014/main" id="{0490BFA9-2E4B-8E2E-8E0A-7E6419523F33}"/>
              </a:ext>
            </a:extLst>
          </p:cNvPr>
          <p:cNvSpPr>
            <a:spLocks noGrp="1"/>
          </p:cNvSpPr>
          <p:nvPr>
            <p:ph type="sldNum" sz="quarter" idx="12"/>
          </p:nvPr>
        </p:nvSpPr>
        <p:spPr/>
        <p:txBody>
          <a:bodyPr/>
          <a:lstStyle/>
          <a:p>
            <a:fld id="{EFAEC03B-316C-4507-8207-D997BB28EB64}" type="slidenum">
              <a:rPr lang="zh-TW" altLang="en-US" smtClean="0"/>
              <a:t>12</a:t>
            </a:fld>
            <a:endParaRPr lang="zh-TW" altLang="en-US" dirty="0"/>
          </a:p>
        </p:txBody>
      </p:sp>
      <p:sp>
        <p:nvSpPr>
          <p:cNvPr id="7" name="內容版面配置區 6">
            <a:extLst>
              <a:ext uri="{FF2B5EF4-FFF2-40B4-BE49-F238E27FC236}">
                <a16:creationId xmlns:a16="http://schemas.microsoft.com/office/drawing/2014/main" id="{C15825DB-F76F-4782-0861-DD98604C85D1}"/>
              </a:ext>
            </a:extLst>
          </p:cNvPr>
          <p:cNvSpPr>
            <a:spLocks noGrp="1"/>
          </p:cNvSpPr>
          <p:nvPr>
            <p:ph idx="1"/>
          </p:nvPr>
        </p:nvSpPr>
        <p:spPr>
          <a:xfrm>
            <a:off x="610761" y="1847850"/>
            <a:ext cx="11179629" cy="4351338"/>
          </a:xfrm>
        </p:spPr>
        <p:txBody>
          <a:bodyPr/>
          <a:lstStyle/>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altLang="zh-TW"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54087C22-34AA-60B8-4F51-490A80FD208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3D81718B-1108-4621-7F0F-9BE08E979CC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728D8A3F-909C-679A-BBCA-57447ECA1099}"/>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5" name="文字方塊 4">
            <a:extLst>
              <a:ext uri="{FF2B5EF4-FFF2-40B4-BE49-F238E27FC236}">
                <a16:creationId xmlns:a16="http://schemas.microsoft.com/office/drawing/2014/main" id="{D6A7B7C1-DC12-AD48-D2A6-8450200A7E40}"/>
              </a:ext>
            </a:extLst>
          </p:cNvPr>
          <p:cNvSpPr txBox="1"/>
          <p:nvPr/>
        </p:nvSpPr>
        <p:spPr>
          <a:xfrm>
            <a:off x="878072" y="1985738"/>
            <a:ext cx="11649301" cy="830997"/>
          </a:xfrm>
          <a:prstGeom prst="rect">
            <a:avLst/>
          </a:prstGeom>
          <a:noFill/>
        </p:spPr>
        <p:txBody>
          <a:bodyPr wrap="square" rtlCol="0">
            <a:spAutoFit/>
          </a:bodyPr>
          <a:lstStyle/>
          <a:p>
            <a:pPr marL="457200" indent="-4572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Local Leader position not update for a long time…</a:t>
            </a:r>
          </a:p>
          <a:p>
            <a:pPr marL="457200" indent="-457200">
              <a:buFont typeface="Arial" panose="020B0604020202020204" pitchFamily="34" charset="0"/>
              <a:buChar char="•"/>
            </a:pPr>
            <a:endParaRPr lang="zh-TW" altLang="en-US" sz="2400"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1B502998-215C-8C0E-F64B-3B563CCE51DC}"/>
              </a:ext>
            </a:extLst>
          </p:cNvPr>
          <p:cNvSpPr txBox="1"/>
          <p:nvPr/>
        </p:nvSpPr>
        <p:spPr>
          <a:xfrm>
            <a:off x="878072" y="3096615"/>
            <a:ext cx="10133045" cy="1200329"/>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Group member update position by</a:t>
            </a:r>
          </a:p>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Random</a:t>
            </a:r>
          </a:p>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Attracted towards global leader and repel from the local leader</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0479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CA7E1F53-BD9F-C986-ACCA-3F57D3EFDB8C}"/>
              </a:ext>
            </a:extLst>
          </p:cNvPr>
          <p:cNvSpPr>
            <a:spLocks noGrp="1"/>
          </p:cNvSpPr>
          <p:nvPr>
            <p:ph type="sldNum" sz="quarter" idx="12"/>
          </p:nvPr>
        </p:nvSpPr>
        <p:spPr/>
        <p:txBody>
          <a:bodyPr/>
          <a:lstStyle/>
          <a:p>
            <a:fld id="{EFAEC03B-316C-4507-8207-D997BB28EB64}" type="slidenum">
              <a:rPr lang="zh-TW" altLang="en-US" smtClean="0"/>
              <a:t>13</a:t>
            </a:fld>
            <a:endParaRPr lang="zh-TW" altLang="en-US"/>
          </a:p>
        </p:txBody>
      </p:sp>
      <p:pic>
        <p:nvPicPr>
          <p:cNvPr id="8" name="圖片 7">
            <a:extLst>
              <a:ext uri="{FF2B5EF4-FFF2-40B4-BE49-F238E27FC236}">
                <a16:creationId xmlns:a16="http://schemas.microsoft.com/office/drawing/2014/main" id="{F51BBD19-30CF-BF2E-FB86-6D12E29785A2}"/>
              </a:ext>
            </a:extLst>
          </p:cNvPr>
          <p:cNvPicPr>
            <a:picLocks noChangeAspect="1"/>
          </p:cNvPicPr>
          <p:nvPr/>
        </p:nvPicPr>
        <p:blipFill>
          <a:blip r:embed="rId2"/>
          <a:stretch>
            <a:fillRect/>
          </a:stretch>
        </p:blipFill>
        <p:spPr>
          <a:xfrm>
            <a:off x="2469151" y="799260"/>
            <a:ext cx="7253698" cy="5259479"/>
          </a:xfrm>
          <a:prstGeom prst="rect">
            <a:avLst/>
          </a:prstGeom>
        </p:spPr>
      </p:pic>
      <p:sp>
        <p:nvSpPr>
          <p:cNvPr id="3" name="橢圓 2">
            <a:extLst>
              <a:ext uri="{FF2B5EF4-FFF2-40B4-BE49-F238E27FC236}">
                <a16:creationId xmlns:a16="http://schemas.microsoft.com/office/drawing/2014/main" id="{67D251B3-1538-7794-29A7-5BCBD23C0008}"/>
              </a:ext>
            </a:extLst>
          </p:cNvPr>
          <p:cNvSpPr/>
          <p:nvPr/>
        </p:nvSpPr>
        <p:spPr>
          <a:xfrm>
            <a:off x="2875889" y="1369003"/>
            <a:ext cx="3915528" cy="672862"/>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563692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277A-687F-76D2-48D5-C6059E0B4D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5624941-FE7D-A0A7-56F0-91C663F33433}"/>
              </a:ext>
            </a:extLst>
          </p:cNvPr>
          <p:cNvSpPr>
            <a:spLocks noGrp="1"/>
          </p:cNvSpPr>
          <p:nvPr>
            <p:ph type="title"/>
          </p:nvPr>
        </p:nvSpPr>
        <p:spPr>
          <a:xfrm>
            <a:off x="1109948" y="268194"/>
            <a:ext cx="10515600" cy="1325563"/>
          </a:xfrm>
        </p:spPr>
        <p:txBody>
          <a:bodyPr>
            <a:normAutofit/>
          </a:bodyPr>
          <a:lstStyle/>
          <a:p>
            <a:pPr algn="ctr"/>
            <a:r>
              <a:rPr lang="en-US" altLang="zh-TW" sz="48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Global Leader Decision phase</a:t>
            </a:r>
          </a:p>
        </p:txBody>
      </p:sp>
      <p:sp>
        <p:nvSpPr>
          <p:cNvPr id="3" name="投影片編號版面配置區 2">
            <a:extLst>
              <a:ext uri="{FF2B5EF4-FFF2-40B4-BE49-F238E27FC236}">
                <a16:creationId xmlns:a16="http://schemas.microsoft.com/office/drawing/2014/main" id="{0490BFA9-2E4B-8E2E-8E0A-7E6419523F33}"/>
              </a:ext>
            </a:extLst>
          </p:cNvPr>
          <p:cNvSpPr>
            <a:spLocks noGrp="1"/>
          </p:cNvSpPr>
          <p:nvPr>
            <p:ph type="sldNum" sz="quarter" idx="12"/>
          </p:nvPr>
        </p:nvSpPr>
        <p:spPr/>
        <p:txBody>
          <a:bodyPr/>
          <a:lstStyle/>
          <a:p>
            <a:fld id="{EFAEC03B-316C-4507-8207-D997BB28EB64}" type="slidenum">
              <a:rPr lang="zh-TW" altLang="en-US" smtClean="0"/>
              <a:t>14</a:t>
            </a:fld>
            <a:endParaRPr lang="zh-TW" altLang="en-US" dirty="0"/>
          </a:p>
        </p:txBody>
      </p:sp>
      <p:sp>
        <p:nvSpPr>
          <p:cNvPr id="7" name="內容版面配置區 6">
            <a:extLst>
              <a:ext uri="{FF2B5EF4-FFF2-40B4-BE49-F238E27FC236}">
                <a16:creationId xmlns:a16="http://schemas.microsoft.com/office/drawing/2014/main" id="{C15825DB-F76F-4782-0861-DD98604C85D1}"/>
              </a:ext>
            </a:extLst>
          </p:cNvPr>
          <p:cNvSpPr>
            <a:spLocks noGrp="1"/>
          </p:cNvSpPr>
          <p:nvPr>
            <p:ph idx="1"/>
          </p:nvPr>
        </p:nvSpPr>
        <p:spPr>
          <a:xfrm>
            <a:off x="610761" y="1847850"/>
            <a:ext cx="11179629" cy="4351338"/>
          </a:xfrm>
        </p:spPr>
        <p:txBody>
          <a:bodyPr/>
          <a:lstStyle/>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altLang="zh-TW"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54087C22-34AA-60B8-4F51-490A80FD208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3D81718B-1108-4621-7F0F-9BE08E979CC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728D8A3F-909C-679A-BBCA-57447ECA1099}"/>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5" name="文字方塊 4">
            <a:extLst>
              <a:ext uri="{FF2B5EF4-FFF2-40B4-BE49-F238E27FC236}">
                <a16:creationId xmlns:a16="http://schemas.microsoft.com/office/drawing/2014/main" id="{D6A7B7C1-DC12-AD48-D2A6-8450200A7E40}"/>
              </a:ext>
            </a:extLst>
          </p:cNvPr>
          <p:cNvSpPr txBox="1"/>
          <p:nvPr/>
        </p:nvSpPr>
        <p:spPr>
          <a:xfrm>
            <a:off x="878072" y="1827235"/>
            <a:ext cx="11649301" cy="830997"/>
          </a:xfrm>
          <a:prstGeom prst="rect">
            <a:avLst/>
          </a:prstGeom>
          <a:noFill/>
        </p:spPr>
        <p:txBody>
          <a:bodyPr wrap="square" rtlCol="0">
            <a:spAutoFit/>
          </a:bodyPr>
          <a:lstStyle/>
          <a:p>
            <a:pPr marL="457200" indent="-4572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Global Leader position not update for a long time…</a:t>
            </a:r>
          </a:p>
          <a:p>
            <a:pPr marL="457200" indent="-457200">
              <a:buFont typeface="Arial" panose="020B0604020202020204" pitchFamily="34" charset="0"/>
              <a:buChar char="•"/>
            </a:pPr>
            <a:endParaRPr lang="zh-TW" altLang="en-US" sz="2400"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1B502998-215C-8C0E-F64B-3B563CCE51DC}"/>
              </a:ext>
            </a:extLst>
          </p:cNvPr>
          <p:cNvSpPr txBox="1"/>
          <p:nvPr/>
        </p:nvSpPr>
        <p:spPr>
          <a:xfrm>
            <a:off x="878072" y="2628216"/>
            <a:ext cx="10133045" cy="1200329"/>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Group member update position by</a:t>
            </a:r>
          </a:p>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Divide the swarms into groups</a:t>
            </a:r>
          </a:p>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Combine all the groups to make a single group</a:t>
            </a:r>
            <a:endParaRPr lang="zh-TW" altLang="en-US" sz="2400" dirty="0">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D56A2B6E-F58B-8201-1B38-6E08B762D460}"/>
              </a:ext>
            </a:extLst>
          </p:cNvPr>
          <p:cNvPicPr>
            <a:picLocks noChangeAspect="1"/>
          </p:cNvPicPr>
          <p:nvPr/>
        </p:nvPicPr>
        <p:blipFill>
          <a:blip r:embed="rId2"/>
          <a:stretch>
            <a:fillRect/>
          </a:stretch>
        </p:blipFill>
        <p:spPr>
          <a:xfrm>
            <a:off x="3114044" y="4023519"/>
            <a:ext cx="6173061" cy="2781688"/>
          </a:xfrm>
          <a:prstGeom prst="rect">
            <a:avLst/>
          </a:prstGeom>
        </p:spPr>
      </p:pic>
      <p:sp>
        <p:nvSpPr>
          <p:cNvPr id="9" name="橢圓 8">
            <a:extLst>
              <a:ext uri="{FF2B5EF4-FFF2-40B4-BE49-F238E27FC236}">
                <a16:creationId xmlns:a16="http://schemas.microsoft.com/office/drawing/2014/main" id="{4EADB55F-64B7-D7C0-62D2-358D9743204A}"/>
              </a:ext>
            </a:extLst>
          </p:cNvPr>
          <p:cNvSpPr/>
          <p:nvPr/>
        </p:nvSpPr>
        <p:spPr>
          <a:xfrm>
            <a:off x="3461203" y="4203389"/>
            <a:ext cx="4217981" cy="608308"/>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236065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277A-687F-76D2-48D5-C6059E0B4D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5624941-FE7D-A0A7-56F0-91C663F33433}"/>
              </a:ext>
            </a:extLst>
          </p:cNvPr>
          <p:cNvSpPr>
            <a:spLocks noGrp="1"/>
          </p:cNvSpPr>
          <p:nvPr>
            <p:ph type="title"/>
          </p:nvPr>
        </p:nvSpPr>
        <p:spPr>
          <a:xfrm>
            <a:off x="942775" y="395118"/>
            <a:ext cx="10515600" cy="1325563"/>
          </a:xfrm>
        </p:spPr>
        <p:txBody>
          <a:bodyPr>
            <a:normAutofit/>
          </a:bodyPr>
          <a:lstStyle/>
          <a:p>
            <a:pPr algn="ctr"/>
            <a:r>
              <a:rPr lang="en-US" altLang="zh-TW" sz="48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Experiments</a:t>
            </a:r>
            <a:endParaRPr lang="zh-TW" altLang="en-US" sz="48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0490BFA9-2E4B-8E2E-8E0A-7E6419523F33}"/>
              </a:ext>
            </a:extLst>
          </p:cNvPr>
          <p:cNvSpPr>
            <a:spLocks noGrp="1"/>
          </p:cNvSpPr>
          <p:nvPr>
            <p:ph type="sldNum" sz="quarter" idx="12"/>
          </p:nvPr>
        </p:nvSpPr>
        <p:spPr/>
        <p:txBody>
          <a:bodyPr/>
          <a:lstStyle/>
          <a:p>
            <a:fld id="{EFAEC03B-316C-4507-8207-D997BB28EB64}" type="slidenum">
              <a:rPr lang="zh-TW" altLang="en-US" smtClean="0"/>
              <a:t>15</a:t>
            </a:fld>
            <a:endParaRPr lang="zh-TW" altLang="en-US" dirty="0"/>
          </a:p>
        </p:txBody>
      </p:sp>
      <p:sp>
        <p:nvSpPr>
          <p:cNvPr id="7" name="內容版面配置區 6">
            <a:extLst>
              <a:ext uri="{FF2B5EF4-FFF2-40B4-BE49-F238E27FC236}">
                <a16:creationId xmlns:a16="http://schemas.microsoft.com/office/drawing/2014/main" id="{C15825DB-F76F-4782-0861-DD98604C85D1}"/>
              </a:ext>
            </a:extLst>
          </p:cNvPr>
          <p:cNvSpPr>
            <a:spLocks noGrp="1"/>
          </p:cNvSpPr>
          <p:nvPr>
            <p:ph idx="1"/>
          </p:nvPr>
        </p:nvSpPr>
        <p:spPr>
          <a:xfrm>
            <a:off x="610761" y="1847850"/>
            <a:ext cx="11179629" cy="4351338"/>
          </a:xfrm>
        </p:spPr>
        <p:txBody>
          <a:bodyPr/>
          <a:lstStyle/>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54087C22-34AA-60B8-4F51-490A80FD208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3D81718B-1108-4621-7F0F-9BE08E979CC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728D8A3F-909C-679A-BBCA-57447ECA1099}"/>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pic>
        <p:nvPicPr>
          <p:cNvPr id="6" name="圖片 5">
            <a:extLst>
              <a:ext uri="{FF2B5EF4-FFF2-40B4-BE49-F238E27FC236}">
                <a16:creationId xmlns:a16="http://schemas.microsoft.com/office/drawing/2014/main" id="{24392D7D-AC83-D702-9AE3-AE0184FC88D2}"/>
              </a:ext>
            </a:extLst>
          </p:cNvPr>
          <p:cNvPicPr>
            <a:picLocks noChangeAspect="1"/>
          </p:cNvPicPr>
          <p:nvPr/>
        </p:nvPicPr>
        <p:blipFill>
          <a:blip r:embed="rId2"/>
          <a:stretch>
            <a:fillRect/>
          </a:stretch>
        </p:blipFill>
        <p:spPr>
          <a:xfrm>
            <a:off x="3103235" y="1997875"/>
            <a:ext cx="5982734" cy="2288421"/>
          </a:xfrm>
          <a:prstGeom prst="rect">
            <a:avLst/>
          </a:prstGeom>
        </p:spPr>
      </p:pic>
      <p:pic>
        <p:nvPicPr>
          <p:cNvPr id="9" name="圖片 8">
            <a:extLst>
              <a:ext uri="{FF2B5EF4-FFF2-40B4-BE49-F238E27FC236}">
                <a16:creationId xmlns:a16="http://schemas.microsoft.com/office/drawing/2014/main" id="{50BF7A03-66B9-8D13-49D5-AE8ACC348CD8}"/>
              </a:ext>
            </a:extLst>
          </p:cNvPr>
          <p:cNvPicPr>
            <a:picLocks noChangeAspect="1"/>
          </p:cNvPicPr>
          <p:nvPr/>
        </p:nvPicPr>
        <p:blipFill>
          <a:blip r:embed="rId3"/>
          <a:stretch>
            <a:fillRect/>
          </a:stretch>
        </p:blipFill>
        <p:spPr>
          <a:xfrm>
            <a:off x="3103235" y="4527134"/>
            <a:ext cx="6517350" cy="1672054"/>
          </a:xfrm>
          <a:prstGeom prst="rect">
            <a:avLst/>
          </a:prstGeom>
        </p:spPr>
      </p:pic>
    </p:spTree>
    <p:extLst>
      <p:ext uri="{BB962C8B-B14F-4D97-AF65-F5344CB8AC3E}">
        <p14:creationId xmlns:p14="http://schemas.microsoft.com/office/powerpoint/2010/main" val="9190966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277A-687F-76D2-48D5-C6059E0B4D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5624941-FE7D-A0A7-56F0-91C663F33433}"/>
              </a:ext>
            </a:extLst>
          </p:cNvPr>
          <p:cNvSpPr>
            <a:spLocks noGrp="1"/>
          </p:cNvSpPr>
          <p:nvPr>
            <p:ph type="title"/>
          </p:nvPr>
        </p:nvSpPr>
        <p:spPr>
          <a:xfrm>
            <a:off x="942775" y="136525"/>
            <a:ext cx="10515600" cy="1325563"/>
          </a:xfrm>
        </p:spPr>
        <p:txBody>
          <a:bodyPr>
            <a:normAutofit/>
          </a:bodyPr>
          <a:lstStyle/>
          <a:p>
            <a:pPr algn="ctr"/>
            <a:r>
              <a:rPr lang="en-US" altLang="zh-TW" sz="48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Experiments</a:t>
            </a:r>
            <a:endParaRPr lang="zh-TW" altLang="en-US" sz="48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0490BFA9-2E4B-8E2E-8E0A-7E6419523F33}"/>
              </a:ext>
            </a:extLst>
          </p:cNvPr>
          <p:cNvSpPr>
            <a:spLocks noGrp="1"/>
          </p:cNvSpPr>
          <p:nvPr>
            <p:ph type="sldNum" sz="quarter" idx="12"/>
          </p:nvPr>
        </p:nvSpPr>
        <p:spPr/>
        <p:txBody>
          <a:bodyPr/>
          <a:lstStyle/>
          <a:p>
            <a:fld id="{EFAEC03B-316C-4507-8207-D997BB28EB64}" type="slidenum">
              <a:rPr lang="zh-TW" altLang="en-US" smtClean="0"/>
              <a:t>16</a:t>
            </a:fld>
            <a:endParaRPr lang="zh-TW" altLang="en-US" dirty="0"/>
          </a:p>
        </p:txBody>
      </p:sp>
      <p:sp>
        <p:nvSpPr>
          <p:cNvPr id="7" name="內容版面配置區 6">
            <a:extLst>
              <a:ext uri="{FF2B5EF4-FFF2-40B4-BE49-F238E27FC236}">
                <a16:creationId xmlns:a16="http://schemas.microsoft.com/office/drawing/2014/main" id="{C15825DB-F76F-4782-0861-DD98604C85D1}"/>
              </a:ext>
            </a:extLst>
          </p:cNvPr>
          <p:cNvSpPr>
            <a:spLocks noGrp="1"/>
          </p:cNvSpPr>
          <p:nvPr>
            <p:ph idx="1"/>
          </p:nvPr>
        </p:nvSpPr>
        <p:spPr>
          <a:xfrm>
            <a:off x="610761" y="1847850"/>
            <a:ext cx="11179629" cy="4351338"/>
          </a:xfrm>
        </p:spPr>
        <p:txBody>
          <a:bodyPr/>
          <a:lstStyle/>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54087C22-34AA-60B8-4F51-490A80FD208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3D81718B-1108-4621-7F0F-9BE08E979CC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728D8A3F-909C-679A-BBCA-57447ECA1099}"/>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4" name="文字方塊 3">
            <a:extLst>
              <a:ext uri="{FF2B5EF4-FFF2-40B4-BE49-F238E27FC236}">
                <a16:creationId xmlns:a16="http://schemas.microsoft.com/office/drawing/2014/main" id="{A7E31244-38E6-2B2F-2D3B-991EBB10927B}"/>
              </a:ext>
            </a:extLst>
          </p:cNvPr>
          <p:cNvSpPr txBox="1"/>
          <p:nvPr/>
        </p:nvSpPr>
        <p:spPr>
          <a:xfrm>
            <a:off x="678025" y="1694619"/>
            <a:ext cx="11513975" cy="3416320"/>
          </a:xfrm>
          <a:prstGeom prst="rect">
            <a:avLst/>
          </a:prstGeom>
          <a:noFill/>
        </p:spPr>
        <p:txBody>
          <a:bodyPr wrap="square" rtlCol="0">
            <a:spAutoFit/>
          </a:bodyPr>
          <a:lstStyle/>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Use 26 different global optimization function</a:t>
            </a:r>
          </a:p>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The number of simulations (or run) =100.</a:t>
            </a:r>
          </a:p>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stopping criteria</a:t>
            </a:r>
          </a:p>
          <a:p>
            <a:pPr marL="914400" lvl="1" indent="-457200">
              <a:buFont typeface="+mj-lt"/>
              <a:buAutoNum type="arabicPeriod"/>
            </a:pPr>
            <a:r>
              <a:rPr lang="en-US" altLang="zh-TW" sz="2400" dirty="0">
                <a:latin typeface="Times New Roman" panose="02020603050405020304" pitchFamily="18" charset="0"/>
                <a:cs typeface="Times New Roman" panose="02020603050405020304" pitchFamily="18" charset="0"/>
              </a:rPr>
              <a:t>Reach</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maximum number of function evaluations</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(2.0×105)</a:t>
            </a:r>
          </a:p>
          <a:p>
            <a:pPr marL="914400" lvl="1" indent="-457200">
              <a:buFont typeface="+mj-lt"/>
              <a:buAutoNum type="arabicPeriod"/>
            </a:pPr>
            <a:r>
              <a:rPr lang="en-US" altLang="zh-TW" sz="2400" dirty="0">
                <a:latin typeface="Times New Roman" panose="02020603050405020304" pitchFamily="18" charset="0"/>
                <a:cs typeface="Times New Roman" panose="02020603050405020304" pitchFamily="18" charset="0"/>
              </a:rPr>
              <a:t>Reach corresponding acceptable error</a:t>
            </a:r>
          </a:p>
          <a:p>
            <a:pPr marL="914400" lvl="1" indent="-457200">
              <a:buFont typeface="+mj-lt"/>
              <a:buAutoNum type="arabicPeriod"/>
            </a:pPr>
            <a:endParaRPr lang="en-US" altLang="zh-TW"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Compare with ABC</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DE</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PSO</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CMA-ES</a:t>
            </a:r>
          </a:p>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Use standard deviation (SD)</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mean error (ME)</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average number of function evaluations (AFE)</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success rate (SR)</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66578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A277A-687F-76D2-48D5-C6059E0B4D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5624941-FE7D-A0A7-56F0-91C663F33433}"/>
              </a:ext>
            </a:extLst>
          </p:cNvPr>
          <p:cNvSpPr>
            <a:spLocks noGrp="1"/>
          </p:cNvSpPr>
          <p:nvPr>
            <p:ph type="title"/>
          </p:nvPr>
        </p:nvSpPr>
        <p:spPr>
          <a:xfrm>
            <a:off x="942775" y="136525"/>
            <a:ext cx="10515600" cy="1325563"/>
          </a:xfrm>
        </p:spPr>
        <p:txBody>
          <a:bodyPr>
            <a:normAutofit/>
          </a:bodyPr>
          <a:lstStyle/>
          <a:p>
            <a:pPr algn="ctr"/>
            <a:r>
              <a:rPr lang="en-US" altLang="zh-TW" sz="48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Experiments</a:t>
            </a:r>
            <a:endParaRPr lang="zh-TW" altLang="en-US" sz="48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0490BFA9-2E4B-8E2E-8E0A-7E6419523F33}"/>
              </a:ext>
            </a:extLst>
          </p:cNvPr>
          <p:cNvSpPr>
            <a:spLocks noGrp="1"/>
          </p:cNvSpPr>
          <p:nvPr>
            <p:ph type="sldNum" sz="quarter" idx="12"/>
          </p:nvPr>
        </p:nvSpPr>
        <p:spPr/>
        <p:txBody>
          <a:bodyPr/>
          <a:lstStyle/>
          <a:p>
            <a:fld id="{EFAEC03B-316C-4507-8207-D997BB28EB64}" type="slidenum">
              <a:rPr lang="zh-TW" altLang="en-US" smtClean="0"/>
              <a:t>17</a:t>
            </a:fld>
            <a:endParaRPr lang="zh-TW" altLang="en-US" dirty="0"/>
          </a:p>
        </p:txBody>
      </p:sp>
      <p:sp>
        <p:nvSpPr>
          <p:cNvPr id="7" name="內容版面配置區 6">
            <a:extLst>
              <a:ext uri="{FF2B5EF4-FFF2-40B4-BE49-F238E27FC236}">
                <a16:creationId xmlns:a16="http://schemas.microsoft.com/office/drawing/2014/main" id="{C15825DB-F76F-4782-0861-DD98604C85D1}"/>
              </a:ext>
            </a:extLst>
          </p:cNvPr>
          <p:cNvSpPr>
            <a:spLocks noGrp="1"/>
          </p:cNvSpPr>
          <p:nvPr>
            <p:ph idx="1"/>
          </p:nvPr>
        </p:nvSpPr>
        <p:spPr>
          <a:xfrm>
            <a:off x="610761" y="1847850"/>
            <a:ext cx="11179629" cy="4351338"/>
          </a:xfrm>
        </p:spPr>
        <p:txBody>
          <a:bodyPr/>
          <a:lstStyle/>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54087C22-34AA-60B8-4F51-490A80FD208A}"/>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4" name="文字方塊 13">
            <a:extLst>
              <a:ext uri="{FF2B5EF4-FFF2-40B4-BE49-F238E27FC236}">
                <a16:creationId xmlns:a16="http://schemas.microsoft.com/office/drawing/2014/main" id="{3D81718B-1108-4621-7F0F-9BE08E979CC6}"/>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sp>
        <p:nvSpPr>
          <p:cNvPr id="15" name="文字方塊 14">
            <a:extLst>
              <a:ext uri="{FF2B5EF4-FFF2-40B4-BE49-F238E27FC236}">
                <a16:creationId xmlns:a16="http://schemas.microsoft.com/office/drawing/2014/main" id="{728D8A3F-909C-679A-BBCA-57447ECA1099}"/>
              </a:ext>
            </a:extLst>
          </p:cNvPr>
          <p:cNvSpPr txBox="1"/>
          <p:nvPr/>
        </p:nvSpPr>
        <p:spPr>
          <a:xfrm>
            <a:off x="5637402" y="2973897"/>
            <a:ext cx="914400" cy="914400"/>
          </a:xfrm>
          <a:prstGeom prst="rect">
            <a:avLst/>
          </a:prstGeom>
          <a:noFill/>
        </p:spPr>
        <p:txBody>
          <a:bodyPr wrap="square" rtlCol="0">
            <a:spAutoFit/>
          </a:bodyPr>
          <a:lstStyle/>
          <a:p>
            <a:endParaRPr lang="zh-TW" altLang="en-US" dirty="0"/>
          </a:p>
        </p:txBody>
      </p:sp>
      <p:pic>
        <p:nvPicPr>
          <p:cNvPr id="6" name="圖片 5">
            <a:extLst>
              <a:ext uri="{FF2B5EF4-FFF2-40B4-BE49-F238E27FC236}">
                <a16:creationId xmlns:a16="http://schemas.microsoft.com/office/drawing/2014/main" id="{D80EC85B-FFE2-7505-9543-699B2AEFD9E1}"/>
              </a:ext>
            </a:extLst>
          </p:cNvPr>
          <p:cNvPicPr>
            <a:picLocks noChangeAspect="1"/>
          </p:cNvPicPr>
          <p:nvPr/>
        </p:nvPicPr>
        <p:blipFill>
          <a:blip r:embed="rId2"/>
          <a:stretch>
            <a:fillRect/>
          </a:stretch>
        </p:blipFill>
        <p:spPr>
          <a:xfrm>
            <a:off x="383477" y="1536954"/>
            <a:ext cx="5587418" cy="4351338"/>
          </a:xfrm>
          <a:prstGeom prst="rect">
            <a:avLst/>
          </a:prstGeom>
        </p:spPr>
      </p:pic>
      <p:pic>
        <p:nvPicPr>
          <p:cNvPr id="9" name="圖片 8">
            <a:extLst>
              <a:ext uri="{FF2B5EF4-FFF2-40B4-BE49-F238E27FC236}">
                <a16:creationId xmlns:a16="http://schemas.microsoft.com/office/drawing/2014/main" id="{3374CDB0-0E1D-68F2-3445-2F474E079A79}"/>
              </a:ext>
            </a:extLst>
          </p:cNvPr>
          <p:cNvPicPr>
            <a:picLocks noChangeAspect="1"/>
          </p:cNvPicPr>
          <p:nvPr/>
        </p:nvPicPr>
        <p:blipFill>
          <a:blip r:embed="rId3"/>
          <a:stretch>
            <a:fillRect/>
          </a:stretch>
        </p:blipFill>
        <p:spPr>
          <a:xfrm>
            <a:off x="5989028" y="1842249"/>
            <a:ext cx="5819495" cy="4092095"/>
          </a:xfrm>
          <a:prstGeom prst="rect">
            <a:avLst/>
          </a:prstGeom>
        </p:spPr>
      </p:pic>
    </p:spTree>
    <p:extLst>
      <p:ext uri="{BB962C8B-B14F-4D97-AF65-F5344CB8AC3E}">
        <p14:creationId xmlns:p14="http://schemas.microsoft.com/office/powerpoint/2010/main" val="19260191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5C1E6732-26AB-25E9-233F-66AD325391FC}"/>
              </a:ext>
            </a:extLst>
          </p:cNvPr>
          <p:cNvSpPr>
            <a:spLocks noGrp="1"/>
          </p:cNvSpPr>
          <p:nvPr>
            <p:ph type="sldNum" sz="quarter" idx="12"/>
          </p:nvPr>
        </p:nvSpPr>
        <p:spPr/>
        <p:txBody>
          <a:bodyPr/>
          <a:lstStyle/>
          <a:p>
            <a:fld id="{EFAEC03B-316C-4507-8207-D997BB28EB64}" type="slidenum">
              <a:rPr lang="zh-TW" altLang="en-US" smtClean="0"/>
              <a:t>18</a:t>
            </a:fld>
            <a:endParaRPr lang="zh-TW" altLang="en-US"/>
          </a:p>
        </p:txBody>
      </p:sp>
      <p:pic>
        <p:nvPicPr>
          <p:cNvPr id="4" name="圖片 3">
            <a:extLst>
              <a:ext uri="{FF2B5EF4-FFF2-40B4-BE49-F238E27FC236}">
                <a16:creationId xmlns:a16="http://schemas.microsoft.com/office/drawing/2014/main" id="{10C0DD27-778C-B61A-78FA-0E7AEA96BC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5410" y="0"/>
            <a:ext cx="5141180" cy="6858000"/>
          </a:xfrm>
          <a:prstGeom prst="rect">
            <a:avLst/>
          </a:prstGeom>
        </p:spPr>
      </p:pic>
    </p:spTree>
    <p:extLst>
      <p:ext uri="{BB962C8B-B14F-4D97-AF65-F5344CB8AC3E}">
        <p14:creationId xmlns:p14="http://schemas.microsoft.com/office/powerpoint/2010/main" val="29902595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994B9074-FFE2-64E5-A801-528B60039244}"/>
              </a:ext>
            </a:extLst>
          </p:cNvPr>
          <p:cNvSpPr txBox="1"/>
          <p:nvPr/>
        </p:nvSpPr>
        <p:spPr>
          <a:xfrm>
            <a:off x="4500980" y="2228671"/>
            <a:ext cx="8416031" cy="1200329"/>
          </a:xfrm>
          <a:prstGeom prst="rect">
            <a:avLst/>
          </a:prstGeom>
          <a:noFill/>
        </p:spPr>
        <p:txBody>
          <a:bodyPr wrap="square" rtlCol="0">
            <a:spAutoFit/>
          </a:bodyPr>
          <a:lstStyle/>
          <a:p>
            <a:r>
              <a:rPr lang="en-US" altLang="zh-TW" sz="7200" dirty="0">
                <a:latin typeface="Times New Roman" panose="02020603050405020304" pitchFamily="18" charset="0"/>
                <a:ea typeface="+mj-ea"/>
                <a:cs typeface="Times New Roman" panose="02020603050405020304" pitchFamily="18" charset="0"/>
              </a:rPr>
              <a:t>Thanks</a:t>
            </a:r>
          </a:p>
        </p:txBody>
      </p:sp>
      <p:sp>
        <p:nvSpPr>
          <p:cNvPr id="3" name="投影片編號版面配置區 2">
            <a:extLst>
              <a:ext uri="{FF2B5EF4-FFF2-40B4-BE49-F238E27FC236}">
                <a16:creationId xmlns:a16="http://schemas.microsoft.com/office/drawing/2014/main" id="{470088EC-5D8D-9A95-DC6D-2DD90021AD39}"/>
              </a:ext>
            </a:extLst>
          </p:cNvPr>
          <p:cNvSpPr>
            <a:spLocks noGrp="1"/>
          </p:cNvSpPr>
          <p:nvPr>
            <p:ph type="sldNum" sz="quarter" idx="12"/>
          </p:nvPr>
        </p:nvSpPr>
        <p:spPr/>
        <p:txBody>
          <a:bodyPr/>
          <a:lstStyle/>
          <a:p>
            <a:fld id="{EFAEC03B-316C-4507-8207-D997BB28EB64}" type="slidenum">
              <a:rPr lang="zh-TW" altLang="en-US" smtClean="0"/>
              <a:t>19</a:t>
            </a:fld>
            <a:endParaRPr lang="zh-TW" altLang="en-US"/>
          </a:p>
        </p:txBody>
      </p:sp>
    </p:spTree>
    <p:extLst>
      <p:ext uri="{BB962C8B-B14F-4D97-AF65-F5344CB8AC3E}">
        <p14:creationId xmlns:p14="http://schemas.microsoft.com/office/powerpoint/2010/main" val="381990533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5714</TotalTime>
  <Words>531</Words>
  <Application>Microsoft Office PowerPoint</Application>
  <PresentationFormat>寬螢幕</PresentationFormat>
  <Paragraphs>92</Paragraphs>
  <Slides>19</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19</vt:i4>
      </vt:variant>
    </vt:vector>
  </HeadingPairs>
  <TitlesOfParts>
    <vt:vector size="24" baseType="lpstr">
      <vt:lpstr>Arial</vt:lpstr>
      <vt:lpstr>Calibri</vt:lpstr>
      <vt:lpstr>Calibri Light</vt:lpstr>
      <vt:lpstr>Times New Roman</vt:lpstr>
      <vt:lpstr>Office 佈景主題</vt:lpstr>
      <vt:lpstr>Spider Monkey Optimization algorithm for numerical optimization</vt:lpstr>
      <vt:lpstr>ABSTRACT</vt:lpstr>
      <vt:lpstr>Numerical Optimization</vt:lpstr>
      <vt:lpstr>Spider Monkey Optimization algorithm</vt:lpstr>
      <vt:lpstr>Fission–Fusion Social Structure (FFSS)</vt:lpstr>
      <vt:lpstr>Some Terms</vt:lpstr>
      <vt:lpstr>Main steps of (SMO)</vt:lpstr>
      <vt:lpstr>PowerPoint 簡報</vt:lpstr>
      <vt:lpstr>Local Leader phase</vt:lpstr>
      <vt:lpstr>Global Leader phase</vt:lpstr>
      <vt:lpstr>Local/Global Leader Learning phase </vt:lpstr>
      <vt:lpstr>Local Leader Decision phase</vt:lpstr>
      <vt:lpstr>PowerPoint 簡報</vt:lpstr>
      <vt:lpstr>Global Leader Decision phase</vt:lpstr>
      <vt:lpstr>Experiments</vt:lpstr>
      <vt:lpstr>Experiments</vt:lpstr>
      <vt:lpstr>Experiments</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 Prediction Based on Genetic Algorithm Feature Selection and Long Short-Term Memory Neural Network </dc:title>
  <dc:creator>楊景翔</dc:creator>
  <cp:lastModifiedBy>楊景翔</cp:lastModifiedBy>
  <cp:revision>35</cp:revision>
  <dcterms:created xsi:type="dcterms:W3CDTF">2023-09-05T08:57:34Z</dcterms:created>
  <dcterms:modified xsi:type="dcterms:W3CDTF">2024-05-13T08:40:17Z</dcterms:modified>
</cp:coreProperties>
</file>