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66" r:id="rId4"/>
    <p:sldId id="267" r:id="rId5"/>
    <p:sldId id="283" r:id="rId6"/>
    <p:sldId id="316" r:id="rId7"/>
    <p:sldId id="313" r:id="rId8"/>
    <p:sldId id="301" r:id="rId9"/>
    <p:sldId id="314" r:id="rId10"/>
    <p:sldId id="315" r:id="rId11"/>
    <p:sldId id="291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5" autoAdjust="0"/>
    <p:restoredTop sz="89286" autoAdjust="0"/>
  </p:normalViewPr>
  <p:slideViewPr>
    <p:cSldViewPr snapToGrid="0" snapToObjects="1">
      <p:cViewPr varScale="1">
        <p:scale>
          <a:sx n="58" d="100"/>
          <a:sy n="58" d="100"/>
        </p:scale>
        <p:origin x="9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146038385826778E-2"/>
          <c:y val="6.6339931942671515E-2"/>
          <c:w val="0.90666646161417319"/>
          <c:h val="0.87952719737160445"/>
        </c:manualLayout>
      </c:layout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x</c:v>
                </c:pt>
              </c:strCache>
            </c:strRef>
          </c:tx>
          <c:spPr>
            <a:ln w="34925" cap="rnd">
              <a:solidFill>
                <a:schemeClr val="dk1">
                  <a:tint val="885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工作表1!$A$2:$A$10</c:f>
              <c:numCache>
                <c:formatCode>General</c:formatCode>
                <c:ptCount val="9"/>
              </c:numCache>
            </c:numRef>
          </c:cat>
          <c:val>
            <c:numRef>
              <c:f>工作表1!$B$2:$B$10</c:f>
              <c:numCache>
                <c:formatCode>General</c:formatCode>
                <c:ptCount val="9"/>
                <c:pt idx="0">
                  <c:v>4</c:v>
                </c:pt>
                <c:pt idx="1">
                  <c:v>1</c:v>
                </c:pt>
                <c:pt idx="2">
                  <c:v>4</c:v>
                </c:pt>
                <c:pt idx="3">
                  <c:v>7</c:v>
                </c:pt>
                <c:pt idx="4">
                  <c:v>3</c:v>
                </c:pt>
                <c:pt idx="5">
                  <c:v>5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CE-4EA0-B701-C2CBCF92407A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y</c:v>
                </c:pt>
              </c:strCache>
            </c:strRef>
          </c:tx>
          <c:spPr>
            <a:ln w="34925" cap="rnd">
              <a:solidFill>
                <a:schemeClr val="dk1">
                  <a:tint val="55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工作表1!$A$2:$A$10</c:f>
              <c:numCache>
                <c:formatCode>General</c:formatCode>
                <c:ptCount val="9"/>
              </c:numCache>
            </c:numRef>
          </c:cat>
          <c:val>
            <c:numRef>
              <c:f>工作表1!$C$2:$C$10</c:f>
              <c:numCache>
                <c:formatCode>General</c:formatCode>
                <c:ptCount val="9"/>
                <c:pt idx="0">
                  <c:v>8</c:v>
                </c:pt>
                <c:pt idx="1">
                  <c:v>1</c:v>
                </c:pt>
                <c:pt idx="2">
                  <c:v>8</c:v>
                </c:pt>
                <c:pt idx="3">
                  <c:v>10</c:v>
                </c:pt>
                <c:pt idx="4">
                  <c:v>6</c:v>
                </c:pt>
                <c:pt idx="5">
                  <c:v>9</c:v>
                </c:pt>
                <c:pt idx="6">
                  <c:v>4</c:v>
                </c:pt>
                <c:pt idx="7">
                  <c:v>6</c:v>
                </c:pt>
                <c:pt idx="8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CE-4EA0-B701-C2CBCF9240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1828224"/>
        <c:axId val="411829888"/>
      </c:lineChart>
      <c:catAx>
        <c:axId val="411828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11829888"/>
        <c:crosses val="autoZero"/>
        <c:auto val="1"/>
        <c:lblAlgn val="ctr"/>
        <c:lblOffset val="100"/>
        <c:noMultiLvlLbl val="0"/>
      </c:catAx>
      <c:valAx>
        <c:axId val="411829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11828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87B1E-D7BB-234A-BB61-4186E7CB5889}" type="datetimeFigureOut">
              <a:rPr kumimoji="1" lang="zh-TW" altLang="en-US" smtClean="0"/>
              <a:t>2024/2/27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56A01-BB7F-2749-98D2-EC6EAA37179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44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less than or equal to</a:t>
            </a:r>
          </a:p>
          <a:p>
            <a:r>
              <a:rPr lang="en-US" altLang="zh-TW" b="0" i="0" dirty="0">
                <a:solidFill>
                  <a:srgbClr val="ECECEC"/>
                </a:solidFill>
                <a:effectLst/>
                <a:latin typeface="Söhne"/>
              </a:rPr>
              <a:t>belonging to the interval 1 to </a:t>
            </a:r>
            <a:r>
              <a:rPr lang="zh-TW" altLang="en-US" b="0" i="0" dirty="0">
                <a:solidFill>
                  <a:srgbClr val="ECECEC"/>
                </a:solidFill>
                <a:effectLst/>
                <a:latin typeface="Söhne"/>
              </a:rPr>
              <a:t>𝑚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1718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49788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82932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5301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64235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0771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4728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30010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5535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D501DD-7617-CF45-952C-148738FE8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49E178-73AA-644C-8223-66BF71364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53253A-849A-4D45-A3E7-4D1991E4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53D5-883A-5840-B916-BEC4DF4506D5}" type="datetime1">
              <a:rPr kumimoji="1" lang="zh-TW" altLang="en-US" smtClean="0"/>
              <a:t>2024/2/27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ECDC78-3D4D-404B-AFA4-5B8A4BFD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6C002C-0479-C74D-9FB3-84645C0A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580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7A464A-FDF4-3341-B07B-24B820E4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A333E2-9D9C-8C49-8592-A408903CF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D6F474-7FB1-5646-B2F2-525F8D17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29E5-98E1-4140-9D90-8AD9B393DC63}" type="datetime1">
              <a:rPr kumimoji="1" lang="zh-TW" altLang="en-US" smtClean="0"/>
              <a:t>2024/2/27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34CE80-A870-164A-A65F-809FC9C0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BB9FA6-21BE-FF46-A0DD-80A4E3E4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8567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6485C0-58BA-C248-AFEC-796DBE7A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E020E7-FE89-E04B-A373-97BD15E9B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132D52-ED19-E540-984A-CB07B5F7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0C34D-36C3-F34E-AF6E-5E7D513EECD1}" type="datetime1">
              <a:rPr kumimoji="1" lang="zh-TW" altLang="en-US" smtClean="0"/>
              <a:t>2024/2/27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6BDAE5-6429-1646-BE72-C577966D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FD161E-0E50-D549-9D79-396E6719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073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C827E9-DFE9-224C-9899-DD344BC7F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F56C89-BB60-5D4A-B951-F0C1C7545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6C126F-4174-1949-9558-B4C272D36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765A31-2149-0648-8A59-90D89618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76D90-58FA-0641-BF29-5E2687B5D06E}" type="datetime1">
              <a:rPr kumimoji="1" lang="zh-TW" altLang="en-US" smtClean="0"/>
              <a:t>2024/2/27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C8BAB3-FB47-3344-B999-5CB7AACA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B979C4-5F59-314A-943B-7732149E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7998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75BCB-A32E-984F-994B-6AD69C18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3BBA48-11AB-EA42-B26E-97C56E55B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45D110-23DF-BA43-8D13-0E9505DCC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FA7828-C650-A046-B918-8845F0B6A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2DE3B6E-6238-D149-9212-48351BD8A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5BA387-FB25-3242-BD50-C95AE8C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B0E6-B8C8-474E-B122-D8F5DE0AFAD2}" type="datetime1">
              <a:rPr kumimoji="1" lang="zh-TW" altLang="en-US" smtClean="0"/>
              <a:t>2024/2/27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EDC4116-BEB6-7E4E-A4A7-D2553343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D0F097C-57D7-B44E-A73C-8373F218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58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114667-755C-594C-B649-0C584C79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ABF655D-EEC9-1849-AFE9-30359B4D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9937B-9027-774A-B9FD-9279ACD255BD}" type="datetime1">
              <a:rPr kumimoji="1" lang="zh-TW" altLang="en-US" smtClean="0"/>
              <a:t>2024/2/27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5848DC-EF7E-5E45-97D5-BB002916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EF47D0D-FB63-C04A-88AA-4663F56A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429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30D0DAB-E3AB-C542-BAF1-FA0813FF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104-FA4D-834B-9033-B46E2F34E77F}" type="datetime1">
              <a:rPr kumimoji="1" lang="zh-TW" altLang="en-US" smtClean="0"/>
              <a:t>2024/2/27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44257D8-EC9E-534F-9065-715A4574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029C47-757A-114F-A178-225027BD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664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6441E4-4620-9244-B66E-26EC9ECB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E2631A-AADB-4344-B902-B53FE9F51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2930E1-81A7-6848-925D-24DF95107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A1FEB3-ECC3-AD41-BEA6-44C6F60F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73C6-1BDC-EF4C-9138-1B867971D82A}" type="datetime1">
              <a:rPr kumimoji="1" lang="zh-TW" altLang="en-US" smtClean="0"/>
              <a:t>2024/2/27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CC6D6D-32D3-0F46-8645-9348CDCC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AFE86A-1C31-4A46-A584-5E4CEF4AE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335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D89C4-8B50-834A-81C5-869F9DC9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5534F9E-8511-5F4A-A82F-05692527D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5567A0-F6B9-9340-A872-76C4D3094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79205F-B98C-E943-92A5-27963140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67F-5EDC-4F4F-93AF-7C8D00AA37FD}" type="datetime1">
              <a:rPr kumimoji="1" lang="zh-TW" altLang="en-US" smtClean="0"/>
              <a:t>2024/2/27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A25F96-ED76-8549-9FD6-2B59D285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96D537-3F67-CD44-B755-194C465E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349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6AB28-6653-9C49-A992-A4247978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E57488-2CEC-AB48-B522-A9BF17B67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9DC675-96A7-5740-944C-CAFED91F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BB45-072B-E944-9661-5DAAF6BF234C}" type="datetime1">
              <a:rPr kumimoji="1" lang="zh-TW" altLang="en-US" smtClean="0"/>
              <a:t>2024/2/27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19B60E-DE36-CE48-92C7-29C904047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11CB14-7E7D-DA4F-95BF-F4F6A71A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3784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3137A97-13EF-684A-A0A9-0B2C4B915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14D9E75-6CF5-DE45-9FA4-3A5D546C8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846D7A-FDC0-584E-83DF-7CFDFE86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0E93-5293-2E45-810C-52C7374A43E9}" type="datetime1">
              <a:rPr kumimoji="1" lang="zh-TW" altLang="en-US" smtClean="0"/>
              <a:t>2024/2/27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5227D2-8B70-D046-B3FE-419A3723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29F65E-93FE-3541-912C-7DF85AF2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5396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422299C-DADF-924C-A256-3B359ECF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7C0D55-55DC-8A4F-8D1C-054CD64B8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F6F637-18F3-BD4C-908D-9F4BD7CEC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D2FFB-DAFA-B349-908F-41F05A7F02F7}" type="datetime1">
              <a:rPr kumimoji="1" lang="zh-TW" altLang="en-US" smtClean="0"/>
              <a:t>2024/2/27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89E3A8-AF3F-CA42-A297-2EE032B20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309E7D-F646-F04E-B26F-BEF4E7288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518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5C7C8A-452E-D943-890A-99D101A85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21683"/>
            <a:ext cx="10668000" cy="2387600"/>
          </a:xfrm>
        </p:spPr>
        <p:txBody>
          <a:bodyPr anchor="ctr">
            <a:normAutofit/>
          </a:bodyPr>
          <a:lstStyle/>
          <a:p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Linear Time Algorithm for Consecutive Permutation</a:t>
            </a:r>
            <a:r>
              <a:rPr kumimoji="1" lang="zh-TW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Matching</a:t>
            </a:r>
            <a:endParaRPr kumimoji="1" lang="zh-TW" altLang="en-US" sz="4800" dirty="0">
              <a:latin typeface="Times" pitchFamily="2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9CE59C-0A7C-3340-9871-01BB9F00CC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l-P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Kubica, T. Kulczyński, J. Radoszewski, W. Rytter, T. Waleń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113 (2013) 430–433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ED1160-6DCB-BA45-A8E3-C0A533D93526}"/>
              </a:ext>
            </a:extLst>
          </p:cNvPr>
          <p:cNvSpPr txBox="1"/>
          <p:nvPr/>
        </p:nvSpPr>
        <p:spPr>
          <a:xfrm>
            <a:off x="9461868" y="5993027"/>
            <a:ext cx="2573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" pitchFamily="2" charset="0"/>
              </a:rPr>
              <a:t>Presenter: Wen-Yu Chang</a:t>
            </a:r>
          </a:p>
          <a:p>
            <a:r>
              <a:rPr kumimoji="1" lang="en-US" altLang="zh-TW" dirty="0">
                <a:latin typeface="Times" pitchFamily="2" charset="0"/>
              </a:rPr>
              <a:t>Date: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Feb.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27,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2024</a:t>
            </a:r>
            <a:endParaRPr kumimoji="1" lang="zh-TW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27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Abstract (1/2)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We say that two sequences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𝑤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are order-isomorphic (of the same “shape”) if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𝑤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[</m:t>
                    </m:r>
                    <m:r>
                      <a:rPr lang="en-US" altLang="zh-TW" sz="2400" i="1" dirty="0" err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𝑖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]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≤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𝑤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[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𝑗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] 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if and only if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𝑥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[</m:t>
                    </m:r>
                    <m:r>
                      <a:rPr lang="en-US" altLang="zh-TW" sz="2400" i="1" dirty="0" err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𝑖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]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≤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𝑥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[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𝑗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] 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𝑖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,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𝑗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 ∈ [1,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𝑚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. We present a simple linear time algorithm for checking if a given sequence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contains a factor which is order-isomorphic to a given pattern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. A factor is a subsequence of consecutive symbols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, so we call our problem the consecutive permutation pattern matching. The (general) permutation pattern matching problem is related to general subsequences and is known to be NP-complete. </a:t>
                </a:r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3"/>
                <a:stretch>
                  <a:fillRect l="-928" r="-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9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Abstract (2/2)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5466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We show that the situation for consecutive subsequences is significantly different and present an O(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𝑛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 +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) time algorithm under a natural assumption that the symbols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can be sorted in O(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) time, otherwise the time is O(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𝑛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 +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𝑚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i="0" dirty="0" err="1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log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 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). In our algorithm we use a modification of the classical Knuth–Morris–Pratt string matching algorithm.</a:t>
                </a:r>
                <a:endParaRPr lang="en" altLang="zh-TW" sz="2400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546600"/>
              </a:xfrm>
              <a:blipFill>
                <a:blip r:embed="rId2"/>
                <a:stretch>
                  <a:fillRect l="-928" r="-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0063C2-B176-C143-AD15-5E06A3E6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4132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Order-isomorphism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4</a:t>
            </a:fld>
            <a:endParaRPr kumimoji="1" lang="zh-TW" altLang="en-US" dirty="0"/>
          </a:p>
        </p:txBody>
      </p:sp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CAAA268E-CC65-4A95-9F03-860E59241A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661392"/>
              </p:ext>
            </p:extLst>
          </p:nvPr>
        </p:nvGraphicFramePr>
        <p:xfrm>
          <a:off x="1786391" y="1449766"/>
          <a:ext cx="8619218" cy="3958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4056C1A-D156-4E09-AF8A-570F2AFD6F1D}"/>
                  </a:ext>
                </a:extLst>
              </p:cNvPr>
              <p:cNvSpPr txBox="1"/>
              <p:nvPr/>
            </p:nvSpPr>
            <p:spPr>
              <a:xfrm>
                <a:off x="1965441" y="5328294"/>
                <a:ext cx="7766998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    8          1          8         10          6          9          4          6          8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    4          1          4          7           3          5          2           3          4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4056C1A-D156-4E09-AF8A-570F2AFD6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441" y="5328294"/>
                <a:ext cx="7766998" cy="738664"/>
              </a:xfrm>
              <a:prstGeom prst="rect">
                <a:avLst/>
              </a:prstGeom>
              <a:blipFill>
                <a:blip r:embed="rId4"/>
                <a:stretch>
                  <a:fillRect l="-1412" b="-12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01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Location Table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5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670D7EF-220E-4141-907E-4326F7D19DF2}"/>
                  </a:ext>
                </a:extLst>
              </p:cNvPr>
              <p:cNvSpPr txBox="1"/>
              <p:nvPr/>
            </p:nvSpPr>
            <p:spPr>
              <a:xfrm>
                <a:off x="838199" y="1672662"/>
                <a:ext cx="10515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pattern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𝑥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=8, 7, 12, 14, 10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670D7EF-220E-4141-907E-4326F7D19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72662"/>
                <a:ext cx="10515601" cy="461665"/>
              </a:xfrm>
              <a:prstGeom prst="rect">
                <a:avLst/>
              </a:prstGeom>
              <a:blipFill>
                <a:blip r:embed="rId3"/>
                <a:stretch>
                  <a:fillRect l="-753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6">
                <a:extLst>
                  <a:ext uri="{FF2B5EF4-FFF2-40B4-BE49-F238E27FC236}">
                    <a16:creationId xmlns:a16="http://schemas.microsoft.com/office/drawing/2014/main" id="{42174BB8-A6CB-46BD-8270-49270CF85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8675951"/>
                  </p:ext>
                </p:extLst>
              </p:nvPr>
            </p:nvGraphicFramePr>
            <p:xfrm>
              <a:off x="3254709" y="2455651"/>
              <a:ext cx="5682580" cy="29281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60000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</a:tblGrid>
                  <a:tr h="7301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7301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73764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𝐿𝑀𝑎𝑥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7301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𝐿𝑀𝑖𝑛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83268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6">
                <a:extLst>
                  <a:ext uri="{FF2B5EF4-FFF2-40B4-BE49-F238E27FC236}">
                    <a16:creationId xmlns:a16="http://schemas.microsoft.com/office/drawing/2014/main" id="{42174BB8-A6CB-46BD-8270-49270CF85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8675951"/>
                  </p:ext>
                </p:extLst>
              </p:nvPr>
            </p:nvGraphicFramePr>
            <p:xfrm>
              <a:off x="3254709" y="2455651"/>
              <a:ext cx="5682580" cy="29281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60000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</a:tblGrid>
                  <a:tr h="7301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833" r="-352174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7301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100833" r="-352174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73764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197541" r="-35217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7301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302500" r="-352174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83268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33717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Computation of the Location Table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6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670D7EF-220E-4141-907E-4326F7D19DF2}"/>
                  </a:ext>
                </a:extLst>
              </p:cNvPr>
              <p:cNvSpPr txBox="1"/>
              <p:nvPr/>
            </p:nvSpPr>
            <p:spPr>
              <a:xfrm>
                <a:off x="838199" y="1672662"/>
                <a:ext cx="10515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pattern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𝑥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=8, 7, 12, 14, 10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670D7EF-220E-4141-907E-4326F7D19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72662"/>
                <a:ext cx="10515601" cy="461665"/>
              </a:xfrm>
              <a:prstGeom prst="rect">
                <a:avLst/>
              </a:prstGeom>
              <a:blipFill>
                <a:blip r:embed="rId3"/>
                <a:stretch>
                  <a:fillRect l="-753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6">
                <a:extLst>
                  <a:ext uri="{FF2B5EF4-FFF2-40B4-BE49-F238E27FC236}">
                    <a16:creationId xmlns:a16="http://schemas.microsoft.com/office/drawing/2014/main" id="{42174BB8-A6CB-46BD-8270-49270CF85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1300871"/>
                  </p:ext>
                </p:extLst>
              </p:nvPr>
            </p:nvGraphicFramePr>
            <p:xfrm>
              <a:off x="2571251" y="2455651"/>
              <a:ext cx="7049496" cy="29281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3086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1097282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1097282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1097282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1097282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1097282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</a:tblGrid>
                  <a:tr h="7301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]]</m:t>
                                </m:r>
                              </m:oMath>
                            </m:oMathPara>
                          </a14:m>
                          <a:endParaRPr lang="zh-TW" altLang="en-US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73764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7301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𝐿𝑀𝑎𝑥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]]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8326806"/>
                      </a:ext>
                    </a:extLst>
                  </a:tr>
                  <a:tr h="73017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𝐿𝑀𝑖𝑛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]]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41472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6">
                <a:extLst>
                  <a:ext uri="{FF2B5EF4-FFF2-40B4-BE49-F238E27FC236}">
                    <a16:creationId xmlns:a16="http://schemas.microsoft.com/office/drawing/2014/main" id="{42174BB8-A6CB-46BD-8270-49270CF85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1300871"/>
                  </p:ext>
                </p:extLst>
              </p:nvPr>
            </p:nvGraphicFramePr>
            <p:xfrm>
              <a:off x="2571251" y="2455651"/>
              <a:ext cx="7049496" cy="29281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3086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1097282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1097282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1097282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1097282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1097282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</a:tblGrid>
                  <a:tr h="7301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9" t="-833" r="-35136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73764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9" t="-99180" r="-351362" b="-1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7301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9" t="-202500" r="-351362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8326806"/>
                      </a:ext>
                    </a:extLst>
                  </a:tr>
                  <a:tr h="7301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9" t="-302500" r="-351362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41472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3173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Order-borders Table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7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670D7EF-220E-4141-907E-4326F7D19DF2}"/>
                  </a:ext>
                </a:extLst>
              </p:cNvPr>
              <p:cNvSpPr txBox="1"/>
              <p:nvPr/>
            </p:nvSpPr>
            <p:spPr>
              <a:xfrm>
                <a:off x="838199" y="1672662"/>
                <a:ext cx="10515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pattern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𝑥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=8, 7, 12, 14, 10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670D7EF-220E-4141-907E-4326F7D19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72662"/>
                <a:ext cx="10515601" cy="461665"/>
              </a:xfrm>
              <a:prstGeom prst="rect">
                <a:avLst/>
              </a:prstGeom>
              <a:blipFill>
                <a:blip r:embed="rId3"/>
                <a:stretch>
                  <a:fillRect l="-753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6">
                <a:extLst>
                  <a:ext uri="{FF2B5EF4-FFF2-40B4-BE49-F238E27FC236}">
                    <a16:creationId xmlns:a16="http://schemas.microsoft.com/office/drawing/2014/main" id="{42174BB8-A6CB-46BD-8270-49270CF85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9138777"/>
                  </p:ext>
                </p:extLst>
              </p:nvPr>
            </p:nvGraphicFramePr>
            <p:xfrm>
              <a:off x="3254709" y="2998225"/>
              <a:ext cx="5682580" cy="21979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60000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</a:tblGrid>
                  <a:tr h="7301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7301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73764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𝑃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6">
                <a:extLst>
                  <a:ext uri="{FF2B5EF4-FFF2-40B4-BE49-F238E27FC236}">
                    <a16:creationId xmlns:a16="http://schemas.microsoft.com/office/drawing/2014/main" id="{42174BB8-A6CB-46BD-8270-49270CF85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9138777"/>
                  </p:ext>
                </p:extLst>
              </p:nvPr>
            </p:nvGraphicFramePr>
            <p:xfrm>
              <a:off x="3254709" y="2998225"/>
              <a:ext cx="5682580" cy="21979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60000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</a:tblGrid>
                  <a:tr h="7301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833" r="-352174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7301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100000" r="-352174" b="-1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73764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200000" r="-352174" b="-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8ADAC3BD-8A11-402E-AA4F-96CF51EB2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015" y="220945"/>
            <a:ext cx="5346975" cy="2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346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Consecutive permutation pattern matching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8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07344DD-D58C-4462-AF2C-2E249FFA0C65}"/>
                  </a:ext>
                </a:extLst>
              </p:cNvPr>
              <p:cNvSpPr txBox="1"/>
              <p:nvPr/>
            </p:nvSpPr>
            <p:spPr>
              <a:xfrm>
                <a:off x="955233" y="1691600"/>
                <a:ext cx="700050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pattern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𝑥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=8, 7, 12, 14, 10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text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𝑦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=31, 24, 35, 37, 21, 41, 45, 38, 46 47, 42, 34 </m:t>
                    </m:r>
                  </m:oMath>
                </a14:m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07344DD-D58C-4462-AF2C-2E249FFA0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33" y="1691600"/>
                <a:ext cx="7000506" cy="830997"/>
              </a:xfrm>
              <a:prstGeom prst="rect">
                <a:avLst/>
              </a:prstGeom>
              <a:blipFill>
                <a:blip r:embed="rId3"/>
                <a:stretch>
                  <a:fillRect l="-1220" t="-5839" b="-153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D260B843-022F-405E-B8C2-6374AFF87C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7315243"/>
                  </p:ext>
                </p:extLst>
              </p:nvPr>
            </p:nvGraphicFramePr>
            <p:xfrm>
              <a:off x="3254709" y="2770606"/>
              <a:ext cx="5682580" cy="31295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60000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</a:tblGrid>
                  <a:tr h="6246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6246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6310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𝐿𝑀𝑎𝑥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6246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𝐿𝑀𝑖𝑛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8326806"/>
                      </a:ext>
                    </a:extLst>
                  </a:tr>
                  <a:tr h="6246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𝑃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7979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D260B843-022F-405E-B8C2-6374AFF87C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7315243"/>
                  </p:ext>
                </p:extLst>
              </p:nvPr>
            </p:nvGraphicFramePr>
            <p:xfrm>
              <a:off x="3254709" y="2770606"/>
              <a:ext cx="5682580" cy="31295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60000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884516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</a:tblGrid>
                  <a:tr h="62464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971" r="-352174" b="-407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62464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101961" r="-352174" b="-3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63103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198077" r="-352174" b="-205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62464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303922" r="-352174" b="-109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8326806"/>
                      </a:ext>
                    </a:extLst>
                  </a:tr>
                  <a:tr h="62464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400000" r="-352174" b="-8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7979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50691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Consecutive permutation pattern matching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9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D260B843-022F-405E-B8C2-6374AFF87C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0222249"/>
                  </p:ext>
                </p:extLst>
              </p:nvPr>
            </p:nvGraphicFramePr>
            <p:xfrm>
              <a:off x="459862" y="3942530"/>
              <a:ext cx="5377660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2390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</a:tblGrid>
                  <a:tr h="4366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4366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4411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𝐿𝑀𝑎𝑥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4366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𝐿𝑀𝑖𝑛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8326806"/>
                      </a:ext>
                    </a:extLst>
                  </a:tr>
                  <a:tr h="4366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𝑃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7979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D260B843-022F-405E-B8C2-6374AFF87C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0222249"/>
                  </p:ext>
                </p:extLst>
              </p:nvPr>
            </p:nvGraphicFramePr>
            <p:xfrm>
              <a:off x="459862" y="3942530"/>
              <a:ext cx="5377660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2390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0" t="-9333" r="-351531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0" t="-109333" r="-351531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0" t="-206579" r="-351531" b="-2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0" t="-310667" r="-351531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83268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0" t="-410667" r="-351531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7979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7AC834C4-2B45-4150-993B-417C3428E6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7139502"/>
                  </p:ext>
                </p:extLst>
              </p:nvPr>
            </p:nvGraphicFramePr>
            <p:xfrm>
              <a:off x="459862" y="1985911"/>
              <a:ext cx="11272275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6127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864410544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639676902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938557989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3397442262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4115974879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27244941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3824682569"/>
                        </a:ext>
                      </a:extLst>
                    </a:gridCol>
                  </a:tblGrid>
                  <a:tr h="3704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29473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3742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𝐿𝑀𝑎𝑥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3704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𝐿𝑀𝑖𝑛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83268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7AC834C4-2B45-4150-993B-417C3428E6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7139502"/>
                  </p:ext>
                </p:extLst>
              </p:nvPr>
            </p:nvGraphicFramePr>
            <p:xfrm>
              <a:off x="459862" y="1985911"/>
              <a:ext cx="11272275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6127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864410544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639676902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938557989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3397442262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4115974879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27244941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382468256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0" t="-9333" r="-844898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0" t="-107895" r="-844898" b="-2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0" t="-210667" r="-844898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0" t="-310667" r="-844898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83268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D3F091E6-3943-4B03-95BA-EAE57C9A9FB9}"/>
              </a:ext>
            </a:extLst>
          </p:cNvPr>
          <p:cNvSpPr/>
          <p:nvPr/>
        </p:nvSpPr>
        <p:spPr>
          <a:xfrm>
            <a:off x="5004619" y="2905638"/>
            <a:ext cx="832903" cy="8992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70DB9C-E681-42ED-B4DD-F3F82B70EAD5}"/>
              </a:ext>
            </a:extLst>
          </p:cNvPr>
          <p:cNvSpPr/>
          <p:nvPr/>
        </p:nvSpPr>
        <p:spPr>
          <a:xfrm>
            <a:off x="5004618" y="4867174"/>
            <a:ext cx="832903" cy="8992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6450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Consecutive permutation pattern matching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10</a:t>
            </a:fld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D260B843-022F-405E-B8C2-6374AFF87C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2074251"/>
                  </p:ext>
                </p:extLst>
              </p:nvPr>
            </p:nvGraphicFramePr>
            <p:xfrm>
              <a:off x="2990791" y="3942530"/>
              <a:ext cx="5377660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2390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</a:tblGrid>
                  <a:tr h="4366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4366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4411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𝐿𝑀𝑎𝑥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4366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𝐿𝑀𝑖𝑛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8326806"/>
                      </a:ext>
                    </a:extLst>
                  </a:tr>
                  <a:tr h="4366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𝑃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79794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D260B843-022F-405E-B8C2-6374AFF87C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2074251"/>
                  </p:ext>
                </p:extLst>
              </p:nvPr>
            </p:nvGraphicFramePr>
            <p:xfrm>
              <a:off x="2990791" y="3942530"/>
              <a:ext cx="5377660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2390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837054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0" t="-9333" r="-351531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0" t="-109333" r="-351531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0" t="-206579" r="-351531" b="-2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0" t="-310667" r="-351531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83268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0" t="-410667" r="-351531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7979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7AC834C4-2B45-4150-993B-417C3428E6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1997086"/>
                  </p:ext>
                </p:extLst>
              </p:nvPr>
            </p:nvGraphicFramePr>
            <p:xfrm>
              <a:off x="459862" y="1985911"/>
              <a:ext cx="11272275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6127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864410544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639676902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938557989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3397442262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4115974879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27244941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3824682569"/>
                        </a:ext>
                      </a:extLst>
                    </a:gridCol>
                  </a:tblGrid>
                  <a:tr h="3704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29473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3742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𝐿𝑀𝑎𝑥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3704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𝐿𝑀𝑖𝑛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83268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7AC834C4-2B45-4150-993B-417C3428E6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1997086"/>
                  </p:ext>
                </p:extLst>
              </p:nvPr>
            </p:nvGraphicFramePr>
            <p:xfrm>
              <a:off x="459862" y="1985911"/>
              <a:ext cx="11272275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6127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864410544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639676902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938557989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3397442262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4115974879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227244941"/>
                        </a:ext>
                      </a:extLst>
                    </a:gridCol>
                    <a:gridCol w="839679">
                      <a:extLst>
                        <a:ext uri="{9D8B030D-6E8A-4147-A177-3AD203B41FA5}">
                          <a16:colId xmlns:a16="http://schemas.microsoft.com/office/drawing/2014/main" val="382468256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0" t="-9333" r="-844898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0" t="-107895" r="-844898" b="-2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0" t="-210667" r="-844898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0" t="-310667" r="-844898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83268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10664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Time Complexity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11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5A7D3B6-7359-441B-AB5E-314EC32E34DE}"/>
                  </a:ext>
                </a:extLst>
              </p:cNvPr>
              <p:cNvSpPr txBox="1"/>
              <p:nvPr/>
            </p:nvSpPr>
            <p:spPr>
              <a:xfrm>
                <a:off x="838199" y="1691866"/>
                <a:ext cx="105156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Location table: O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sz="2400" b="0" i="0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sort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𝑥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))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Order-borders table: O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𝑚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𝑚</m:t>
                        </m:r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Text search: O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𝑛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5A7D3B6-7359-441B-AB5E-314EC32E3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91866"/>
                <a:ext cx="10515601" cy="1200329"/>
              </a:xfrm>
              <a:prstGeom prst="rect">
                <a:avLst/>
              </a:prstGeom>
              <a:blipFill>
                <a:blip r:embed="rId3"/>
                <a:stretch>
                  <a:fillRect l="-753" t="-4082" b="-112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0344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_chenya" id="{B41F7EED-78E0-1445-87EF-5AF1DA6E0F58}" vid="{D32384A1-BBDA-0D4F-B76D-4F110ED0331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佈景主題</Template>
  <TotalTime>6811</TotalTime>
  <Words>731</Words>
  <Application>Microsoft Office PowerPoint</Application>
  <PresentationFormat>寬螢幕</PresentationFormat>
  <Paragraphs>280</Paragraphs>
  <Slides>11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0" baseType="lpstr">
      <vt:lpstr>Söhne</vt:lpstr>
      <vt:lpstr>Arial</vt:lpstr>
      <vt:lpstr>Calibri</vt:lpstr>
      <vt:lpstr>Calibri Light</vt:lpstr>
      <vt:lpstr>Cambria Math</vt:lpstr>
      <vt:lpstr>Times</vt:lpstr>
      <vt:lpstr>times new roman</vt:lpstr>
      <vt:lpstr>times new roman</vt:lpstr>
      <vt:lpstr>Office 佈景主題</vt:lpstr>
      <vt:lpstr>A Linear Time Algorithm for Consecutive Permutation Pattern Matching</vt:lpstr>
      <vt:lpstr>Abstract (1/2)</vt:lpstr>
      <vt:lpstr>Abstract (2/2)</vt:lpstr>
      <vt:lpstr>Order-isomorphism</vt:lpstr>
      <vt:lpstr>Location Table</vt:lpstr>
      <vt:lpstr>Computation of the Location Table</vt:lpstr>
      <vt:lpstr>Order-borders Table</vt:lpstr>
      <vt:lpstr>Consecutive permutation pattern matching</vt:lpstr>
      <vt:lpstr>Consecutive permutation pattern matching</vt:lpstr>
      <vt:lpstr>Consecutive permutation pattern matching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M113040012</dc:creator>
  <cp:lastModifiedBy>張紋瑜</cp:lastModifiedBy>
  <cp:revision>217</cp:revision>
  <dcterms:created xsi:type="dcterms:W3CDTF">2023-07-01T04:19:29Z</dcterms:created>
  <dcterms:modified xsi:type="dcterms:W3CDTF">2024-02-27T01:47:43Z</dcterms:modified>
</cp:coreProperties>
</file>