
<file path=[Content_Types].xml><?xml version="1.0" encoding="utf-8"?>
<Types xmlns="http://schemas.openxmlformats.org/package/2006/content-types">
  <Default Extension="emf" ContentType="image/x-emf"/>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57" r:id="rId3"/>
    <p:sldId id="300" r:id="rId4"/>
    <p:sldId id="345" r:id="rId5"/>
    <p:sldId id="336" r:id="rId6"/>
    <p:sldId id="346" r:id="rId7"/>
    <p:sldId id="337" r:id="rId8"/>
    <p:sldId id="338" r:id="rId9"/>
    <p:sldId id="322" r:id="rId10"/>
    <p:sldId id="339" r:id="rId11"/>
    <p:sldId id="347" r:id="rId12"/>
    <p:sldId id="341" r:id="rId13"/>
    <p:sldId id="349" r:id="rId14"/>
    <p:sldId id="348" r:id="rId15"/>
    <p:sldId id="340"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7" autoAdjust="0"/>
    <p:restoredTop sz="82645" autoAdjust="0"/>
  </p:normalViewPr>
  <p:slideViewPr>
    <p:cSldViewPr snapToGrid="0">
      <p:cViewPr varScale="1">
        <p:scale>
          <a:sx n="70" d="100"/>
          <a:sy n="70" d="100"/>
        </p:scale>
        <p:origin x="103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2B1B951-C510-4522-AF93-ADB85ED09A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629B89B7-9CDA-4AA8-9698-7B71FD1985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70CF6B-A307-4891-9A3F-3BDEA15122F4}" type="datetimeFigureOut">
              <a:rPr lang="zh-TW" altLang="en-US" smtClean="0"/>
              <a:t>2024/2/27</a:t>
            </a:fld>
            <a:endParaRPr lang="zh-TW" altLang="en-US"/>
          </a:p>
        </p:txBody>
      </p:sp>
      <p:sp>
        <p:nvSpPr>
          <p:cNvPr id="4" name="頁尾版面配置區 3">
            <a:extLst>
              <a:ext uri="{FF2B5EF4-FFF2-40B4-BE49-F238E27FC236}">
                <a16:creationId xmlns:a16="http://schemas.microsoft.com/office/drawing/2014/main" id="{94AA06BA-A144-429D-9036-05EAC36F3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5D362C06-5F0E-4E9C-8F96-54694C2D61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0C0899-C804-4EB6-B155-7732788E8AAF}" type="slidenum">
              <a:rPr lang="zh-TW" altLang="en-US" smtClean="0"/>
              <a:t>‹#›</a:t>
            </a:fld>
            <a:endParaRPr lang="zh-TW" altLang="en-US"/>
          </a:p>
        </p:txBody>
      </p:sp>
    </p:spTree>
    <p:extLst>
      <p:ext uri="{BB962C8B-B14F-4D97-AF65-F5344CB8AC3E}">
        <p14:creationId xmlns:p14="http://schemas.microsoft.com/office/powerpoint/2010/main" val="23706857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0286B5-03C6-41D4-B2DC-EA76AD58808D}" type="datetimeFigureOut">
              <a:rPr lang="zh-TW" altLang="en-US" smtClean="0"/>
              <a:t>2024/2/27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B21A4-C6D0-470A-943D-BE54FF210D33}" type="slidenum">
              <a:rPr lang="zh-TW" altLang="en-US" smtClean="0"/>
              <a:t>‹#›</a:t>
            </a:fld>
            <a:endParaRPr lang="zh-TW" altLang="en-US"/>
          </a:p>
        </p:txBody>
      </p:sp>
    </p:spTree>
    <p:extLst>
      <p:ext uri="{BB962C8B-B14F-4D97-AF65-F5344CB8AC3E}">
        <p14:creationId xmlns:p14="http://schemas.microsoft.com/office/powerpoint/2010/main" val="29195028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a:t>
            </a:fld>
            <a:endParaRPr lang="zh-TW" altLang="en-US"/>
          </a:p>
        </p:txBody>
      </p:sp>
    </p:spTree>
    <p:extLst>
      <p:ext uri="{BB962C8B-B14F-4D97-AF65-F5344CB8AC3E}">
        <p14:creationId xmlns:p14="http://schemas.microsoft.com/office/powerpoint/2010/main" val="212813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2</a:t>
            </a:fld>
            <a:endParaRPr lang="zh-TW" altLang="en-US"/>
          </a:p>
        </p:txBody>
      </p:sp>
    </p:spTree>
    <p:extLst>
      <p:ext uri="{BB962C8B-B14F-4D97-AF65-F5344CB8AC3E}">
        <p14:creationId xmlns:p14="http://schemas.microsoft.com/office/powerpoint/2010/main" val="95323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4</a:t>
            </a:fld>
            <a:endParaRPr lang="zh-TW" altLang="en-US"/>
          </a:p>
        </p:txBody>
      </p:sp>
    </p:spTree>
    <p:extLst>
      <p:ext uri="{BB962C8B-B14F-4D97-AF65-F5344CB8AC3E}">
        <p14:creationId xmlns:p14="http://schemas.microsoft.com/office/powerpoint/2010/main" val="2231869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10</a:t>
            </a:fld>
            <a:endParaRPr lang="zh-TW" altLang="en-US"/>
          </a:p>
        </p:txBody>
      </p:sp>
    </p:spTree>
    <p:extLst>
      <p:ext uri="{BB962C8B-B14F-4D97-AF65-F5344CB8AC3E}">
        <p14:creationId xmlns:p14="http://schemas.microsoft.com/office/powerpoint/2010/main" val="2942944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12</a:t>
            </a:fld>
            <a:endParaRPr lang="zh-TW" altLang="en-US"/>
          </a:p>
        </p:txBody>
      </p:sp>
    </p:spTree>
    <p:extLst>
      <p:ext uri="{BB962C8B-B14F-4D97-AF65-F5344CB8AC3E}">
        <p14:creationId xmlns:p14="http://schemas.microsoft.com/office/powerpoint/2010/main" val="2532718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D4470-9A8D-1883-9836-812719AAA0F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1210390-FA1C-A839-2641-24F430CF4E7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62BA5D2-E084-4CC6-DD4D-EF9D6C09E99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57217BF3-D551-0E7B-C0EC-D140EE063259}"/>
              </a:ext>
            </a:extLst>
          </p:cNvPr>
          <p:cNvSpPr>
            <a:spLocks noGrp="1"/>
          </p:cNvSpPr>
          <p:nvPr>
            <p:ph type="sldNum" sz="quarter" idx="5"/>
          </p:nvPr>
        </p:nvSpPr>
        <p:spPr/>
        <p:txBody>
          <a:bodyPr/>
          <a:lstStyle/>
          <a:p>
            <a:fld id="{74BB21A4-C6D0-470A-943D-BE54FF210D33}" type="slidenum">
              <a:rPr lang="zh-TW" altLang="en-US" smtClean="0"/>
              <a:t>13</a:t>
            </a:fld>
            <a:endParaRPr lang="zh-TW" altLang="en-US"/>
          </a:p>
        </p:txBody>
      </p:sp>
    </p:spTree>
    <p:extLst>
      <p:ext uri="{BB962C8B-B14F-4D97-AF65-F5344CB8AC3E}">
        <p14:creationId xmlns:p14="http://schemas.microsoft.com/office/powerpoint/2010/main" val="618424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15</a:t>
            </a:fld>
            <a:endParaRPr lang="zh-TW" altLang="en-US"/>
          </a:p>
        </p:txBody>
      </p:sp>
    </p:spTree>
    <p:extLst>
      <p:ext uri="{BB962C8B-B14F-4D97-AF65-F5344CB8AC3E}">
        <p14:creationId xmlns:p14="http://schemas.microsoft.com/office/powerpoint/2010/main" val="2945803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6AED7B-3AC0-43C0-BDB3-2C4AFA9F738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559334D-3BE1-454D-9C46-049A5FE3D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F7A35ED-A91A-418B-8EEF-606731AB7C7E}"/>
              </a:ext>
            </a:extLst>
          </p:cNvPr>
          <p:cNvSpPr>
            <a:spLocks noGrp="1"/>
          </p:cNvSpPr>
          <p:nvPr>
            <p:ph type="dt" sz="half" idx="10"/>
          </p:nvPr>
        </p:nvSpPr>
        <p:spPr/>
        <p:txBody>
          <a:bodyPr/>
          <a:lstStyle/>
          <a:p>
            <a:fld id="{E34719EE-CC92-45A1-848A-E62A6F69E5FD}" type="datetime1">
              <a:rPr lang="zh-TW" altLang="en-US" smtClean="0"/>
              <a:t>2024/2/27</a:t>
            </a:fld>
            <a:endParaRPr lang="zh-TW" altLang="en-US"/>
          </a:p>
        </p:txBody>
      </p:sp>
      <p:sp>
        <p:nvSpPr>
          <p:cNvPr id="5" name="頁尾版面配置區 4">
            <a:extLst>
              <a:ext uri="{FF2B5EF4-FFF2-40B4-BE49-F238E27FC236}">
                <a16:creationId xmlns:a16="http://schemas.microsoft.com/office/drawing/2014/main" id="{8F23CF94-5147-4E2D-94FA-D156783F20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F78306-98C1-4A20-8451-B89524CEFC32}"/>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788649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30CE7C-B11A-4592-99DC-9295D556CFC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3C089F3-337E-4191-A36B-B85915E37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41B5F5D-1566-460B-B7A8-7789F4ADD5CE}"/>
              </a:ext>
            </a:extLst>
          </p:cNvPr>
          <p:cNvSpPr>
            <a:spLocks noGrp="1"/>
          </p:cNvSpPr>
          <p:nvPr>
            <p:ph type="dt" sz="half" idx="10"/>
          </p:nvPr>
        </p:nvSpPr>
        <p:spPr/>
        <p:txBody>
          <a:bodyPr/>
          <a:lstStyle/>
          <a:p>
            <a:fld id="{2410B330-CB06-4033-8D67-C4343070258D}" type="datetime1">
              <a:rPr lang="zh-TW" altLang="en-US" smtClean="0"/>
              <a:t>2024/2/27</a:t>
            </a:fld>
            <a:endParaRPr lang="zh-TW" altLang="en-US"/>
          </a:p>
        </p:txBody>
      </p:sp>
      <p:sp>
        <p:nvSpPr>
          <p:cNvPr id="5" name="頁尾版面配置區 4">
            <a:extLst>
              <a:ext uri="{FF2B5EF4-FFF2-40B4-BE49-F238E27FC236}">
                <a16:creationId xmlns:a16="http://schemas.microsoft.com/office/drawing/2014/main" id="{8351E327-56EF-4EB4-9B53-5A579EBE19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8C7FCE-3342-4CB2-A64D-A352D2C2821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184112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A202-ECCD-4387-858D-619D6A0C10A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207F5F8-0D71-4C88-AF0D-4F91124A42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822F8C89-B173-48C4-AA79-F8D0D1713FE4}"/>
              </a:ext>
            </a:extLst>
          </p:cNvPr>
          <p:cNvSpPr>
            <a:spLocks noGrp="1"/>
          </p:cNvSpPr>
          <p:nvPr>
            <p:ph type="dt" sz="half" idx="10"/>
          </p:nvPr>
        </p:nvSpPr>
        <p:spPr/>
        <p:txBody>
          <a:bodyPr/>
          <a:lstStyle/>
          <a:p>
            <a:fld id="{57DE7F20-22FE-4AC5-BB9E-06EA31EBF516}" type="datetime1">
              <a:rPr lang="zh-TW" altLang="en-US" smtClean="0"/>
              <a:t>2024/2/27</a:t>
            </a:fld>
            <a:endParaRPr lang="zh-TW" altLang="en-US"/>
          </a:p>
        </p:txBody>
      </p:sp>
      <p:sp>
        <p:nvSpPr>
          <p:cNvPr id="5" name="頁尾版面配置區 4">
            <a:extLst>
              <a:ext uri="{FF2B5EF4-FFF2-40B4-BE49-F238E27FC236}">
                <a16:creationId xmlns:a16="http://schemas.microsoft.com/office/drawing/2014/main" id="{841A0F6C-077B-4EE8-B87C-AE9C8921202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5D9F22-282D-4976-8BB0-765254681B9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979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9DB818-75A8-4B63-9429-11BAB3087F9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AE8C4E-C2D1-40BD-80F2-198479EE78D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5A9DCA7-BAC7-4C10-B29E-195D854612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A48D530-75DC-40E5-8EF8-661ECE2D38CE}"/>
              </a:ext>
            </a:extLst>
          </p:cNvPr>
          <p:cNvSpPr>
            <a:spLocks noGrp="1"/>
          </p:cNvSpPr>
          <p:nvPr>
            <p:ph type="dt" sz="half" idx="10"/>
          </p:nvPr>
        </p:nvSpPr>
        <p:spPr/>
        <p:txBody>
          <a:bodyPr/>
          <a:lstStyle/>
          <a:p>
            <a:fld id="{E17CD23D-B9C5-4883-A841-45C28286401F}" type="datetime1">
              <a:rPr lang="zh-TW" altLang="en-US" smtClean="0"/>
              <a:t>2024/2/27</a:t>
            </a:fld>
            <a:endParaRPr lang="zh-TW" altLang="en-US"/>
          </a:p>
        </p:txBody>
      </p:sp>
      <p:sp>
        <p:nvSpPr>
          <p:cNvPr id="6" name="頁尾版面配置區 5">
            <a:extLst>
              <a:ext uri="{FF2B5EF4-FFF2-40B4-BE49-F238E27FC236}">
                <a16:creationId xmlns:a16="http://schemas.microsoft.com/office/drawing/2014/main" id="{CC4826B8-E693-43BF-95C5-22E2105958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8AF8187-80C0-4C29-ADB6-DA00CA1DC0C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3529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66C6E3-92E0-4351-B2DC-E52F39BD89B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18CC00D-5393-41C3-AF1B-041CAF3F1B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74B4B1B-E61B-46D8-9A90-03280E45DE8E}"/>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F04706E-A3A2-4316-93FC-42B46B8BA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73F1D73-774D-45EB-9450-3CB0C930473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4CAC80A6-81BA-47AA-AA43-42EC35F8FAF9}"/>
              </a:ext>
            </a:extLst>
          </p:cNvPr>
          <p:cNvSpPr>
            <a:spLocks noGrp="1"/>
          </p:cNvSpPr>
          <p:nvPr>
            <p:ph type="dt" sz="half" idx="10"/>
          </p:nvPr>
        </p:nvSpPr>
        <p:spPr/>
        <p:txBody>
          <a:bodyPr/>
          <a:lstStyle/>
          <a:p>
            <a:fld id="{0808FB18-E334-40DF-8913-297E53BF38F7}" type="datetime1">
              <a:rPr lang="zh-TW" altLang="en-US" smtClean="0"/>
              <a:t>2024/2/27</a:t>
            </a:fld>
            <a:endParaRPr lang="zh-TW" altLang="en-US"/>
          </a:p>
        </p:txBody>
      </p:sp>
      <p:sp>
        <p:nvSpPr>
          <p:cNvPr id="8" name="頁尾版面配置區 7">
            <a:extLst>
              <a:ext uri="{FF2B5EF4-FFF2-40B4-BE49-F238E27FC236}">
                <a16:creationId xmlns:a16="http://schemas.microsoft.com/office/drawing/2014/main" id="{AE74EAC2-C744-4AE5-AE34-F47FC14CB44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4328309-436C-45EA-A6EE-D4EF01A3CE9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997366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68319E-7001-4D86-9C66-59FF95494D8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4526E76-6DDF-423C-840E-0C29F12161F7}"/>
              </a:ext>
            </a:extLst>
          </p:cNvPr>
          <p:cNvSpPr>
            <a:spLocks noGrp="1"/>
          </p:cNvSpPr>
          <p:nvPr>
            <p:ph type="dt" sz="half" idx="10"/>
          </p:nvPr>
        </p:nvSpPr>
        <p:spPr/>
        <p:txBody>
          <a:bodyPr/>
          <a:lstStyle/>
          <a:p>
            <a:fld id="{8468BF0B-4931-43DB-AFF9-ECAB917261FB}" type="datetime1">
              <a:rPr lang="zh-TW" altLang="en-US" smtClean="0"/>
              <a:t>2024/2/27</a:t>
            </a:fld>
            <a:endParaRPr lang="zh-TW" altLang="en-US"/>
          </a:p>
        </p:txBody>
      </p:sp>
      <p:sp>
        <p:nvSpPr>
          <p:cNvPr id="4" name="頁尾版面配置區 3">
            <a:extLst>
              <a:ext uri="{FF2B5EF4-FFF2-40B4-BE49-F238E27FC236}">
                <a16:creationId xmlns:a16="http://schemas.microsoft.com/office/drawing/2014/main" id="{DD9D2800-CEBA-4036-A26B-CE8FB2EA1AF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98B8CC3-87C3-4792-B025-86FEA6CB961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471133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8F7A8DF-7CAF-40EA-A813-9D70AD0E3DE5}"/>
              </a:ext>
            </a:extLst>
          </p:cNvPr>
          <p:cNvSpPr>
            <a:spLocks noGrp="1"/>
          </p:cNvSpPr>
          <p:nvPr>
            <p:ph type="dt" sz="half" idx="10"/>
          </p:nvPr>
        </p:nvSpPr>
        <p:spPr/>
        <p:txBody>
          <a:bodyPr/>
          <a:lstStyle/>
          <a:p>
            <a:fld id="{C30401FB-DC53-4A39-AB71-3E05DF9680A5}" type="datetime1">
              <a:rPr lang="zh-TW" altLang="en-US" smtClean="0"/>
              <a:t>2024/2/27</a:t>
            </a:fld>
            <a:endParaRPr lang="zh-TW" altLang="en-US"/>
          </a:p>
        </p:txBody>
      </p:sp>
      <p:sp>
        <p:nvSpPr>
          <p:cNvPr id="3" name="頁尾版面配置區 2">
            <a:extLst>
              <a:ext uri="{FF2B5EF4-FFF2-40B4-BE49-F238E27FC236}">
                <a16:creationId xmlns:a16="http://schemas.microsoft.com/office/drawing/2014/main" id="{5719E78A-F621-4136-9BC3-87E7F8B249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5EFECFB-C447-487D-B43B-1B5B71697FB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154182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CC23B8-75A5-4019-B628-F1C82E5382B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99A34CC-502A-423E-932E-39CE4BC55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5DBAFA7-CF5D-40EC-82C2-AC3D0C4C2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69C2E307-A73A-4F80-B550-AE2F641E85EB}"/>
              </a:ext>
            </a:extLst>
          </p:cNvPr>
          <p:cNvSpPr>
            <a:spLocks noGrp="1"/>
          </p:cNvSpPr>
          <p:nvPr>
            <p:ph type="dt" sz="half" idx="10"/>
          </p:nvPr>
        </p:nvSpPr>
        <p:spPr/>
        <p:txBody>
          <a:bodyPr/>
          <a:lstStyle/>
          <a:p>
            <a:fld id="{D3DC3587-5ABE-4311-A519-7F8CF83C098B}" type="datetime1">
              <a:rPr lang="zh-TW" altLang="en-US" smtClean="0"/>
              <a:t>2024/2/27</a:t>
            </a:fld>
            <a:endParaRPr lang="zh-TW" altLang="en-US"/>
          </a:p>
        </p:txBody>
      </p:sp>
      <p:sp>
        <p:nvSpPr>
          <p:cNvPr id="6" name="頁尾版面配置區 5">
            <a:extLst>
              <a:ext uri="{FF2B5EF4-FFF2-40B4-BE49-F238E27FC236}">
                <a16:creationId xmlns:a16="http://schemas.microsoft.com/office/drawing/2014/main" id="{0A3A147B-79C1-412A-B2FF-8D32DF46510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AA629CE-B57F-4520-A533-B44C6A2C8BA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796774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D55816-64E8-462B-A3D7-4453B003379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40DF5AE-4B4C-4B45-AC23-AA4CFC305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4118706-CAE1-4FEA-B01D-7CE0654D4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AF1CF92-18B7-4CB0-8C56-AF0B883E3B7B}"/>
              </a:ext>
            </a:extLst>
          </p:cNvPr>
          <p:cNvSpPr>
            <a:spLocks noGrp="1"/>
          </p:cNvSpPr>
          <p:nvPr>
            <p:ph type="dt" sz="half" idx="10"/>
          </p:nvPr>
        </p:nvSpPr>
        <p:spPr/>
        <p:txBody>
          <a:bodyPr/>
          <a:lstStyle/>
          <a:p>
            <a:fld id="{D2DA342B-0A8F-45F2-921C-3FDF514126B7}" type="datetime1">
              <a:rPr lang="zh-TW" altLang="en-US" smtClean="0"/>
              <a:t>2024/2/27</a:t>
            </a:fld>
            <a:endParaRPr lang="zh-TW" altLang="en-US"/>
          </a:p>
        </p:txBody>
      </p:sp>
      <p:sp>
        <p:nvSpPr>
          <p:cNvPr id="6" name="頁尾版面配置區 5">
            <a:extLst>
              <a:ext uri="{FF2B5EF4-FFF2-40B4-BE49-F238E27FC236}">
                <a16:creationId xmlns:a16="http://schemas.microsoft.com/office/drawing/2014/main" id="{2ADBC973-241B-4503-ADCE-06D35A39F1A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B66D3F1-4059-4827-95C2-E95F79F4187F}"/>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78461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9D1DF3-8597-4AC3-9592-591615E93AE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5D238C8-B4FB-46C1-B87B-DC663D229B15}"/>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D766127-E315-4D91-8EF2-B008095B6E77}"/>
              </a:ext>
            </a:extLst>
          </p:cNvPr>
          <p:cNvSpPr>
            <a:spLocks noGrp="1"/>
          </p:cNvSpPr>
          <p:nvPr>
            <p:ph type="dt" sz="half" idx="10"/>
          </p:nvPr>
        </p:nvSpPr>
        <p:spPr/>
        <p:txBody>
          <a:bodyPr/>
          <a:lstStyle/>
          <a:p>
            <a:fld id="{A6AD3143-C9CF-4834-9DEF-9BC47245ADD3}" type="datetime1">
              <a:rPr lang="zh-TW" altLang="en-US" smtClean="0"/>
              <a:t>2024/2/27</a:t>
            </a:fld>
            <a:endParaRPr lang="zh-TW" altLang="en-US"/>
          </a:p>
        </p:txBody>
      </p:sp>
      <p:sp>
        <p:nvSpPr>
          <p:cNvPr id="5" name="頁尾版面配置區 4">
            <a:extLst>
              <a:ext uri="{FF2B5EF4-FFF2-40B4-BE49-F238E27FC236}">
                <a16:creationId xmlns:a16="http://schemas.microsoft.com/office/drawing/2014/main" id="{8B76B946-7EAB-42DF-A2F5-EACCC43DE1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0A8436-D093-407E-A6F6-4CF3FE749A6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152844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79C0EB2-FDD9-45F9-BD56-C202BA6F85C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A5302A6-36E0-4F61-95D0-FFF22F355FC8}"/>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FB54F25-B1AD-4B0D-B783-5F7604B3BEA1}"/>
              </a:ext>
            </a:extLst>
          </p:cNvPr>
          <p:cNvSpPr>
            <a:spLocks noGrp="1"/>
          </p:cNvSpPr>
          <p:nvPr>
            <p:ph type="dt" sz="half" idx="10"/>
          </p:nvPr>
        </p:nvSpPr>
        <p:spPr/>
        <p:txBody>
          <a:bodyPr/>
          <a:lstStyle/>
          <a:p>
            <a:fld id="{2FEA573D-32C6-443E-A69A-182A1B82649D}" type="datetime1">
              <a:rPr lang="zh-TW" altLang="en-US" smtClean="0"/>
              <a:t>2024/2/27</a:t>
            </a:fld>
            <a:endParaRPr lang="zh-TW" altLang="en-US"/>
          </a:p>
        </p:txBody>
      </p:sp>
      <p:sp>
        <p:nvSpPr>
          <p:cNvPr id="5" name="頁尾版面配置區 4">
            <a:extLst>
              <a:ext uri="{FF2B5EF4-FFF2-40B4-BE49-F238E27FC236}">
                <a16:creationId xmlns:a16="http://schemas.microsoft.com/office/drawing/2014/main" id="{458B8143-DD91-4913-9BBC-F47FA1D7AE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827F965-69A7-40AE-AB34-F6BB6055C539}"/>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2764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FA6E97-504F-4D83-A00A-ACFAB093FB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835DDF6-3759-49B7-9B87-FFD02FD5AA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763631-A33B-462D-B65B-99A0817F5D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35890-F13E-4E65-8362-5C488D5B0D04}" type="datetime1">
              <a:rPr lang="zh-TW" altLang="en-US" smtClean="0"/>
              <a:t>2024/2/27</a:t>
            </a:fld>
            <a:endParaRPr lang="zh-TW" altLang="en-US"/>
          </a:p>
        </p:txBody>
      </p:sp>
      <p:sp>
        <p:nvSpPr>
          <p:cNvPr id="5" name="頁尾版面配置區 4">
            <a:extLst>
              <a:ext uri="{FF2B5EF4-FFF2-40B4-BE49-F238E27FC236}">
                <a16:creationId xmlns:a16="http://schemas.microsoft.com/office/drawing/2014/main" id="{B01C28F1-D551-4915-B007-99BD38614E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8AB29E7-4E9B-4190-8484-4F45F88BC0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85547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35EA8-3B84-42D5-BAD0-9B2BE5F58BE1}"/>
              </a:ext>
            </a:extLst>
          </p:cNvPr>
          <p:cNvSpPr>
            <a:spLocks noGrp="1"/>
          </p:cNvSpPr>
          <p:nvPr>
            <p:ph type="ctrTitle"/>
          </p:nvPr>
        </p:nvSpPr>
        <p:spPr>
          <a:xfrm>
            <a:off x="1524000" y="932954"/>
            <a:ext cx="9144000" cy="2387600"/>
          </a:xfrm>
        </p:spPr>
        <p:txBody>
          <a:bodyPr>
            <a:noAutofit/>
          </a:bodyPr>
          <a:lstStyle/>
          <a:p>
            <a:r>
              <a:rPr lang="en-US" altLang="zh-TW" sz="4400" b="1" dirty="0">
                <a:solidFill>
                  <a:srgbClr val="333333"/>
                </a:solidFill>
                <a:latin typeface="Times New Roman" panose="02020603050405020304" pitchFamily="18" charset="0"/>
                <a:cs typeface="Times New Roman" panose="02020603050405020304" pitchFamily="18" charset="0"/>
              </a:rPr>
              <a:t>A Trajectory Simplification Method Based on the Clustering of Vessel Speed and Course Segments</a:t>
            </a:r>
            <a:endParaRPr lang="en-US" altLang="zh-TW" sz="4400" b="1" i="0" dirty="0">
              <a:solidFill>
                <a:srgbClr val="333333"/>
              </a:solidFill>
              <a:effectLst/>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4E6F3D17-E5C7-4A7C-946D-5608813E8227}"/>
              </a:ext>
            </a:extLst>
          </p:cNvPr>
          <p:cNvSpPr>
            <a:spLocks noGrp="1"/>
          </p:cNvSpPr>
          <p:nvPr>
            <p:ph type="subTitle" idx="1"/>
          </p:nvPr>
        </p:nvSpPr>
        <p:spPr>
          <a:xfrm>
            <a:off x="1524000" y="3858821"/>
            <a:ext cx="9144000" cy="1655762"/>
          </a:xfrm>
        </p:spPr>
        <p:txBody>
          <a:bodyPr/>
          <a:lstStyle/>
          <a:p>
            <a:r>
              <a:rPr lang="en-US" altLang="zh-TW" dirty="0">
                <a:latin typeface="Times New Roman" panose="02020603050405020304" pitchFamily="18" charset="0"/>
                <a:cs typeface="Times New Roman" panose="02020603050405020304" pitchFamily="18" charset="0"/>
              </a:rPr>
              <a:t>Jia Li, </a:t>
            </a:r>
            <a:r>
              <a:rPr lang="en-US" altLang="zh-TW" dirty="0" err="1">
                <a:latin typeface="Times New Roman" panose="02020603050405020304" pitchFamily="18" charset="0"/>
                <a:cs typeface="Times New Roman" panose="02020603050405020304" pitchFamily="18" charset="0"/>
              </a:rPr>
              <a:t>Yongjie</a:t>
            </a:r>
            <a:r>
              <a:rPr lang="en-US" altLang="zh-TW" dirty="0">
                <a:latin typeface="Times New Roman" panose="02020603050405020304" pitchFamily="18" charset="0"/>
                <a:cs typeface="Times New Roman" panose="02020603050405020304" pitchFamily="18" charset="0"/>
              </a:rPr>
              <a:t> Zhu, Yi </a:t>
            </a:r>
            <a:r>
              <a:rPr lang="en-US" altLang="zh-TW" dirty="0" err="1">
                <a:latin typeface="Times New Roman" panose="02020603050405020304" pitchFamily="18" charset="0"/>
                <a:cs typeface="Times New Roman" panose="02020603050405020304" pitchFamily="18" charset="0"/>
              </a:rPr>
              <a:t>Zuo</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Tieshan</a:t>
            </a:r>
            <a:r>
              <a:rPr lang="en-US" altLang="zh-TW" dirty="0">
                <a:latin typeface="Times New Roman" panose="02020603050405020304" pitchFamily="18" charset="0"/>
                <a:cs typeface="Times New Roman" panose="02020603050405020304" pitchFamily="18" charset="0"/>
              </a:rPr>
              <a:t> Li</a:t>
            </a:r>
          </a:p>
          <a:p>
            <a:r>
              <a:rPr lang="en-US" altLang="zh-TW" dirty="0">
                <a:latin typeface="Times New Roman" panose="02020603050405020304" pitchFamily="18" charset="0"/>
                <a:cs typeface="Times New Roman" panose="02020603050405020304" pitchFamily="18" charset="0"/>
              </a:rPr>
              <a:t>2020 7th International Conference on Information, Cybernetics, and Computational Social Systems (ICCSS). IEEE. November 2020. Guangzhou, China.</a:t>
            </a:r>
            <a:endParaRPr lang="zh-TW" altLang="en-US"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Yu-Chen Lin</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dirty="0">
                <a:latin typeface="Times New Roman"/>
                <a:ea typeface="Times New Roman"/>
                <a:cs typeface="Times New Roman"/>
                <a:sym typeface="Times New Roman"/>
              </a:rPr>
              <a:t>Feb.</a:t>
            </a:r>
            <a:r>
              <a:rPr lang="zh-TW" sz="2000" dirty="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24</a:t>
            </a:r>
            <a:r>
              <a:rPr lang="zh-TW" sz="2000" dirty="0">
                <a:latin typeface="Times New Roman"/>
                <a:ea typeface="Times New Roman"/>
                <a:cs typeface="Times New Roman"/>
                <a:sym typeface="Times New Roman"/>
              </a:rPr>
              <a:t>, 202</a:t>
            </a:r>
            <a:r>
              <a:rPr lang="en-US" altLang="zh-TW" sz="2000" dirty="0">
                <a:latin typeface="Times New Roman"/>
                <a:ea typeface="Times New Roman"/>
                <a:cs typeface="Times New Roman"/>
                <a:sym typeface="Times New Roman"/>
              </a:rPr>
              <a:t>4</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98855893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Abstract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825625"/>
            <a:ext cx="10515600" cy="4351338"/>
          </a:xfrm>
        </p:spPr>
        <p:txBody>
          <a:bodyPr>
            <a:normAutofit fontScale="85000" lnSpcReduction="20000"/>
          </a:bodyPr>
          <a:lstStyle/>
          <a:p>
            <a:pPr marL="0" indent="0">
              <a:buNone/>
            </a:pPr>
            <a:r>
              <a:rPr lang="en-US" altLang="zh-TW" sz="2400" dirty="0">
                <a:latin typeface="Times New Roman" panose="02020603050405020304" pitchFamily="18" charset="0"/>
                <a:cs typeface="Times New Roman" panose="02020603050405020304" pitchFamily="18" charset="0"/>
              </a:rPr>
              <a:t>	</a:t>
            </a:r>
            <a:r>
              <a:rPr lang="en-US" altLang="zh-TW" sz="3100" dirty="0">
                <a:solidFill>
                  <a:srgbClr val="333333"/>
                </a:solidFill>
                <a:latin typeface="Times New Roman" panose="02020603050405020304" pitchFamily="18" charset="0"/>
                <a:cs typeface="Times New Roman" panose="02020603050405020304" pitchFamily="18" charset="0"/>
              </a:rPr>
              <a:t>Automatic Identification Systems (AIS) can provide massive ship trajectory data that is valuable for mining information in water traffic. However, it is also easy to cause the data redundancy, adding difficulty to the data processing. To address this problem, this paper proposes a trajectory simplification method based on the segmental clustering of the ship's speed and course. Firstly, the maneuver points of a trajectory are determined by the speed and course threshold. The trajectory is divided into segments in accordance with the maneuver points. Then, the feature points of each segment are extracted based on K-medoids clustering method. The maneuver points and feature points of every trajectory segments are combined as trajectory features to achieve the purpose of simplifying the ship's trajectory. The experiment results show that the method can well maintain the feature of original trajectory and eliminate the redundant track points in AIS trajectory. Compared with tradition Douglas-</a:t>
            </a:r>
            <a:r>
              <a:rPr lang="en-US" altLang="zh-TW" sz="3100" dirty="0" err="1">
                <a:solidFill>
                  <a:srgbClr val="333333"/>
                </a:solidFill>
                <a:latin typeface="Times New Roman" panose="02020603050405020304" pitchFamily="18" charset="0"/>
                <a:cs typeface="Times New Roman" panose="02020603050405020304" pitchFamily="18" charset="0"/>
              </a:rPr>
              <a:t>Peuker</a:t>
            </a:r>
            <a:r>
              <a:rPr lang="en-US" altLang="zh-TW" sz="3100" dirty="0">
                <a:solidFill>
                  <a:srgbClr val="333333"/>
                </a:solidFill>
                <a:latin typeface="Times New Roman" panose="02020603050405020304" pitchFamily="18" charset="0"/>
                <a:cs typeface="Times New Roman" panose="02020603050405020304" pitchFamily="18" charset="0"/>
              </a:rPr>
              <a:t> (DP) algorithm, the distortion rate could be reduced 0.2% with the same simplification.</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2</a:t>
            </a:fld>
            <a:endParaRPr lang="zh-TW" altLang="en-US"/>
          </a:p>
        </p:txBody>
      </p:sp>
    </p:spTree>
    <p:extLst>
      <p:ext uri="{BB962C8B-B14F-4D97-AF65-F5344CB8AC3E}">
        <p14:creationId xmlns:p14="http://schemas.microsoft.com/office/powerpoint/2010/main" val="210235064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AFC4445-144F-49E6-9300-2EA8C2A7F148}"/>
              </a:ext>
            </a:extLst>
          </p:cNvPr>
          <p:cNvSpPr>
            <a:spLocks noGrp="1"/>
          </p:cNvSpPr>
          <p:nvPr>
            <p:ph type="sldNum" sz="quarter" idx="12"/>
          </p:nvPr>
        </p:nvSpPr>
        <p:spPr/>
        <p:txBody>
          <a:bodyPr/>
          <a:lstStyle/>
          <a:p>
            <a:fld id="{55935506-5D51-4B07-8BDD-18CEF4E05E0A}" type="slidenum">
              <a:rPr lang="zh-TW" altLang="en-US" smtClean="0"/>
              <a:t>3</a:t>
            </a:fld>
            <a:endParaRPr lang="zh-TW" altLang="en-US"/>
          </a:p>
        </p:txBody>
      </p:sp>
      <p:sp>
        <p:nvSpPr>
          <p:cNvPr id="6" name="標題 1">
            <a:extLst>
              <a:ext uri="{FF2B5EF4-FFF2-40B4-BE49-F238E27FC236}">
                <a16:creationId xmlns:a16="http://schemas.microsoft.com/office/drawing/2014/main" id="{2F1E678D-C6A1-4769-83DA-AFB0E4C6076A}"/>
              </a:ext>
            </a:extLst>
          </p:cNvPr>
          <p:cNvSpPr>
            <a:spLocks noGrp="1"/>
          </p:cNvSpPr>
          <p:nvPr>
            <p:ph type="title"/>
          </p:nvPr>
        </p:nvSpPr>
        <p:spPr>
          <a:xfrm>
            <a:off x="838200" y="365125"/>
            <a:ext cx="10515600" cy="1325563"/>
          </a:xfrm>
        </p:spPr>
        <p:txBody>
          <a:bodyPr/>
          <a:lstStyle/>
          <a:p>
            <a:pPr algn="ctr"/>
            <a:r>
              <a:rPr lang="en-US" altLang="zh-TW" sz="4400" b="1" dirty="0">
                <a:solidFill>
                  <a:srgbClr val="333333"/>
                </a:solidFill>
                <a:latin typeface="Times New Roman" panose="02020603050405020304" pitchFamily="18" charset="0"/>
                <a:cs typeface="Times New Roman" panose="02020603050405020304" pitchFamily="18" charset="0"/>
              </a:rPr>
              <a:t>Trajectory Segmentation</a:t>
            </a:r>
            <a:endParaRPr lang="zh-TW" altLang="en-US" b="1" dirty="0"/>
          </a:p>
        </p:txBody>
      </p:sp>
      <p:pic>
        <p:nvPicPr>
          <p:cNvPr id="3" name="圖片 2">
            <a:extLst>
              <a:ext uri="{FF2B5EF4-FFF2-40B4-BE49-F238E27FC236}">
                <a16:creationId xmlns:a16="http://schemas.microsoft.com/office/drawing/2014/main" id="{918263C1-653B-1E01-5161-077446DB5F31}"/>
              </a:ext>
            </a:extLst>
          </p:cNvPr>
          <p:cNvPicPr>
            <a:picLocks noChangeAspect="1"/>
          </p:cNvPicPr>
          <p:nvPr/>
        </p:nvPicPr>
        <p:blipFill>
          <a:blip r:embed="rId2"/>
          <a:stretch>
            <a:fillRect/>
          </a:stretch>
        </p:blipFill>
        <p:spPr>
          <a:xfrm>
            <a:off x="838200" y="2352476"/>
            <a:ext cx="6649378" cy="2810267"/>
          </a:xfrm>
          <a:prstGeom prst="rect">
            <a:avLst/>
          </a:prstGeom>
        </p:spPr>
      </p:pic>
      <p:pic>
        <p:nvPicPr>
          <p:cNvPr id="7" name="圖片 6">
            <a:extLst>
              <a:ext uri="{FF2B5EF4-FFF2-40B4-BE49-F238E27FC236}">
                <a16:creationId xmlns:a16="http://schemas.microsoft.com/office/drawing/2014/main" id="{A9497975-55C1-0185-B29E-2E59F6F2C11C}"/>
              </a:ext>
            </a:extLst>
          </p:cNvPr>
          <p:cNvPicPr>
            <a:picLocks noChangeAspect="1"/>
          </p:cNvPicPr>
          <p:nvPr/>
        </p:nvPicPr>
        <p:blipFill>
          <a:blip r:embed="rId3"/>
          <a:stretch>
            <a:fillRect/>
          </a:stretch>
        </p:blipFill>
        <p:spPr>
          <a:xfrm>
            <a:off x="8056531" y="1457321"/>
            <a:ext cx="2794466" cy="4600575"/>
          </a:xfrm>
          <a:prstGeom prst="rect">
            <a:avLst/>
          </a:prstGeom>
        </p:spPr>
      </p:pic>
    </p:spTree>
    <p:extLst>
      <p:ext uri="{BB962C8B-B14F-4D97-AF65-F5344CB8AC3E}">
        <p14:creationId xmlns:p14="http://schemas.microsoft.com/office/powerpoint/2010/main" val="38537355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19F9D9C4-7867-F4D0-FACD-75C3CA83EFCD}"/>
              </a:ext>
            </a:extLst>
          </p:cNvPr>
          <p:cNvSpPr>
            <a:spLocks noGrp="1"/>
          </p:cNvSpPr>
          <p:nvPr>
            <p:ph idx="1"/>
          </p:nvPr>
        </p:nvSpPr>
        <p:spPr>
          <a:xfrm>
            <a:off x="838200" y="1092993"/>
            <a:ext cx="10515600" cy="5083969"/>
          </a:xfrm>
        </p:spPr>
        <p:txBody>
          <a:bodyPr/>
          <a:lstStyle/>
          <a:p>
            <a:pPr marL="514350" indent="-514350">
              <a:buFont typeface="+mj-lt"/>
              <a:buAutoNum type="arabicPeriod"/>
            </a:pPr>
            <a:r>
              <a:rPr lang="en-US" altLang="zh-TW" sz="2600" dirty="0">
                <a:solidFill>
                  <a:srgbClr val="333333"/>
                </a:solidFill>
                <a:latin typeface="Times New Roman" panose="02020603050405020304" pitchFamily="18" charset="0"/>
                <a:cs typeface="Times New Roman" panose="02020603050405020304" pitchFamily="18" charset="0"/>
              </a:rPr>
              <a:t>Initialize the set of maneuver point set </a:t>
            </a:r>
            <a:r>
              <a:rPr lang="en-US" altLang="zh-TW" sz="2600" i="1" u="sng" dirty="0" err="1">
                <a:solidFill>
                  <a:srgbClr val="333333"/>
                </a:solidFill>
                <a:latin typeface="Times New Roman" panose="02020603050405020304" pitchFamily="18" charset="0"/>
                <a:cs typeface="Times New Roman" panose="02020603050405020304" pitchFamily="18" charset="0"/>
              </a:rPr>
              <a:t>Fea</a:t>
            </a:r>
            <a:r>
              <a:rPr lang="en-US" altLang="zh-TW" sz="2600" dirty="0">
                <a:solidFill>
                  <a:srgbClr val="333333"/>
                </a:solidFill>
                <a:latin typeface="Times New Roman" panose="02020603050405020304" pitchFamily="18" charset="0"/>
                <a:cs typeface="Times New Roman" panose="02020603050405020304" pitchFamily="18" charset="0"/>
              </a:rPr>
              <a:t> to an empty set.</a:t>
            </a:r>
          </a:p>
          <a:p>
            <a:pPr marL="514350" indent="-514350">
              <a:buFont typeface="+mj-lt"/>
              <a:buAutoNum type="arabicPeriod"/>
            </a:pPr>
            <a:r>
              <a:rPr lang="en-US" altLang="zh-TW" sz="2600" dirty="0">
                <a:solidFill>
                  <a:srgbClr val="333333"/>
                </a:solidFill>
                <a:latin typeface="Times New Roman" panose="02020603050405020304" pitchFamily="18" charset="0"/>
                <a:cs typeface="Times New Roman" panose="02020603050405020304" pitchFamily="18" charset="0"/>
              </a:rPr>
              <a:t>Place trajectory start point into maneuver point set </a:t>
            </a:r>
            <a:r>
              <a:rPr lang="en-US" altLang="zh-TW" sz="2600" i="1" u="sng" dirty="0" err="1">
                <a:solidFill>
                  <a:srgbClr val="333333"/>
                </a:solidFill>
                <a:latin typeface="Times New Roman" panose="02020603050405020304" pitchFamily="18" charset="0"/>
                <a:cs typeface="Times New Roman" panose="02020603050405020304" pitchFamily="18" charset="0"/>
              </a:rPr>
              <a:t>Fea</a:t>
            </a:r>
            <a:r>
              <a:rPr lang="en-US" altLang="zh-TW" sz="2600" dirty="0">
                <a:solidFill>
                  <a:srgbClr val="333333"/>
                </a:solidFill>
                <a:latin typeface="Times New Roman" panose="02020603050405020304" pitchFamily="18" charset="0"/>
                <a:cs typeface="Times New Roman" panose="02020603050405020304" pitchFamily="18" charset="0"/>
              </a:rPr>
              <a:t> as feature point 1.</a:t>
            </a:r>
          </a:p>
          <a:p>
            <a:pPr marL="514350" indent="-514350">
              <a:buFont typeface="+mj-lt"/>
              <a:buAutoNum type="arabicPeriod"/>
            </a:pPr>
            <a:r>
              <a:rPr lang="en-US" altLang="zh-TW" sz="2600" dirty="0">
                <a:solidFill>
                  <a:srgbClr val="333333"/>
                </a:solidFill>
                <a:latin typeface="Times New Roman" panose="02020603050405020304" pitchFamily="18" charset="0"/>
                <a:cs typeface="Times New Roman" panose="02020603050405020304" pitchFamily="18" charset="0"/>
              </a:rPr>
              <a:t>Calculate the course and speed difference between trajectory point 2 and feature point 1. If the course or speed difference is greater than the set course or speed deviation threshold, place this trajectory point into maneuver point set </a:t>
            </a:r>
            <a:r>
              <a:rPr lang="en-US" altLang="zh-TW" sz="2600" i="1" u="sng" dirty="0" err="1">
                <a:solidFill>
                  <a:srgbClr val="333333"/>
                </a:solidFill>
                <a:latin typeface="Times New Roman" panose="02020603050405020304" pitchFamily="18" charset="0"/>
                <a:cs typeface="Times New Roman" panose="02020603050405020304" pitchFamily="18" charset="0"/>
              </a:rPr>
              <a:t>Fea</a:t>
            </a:r>
            <a:r>
              <a:rPr lang="en-US" altLang="zh-TW" sz="2600" dirty="0">
                <a:solidFill>
                  <a:srgbClr val="333333"/>
                </a:solidFill>
                <a:latin typeface="Times New Roman" panose="02020603050405020304" pitchFamily="18" charset="0"/>
                <a:cs typeface="Times New Roman" panose="02020603050405020304" pitchFamily="18" charset="0"/>
              </a:rPr>
              <a:t>. Otherwise, continue to assess the next trajectory point.</a:t>
            </a:r>
          </a:p>
          <a:p>
            <a:pPr marL="514350" indent="-514350">
              <a:buFont typeface="+mj-lt"/>
              <a:buAutoNum type="arabicPeriod"/>
            </a:pPr>
            <a:r>
              <a:rPr lang="en-US" altLang="zh-TW" sz="2600" dirty="0">
                <a:solidFill>
                  <a:srgbClr val="333333"/>
                </a:solidFill>
                <a:latin typeface="Times New Roman" panose="02020603050405020304" pitchFamily="18" charset="0"/>
                <a:cs typeface="Times New Roman" panose="02020603050405020304" pitchFamily="18" charset="0"/>
              </a:rPr>
              <a:t>Repeat step (3) until the last trajectory point is assessed.</a:t>
            </a:r>
            <a:endParaRPr lang="zh-TW" altLang="en-US" sz="2600" dirty="0">
              <a:solidFill>
                <a:srgbClr val="333333"/>
              </a:solidFill>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7080024-2793-576E-B17F-2BD56EF28131}"/>
              </a:ext>
            </a:extLst>
          </p:cNvPr>
          <p:cNvSpPr>
            <a:spLocks noGrp="1"/>
          </p:cNvSpPr>
          <p:nvPr>
            <p:ph type="sldNum" sz="quarter" idx="12"/>
          </p:nvPr>
        </p:nvSpPr>
        <p:spPr/>
        <p:txBody>
          <a:bodyPr/>
          <a:lstStyle/>
          <a:p>
            <a:fld id="{55935506-5D51-4B07-8BDD-18CEF4E05E0A}" type="slidenum">
              <a:rPr lang="zh-TW" altLang="en-US" smtClean="0"/>
              <a:t>4</a:t>
            </a:fld>
            <a:endParaRPr lang="zh-TW" altLang="en-US"/>
          </a:p>
        </p:txBody>
      </p:sp>
    </p:spTree>
    <p:extLst>
      <p:ext uri="{BB962C8B-B14F-4D97-AF65-F5344CB8AC3E}">
        <p14:creationId xmlns:p14="http://schemas.microsoft.com/office/powerpoint/2010/main" val="3564471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AFC4445-144F-49E6-9300-2EA8C2A7F148}"/>
              </a:ext>
            </a:extLst>
          </p:cNvPr>
          <p:cNvSpPr>
            <a:spLocks noGrp="1"/>
          </p:cNvSpPr>
          <p:nvPr>
            <p:ph type="sldNum" sz="quarter" idx="12"/>
          </p:nvPr>
        </p:nvSpPr>
        <p:spPr/>
        <p:txBody>
          <a:bodyPr/>
          <a:lstStyle/>
          <a:p>
            <a:fld id="{55935506-5D51-4B07-8BDD-18CEF4E05E0A}" type="slidenum">
              <a:rPr lang="zh-TW" altLang="en-US" smtClean="0"/>
              <a:t>5</a:t>
            </a:fld>
            <a:endParaRPr lang="zh-TW" altLang="en-US"/>
          </a:p>
        </p:txBody>
      </p:sp>
      <p:sp>
        <p:nvSpPr>
          <p:cNvPr id="6" name="標題 1">
            <a:extLst>
              <a:ext uri="{FF2B5EF4-FFF2-40B4-BE49-F238E27FC236}">
                <a16:creationId xmlns:a16="http://schemas.microsoft.com/office/drawing/2014/main" id="{2F1E678D-C6A1-4769-83DA-AFB0E4C6076A}"/>
              </a:ext>
            </a:extLst>
          </p:cNvPr>
          <p:cNvSpPr>
            <a:spLocks noGrp="1"/>
          </p:cNvSpPr>
          <p:nvPr>
            <p:ph type="title"/>
          </p:nvPr>
        </p:nvSpPr>
        <p:spPr>
          <a:xfrm>
            <a:off x="838200" y="365125"/>
            <a:ext cx="10515600" cy="1325563"/>
          </a:xfrm>
        </p:spPr>
        <p:txBody>
          <a:bodyPr/>
          <a:lstStyle/>
          <a:p>
            <a:pPr algn="ctr"/>
            <a:r>
              <a:rPr lang="en-US" altLang="zh-TW" b="1" dirty="0">
                <a:solidFill>
                  <a:srgbClr val="333333"/>
                </a:solidFill>
                <a:latin typeface="Times New Roman" panose="02020603050405020304" pitchFamily="18" charset="0"/>
                <a:cs typeface="Times New Roman" panose="02020603050405020304" pitchFamily="18" charset="0"/>
              </a:rPr>
              <a:t>Feature Extraction Based on K-Medoids Clustering Algorithm</a:t>
            </a:r>
            <a:endParaRPr lang="zh-TW" altLang="en-US" b="1" dirty="0"/>
          </a:p>
        </p:txBody>
      </p:sp>
      <p:sp>
        <p:nvSpPr>
          <p:cNvPr id="2" name="內容版面配置區 2">
            <a:extLst>
              <a:ext uri="{FF2B5EF4-FFF2-40B4-BE49-F238E27FC236}">
                <a16:creationId xmlns:a16="http://schemas.microsoft.com/office/drawing/2014/main" id="{6C32BB8C-7F79-E725-45BB-AD7FEB944839}"/>
              </a:ext>
            </a:extLst>
          </p:cNvPr>
          <p:cNvSpPr>
            <a:spLocks noGrp="1"/>
          </p:cNvSpPr>
          <p:nvPr>
            <p:ph idx="1"/>
          </p:nvPr>
        </p:nvSpPr>
        <p:spPr>
          <a:xfrm>
            <a:off x="838200" y="1825625"/>
            <a:ext cx="10515600" cy="4351338"/>
          </a:xfrm>
        </p:spPr>
        <p:txBody>
          <a:bodyPr>
            <a:normAutofit/>
          </a:bodyPr>
          <a:lstStyle/>
          <a:p>
            <a:r>
              <a:rPr lang="en-US" altLang="zh-TW" sz="2400" dirty="0">
                <a:solidFill>
                  <a:srgbClr val="333333"/>
                </a:solidFill>
                <a:latin typeface="Times New Roman" panose="02020603050405020304" pitchFamily="18" charset="0"/>
                <a:cs typeface="Times New Roman" panose="02020603050405020304" pitchFamily="18" charset="0"/>
              </a:rPr>
              <a:t>The changing magnitude in course and speed is relatively small between two adjacent trajectory feature points.</a:t>
            </a:r>
          </a:p>
          <a:p>
            <a:r>
              <a:rPr lang="en-US" altLang="zh-TW" sz="2400" dirty="0">
                <a:solidFill>
                  <a:srgbClr val="333333"/>
                </a:solidFill>
                <a:latin typeface="Times New Roman" panose="02020603050405020304" pitchFamily="18" charset="0"/>
                <a:cs typeface="Times New Roman" panose="02020603050405020304" pitchFamily="18" charset="0"/>
              </a:rPr>
              <a:t>The prementioned maneuver point extraction method could not effectively capture the characteristics of this kind of trajectory points.</a:t>
            </a:r>
          </a:p>
          <a:p>
            <a:r>
              <a:rPr lang="en-US" altLang="zh-TW" sz="2400" dirty="0">
                <a:solidFill>
                  <a:srgbClr val="333333"/>
                </a:solidFill>
                <a:latin typeface="Times New Roman" panose="02020603050405020304" pitchFamily="18" charset="0"/>
                <a:cs typeface="Times New Roman" panose="02020603050405020304" pitchFamily="18" charset="0"/>
              </a:rPr>
              <a:t>K-medoids clustering algorithm was adopted.</a:t>
            </a:r>
          </a:p>
        </p:txBody>
      </p:sp>
    </p:spTree>
    <p:extLst>
      <p:ext uri="{BB962C8B-B14F-4D97-AF65-F5344CB8AC3E}">
        <p14:creationId xmlns:p14="http://schemas.microsoft.com/office/powerpoint/2010/main" val="250430726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B93EFF61-D701-EDDD-C438-F87F9053F31E}"/>
              </a:ext>
            </a:extLst>
          </p:cNvPr>
          <p:cNvSpPr>
            <a:spLocks noGrp="1"/>
          </p:cNvSpPr>
          <p:nvPr>
            <p:ph type="sldNum" sz="quarter" idx="12"/>
          </p:nvPr>
        </p:nvSpPr>
        <p:spPr/>
        <p:txBody>
          <a:bodyPr/>
          <a:lstStyle/>
          <a:p>
            <a:fld id="{55935506-5D51-4B07-8BDD-18CEF4E05E0A}" type="slidenum">
              <a:rPr lang="zh-TW" altLang="en-US" smtClean="0"/>
              <a:t>6</a:t>
            </a:fld>
            <a:endParaRPr lang="zh-TW" altLang="en-US"/>
          </a:p>
        </p:txBody>
      </p:sp>
      <p:pic>
        <p:nvPicPr>
          <p:cNvPr id="6" name="圖片 5">
            <a:extLst>
              <a:ext uri="{FF2B5EF4-FFF2-40B4-BE49-F238E27FC236}">
                <a16:creationId xmlns:a16="http://schemas.microsoft.com/office/drawing/2014/main" id="{F657B31F-EBE6-5DCF-7B3E-0148D92B46CC}"/>
              </a:ext>
            </a:extLst>
          </p:cNvPr>
          <p:cNvPicPr>
            <a:picLocks noChangeAspect="1"/>
          </p:cNvPicPr>
          <p:nvPr/>
        </p:nvPicPr>
        <p:blipFill>
          <a:blip r:embed="rId2"/>
          <a:stretch>
            <a:fillRect/>
          </a:stretch>
        </p:blipFill>
        <p:spPr>
          <a:xfrm>
            <a:off x="4283257" y="0"/>
            <a:ext cx="3625486" cy="6858000"/>
          </a:xfrm>
          <a:prstGeom prst="rect">
            <a:avLst/>
          </a:prstGeom>
        </p:spPr>
      </p:pic>
    </p:spTree>
    <p:extLst>
      <p:ext uri="{BB962C8B-B14F-4D97-AF65-F5344CB8AC3E}">
        <p14:creationId xmlns:p14="http://schemas.microsoft.com/office/powerpoint/2010/main" val="4086641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AFC4445-144F-49E6-9300-2EA8C2A7F148}"/>
              </a:ext>
            </a:extLst>
          </p:cNvPr>
          <p:cNvSpPr>
            <a:spLocks noGrp="1"/>
          </p:cNvSpPr>
          <p:nvPr>
            <p:ph type="sldNum" sz="quarter" idx="12"/>
          </p:nvPr>
        </p:nvSpPr>
        <p:spPr/>
        <p:txBody>
          <a:bodyPr/>
          <a:lstStyle/>
          <a:p>
            <a:fld id="{55935506-5D51-4B07-8BDD-18CEF4E05E0A}" type="slidenum">
              <a:rPr lang="zh-TW" altLang="en-US" smtClean="0"/>
              <a:t>7</a:t>
            </a:fld>
            <a:endParaRPr lang="zh-TW" altLang="en-US"/>
          </a:p>
        </p:txBody>
      </p:sp>
      <p:sp>
        <p:nvSpPr>
          <p:cNvPr id="6" name="標題 1">
            <a:extLst>
              <a:ext uri="{FF2B5EF4-FFF2-40B4-BE49-F238E27FC236}">
                <a16:creationId xmlns:a16="http://schemas.microsoft.com/office/drawing/2014/main" id="{2F1E678D-C6A1-4769-83DA-AFB0E4C6076A}"/>
              </a:ext>
            </a:extLst>
          </p:cNvPr>
          <p:cNvSpPr>
            <a:spLocks noGrp="1"/>
          </p:cNvSpPr>
          <p:nvPr>
            <p:ph type="title"/>
          </p:nvPr>
        </p:nvSpPr>
        <p:spPr>
          <a:xfrm>
            <a:off x="838200" y="365125"/>
            <a:ext cx="10515600" cy="1325563"/>
          </a:xfrm>
        </p:spPr>
        <p:txBody>
          <a:bodyPr/>
          <a:lstStyle/>
          <a:p>
            <a:pPr algn="ctr"/>
            <a:r>
              <a:rPr lang="en-US" altLang="zh-TW" b="1" dirty="0">
                <a:solidFill>
                  <a:srgbClr val="333333"/>
                </a:solidFill>
                <a:latin typeface="Times New Roman" panose="02020603050405020304" pitchFamily="18" charset="0"/>
                <a:cs typeface="Times New Roman" panose="02020603050405020304" pitchFamily="18" charset="0"/>
              </a:rPr>
              <a:t>Evaluation Criteria</a:t>
            </a:r>
            <a:endParaRPr lang="zh-TW" altLang="en-US" b="1" dirty="0"/>
          </a:p>
        </p:txBody>
      </p:sp>
      <p:sp>
        <p:nvSpPr>
          <p:cNvPr id="2" name="內容版面配置區 2">
            <a:extLst>
              <a:ext uri="{FF2B5EF4-FFF2-40B4-BE49-F238E27FC236}">
                <a16:creationId xmlns:a16="http://schemas.microsoft.com/office/drawing/2014/main" id="{182FAEA2-F8A7-1BC9-5A2A-BDFA0FE7770F}"/>
              </a:ext>
            </a:extLst>
          </p:cNvPr>
          <p:cNvSpPr>
            <a:spLocks noGrp="1"/>
          </p:cNvSpPr>
          <p:nvPr>
            <p:ph idx="1"/>
          </p:nvPr>
        </p:nvSpPr>
        <p:spPr>
          <a:xfrm>
            <a:off x="838200" y="1825625"/>
            <a:ext cx="10515600" cy="4351338"/>
          </a:xfrm>
        </p:spPr>
        <p:txBody>
          <a:bodyPr>
            <a:normAutofit/>
          </a:bodyPr>
          <a:lstStyle/>
          <a:p>
            <a:r>
              <a:rPr lang="en-US" altLang="zh-TW" sz="2400" dirty="0">
                <a:solidFill>
                  <a:srgbClr val="333333"/>
                </a:solidFill>
                <a:latin typeface="Times New Roman" panose="02020603050405020304" pitchFamily="18" charset="0"/>
                <a:cs typeface="Times New Roman" panose="02020603050405020304" pitchFamily="18" charset="0"/>
              </a:rPr>
              <a:t>Simplification Rates</a:t>
            </a:r>
          </a:p>
          <a:p>
            <a:r>
              <a:rPr lang="en-US" altLang="zh-TW" sz="2400" dirty="0">
                <a:solidFill>
                  <a:srgbClr val="333333"/>
                </a:solidFill>
                <a:latin typeface="Times New Roman" panose="02020603050405020304" pitchFamily="18" charset="0"/>
                <a:cs typeface="Times New Roman" panose="02020603050405020304" pitchFamily="18" charset="0"/>
              </a:rPr>
              <a:t>Distortion Rates</a:t>
            </a:r>
          </a:p>
        </p:txBody>
      </p:sp>
    </p:spTree>
    <p:extLst>
      <p:ext uri="{BB962C8B-B14F-4D97-AF65-F5344CB8AC3E}">
        <p14:creationId xmlns:p14="http://schemas.microsoft.com/office/powerpoint/2010/main" val="260884804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AFC4445-144F-49E6-9300-2EA8C2A7F148}"/>
              </a:ext>
            </a:extLst>
          </p:cNvPr>
          <p:cNvSpPr>
            <a:spLocks noGrp="1"/>
          </p:cNvSpPr>
          <p:nvPr>
            <p:ph type="sldNum" sz="quarter" idx="12"/>
          </p:nvPr>
        </p:nvSpPr>
        <p:spPr/>
        <p:txBody>
          <a:bodyPr/>
          <a:lstStyle/>
          <a:p>
            <a:fld id="{55935506-5D51-4B07-8BDD-18CEF4E05E0A}" type="slidenum">
              <a:rPr lang="zh-TW" altLang="en-US" smtClean="0"/>
              <a:t>8</a:t>
            </a:fld>
            <a:endParaRPr lang="zh-TW" altLang="en-US"/>
          </a:p>
        </p:txBody>
      </p:sp>
      <p:sp>
        <p:nvSpPr>
          <p:cNvPr id="6" name="標題 1">
            <a:extLst>
              <a:ext uri="{FF2B5EF4-FFF2-40B4-BE49-F238E27FC236}">
                <a16:creationId xmlns:a16="http://schemas.microsoft.com/office/drawing/2014/main" id="{2F1E678D-C6A1-4769-83DA-AFB0E4C6076A}"/>
              </a:ext>
            </a:extLst>
          </p:cNvPr>
          <p:cNvSpPr>
            <a:spLocks noGrp="1"/>
          </p:cNvSpPr>
          <p:nvPr>
            <p:ph type="title"/>
          </p:nvPr>
        </p:nvSpPr>
        <p:spPr>
          <a:xfrm>
            <a:off x="838200" y="365125"/>
            <a:ext cx="10515600" cy="1325563"/>
          </a:xfrm>
        </p:spPr>
        <p:txBody>
          <a:bodyPr/>
          <a:lstStyle/>
          <a:p>
            <a:pPr algn="ctr"/>
            <a:r>
              <a:rPr lang="en-US" altLang="zh-TW" b="1" dirty="0">
                <a:solidFill>
                  <a:srgbClr val="333333"/>
                </a:solidFill>
                <a:latin typeface="Times New Roman" panose="02020603050405020304" pitchFamily="18" charset="0"/>
                <a:cs typeface="Times New Roman" panose="02020603050405020304" pitchFamily="18" charset="0"/>
              </a:rPr>
              <a:t>Simplification Rates</a:t>
            </a:r>
            <a:endParaRPr lang="zh-TW" altLang="en-US" b="1" dirty="0"/>
          </a:p>
        </p:txBody>
      </p:sp>
      <p:pic>
        <p:nvPicPr>
          <p:cNvPr id="5" name="圖片 4">
            <a:extLst>
              <a:ext uri="{FF2B5EF4-FFF2-40B4-BE49-F238E27FC236}">
                <a16:creationId xmlns:a16="http://schemas.microsoft.com/office/drawing/2014/main" id="{D0338FA4-C825-5D10-4F8B-5F470A281DE7}"/>
              </a:ext>
            </a:extLst>
          </p:cNvPr>
          <p:cNvPicPr>
            <a:picLocks noChangeAspect="1"/>
          </p:cNvPicPr>
          <p:nvPr/>
        </p:nvPicPr>
        <p:blipFill>
          <a:blip r:embed="rId2"/>
          <a:stretch>
            <a:fillRect/>
          </a:stretch>
        </p:blipFill>
        <p:spPr>
          <a:xfrm>
            <a:off x="4699170" y="2766218"/>
            <a:ext cx="2793659" cy="1325563"/>
          </a:xfrm>
          <a:prstGeom prst="rect">
            <a:avLst/>
          </a:prstGeom>
        </p:spPr>
      </p:pic>
    </p:spTree>
    <p:extLst>
      <p:ext uri="{BB962C8B-B14F-4D97-AF65-F5344CB8AC3E}">
        <p14:creationId xmlns:p14="http://schemas.microsoft.com/office/powerpoint/2010/main" val="282773891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CDB30F-8ACC-FC6F-0352-DAC62FAE2EBE}"/>
              </a:ext>
            </a:extLst>
          </p:cNvPr>
          <p:cNvSpPr>
            <a:spLocks noGrp="1"/>
          </p:cNvSpPr>
          <p:nvPr>
            <p:ph type="title"/>
          </p:nvPr>
        </p:nvSpPr>
        <p:spPr/>
        <p:txBody>
          <a:bodyPr>
            <a:normAutofit/>
          </a:bodyPr>
          <a:lstStyle/>
          <a:p>
            <a:pPr algn="ctr"/>
            <a:r>
              <a:rPr lang="en-US" altLang="zh-TW" b="1" i="0" dirty="0">
                <a:solidFill>
                  <a:srgbClr val="333333"/>
                </a:solidFill>
                <a:effectLst/>
                <a:latin typeface="Times New Roman" panose="02020603050405020304" pitchFamily="18" charset="0"/>
                <a:cs typeface="Times New Roman" panose="02020603050405020304" pitchFamily="18" charset="0"/>
              </a:rPr>
              <a:t>Distortion Rates</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2FCC596-F279-2428-A5E2-FB8242AB9653}"/>
              </a:ext>
            </a:extLst>
          </p:cNvPr>
          <p:cNvSpPr>
            <a:spLocks noGrp="1"/>
          </p:cNvSpPr>
          <p:nvPr>
            <p:ph type="sldNum" sz="quarter" idx="12"/>
          </p:nvPr>
        </p:nvSpPr>
        <p:spPr/>
        <p:txBody>
          <a:bodyPr/>
          <a:lstStyle/>
          <a:p>
            <a:fld id="{55935506-5D51-4B07-8BDD-18CEF4E05E0A}" type="slidenum">
              <a:rPr lang="zh-TW" altLang="en-US" smtClean="0"/>
              <a:t>9</a:t>
            </a:fld>
            <a:endParaRPr lang="zh-TW" altLang="en-US"/>
          </a:p>
        </p:txBody>
      </p:sp>
      <p:pic>
        <p:nvPicPr>
          <p:cNvPr id="1026" name="Picture 2">
            <a:extLst>
              <a:ext uri="{FF2B5EF4-FFF2-40B4-BE49-F238E27FC236}">
                <a16:creationId xmlns:a16="http://schemas.microsoft.com/office/drawing/2014/main" id="{91AEA94E-6845-B56B-D3FE-609E7801C6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8715" y="2017166"/>
            <a:ext cx="6074569" cy="4012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36908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CDB30F-8ACC-FC6F-0352-DAC62FAE2EBE}"/>
              </a:ext>
            </a:extLst>
          </p:cNvPr>
          <p:cNvSpPr>
            <a:spLocks noGrp="1"/>
          </p:cNvSpPr>
          <p:nvPr>
            <p:ph type="title"/>
          </p:nvPr>
        </p:nvSpPr>
        <p:spPr/>
        <p:txBody>
          <a:bodyPr>
            <a:normAutofit/>
          </a:bodyPr>
          <a:lstStyle/>
          <a:p>
            <a:pPr algn="ctr"/>
            <a:r>
              <a:rPr lang="en-US" altLang="zh-TW" b="1" i="0" dirty="0">
                <a:solidFill>
                  <a:srgbClr val="333333"/>
                </a:solidFill>
                <a:effectLst/>
                <a:latin typeface="Times New Roman" panose="02020603050405020304" pitchFamily="18" charset="0"/>
                <a:cs typeface="Times New Roman" panose="02020603050405020304" pitchFamily="18" charset="0"/>
              </a:rPr>
              <a:t>Dynamic Time Warping</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2FCC596-F279-2428-A5E2-FB8242AB9653}"/>
              </a:ext>
            </a:extLst>
          </p:cNvPr>
          <p:cNvSpPr>
            <a:spLocks noGrp="1"/>
          </p:cNvSpPr>
          <p:nvPr>
            <p:ph type="sldNum" sz="quarter" idx="12"/>
          </p:nvPr>
        </p:nvSpPr>
        <p:spPr/>
        <p:txBody>
          <a:bodyPr/>
          <a:lstStyle/>
          <a:p>
            <a:fld id="{55935506-5D51-4B07-8BDD-18CEF4E05E0A}" type="slidenum">
              <a:rPr lang="zh-TW" altLang="en-US" smtClean="0"/>
              <a:t>10</a:t>
            </a:fld>
            <a:endParaRPr lang="zh-TW" altLang="en-US"/>
          </a:p>
        </p:txBody>
      </p:sp>
      <p:pic>
        <p:nvPicPr>
          <p:cNvPr id="5" name="圖片 4">
            <a:extLst>
              <a:ext uri="{FF2B5EF4-FFF2-40B4-BE49-F238E27FC236}">
                <a16:creationId xmlns:a16="http://schemas.microsoft.com/office/drawing/2014/main" id="{1F75AB35-E2B9-9340-05C1-5A5686F9D9C7}"/>
              </a:ext>
            </a:extLst>
          </p:cNvPr>
          <p:cNvPicPr>
            <a:picLocks noChangeAspect="1"/>
          </p:cNvPicPr>
          <p:nvPr/>
        </p:nvPicPr>
        <p:blipFill>
          <a:blip r:embed="rId3"/>
          <a:stretch>
            <a:fillRect/>
          </a:stretch>
        </p:blipFill>
        <p:spPr>
          <a:xfrm>
            <a:off x="3249970" y="4369552"/>
            <a:ext cx="6220693" cy="533474"/>
          </a:xfrm>
          <a:prstGeom prst="rect">
            <a:avLst/>
          </a:prstGeom>
        </p:spPr>
      </p:pic>
      <p:pic>
        <p:nvPicPr>
          <p:cNvPr id="8" name="圖片 7">
            <a:extLst>
              <a:ext uri="{FF2B5EF4-FFF2-40B4-BE49-F238E27FC236}">
                <a16:creationId xmlns:a16="http://schemas.microsoft.com/office/drawing/2014/main" id="{7C105240-F7AB-D912-1F87-FAB69EE3BD0B}"/>
              </a:ext>
            </a:extLst>
          </p:cNvPr>
          <p:cNvPicPr>
            <a:picLocks noChangeAspect="1"/>
          </p:cNvPicPr>
          <p:nvPr/>
        </p:nvPicPr>
        <p:blipFill>
          <a:blip r:embed="rId4"/>
          <a:stretch>
            <a:fillRect/>
          </a:stretch>
        </p:blipFill>
        <p:spPr>
          <a:xfrm>
            <a:off x="2887970" y="4973611"/>
            <a:ext cx="6944694" cy="590632"/>
          </a:xfrm>
          <a:prstGeom prst="rect">
            <a:avLst/>
          </a:prstGeom>
        </p:spPr>
      </p:pic>
      <p:pic>
        <p:nvPicPr>
          <p:cNvPr id="10" name="圖片 9">
            <a:extLst>
              <a:ext uri="{FF2B5EF4-FFF2-40B4-BE49-F238E27FC236}">
                <a16:creationId xmlns:a16="http://schemas.microsoft.com/office/drawing/2014/main" id="{77BF9CCB-60A2-BD19-FAC0-51B20A0950FC}"/>
              </a:ext>
            </a:extLst>
          </p:cNvPr>
          <p:cNvPicPr>
            <a:picLocks noChangeAspect="1"/>
          </p:cNvPicPr>
          <p:nvPr/>
        </p:nvPicPr>
        <p:blipFill>
          <a:blip r:embed="rId5"/>
          <a:stretch>
            <a:fillRect/>
          </a:stretch>
        </p:blipFill>
        <p:spPr>
          <a:xfrm>
            <a:off x="838200" y="2042815"/>
            <a:ext cx="5527353" cy="1974610"/>
          </a:xfrm>
          <a:prstGeom prst="rect">
            <a:avLst/>
          </a:prstGeom>
        </p:spPr>
      </p:pic>
      <p:pic>
        <p:nvPicPr>
          <p:cNvPr id="12" name="圖片 11">
            <a:extLst>
              <a:ext uri="{FF2B5EF4-FFF2-40B4-BE49-F238E27FC236}">
                <a16:creationId xmlns:a16="http://schemas.microsoft.com/office/drawing/2014/main" id="{6F38E0F9-9FF3-94E0-7101-74A235DCFDE4}"/>
              </a:ext>
            </a:extLst>
          </p:cNvPr>
          <p:cNvPicPr>
            <a:picLocks noChangeAspect="1"/>
          </p:cNvPicPr>
          <p:nvPr/>
        </p:nvPicPr>
        <p:blipFill>
          <a:blip r:embed="rId6"/>
          <a:stretch>
            <a:fillRect/>
          </a:stretch>
        </p:blipFill>
        <p:spPr>
          <a:xfrm>
            <a:off x="8157490" y="1813555"/>
            <a:ext cx="2626345" cy="2231326"/>
          </a:xfrm>
          <a:prstGeom prst="rect">
            <a:avLst/>
          </a:prstGeom>
        </p:spPr>
      </p:pic>
    </p:spTree>
    <p:extLst>
      <p:ext uri="{BB962C8B-B14F-4D97-AF65-F5344CB8AC3E}">
        <p14:creationId xmlns:p14="http://schemas.microsoft.com/office/powerpoint/2010/main" val="6251548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C9097D3A-33CF-B095-4657-E90A83F60799}"/>
              </a:ext>
            </a:extLst>
          </p:cNvPr>
          <p:cNvSpPr>
            <a:spLocks noGrp="1"/>
          </p:cNvSpPr>
          <p:nvPr>
            <p:ph type="sldNum" sz="quarter" idx="12"/>
          </p:nvPr>
        </p:nvSpPr>
        <p:spPr/>
        <p:txBody>
          <a:bodyPr/>
          <a:lstStyle/>
          <a:p>
            <a:fld id="{55935506-5D51-4B07-8BDD-18CEF4E05E0A}" type="slidenum">
              <a:rPr lang="zh-TW" altLang="en-US" smtClean="0"/>
              <a:t>11</a:t>
            </a:fld>
            <a:endParaRPr lang="zh-TW" altLang="en-US"/>
          </a:p>
        </p:txBody>
      </p:sp>
      <p:pic>
        <p:nvPicPr>
          <p:cNvPr id="6" name="圖片 5">
            <a:extLst>
              <a:ext uri="{FF2B5EF4-FFF2-40B4-BE49-F238E27FC236}">
                <a16:creationId xmlns:a16="http://schemas.microsoft.com/office/drawing/2014/main" id="{59A68202-32BA-1FFE-8BF4-B009E4A48167}"/>
              </a:ext>
            </a:extLst>
          </p:cNvPr>
          <p:cNvPicPr>
            <a:picLocks noChangeAspect="1"/>
          </p:cNvPicPr>
          <p:nvPr/>
        </p:nvPicPr>
        <p:blipFill>
          <a:blip r:embed="rId2"/>
          <a:stretch>
            <a:fillRect/>
          </a:stretch>
        </p:blipFill>
        <p:spPr>
          <a:xfrm>
            <a:off x="1696008" y="918135"/>
            <a:ext cx="8799983" cy="5021729"/>
          </a:xfrm>
          <a:prstGeom prst="rect">
            <a:avLst/>
          </a:prstGeom>
        </p:spPr>
      </p:pic>
    </p:spTree>
    <p:extLst>
      <p:ext uri="{BB962C8B-B14F-4D97-AF65-F5344CB8AC3E}">
        <p14:creationId xmlns:p14="http://schemas.microsoft.com/office/powerpoint/2010/main" val="1417607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Douglas–</a:t>
            </a:r>
            <a:r>
              <a:rPr lang="en-US" altLang="zh-TW" b="1" dirty="0" err="1">
                <a:latin typeface="Times New Roman" panose="02020603050405020304" pitchFamily="18" charset="0"/>
                <a:cs typeface="Times New Roman" panose="02020603050405020304" pitchFamily="18" charset="0"/>
              </a:rPr>
              <a:t>Peucker</a:t>
            </a:r>
            <a:r>
              <a:rPr lang="en-US" altLang="zh-TW" b="1" dirty="0">
                <a:latin typeface="Times New Roman" panose="02020603050405020304" pitchFamily="18" charset="0"/>
                <a:cs typeface="Times New Roman" panose="02020603050405020304" pitchFamily="18" charset="0"/>
              </a:rPr>
              <a:t> algorithm</a:t>
            </a:r>
            <a:endParaRPr lang="zh-TW" altLang="en-US" dirty="0"/>
          </a:p>
        </p:txBody>
      </p:sp>
      <p:pic>
        <p:nvPicPr>
          <p:cNvPr id="2052" name="Picture 4" descr="undefined">
            <a:extLst>
              <a:ext uri="{FF2B5EF4-FFF2-40B4-BE49-F238E27FC236}">
                <a16:creationId xmlns:a16="http://schemas.microsoft.com/office/drawing/2014/main" id="{256B78F9-52A3-B25A-A638-C70C6E1EB2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4225" y="2528816"/>
            <a:ext cx="9823549" cy="3121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53167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36D5E-4024-498E-A668-E9A700FF18C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6149FE6-ACB0-BB80-E3C2-0E54B8E6A553}"/>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Experimental Results</a:t>
            </a:r>
            <a:endParaRPr lang="zh-TW" altLang="en-US" dirty="0"/>
          </a:p>
        </p:txBody>
      </p:sp>
      <p:pic>
        <p:nvPicPr>
          <p:cNvPr id="5" name="圖片 4">
            <a:extLst>
              <a:ext uri="{FF2B5EF4-FFF2-40B4-BE49-F238E27FC236}">
                <a16:creationId xmlns:a16="http://schemas.microsoft.com/office/drawing/2014/main" id="{12E03B38-638F-5711-E26A-193A2FBAD59B}"/>
              </a:ext>
            </a:extLst>
          </p:cNvPr>
          <p:cNvPicPr>
            <a:picLocks noChangeAspect="1"/>
          </p:cNvPicPr>
          <p:nvPr/>
        </p:nvPicPr>
        <p:blipFill>
          <a:blip r:embed="rId3"/>
          <a:stretch>
            <a:fillRect/>
          </a:stretch>
        </p:blipFill>
        <p:spPr>
          <a:xfrm>
            <a:off x="1851170" y="1690688"/>
            <a:ext cx="8489659" cy="4530055"/>
          </a:xfrm>
          <a:prstGeom prst="rect">
            <a:avLst/>
          </a:prstGeom>
        </p:spPr>
      </p:pic>
    </p:spTree>
    <p:extLst>
      <p:ext uri="{BB962C8B-B14F-4D97-AF65-F5344CB8AC3E}">
        <p14:creationId xmlns:p14="http://schemas.microsoft.com/office/powerpoint/2010/main" val="248852990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6615F0E9-02CA-CDAB-7A0C-85742ECD600C}"/>
              </a:ext>
            </a:extLst>
          </p:cNvPr>
          <p:cNvPicPr>
            <a:picLocks noChangeAspect="1"/>
          </p:cNvPicPr>
          <p:nvPr/>
        </p:nvPicPr>
        <p:blipFill>
          <a:blip r:embed="rId2"/>
          <a:stretch>
            <a:fillRect/>
          </a:stretch>
        </p:blipFill>
        <p:spPr>
          <a:xfrm>
            <a:off x="2315361" y="593520"/>
            <a:ext cx="7561278" cy="5670959"/>
          </a:xfrm>
          <a:prstGeom prst="rect">
            <a:avLst/>
          </a:prstGeom>
        </p:spPr>
      </p:pic>
      <p:pic>
        <p:nvPicPr>
          <p:cNvPr id="1029" name="Picture 5">
            <a:extLst>
              <a:ext uri="{FF2B5EF4-FFF2-40B4-BE49-F238E27FC236}">
                <a16:creationId xmlns:a16="http://schemas.microsoft.com/office/drawing/2014/main" id="{7C7EE261-2F94-BB9C-38EB-A29F25B8E1A4}"/>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2315361" y="591845"/>
            <a:ext cx="7561278" cy="5672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37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029"/>
                                        </p:tgtEl>
                                      </p:cBhvr>
                                    </p:animEffect>
                                    <p:set>
                                      <p:cBhvr>
                                        <p:cTn id="7" dur="1" fill="hold">
                                          <p:stCondLst>
                                            <p:cond delay="499"/>
                                          </p:stCondLst>
                                        </p:cTn>
                                        <p:tgtEl>
                                          <p:spTgt spid="10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Conclusion</a:t>
            </a:r>
            <a:endParaRPr lang="zh-TW" altLang="en-US" dirty="0"/>
          </a:p>
        </p:txBody>
      </p:sp>
      <p:sp>
        <p:nvSpPr>
          <p:cNvPr id="3" name="內容版面配置區 2">
            <a:extLst>
              <a:ext uri="{FF2B5EF4-FFF2-40B4-BE49-F238E27FC236}">
                <a16:creationId xmlns:a16="http://schemas.microsoft.com/office/drawing/2014/main" id="{3D6AEC88-211A-4C79-873B-599FBDE52DDC}"/>
              </a:ext>
            </a:extLst>
          </p:cNvPr>
          <p:cNvSpPr>
            <a:spLocks noGrp="1"/>
          </p:cNvSpPr>
          <p:nvPr>
            <p:ph idx="1"/>
          </p:nvPr>
        </p:nvSpPr>
        <p:spPr/>
        <p:txBody>
          <a:bodyPr>
            <a:normAutofit/>
          </a:bodyPr>
          <a:lstStyle/>
          <a:p>
            <a:r>
              <a:rPr lang="en-US" altLang="zh-TW" sz="2400" dirty="0">
                <a:solidFill>
                  <a:srgbClr val="333333"/>
                </a:solidFill>
                <a:latin typeface="Times New Roman" panose="02020603050405020304" pitchFamily="18" charset="0"/>
                <a:cs typeface="Times New Roman" panose="02020603050405020304" pitchFamily="18" charset="0"/>
              </a:rPr>
              <a:t>The proposed method mainly consisted of two modules, namely trajectory segmentation and segment feature extraction.</a:t>
            </a:r>
          </a:p>
          <a:p>
            <a:r>
              <a:rPr lang="en-US" altLang="zh-TW" sz="2400" dirty="0">
                <a:solidFill>
                  <a:srgbClr val="333333"/>
                </a:solidFill>
                <a:latin typeface="Times New Roman" panose="02020603050405020304" pitchFamily="18" charset="0"/>
                <a:cs typeface="Times New Roman" panose="02020603050405020304" pitchFamily="18" charset="0"/>
              </a:rPr>
              <a:t>Compared with the DP algorithm, the distortion rate of the compressed trajectory is significantly reduced with the same compression intensity.</a:t>
            </a:r>
          </a:p>
          <a:p>
            <a:r>
              <a:rPr lang="en-US" altLang="zh-TW" sz="2400" dirty="0">
                <a:solidFill>
                  <a:srgbClr val="333333"/>
                </a:solidFill>
                <a:latin typeface="Times New Roman" panose="02020603050405020304" pitchFamily="18" charset="0"/>
                <a:cs typeface="Times New Roman" panose="02020603050405020304" pitchFamily="18" charset="0"/>
              </a:rPr>
              <a:t>The algorithm maintains a good quality of simplification even under high intensity simplification requirements.</a:t>
            </a:r>
          </a:p>
        </p:txBody>
      </p:sp>
    </p:spTree>
    <p:extLst>
      <p:ext uri="{BB962C8B-B14F-4D97-AF65-F5344CB8AC3E}">
        <p14:creationId xmlns:p14="http://schemas.microsoft.com/office/powerpoint/2010/main" val="180262219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3380</TotalTime>
  <Words>480</Words>
  <Application>Microsoft Office PowerPoint</Application>
  <PresentationFormat>寬螢幕</PresentationFormat>
  <Paragraphs>45</Paragraphs>
  <Slides>15</Slides>
  <Notes>7</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15</vt:i4>
      </vt:variant>
    </vt:vector>
  </HeadingPairs>
  <TitlesOfParts>
    <vt:vector size="20" baseType="lpstr">
      <vt:lpstr>Arial</vt:lpstr>
      <vt:lpstr>Calibri</vt:lpstr>
      <vt:lpstr>Calibri Light</vt:lpstr>
      <vt:lpstr>Times New Roman</vt:lpstr>
      <vt:lpstr>Office 佈景主題</vt:lpstr>
      <vt:lpstr>A Trajectory Simplification Method Based on the Clustering of Vessel Speed and Course Segments</vt:lpstr>
      <vt:lpstr>Abstract</vt:lpstr>
      <vt:lpstr>Trajectory Segmentation</vt:lpstr>
      <vt:lpstr>PowerPoint 簡報</vt:lpstr>
      <vt:lpstr>Feature Extraction Based on K-Medoids Clustering Algorithm</vt:lpstr>
      <vt:lpstr>PowerPoint 簡報</vt:lpstr>
      <vt:lpstr>Evaluation Criteria</vt:lpstr>
      <vt:lpstr>Simplification Rates</vt:lpstr>
      <vt:lpstr>Distortion Rates</vt:lpstr>
      <vt:lpstr>Dynamic Time Warping</vt:lpstr>
      <vt:lpstr>PowerPoint 簡報</vt:lpstr>
      <vt:lpstr>Douglas–Peucker algorithm</vt:lpstr>
      <vt:lpstr>Experimental Results</vt:lpstr>
      <vt:lpstr>PowerPoint 簡報</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Local Alignment Algorithm for Multiple Sequences on Heterogeneous Cluster Systems</dc:title>
  <dc:creator>師老爸</dc:creator>
  <cp:lastModifiedBy>鈺宸 林</cp:lastModifiedBy>
  <cp:revision>83</cp:revision>
  <dcterms:created xsi:type="dcterms:W3CDTF">2022-11-14T21:21:39Z</dcterms:created>
  <dcterms:modified xsi:type="dcterms:W3CDTF">2024-02-27T10:36:06Z</dcterms:modified>
</cp:coreProperties>
</file>