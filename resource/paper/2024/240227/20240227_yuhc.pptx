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58" r:id="rId4"/>
    <p:sldId id="325" r:id="rId5"/>
    <p:sldId id="326" r:id="rId6"/>
    <p:sldId id="327" r:id="rId7"/>
    <p:sldId id="328" r:id="rId8"/>
    <p:sldId id="319" r:id="rId9"/>
    <p:sldId id="329" r:id="rId10"/>
    <p:sldId id="330" r:id="rId11"/>
    <p:sldId id="332" r:id="rId12"/>
    <p:sldId id="333" r:id="rId13"/>
    <p:sldId id="331" r:id="rId14"/>
    <p:sldId id="334" r:id="rId15"/>
    <p:sldId id="295" r:id="rId1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4" d="100"/>
          <a:sy n="114" d="100"/>
        </p:scale>
        <p:origin x="562" y="6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" name="Google Shape;6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" name="Google Shape;6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53935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" name="Google Shape;6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456484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" name="Google Shape;6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083927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" name="Google Shape;6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820453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" name="Google Shape;6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699365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" name="Google Shape;6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634995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" name="Google Shape;6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075816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" name="Google Shape;6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798539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" name="Google Shape;6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464966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" name="Google Shape;6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854694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" name="Google Shape;6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458869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e56bd8716d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g1e56bd8716d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TW"/>
              <a:t>Given a string S of length n, an integer p ∈ [1..n] is a period of S if S[i] = S[i + p] for all i ∈ [1..n − p].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TW"/>
              <a:t>S[|S| − p + 1] = c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189391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78"/>
              <a:buNone/>
            </a:pPr>
            <a:r>
              <a:rPr lang="en-US" altLang="zh-TW" sz="4800" dirty="0">
                <a:latin typeface="Times New Roman"/>
                <a:ea typeface="Times New Roman"/>
                <a:cs typeface="Times New Roman"/>
                <a:sym typeface="Times New Roman"/>
              </a:rPr>
              <a:t>An efficient algorithm for the Knight's tour problem</a:t>
            </a:r>
            <a:endParaRPr lang="en-US" sz="48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l-PL" altLang="zh-TW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Ian Parberry</a:t>
            </a:r>
            <a:endParaRPr lang="en-US" altLang="zh-TW"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altLang="zh-TW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Discrete Applied Mathematics, 73.3</a:t>
            </a:r>
            <a:r>
              <a:rPr lang="zh-TW" alt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altLang="zh-TW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(1997), 251-260.</a:t>
            </a:r>
            <a:endParaRPr lang="pl-PL"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4914600" y="4220100"/>
            <a:ext cx="42294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zh-TW" sz="2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Presenter: </a:t>
            </a:r>
            <a:r>
              <a:rPr lang="zh-TW" sz="2400" dirty="0">
                <a:latin typeface="Times New Roman"/>
                <a:ea typeface="Times New Roman"/>
                <a:cs typeface="Times New Roman"/>
                <a:sym typeface="Times New Roman"/>
              </a:rPr>
              <a:t>Hsin-Chang Yu</a:t>
            </a:r>
            <a:endParaRPr sz="2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zh-TW" sz="2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Date: </a:t>
            </a:r>
            <a:r>
              <a:rPr lang="en-US" altLang="zh-TW" sz="2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Feb</a:t>
            </a:r>
            <a:r>
              <a:rPr lang="zh-TW" sz="2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lang="en-US" altLang="zh-TW" sz="2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27</a:t>
            </a:r>
            <a:r>
              <a:rPr lang="zh-TW" sz="2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202</a:t>
            </a:r>
            <a:r>
              <a:rPr lang="en-US" altLang="zh-TW" sz="2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2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 dirty="0"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4234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100"/>
              <a:buNone/>
            </a:pPr>
            <a:r>
              <a:rPr lang="en-US" altLang="zh-TW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</a:t>
            </a:r>
            <a:r>
              <a:rPr lang="zh-TW" alt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alt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" name="Google Shape;63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altLang="zh-TW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altLang="zh-TW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 knight's tour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altLang="zh-TW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closed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knight's tour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" name="Google Shape;7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altLang="zh-TW"/>
              <a:t>3</a:t>
            </a:fld>
            <a:endParaRPr/>
          </a:p>
        </p:txBody>
      </p:sp>
      <p:sp>
        <p:nvSpPr>
          <p:cNvPr id="4" name="標題 3">
            <a:extLst>
              <a:ext uri="{FF2B5EF4-FFF2-40B4-BE49-F238E27FC236}">
                <a16:creationId xmlns:a16="http://schemas.microsoft.com/office/drawing/2014/main" id="{8B7A08BC-4A25-4F2D-AC36-04B115B29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sz="2800" dirty="0">
                <a:latin typeface="Times New Roman"/>
                <a:ea typeface="Times New Roman"/>
                <a:cs typeface="Times New Roman"/>
                <a:sym typeface="Times New Roman"/>
              </a:rPr>
              <a:t>Knight’s Tour</a:t>
            </a:r>
            <a:endParaRPr lang="zh-TW" alt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2A4084F-1A9A-42FA-A12B-E731B2544204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7871" y="858607"/>
            <a:ext cx="3602691" cy="3602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altLang="zh-TW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Schwenk</a:t>
            </a:r>
            <a:r>
              <a:rPr lang="zh-TW" alt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altLang="zh-TW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proved that for any </a:t>
            </a:r>
            <a:r>
              <a:rPr lang="en-US" altLang="zh-TW" sz="24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US" altLang="zh-TW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× </a:t>
            </a:r>
            <a:r>
              <a:rPr lang="en-US" altLang="zh-TW" sz="24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altLang="zh-TW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board with </a:t>
            </a:r>
            <a:r>
              <a:rPr lang="en-US" altLang="zh-TW" sz="24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US" altLang="zh-TW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≤ </a:t>
            </a:r>
            <a:r>
              <a:rPr lang="en-US" altLang="zh-TW" sz="24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altLang="zh-TW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closed knight's tour is always possible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altLang="zh-TW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unless:</a:t>
            </a:r>
          </a:p>
          <a:p>
            <a:pPr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+mj-lt"/>
              <a:buAutoNum type="arabicPeriod"/>
            </a:pPr>
            <a:r>
              <a:rPr lang="en-US" altLang="zh-TW" sz="24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US" altLang="zh-TW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-US" altLang="zh-TW" sz="24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altLang="zh-TW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are both odd</a:t>
            </a:r>
          </a:p>
          <a:p>
            <a:pPr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+mj-lt"/>
              <a:buAutoNum type="arabicPeriod"/>
            </a:pPr>
            <a:r>
              <a:rPr lang="en-US" altLang="zh-TW" sz="24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US" altLang="zh-TW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1, 2, or 4</a:t>
            </a:r>
          </a:p>
          <a:p>
            <a:pPr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+mj-lt"/>
              <a:buAutoNum type="arabicPeriod"/>
            </a:pPr>
            <a:r>
              <a:rPr lang="en-US" altLang="zh-TW" sz="24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US" altLang="zh-TW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3 and </a:t>
            </a:r>
            <a:r>
              <a:rPr lang="en-US" altLang="zh-TW" sz="24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altLang="zh-TW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4, 6, or 8.</a:t>
            </a: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" name="Google Shape;7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altLang="zh-TW"/>
              <a:t>4</a:t>
            </a:fld>
            <a:endParaRPr/>
          </a:p>
        </p:txBody>
      </p:sp>
      <p:sp>
        <p:nvSpPr>
          <p:cNvPr id="4" name="標題 3">
            <a:extLst>
              <a:ext uri="{FF2B5EF4-FFF2-40B4-BE49-F238E27FC236}">
                <a16:creationId xmlns:a16="http://schemas.microsoft.com/office/drawing/2014/main" id="{8B7A08BC-4A25-4F2D-AC36-04B115B29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altLang="zh-TW" sz="2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Closed </a:t>
            </a:r>
            <a:r>
              <a:rPr lang="en-US" altLang="zh-TW" dirty="0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altLang="zh-TW" sz="2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night's </a:t>
            </a:r>
            <a:r>
              <a:rPr lang="en-US" altLang="zh-TW" dirty="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US" altLang="zh-TW" sz="2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</a:t>
            </a:r>
          </a:p>
        </p:txBody>
      </p:sp>
      <p:pic>
        <p:nvPicPr>
          <p:cNvPr id="2050" name="Picture 2" descr="The Knight's Tour - SOUL OF MATHEMATICS">
            <a:extLst>
              <a:ext uri="{FF2B5EF4-FFF2-40B4-BE49-F238E27FC236}">
                <a16:creationId xmlns:a16="http://schemas.microsoft.com/office/drawing/2014/main" id="{FA13A2A2-D455-4BEF-B0A7-2AF2C68B15A1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3587" y="1725732"/>
            <a:ext cx="3190875" cy="3181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5500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AECC5B2E-0289-414B-8C84-9A51CF4AAA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9255" y="1391113"/>
            <a:ext cx="7320957" cy="3752387"/>
          </a:xfrm>
          <a:prstGeom prst="rect">
            <a:avLst/>
          </a:prstGeom>
        </p:spPr>
      </p:pic>
      <p:sp>
        <p:nvSpPr>
          <p:cNvPr id="69" name="Google Shape;69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altLang="zh-TW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random walk algorithm</a:t>
            </a: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" name="Google Shape;7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altLang="zh-TW"/>
              <a:t>5</a:t>
            </a:fld>
            <a:endParaRPr/>
          </a:p>
        </p:txBody>
      </p:sp>
      <p:sp>
        <p:nvSpPr>
          <p:cNvPr id="4" name="標題 3">
            <a:extLst>
              <a:ext uri="{FF2B5EF4-FFF2-40B4-BE49-F238E27FC236}">
                <a16:creationId xmlns:a16="http://schemas.microsoft.com/office/drawing/2014/main" id="{8B7A08BC-4A25-4F2D-AC36-04B115B29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altLang="zh-TW" dirty="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US" altLang="zh-TW" sz="2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ivide-and-conquer </a:t>
            </a:r>
            <a:r>
              <a:rPr lang="en-US" altLang="zh-TW" dirty="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altLang="zh-TW" sz="2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lgorithm 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977F638D-53F9-4E15-A71F-561A588136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700" y="1928482"/>
            <a:ext cx="2341655" cy="2334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3493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AECC5B2E-0289-414B-8C84-9A51CF4AAA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9255" y="1391113"/>
            <a:ext cx="7320957" cy="3752387"/>
          </a:xfrm>
          <a:prstGeom prst="rect">
            <a:avLst/>
          </a:prstGeom>
        </p:spPr>
      </p:pic>
      <p:sp>
        <p:nvSpPr>
          <p:cNvPr id="69" name="Google Shape;69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altLang="zh-TW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</a:t>
            </a:r>
            <a:r>
              <a:rPr lang="en-US" altLang="zh-TW" sz="24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altLang="zh-TW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x </a:t>
            </a:r>
            <a:r>
              <a:rPr lang="en-US" altLang="zh-TW" sz="24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altLang="zh-TW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an </a:t>
            </a:r>
            <a:r>
              <a:rPr lang="en-US" altLang="zh-TW" sz="24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altLang="zh-TW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x (</a:t>
            </a:r>
            <a:r>
              <a:rPr lang="en-US" altLang="zh-TW" sz="24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altLang="zh-TW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+ 2) board: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altLang="zh-TW" sz="24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altLang="zh-TW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4</a:t>
            </a:r>
            <a:r>
              <a:rPr lang="en-US" altLang="zh-TW" sz="24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</a:p>
          <a:p>
            <a:pPr marL="0" indent="0">
              <a:buNone/>
            </a:pPr>
            <a:r>
              <a:rPr lang="en-US" altLang="zh-TW" sz="24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altLang="zh-TW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4</a:t>
            </a:r>
            <a:r>
              <a:rPr lang="en-US" altLang="zh-TW" sz="24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zh-TW" alt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altLang="zh-TW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zh-TW" alt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altLang="zh-TW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" name="Google Shape;7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altLang="zh-TW"/>
              <a:t>6</a:t>
            </a:fld>
            <a:endParaRPr/>
          </a:p>
        </p:txBody>
      </p:sp>
      <p:sp>
        <p:nvSpPr>
          <p:cNvPr id="4" name="標題 3">
            <a:extLst>
              <a:ext uri="{FF2B5EF4-FFF2-40B4-BE49-F238E27FC236}">
                <a16:creationId xmlns:a16="http://schemas.microsoft.com/office/drawing/2014/main" id="{8B7A08BC-4A25-4F2D-AC36-04B115B29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altLang="zh-TW" dirty="0">
                <a:latin typeface="Times New Roman"/>
                <a:ea typeface="Times New Roman"/>
                <a:cs typeface="Times New Roman"/>
                <a:sym typeface="Times New Roman"/>
              </a:rPr>
              <a:t>Proof</a:t>
            </a:r>
            <a:endParaRPr lang="en-US" altLang="zh-TW" sz="2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399029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" name="Google Shape;7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altLang="zh-TW"/>
              <a:t>7</a:t>
            </a:fld>
            <a:endParaRPr/>
          </a:p>
        </p:txBody>
      </p:sp>
      <p:sp>
        <p:nvSpPr>
          <p:cNvPr id="4" name="標題 3">
            <a:extLst>
              <a:ext uri="{FF2B5EF4-FFF2-40B4-BE49-F238E27FC236}">
                <a16:creationId xmlns:a16="http://schemas.microsoft.com/office/drawing/2014/main" id="{8B7A08BC-4A25-4F2D-AC36-04B115B29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altLang="zh-TW" dirty="0">
                <a:latin typeface="Times New Roman"/>
                <a:ea typeface="Times New Roman"/>
                <a:cs typeface="Times New Roman"/>
                <a:sym typeface="Times New Roman"/>
              </a:rPr>
              <a:t>Proof</a:t>
            </a:r>
            <a:endParaRPr lang="en-US" altLang="zh-TW" sz="2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D0D0F59-4A4E-4E41-BD96-3B4BA3033C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648" y="1672931"/>
            <a:ext cx="3228975" cy="3381375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8CD7469A-114B-4C94-937B-4B6F78E15E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8042" y="1703760"/>
            <a:ext cx="3267075" cy="3419475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A46CE856-34A9-4906-A976-B4B44DEBED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6035" y="-42866"/>
            <a:ext cx="1784014" cy="1858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3232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" name="Google Shape;7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altLang="zh-TW"/>
              <a:t>8</a:t>
            </a:fld>
            <a:endParaRPr/>
          </a:p>
        </p:txBody>
      </p:sp>
      <p:sp>
        <p:nvSpPr>
          <p:cNvPr id="4" name="標題 3">
            <a:extLst>
              <a:ext uri="{FF2B5EF4-FFF2-40B4-BE49-F238E27FC236}">
                <a16:creationId xmlns:a16="http://schemas.microsoft.com/office/drawing/2014/main" id="{8B7A08BC-4A25-4F2D-AC36-04B115B29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>
                <a:latin typeface="Times New Roman"/>
                <a:ea typeface="Times New Roman"/>
                <a:cs typeface="Times New Roman"/>
                <a:sym typeface="Times New Roman"/>
              </a:rPr>
              <a:t>Result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F02EF3B-15D3-4BE8-B28B-8A7629F627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476" y="268967"/>
            <a:ext cx="4495800" cy="459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5809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64C77C46-D122-4A4B-921F-D4C1C79866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88258" y="341444"/>
            <a:ext cx="9144000" cy="4715373"/>
          </a:xfrm>
          <a:prstGeom prst="rect">
            <a:avLst/>
          </a:prstGeom>
        </p:spPr>
      </p:pic>
      <p:sp>
        <p:nvSpPr>
          <p:cNvPr id="69" name="Google Shape;69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" name="Google Shape;7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altLang="zh-TW"/>
              <a:t>9</a:t>
            </a:fld>
            <a:endParaRPr/>
          </a:p>
        </p:txBody>
      </p:sp>
      <p:sp>
        <p:nvSpPr>
          <p:cNvPr id="4" name="標題 3">
            <a:extLst>
              <a:ext uri="{FF2B5EF4-FFF2-40B4-BE49-F238E27FC236}">
                <a16:creationId xmlns:a16="http://schemas.microsoft.com/office/drawing/2014/main" id="{8B7A08BC-4A25-4F2D-AC36-04B115B29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>
                <a:latin typeface="Times New Roman"/>
                <a:ea typeface="Times New Roman"/>
                <a:cs typeface="Times New Roman"/>
                <a:sym typeface="Times New Roman"/>
              </a:rPr>
              <a:t>Result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349411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D32E5B18-4756-4FEE-AB0D-8B78FF03F9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270" y="494345"/>
            <a:ext cx="8323729" cy="4609007"/>
          </a:xfrm>
          <a:prstGeom prst="rect">
            <a:avLst/>
          </a:prstGeom>
        </p:spPr>
      </p:pic>
      <p:sp>
        <p:nvSpPr>
          <p:cNvPr id="69" name="Google Shape;69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" name="Google Shape;7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altLang="zh-TW"/>
              <a:t>10</a:t>
            </a:fld>
            <a:endParaRPr/>
          </a:p>
        </p:txBody>
      </p:sp>
      <p:sp>
        <p:nvSpPr>
          <p:cNvPr id="4" name="標題 3">
            <a:extLst>
              <a:ext uri="{FF2B5EF4-FFF2-40B4-BE49-F238E27FC236}">
                <a16:creationId xmlns:a16="http://schemas.microsoft.com/office/drawing/2014/main" id="{8B7A08BC-4A25-4F2D-AC36-04B115B29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>
                <a:latin typeface="Times New Roman"/>
                <a:ea typeface="Times New Roman"/>
                <a:cs typeface="Times New Roman"/>
                <a:sym typeface="Times New Roman"/>
              </a:rPr>
              <a:t>Proof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654484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" name="Google Shape;7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altLang="zh-TW"/>
              <a:t>11</a:t>
            </a:fld>
            <a:endParaRPr/>
          </a:p>
        </p:txBody>
      </p:sp>
      <p:sp>
        <p:nvSpPr>
          <p:cNvPr id="4" name="標題 3">
            <a:extLst>
              <a:ext uri="{FF2B5EF4-FFF2-40B4-BE49-F238E27FC236}">
                <a16:creationId xmlns:a16="http://schemas.microsoft.com/office/drawing/2014/main" id="{8B7A08BC-4A25-4F2D-AC36-04B115B29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>
                <a:latin typeface="Times New Roman"/>
                <a:ea typeface="Times New Roman"/>
                <a:cs typeface="Times New Roman"/>
                <a:sym typeface="Times New Roman"/>
              </a:rPr>
              <a:t>Proof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8640B84-3C2E-4379-A1AD-F9E9E67DAC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71238"/>
            <a:ext cx="9144000" cy="3001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3561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" name="Google Shape;7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altLang="zh-TW"/>
              <a:t>12</a:t>
            </a:fld>
            <a:endParaRPr/>
          </a:p>
        </p:txBody>
      </p:sp>
      <p:sp>
        <p:nvSpPr>
          <p:cNvPr id="4" name="標題 3">
            <a:extLst>
              <a:ext uri="{FF2B5EF4-FFF2-40B4-BE49-F238E27FC236}">
                <a16:creationId xmlns:a16="http://schemas.microsoft.com/office/drawing/2014/main" id="{8B7A08BC-4A25-4F2D-AC36-04B115B29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>
                <a:latin typeface="Times New Roman"/>
                <a:ea typeface="Times New Roman"/>
                <a:cs typeface="Times New Roman"/>
                <a:sym typeface="Times New Roman"/>
              </a:rPr>
              <a:t>Result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088D9F8-D973-4266-A8DF-1DDE9FE2C8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3569" y="0"/>
            <a:ext cx="541686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8327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altLang="zh-TW"/>
              <a:t>13</a:t>
            </a:fld>
            <a:endParaRPr/>
          </a:p>
        </p:txBody>
      </p:sp>
      <p:sp>
        <p:nvSpPr>
          <p:cNvPr id="4" name="標題 3">
            <a:extLst>
              <a:ext uri="{FF2B5EF4-FFF2-40B4-BE49-F238E27FC236}">
                <a16:creationId xmlns:a16="http://schemas.microsoft.com/office/drawing/2014/main" id="{8B7A08BC-4A25-4F2D-AC36-04B115B29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>
                <a:latin typeface="Times New Roman"/>
                <a:ea typeface="Times New Roman"/>
                <a:cs typeface="Times New Roman"/>
                <a:sym typeface="Times New Roman"/>
              </a:rPr>
              <a:t>Proof</a:t>
            </a:r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716F312F-A25F-4614-A0C1-87E0DD2108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1253048"/>
            <a:ext cx="2231912" cy="2303699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1F01FFBA-28CE-4EAC-A000-9D1C868C6E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3612" y="952500"/>
            <a:ext cx="2956586" cy="3027829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086F5796-A1EE-4962-A09F-11364D4254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3474" y="942975"/>
            <a:ext cx="2956586" cy="3045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9895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19D8F28D-FA28-4D95-A243-CD52BE50EC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0039"/>
            <a:ext cx="9144000" cy="4383421"/>
          </a:xfrm>
          <a:prstGeom prst="rect">
            <a:avLst/>
          </a:prstGeom>
        </p:spPr>
      </p:pic>
      <p:sp>
        <p:nvSpPr>
          <p:cNvPr id="70" name="Google Shape;7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altLang="zh-TW"/>
              <a:t>14</a:t>
            </a:fld>
            <a:endParaRPr/>
          </a:p>
        </p:txBody>
      </p:sp>
      <p:sp>
        <p:nvSpPr>
          <p:cNvPr id="4" name="標題 3">
            <a:extLst>
              <a:ext uri="{FF2B5EF4-FFF2-40B4-BE49-F238E27FC236}">
                <a16:creationId xmlns:a16="http://schemas.microsoft.com/office/drawing/2014/main" id="{8B7A08BC-4A25-4F2D-AC36-04B115B29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>
                <a:latin typeface="Times New Roman"/>
                <a:ea typeface="Times New Roman"/>
                <a:cs typeface="Times New Roman"/>
                <a:sym typeface="Times New Roman"/>
              </a:rPr>
              <a:t>Result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516690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>
            <a:spLocks noGrp="1"/>
          </p:cNvSpPr>
          <p:nvPr>
            <p:ph type="title"/>
          </p:nvPr>
        </p:nvSpPr>
        <p:spPr>
          <a:xfrm>
            <a:off x="0" y="1754841"/>
            <a:ext cx="9144000" cy="1902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 sz="4800" dirty="0">
                <a:latin typeface="Times New Roman"/>
                <a:ea typeface="Times New Roman"/>
                <a:cs typeface="Times New Roman"/>
                <a:sym typeface="Times New Roman"/>
              </a:rPr>
              <a:t>Thanks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 altLang="zh-TW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46282154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2062</TotalTime>
  <Words>211</Words>
  <Application>Microsoft Office PowerPoint</Application>
  <PresentationFormat>如螢幕大小 (16:9)</PresentationFormat>
  <Paragraphs>53</Paragraphs>
  <Slides>15</Slides>
  <Notes>15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18" baseType="lpstr">
      <vt:lpstr>Arial</vt:lpstr>
      <vt:lpstr>Times New Roman</vt:lpstr>
      <vt:lpstr>Simple Light</vt:lpstr>
      <vt:lpstr>An efficient algorithm for the Knight's tour problem</vt:lpstr>
      <vt:lpstr>Abstract</vt:lpstr>
      <vt:lpstr>Knight’s Tour</vt:lpstr>
      <vt:lpstr>Closed Knight's Tour</vt:lpstr>
      <vt:lpstr>Divide-and-conquer Algorithm </vt:lpstr>
      <vt:lpstr>Proof</vt:lpstr>
      <vt:lpstr>Proof</vt:lpstr>
      <vt:lpstr>Result</vt:lpstr>
      <vt:lpstr>Result</vt:lpstr>
      <vt:lpstr>Proof</vt:lpstr>
      <vt:lpstr>Proof</vt:lpstr>
      <vt:lpstr>Result</vt:lpstr>
      <vt:lpstr>Proof</vt:lpstr>
      <vt:lpstr>Result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Order-preserving pattern matching with k mismatches</dc:title>
  <cp:lastModifiedBy>鑫昌 俞</cp:lastModifiedBy>
  <cp:revision>103</cp:revision>
  <dcterms:modified xsi:type="dcterms:W3CDTF">2024-02-27T05:13:01Z</dcterms:modified>
</cp:coreProperties>
</file>