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sldIdLst>
    <p:sldId id="256" r:id="rId2"/>
    <p:sldId id="257" r:id="rId3"/>
    <p:sldId id="258" r:id="rId4"/>
    <p:sldId id="259" r:id="rId5"/>
    <p:sldId id="284" r:id="rId6"/>
    <p:sldId id="285" r:id="rId7"/>
    <p:sldId id="286" r:id="rId8"/>
    <p:sldId id="260" r:id="rId9"/>
    <p:sldId id="261" r:id="rId10"/>
    <p:sldId id="262" r:id="rId11"/>
    <p:sldId id="263" r:id="rId12"/>
    <p:sldId id="287" r:id="rId13"/>
    <p:sldId id="264" r:id="rId14"/>
    <p:sldId id="281" r:id="rId15"/>
    <p:sldId id="282" r:id="rId16"/>
    <p:sldId id="283" r:id="rId17"/>
    <p:sldId id="271" r:id="rId18"/>
    <p:sldId id="272" r:id="rId19"/>
    <p:sldId id="266" r:id="rId20"/>
    <p:sldId id="265" r:id="rId21"/>
    <p:sldId id="267" r:id="rId22"/>
    <p:sldId id="268" r:id="rId23"/>
    <p:sldId id="270" r:id="rId24"/>
    <p:sldId id="273" r:id="rId25"/>
    <p:sldId id="269" r:id="rId26"/>
    <p:sldId id="274" r:id="rId27"/>
    <p:sldId id="275" r:id="rId28"/>
    <p:sldId id="276" r:id="rId29"/>
    <p:sldId id="277" r:id="rId30"/>
    <p:sldId id="278" r:id="rId31"/>
    <p:sldId id="279" r:id="rId32"/>
    <p:sldId id="280" r:id="rId3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58" autoAdjust="0"/>
  </p:normalViewPr>
  <p:slideViewPr>
    <p:cSldViewPr>
      <p:cViewPr varScale="1">
        <p:scale>
          <a:sx n="102" d="100"/>
          <a:sy n="102" d="100"/>
        </p:scale>
        <p:origin x="-234"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B24463-29F0-41F4-BCA5-9270118B922F}" type="datetimeFigureOut">
              <a:rPr lang="zh-TW" altLang="en-US" smtClean="0"/>
              <a:pPr/>
              <a:t>2010/10/26</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C22687-A74F-4EA4-823A-104F3FB96710}"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1EE648A9-B39A-40CA-9A56-ADA4CA322EBF}" type="datetime1">
              <a:rPr lang="zh-TW" altLang="en-US" smtClean="0"/>
              <a:pPr/>
              <a:t>2010/10/26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2A71567-5F19-40BA-A122-4EE261C9AD44}"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6AAFC99-3203-4421-B761-858D4E264C88}" type="datetime1">
              <a:rPr lang="zh-TW" altLang="en-US" smtClean="0"/>
              <a:pPr/>
              <a:t>2010/10/26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2A71567-5F19-40BA-A122-4EE261C9AD44}"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69E976E7-6F4A-4793-BBB2-10599F1435E8}" type="datetime1">
              <a:rPr lang="zh-TW" altLang="en-US" smtClean="0"/>
              <a:pPr/>
              <a:t>2010/10/26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2A71567-5F19-40BA-A122-4EE261C9AD44}"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8EA129B-39EA-47CF-844A-7D0F49AAB6C4}" type="datetime1">
              <a:rPr lang="zh-TW" altLang="en-US" smtClean="0"/>
              <a:pPr/>
              <a:t>2010/10/26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2A71567-5F19-40BA-A122-4EE261C9AD44}"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DC400234-1ACE-4085-89AF-8115F4264A50}" type="datetime1">
              <a:rPr lang="zh-TW" altLang="en-US" smtClean="0"/>
              <a:pPr/>
              <a:t>2010/10/26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92A71567-5F19-40BA-A122-4EE261C9AD44}"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E632D094-0395-488A-9C8E-DEB39B1B621C}" type="datetime1">
              <a:rPr lang="zh-TW" altLang="en-US" smtClean="0"/>
              <a:pPr/>
              <a:t>2010/10/26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92A71567-5F19-40BA-A122-4EE261C9AD44}"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4372FE2-52E5-4202-AF9A-EAB7325A01B4}" type="datetime1">
              <a:rPr lang="zh-TW" altLang="en-US" smtClean="0"/>
              <a:pPr/>
              <a:t>2010/10/26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92A71567-5F19-40BA-A122-4EE261C9AD44}"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B74DEB6E-14F7-4796-84F4-5D2EC14268EE}" type="datetime1">
              <a:rPr lang="zh-TW" altLang="en-US" smtClean="0"/>
              <a:pPr/>
              <a:t>2010/10/26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2A71567-5F19-40BA-A122-4EE261C9AD44}"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EF6E058-284A-4AB5-BF48-E99A8B1BF486}" type="datetime1">
              <a:rPr lang="zh-TW" altLang="en-US" smtClean="0"/>
              <a:pPr/>
              <a:t>2010/10/26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2A71567-5F19-40BA-A122-4EE261C9AD44}"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1B8E63C1-D96A-42E1-A267-7354D212D851}" type="datetime1">
              <a:rPr lang="zh-TW" altLang="en-US" smtClean="0"/>
              <a:pPr/>
              <a:t>2010/10/26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2A71567-5F19-40BA-A122-4EE261C9AD44}"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860C555-50EE-40D7-B1D7-DCE4A84B30E3}" type="datetime1">
              <a:rPr lang="zh-TW" altLang="en-US" smtClean="0"/>
              <a:pPr/>
              <a:t>2010/10/26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2A71567-5F19-40BA-A122-4EE261C9AD44}"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08BFA1-0652-4D2C-8AB3-9D3396454AD7}" type="datetime1">
              <a:rPr lang="zh-TW" altLang="en-US" smtClean="0"/>
              <a:pPr/>
              <a:t>2010/10/26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A71567-5F19-40BA-A122-4EE261C9AD44}"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1.bin"/><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oleObject" Target="../embeddings/oleObject4.bin"/><Relationship Id="rId4" Type="http://schemas.openxmlformats.org/officeDocument/2006/relationships/image" Target="../media/image23.png"/><Relationship Id="rId9"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galaxy.agh.edu.pl/~vlsi/AI/backp_t_en/backprop.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29.png"/><Relationship Id="rId7" Type="http://schemas.openxmlformats.org/officeDocument/2006/relationships/hyperlink" Target="http://www.r-project.org/" TargetMode="External"/><Relationship Id="rId2" Type="http://schemas.openxmlformats.org/officeDocument/2006/relationships/hyperlink" Target="http://www.cs.waikato.ac.nz/ml/weka/" TargetMode="External"/><Relationship Id="rId1" Type="http://schemas.openxmlformats.org/officeDocument/2006/relationships/slideLayout" Target="../slideLayouts/slideLayout2.xml"/><Relationship Id="rId6" Type="http://schemas.openxmlformats.org/officeDocument/2006/relationships/hyperlink" Target="http://en.wikipedia.org/wiki/GNU_Octave" TargetMode="External"/><Relationship Id="rId5" Type="http://schemas.openxmlformats.org/officeDocument/2006/relationships/hyperlink" Target="http://en.wikipedia.org/wiki/R_(programming_language)" TargetMode="External"/><Relationship Id="rId4" Type="http://schemas.openxmlformats.org/officeDocument/2006/relationships/hyperlink" Target="http://en.wikipedia.org/wiki/Weka_(machine_learning)" TargetMode="External"/><Relationship Id="rId9" Type="http://schemas.openxmlformats.org/officeDocument/2006/relationships/image" Target="../media/image31.png"/></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323528" y="2130425"/>
            <a:ext cx="8424936" cy="1470025"/>
          </a:xfrm>
        </p:spPr>
        <p:txBody>
          <a:bodyPr>
            <a:normAutofit/>
          </a:bodyPr>
          <a:lstStyle/>
          <a:p>
            <a:r>
              <a:rPr lang="en-US" altLang="zh-TW" sz="2400" dirty="0" err="1" smtClean="0"/>
              <a:t>Chih</a:t>
            </a:r>
            <a:r>
              <a:rPr lang="en-US" altLang="zh-TW" sz="2400" dirty="0" smtClean="0"/>
              <a:t>-Fong Tsai (</a:t>
            </a:r>
            <a:r>
              <a:rPr lang="en-US" altLang="zh-TW" sz="2400" dirty="0" err="1" smtClean="0"/>
              <a:t>蔡志豐</a:t>
            </a:r>
            <a:r>
              <a:rPr lang="en-US" altLang="zh-TW" sz="2400" dirty="0" smtClean="0"/>
              <a:t>), Yu-</a:t>
            </a:r>
            <a:r>
              <a:rPr lang="en-US" altLang="zh-TW" sz="2400" dirty="0" err="1" smtClean="0"/>
              <a:t>Chieh</a:t>
            </a:r>
            <a:r>
              <a:rPr lang="en-US" altLang="zh-TW" sz="2400" dirty="0" smtClean="0"/>
              <a:t> Hsiao (</a:t>
            </a:r>
            <a:r>
              <a:rPr lang="en-US" altLang="zh-TW" sz="2400" dirty="0" err="1" smtClean="0"/>
              <a:t>蕭鈺潔</a:t>
            </a:r>
            <a:r>
              <a:rPr lang="en-US" altLang="zh-TW" sz="2400" dirty="0" smtClean="0"/>
              <a:t>)</a:t>
            </a:r>
            <a:br>
              <a:rPr lang="en-US" altLang="zh-TW" sz="2400" dirty="0" smtClean="0"/>
            </a:br>
            <a:r>
              <a:rPr lang="en-US" altLang="zh-TW" sz="2400" dirty="0" smtClean="0"/>
              <a:t>Department of Information Management, National Central University, Taiwan</a:t>
            </a:r>
            <a:endParaRPr lang="zh-TW" altLang="en-US" sz="2400" dirty="0"/>
          </a:p>
        </p:txBody>
      </p:sp>
      <p:sp>
        <p:nvSpPr>
          <p:cNvPr id="3" name="副標題 2"/>
          <p:cNvSpPr>
            <a:spLocks noGrp="1"/>
          </p:cNvSpPr>
          <p:nvPr>
            <p:ph type="subTitle" idx="1"/>
          </p:nvPr>
        </p:nvSpPr>
        <p:spPr>
          <a:xfrm>
            <a:off x="467544" y="3861048"/>
            <a:ext cx="8280920" cy="766936"/>
          </a:xfrm>
        </p:spPr>
        <p:txBody>
          <a:bodyPr>
            <a:normAutofit lnSpcReduction="10000"/>
          </a:bodyPr>
          <a:lstStyle/>
          <a:p>
            <a:r>
              <a:rPr lang="en-US" altLang="zh-TW" sz="2400" dirty="0" smtClean="0">
                <a:solidFill>
                  <a:schemeClr val="tx1"/>
                </a:solidFill>
              </a:rPr>
              <a:t>Decision Support Systems, In Press, </a:t>
            </a:r>
            <a:br>
              <a:rPr lang="en-US" altLang="zh-TW" sz="2400" dirty="0" smtClean="0">
                <a:solidFill>
                  <a:schemeClr val="tx1"/>
                </a:solidFill>
              </a:rPr>
            </a:br>
            <a:r>
              <a:rPr lang="en-US" altLang="zh-TW" sz="2400" dirty="0" smtClean="0">
                <a:solidFill>
                  <a:schemeClr val="tx1"/>
                </a:solidFill>
              </a:rPr>
              <a:t>Available on </a:t>
            </a:r>
            <a:r>
              <a:rPr lang="en-US" altLang="zh-TW" sz="2400" smtClean="0">
                <a:solidFill>
                  <a:schemeClr val="tx1"/>
                </a:solidFill>
              </a:rPr>
              <a:t>line August </a:t>
            </a:r>
            <a:r>
              <a:rPr lang="en-US" altLang="zh-TW" sz="2400" dirty="0" smtClean="0">
                <a:solidFill>
                  <a:schemeClr val="tx1"/>
                </a:solidFill>
              </a:rPr>
              <a:t>17, </a:t>
            </a:r>
            <a:r>
              <a:rPr lang="en-US" altLang="zh-TW" sz="2400" dirty="0" smtClean="0">
                <a:solidFill>
                  <a:schemeClr val="tx1"/>
                </a:solidFill>
              </a:rPr>
              <a:t>2010</a:t>
            </a:r>
            <a:endParaRPr lang="zh-TW" altLang="en-US" sz="2400" dirty="0">
              <a:solidFill>
                <a:schemeClr val="tx1"/>
              </a:solidFill>
            </a:endParaRPr>
          </a:p>
        </p:txBody>
      </p:sp>
      <p:sp>
        <p:nvSpPr>
          <p:cNvPr id="4" name="矩形 3"/>
          <p:cNvSpPr/>
          <p:nvPr/>
        </p:nvSpPr>
        <p:spPr>
          <a:xfrm>
            <a:off x="251520" y="548680"/>
            <a:ext cx="8640960" cy="1384995"/>
          </a:xfrm>
          <a:prstGeom prst="rect">
            <a:avLst/>
          </a:prstGeom>
        </p:spPr>
        <p:txBody>
          <a:bodyPr wrap="square">
            <a:spAutoFit/>
          </a:bodyPr>
          <a:lstStyle/>
          <a:p>
            <a:pPr algn="ctr"/>
            <a:r>
              <a:rPr lang="en-US" altLang="zh-TW" sz="2800" b="1" dirty="0"/>
              <a:t>Combining multiple feature selection methods for stock </a:t>
            </a:r>
            <a:r>
              <a:rPr lang="en-US" altLang="zh-TW" sz="2800" b="1" dirty="0" smtClean="0"/>
              <a:t>prediction: Union</a:t>
            </a:r>
            <a:r>
              <a:rPr lang="en-US" altLang="zh-TW" sz="2800" b="1" dirty="0"/>
              <a:t>, intersection, and multi-intersection approaches</a:t>
            </a:r>
            <a:endParaRPr lang="zh-TW" altLang="en-US" sz="2800" b="1" dirty="0"/>
          </a:p>
        </p:txBody>
      </p:sp>
      <p:sp>
        <p:nvSpPr>
          <p:cNvPr id="5" name="文字方塊 4"/>
          <p:cNvSpPr txBox="1"/>
          <p:nvPr/>
        </p:nvSpPr>
        <p:spPr>
          <a:xfrm>
            <a:off x="4788024" y="5157192"/>
            <a:ext cx="3714776" cy="830997"/>
          </a:xfrm>
          <a:prstGeom prst="rect">
            <a:avLst/>
          </a:prstGeom>
          <a:noFill/>
        </p:spPr>
        <p:txBody>
          <a:bodyPr wrap="square" rtlCol="0">
            <a:spAutoFit/>
          </a:bodyPr>
          <a:lstStyle/>
          <a:p>
            <a:r>
              <a:rPr lang="en-US" altLang="zh-TW" sz="2400" dirty="0" smtClean="0"/>
              <a:t>Presenter: Hung-</a:t>
            </a:r>
            <a:r>
              <a:rPr lang="en-US" altLang="zh-TW" sz="2400" dirty="0" err="1" smtClean="0"/>
              <a:t>Hsin</a:t>
            </a:r>
            <a:r>
              <a:rPr lang="en-US" altLang="zh-TW" sz="2400" dirty="0" smtClean="0"/>
              <a:t> Chen</a:t>
            </a:r>
          </a:p>
          <a:p>
            <a:r>
              <a:rPr lang="en-US" altLang="zh-TW" sz="2400" dirty="0" smtClean="0"/>
              <a:t>Date: Oct. 26, 2010</a:t>
            </a:r>
            <a:endParaRPr lang="zh-TW" altLang="en-US"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0"/>
            <a:ext cx="8229600" cy="908720"/>
          </a:xfrm>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179512" y="792088"/>
            <a:ext cx="8784976" cy="5445224"/>
          </a:xfrm>
        </p:spPr>
        <p:txBody>
          <a:bodyPr>
            <a:noAutofit/>
          </a:bodyPr>
          <a:lstStyle/>
          <a:p>
            <a:pPr marL="0" algn="just">
              <a:spcBef>
                <a:spcPts val="0"/>
              </a:spcBef>
              <a:buNone/>
            </a:pPr>
            <a:r>
              <a:rPr lang="en-US" altLang="zh-TW" sz="2000" dirty="0" smtClean="0"/>
              <a:t>To effectively predict stock price for investors is a very important research problem. In literature, data mining techniques have been applied to stock (market) prediction. Feature selection, a pre-processing step of data mining, aims at filtering out unrepresentative variables from a given dataset for effective prediction. As using different feature selection methods will lead to different features selected and thus affect the prediction performance</a:t>
            </a:r>
            <a:r>
              <a:rPr lang="en-US" altLang="zh-TW" sz="2000" u="sng" dirty="0" smtClean="0"/>
              <a:t>, </a:t>
            </a:r>
            <a:r>
              <a:rPr lang="en-US" altLang="zh-TW" sz="2000" u="sng" dirty="0" smtClean="0">
                <a:solidFill>
                  <a:srgbClr val="FF0000"/>
                </a:solidFill>
              </a:rPr>
              <a:t>the purpose of this paper is to combine multiple feature selection methods to identify more representative variables for better prediction. </a:t>
            </a:r>
            <a:r>
              <a:rPr lang="en-US" altLang="zh-TW" sz="2000" dirty="0" smtClean="0"/>
              <a:t>In particular, three well-known feature selection methods, which are </a:t>
            </a:r>
            <a:r>
              <a:rPr lang="en-US" altLang="zh-TW" sz="2000" u="sng" dirty="0" smtClean="0"/>
              <a:t>Principal Component Analysis (PCA), Genetic Algorithms (GA) and decision trees (CART), are used</a:t>
            </a:r>
            <a:r>
              <a:rPr lang="en-US" altLang="zh-TW" sz="2000" dirty="0" smtClean="0"/>
              <a:t>. The combination methods to filter out unrepresentative variables are based on </a:t>
            </a:r>
            <a:r>
              <a:rPr lang="en-US" altLang="zh-TW" sz="2000" u="sng" dirty="0" smtClean="0"/>
              <a:t>union, intersection, and multi-intersection strategies. </a:t>
            </a:r>
            <a:r>
              <a:rPr lang="en-US" altLang="zh-TW" sz="2000" dirty="0" smtClean="0"/>
              <a:t>For the prediction model, </a:t>
            </a:r>
            <a:r>
              <a:rPr lang="en-US" altLang="zh-TW" sz="2000" u="sng" dirty="0" smtClean="0"/>
              <a:t>the back-propagation neural network is developed.</a:t>
            </a:r>
            <a:r>
              <a:rPr lang="en-US" altLang="zh-TW" sz="2000" dirty="0" smtClean="0"/>
              <a:t> Experimental results show that the intersection between PCA and GA and the multi-intersection of PCA, GA, and CART perform the best, which are of 79% and 78.98% accuracy respectively. In addition, these two combined feature selection methods filter out near 80% unrepresentative features from 85 original variables, resulting in 14 and 17 important features respectively. These variables are the important factors for stock prediction and can be used for future investment decisions.</a:t>
            </a:r>
            <a:endParaRPr lang="zh-TW" altLang="en-US" sz="2000" dirty="0"/>
          </a:p>
        </p:txBody>
      </p:sp>
      <p:sp>
        <p:nvSpPr>
          <p:cNvPr id="4" name="投影片編號版面配置區 3"/>
          <p:cNvSpPr>
            <a:spLocks noGrp="1"/>
          </p:cNvSpPr>
          <p:nvPr>
            <p:ph type="sldNum" sz="quarter" idx="12"/>
          </p:nvPr>
        </p:nvSpPr>
        <p:spPr/>
        <p:txBody>
          <a:bodyPr/>
          <a:lstStyle/>
          <a:p>
            <a:fld id="{92A71567-5F19-40BA-A122-4EE261C9AD44}" type="slidenum">
              <a:rPr lang="zh-TW" altLang="en-US" smtClean="0"/>
              <a:pPr/>
              <a:t>2</a:t>
            </a:fld>
            <a:endParaRPr lang="zh-TW"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email"/>
          <a:srcRect/>
          <a:stretch>
            <a:fillRect/>
          </a:stretch>
        </p:blipFill>
        <p:spPr bwMode="auto">
          <a:xfrm>
            <a:off x="467544" y="46135"/>
            <a:ext cx="5688632" cy="6811865"/>
          </a:xfrm>
          <a:prstGeom prst="rect">
            <a:avLst/>
          </a:prstGeom>
          <a:noFill/>
          <a:ln w="9525">
            <a:noFill/>
            <a:miter lim="800000"/>
            <a:headEnd/>
            <a:tailEnd/>
          </a:ln>
        </p:spPr>
      </p:pic>
      <p:sp>
        <p:nvSpPr>
          <p:cNvPr id="5" name="流程圖: 程序 4"/>
          <p:cNvSpPr/>
          <p:nvPr/>
        </p:nvSpPr>
        <p:spPr>
          <a:xfrm>
            <a:off x="1547664" y="3140968"/>
            <a:ext cx="4608512" cy="1080120"/>
          </a:xfrm>
          <a:prstGeom prst="flowChartProcess">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圖說文字 5"/>
          <p:cNvSpPr/>
          <p:nvPr/>
        </p:nvSpPr>
        <p:spPr>
          <a:xfrm>
            <a:off x="6372200" y="2708920"/>
            <a:ext cx="2088232" cy="432048"/>
          </a:xfrm>
          <a:prstGeom prst="wedgeRoundRectCallout">
            <a:avLst>
              <a:gd name="adj1" fmla="val -54467"/>
              <a:gd name="adj2" fmla="val 83971"/>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dirty="0" smtClean="0"/>
              <a:t>Feature selection</a:t>
            </a:r>
            <a:endParaRPr lang="zh-TW" altLang="en-US" dirty="0"/>
          </a:p>
        </p:txBody>
      </p:sp>
      <p:sp>
        <p:nvSpPr>
          <p:cNvPr id="7" name="流程圖: 程序 6"/>
          <p:cNvSpPr/>
          <p:nvPr/>
        </p:nvSpPr>
        <p:spPr>
          <a:xfrm>
            <a:off x="467544" y="4437112"/>
            <a:ext cx="5688632" cy="1368152"/>
          </a:xfrm>
          <a:prstGeom prst="flowChartProcess">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圓角矩形圖說文字 7"/>
          <p:cNvSpPr/>
          <p:nvPr/>
        </p:nvSpPr>
        <p:spPr>
          <a:xfrm>
            <a:off x="6372200" y="4437112"/>
            <a:ext cx="2088232" cy="432048"/>
          </a:xfrm>
          <a:prstGeom prst="wedgeRoundRectCallout">
            <a:avLst>
              <a:gd name="adj1" fmla="val -54467"/>
              <a:gd name="adj2" fmla="val 83971"/>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TW" dirty="0" smtClean="0"/>
              <a:t>Prediction</a:t>
            </a:r>
            <a:endParaRPr lang="zh-TW" altLang="en-US" dirty="0"/>
          </a:p>
        </p:txBody>
      </p:sp>
      <p:sp>
        <p:nvSpPr>
          <p:cNvPr id="9" name="投影片編號版面配置區 8"/>
          <p:cNvSpPr>
            <a:spLocks noGrp="1"/>
          </p:cNvSpPr>
          <p:nvPr>
            <p:ph type="sldNum" sz="quarter" idx="12"/>
          </p:nvPr>
        </p:nvSpPr>
        <p:spPr/>
        <p:txBody>
          <a:bodyPr/>
          <a:lstStyle/>
          <a:p>
            <a:fld id="{92A71567-5F19-40BA-A122-4EE261C9AD44}" type="slidenum">
              <a:rPr lang="zh-TW" altLang="en-US" smtClean="0"/>
              <a:pPr/>
              <a:t>3</a:t>
            </a:fld>
            <a:endParaRPr lang="zh-TW"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1"/>
          <p:cNvSpPr>
            <a:spLocks noGrp="1"/>
          </p:cNvSpPr>
          <p:nvPr>
            <p:ph type="title"/>
          </p:nvPr>
        </p:nvSpPr>
        <p:spPr>
          <a:xfrm>
            <a:off x="457200" y="44624"/>
            <a:ext cx="8229600" cy="1143000"/>
          </a:xfrm>
        </p:spPr>
        <p:txBody>
          <a:bodyPr>
            <a:normAutofit/>
          </a:bodyPr>
          <a:lstStyle/>
          <a:p>
            <a:r>
              <a:rPr lang="en-US" altLang="zh-TW" dirty="0" smtClean="0"/>
              <a:t>Genetic Algorithm (GA)</a:t>
            </a:r>
            <a:endParaRPr lang="zh-TW" altLang="en-US" dirty="0"/>
          </a:p>
        </p:txBody>
      </p:sp>
      <p:pic>
        <p:nvPicPr>
          <p:cNvPr id="2051" name="Picture 3"/>
          <p:cNvPicPr>
            <a:picLocks noChangeAspect="1" noChangeArrowheads="1"/>
          </p:cNvPicPr>
          <p:nvPr/>
        </p:nvPicPr>
        <p:blipFill>
          <a:blip r:embed="rId2" cstate="email"/>
          <a:srcRect/>
          <a:stretch>
            <a:fillRect/>
          </a:stretch>
        </p:blipFill>
        <p:spPr bwMode="auto">
          <a:xfrm>
            <a:off x="1763688" y="1052736"/>
            <a:ext cx="4680520" cy="4032448"/>
          </a:xfrm>
          <a:prstGeom prst="rect">
            <a:avLst/>
          </a:prstGeom>
          <a:noFill/>
          <a:ln w="9525">
            <a:noFill/>
            <a:miter lim="800000"/>
            <a:headEnd/>
            <a:tailEnd/>
          </a:ln>
        </p:spPr>
      </p:pic>
      <p:sp>
        <p:nvSpPr>
          <p:cNvPr id="7" name="文字方塊 6"/>
          <p:cNvSpPr txBox="1"/>
          <p:nvPr/>
        </p:nvSpPr>
        <p:spPr>
          <a:xfrm>
            <a:off x="2699792" y="5373216"/>
            <a:ext cx="2952328" cy="1292662"/>
          </a:xfrm>
          <a:prstGeom prst="rect">
            <a:avLst/>
          </a:prstGeom>
          <a:noFill/>
        </p:spPr>
        <p:txBody>
          <a:bodyPr wrap="square" rtlCol="0">
            <a:spAutoFit/>
          </a:bodyPr>
          <a:lstStyle/>
          <a:p>
            <a:r>
              <a:rPr lang="en-US" altLang="zh-TW" dirty="0" smtClean="0">
                <a:solidFill>
                  <a:srgbClr val="FF0000"/>
                </a:solidFill>
              </a:rPr>
              <a:t>Parameters in this paper:</a:t>
            </a:r>
          </a:p>
          <a:p>
            <a:pPr>
              <a:buFont typeface="Arial" pitchFamily="34" charset="0"/>
              <a:buChar char="•"/>
            </a:pPr>
            <a:r>
              <a:rPr lang="en-US" altLang="zh-TW" sz="2000" dirty="0" smtClean="0"/>
              <a:t>Population size: 20</a:t>
            </a:r>
          </a:p>
          <a:p>
            <a:pPr>
              <a:buFont typeface="Arial" pitchFamily="34" charset="0"/>
              <a:buChar char="•"/>
            </a:pPr>
            <a:r>
              <a:rPr lang="en-US" altLang="zh-TW" sz="2000" dirty="0" smtClean="0"/>
              <a:t>Crossover rate: 60%</a:t>
            </a:r>
          </a:p>
          <a:p>
            <a:pPr>
              <a:buFont typeface="Arial" pitchFamily="34" charset="0"/>
              <a:buChar char="•"/>
            </a:pPr>
            <a:r>
              <a:rPr lang="en-US" altLang="zh-TW" sz="2000" dirty="0" smtClean="0"/>
              <a:t>Mutation rate: 3.3%</a:t>
            </a:r>
          </a:p>
        </p:txBody>
      </p:sp>
      <p:sp>
        <p:nvSpPr>
          <p:cNvPr id="8" name="投影片編號版面配置區 7"/>
          <p:cNvSpPr>
            <a:spLocks noGrp="1"/>
          </p:cNvSpPr>
          <p:nvPr>
            <p:ph type="sldNum" sz="quarter" idx="12"/>
          </p:nvPr>
        </p:nvSpPr>
        <p:spPr/>
        <p:txBody>
          <a:bodyPr/>
          <a:lstStyle/>
          <a:p>
            <a:fld id="{92A71567-5F19-40BA-A122-4EE261C9AD44}" type="slidenum">
              <a:rPr lang="zh-TW" altLang="en-US" smtClean="0"/>
              <a:pPr/>
              <a:t>4</a:t>
            </a:fld>
            <a:endParaRPr lang="zh-TW"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92A71567-5F19-40BA-A122-4EE261C9AD44}" type="slidenum">
              <a:rPr lang="zh-TW" altLang="en-US" smtClean="0"/>
              <a:pPr/>
              <a:t>5</a:t>
            </a:fld>
            <a:endParaRPr lang="zh-TW" altLang="en-US"/>
          </a:p>
        </p:txBody>
      </p:sp>
      <p:sp>
        <p:nvSpPr>
          <p:cNvPr id="5" name="文字方塊 4"/>
          <p:cNvSpPr txBox="1"/>
          <p:nvPr/>
        </p:nvSpPr>
        <p:spPr>
          <a:xfrm>
            <a:off x="72008" y="6290156"/>
            <a:ext cx="8964488" cy="523220"/>
          </a:xfrm>
          <a:prstGeom prst="rect">
            <a:avLst/>
          </a:prstGeom>
          <a:noFill/>
        </p:spPr>
        <p:txBody>
          <a:bodyPr wrap="square" rtlCol="0">
            <a:spAutoFit/>
          </a:bodyPr>
          <a:lstStyle/>
          <a:p>
            <a:r>
              <a:rPr lang="en-US" altLang="zh-TW" sz="1400" dirty="0" smtClean="0"/>
              <a:t>R. </a:t>
            </a:r>
            <a:r>
              <a:rPr lang="en-US" altLang="zh-TW" sz="1400" dirty="0" err="1" smtClean="0"/>
              <a:t>Sikora</a:t>
            </a:r>
            <a:r>
              <a:rPr lang="en-US" altLang="zh-TW" sz="1400" dirty="0" smtClean="0"/>
              <a:t>,  S. </a:t>
            </a:r>
            <a:r>
              <a:rPr lang="en-US" altLang="zh-TW" sz="1400" dirty="0" err="1" smtClean="0"/>
              <a:t>Piramuthu</a:t>
            </a:r>
            <a:r>
              <a:rPr lang="en-US" altLang="zh-TW" sz="1400" dirty="0" smtClean="0"/>
              <a:t>, Framework for efficient feature selection in genetic algorithm based data mining, European Journal of Operational Research 180 (2) (2007), 723-737.</a:t>
            </a:r>
            <a:endParaRPr lang="zh-TW" altLang="en-US" sz="1400" dirty="0"/>
          </a:p>
        </p:txBody>
      </p:sp>
      <p:pic>
        <p:nvPicPr>
          <p:cNvPr id="1026" name="Picture 2"/>
          <p:cNvPicPr>
            <a:picLocks noChangeAspect="1" noChangeArrowheads="1"/>
          </p:cNvPicPr>
          <p:nvPr/>
        </p:nvPicPr>
        <p:blipFill>
          <a:blip r:embed="rId2" cstate="email"/>
          <a:srcRect/>
          <a:stretch>
            <a:fillRect/>
          </a:stretch>
        </p:blipFill>
        <p:spPr bwMode="auto">
          <a:xfrm>
            <a:off x="0" y="0"/>
            <a:ext cx="3743325" cy="571500"/>
          </a:xfrm>
          <a:prstGeom prst="rect">
            <a:avLst/>
          </a:prstGeom>
          <a:noFill/>
          <a:ln w="9525">
            <a:noFill/>
            <a:miter lim="800000"/>
            <a:headEnd/>
            <a:tailEnd/>
          </a:ln>
        </p:spPr>
      </p:pic>
      <p:sp>
        <p:nvSpPr>
          <p:cNvPr id="7" name="文字方塊 6"/>
          <p:cNvSpPr txBox="1"/>
          <p:nvPr/>
        </p:nvSpPr>
        <p:spPr>
          <a:xfrm>
            <a:off x="3995936" y="188640"/>
            <a:ext cx="3888432" cy="369332"/>
          </a:xfrm>
          <a:prstGeom prst="rect">
            <a:avLst/>
          </a:prstGeom>
          <a:noFill/>
        </p:spPr>
        <p:txBody>
          <a:bodyPr wrap="square" rtlCol="0">
            <a:spAutoFit/>
          </a:bodyPr>
          <a:lstStyle/>
          <a:p>
            <a:r>
              <a:rPr lang="en-US" altLang="zh-TW" i="1" dirty="0" err="1" smtClean="0"/>
              <a:t>T</a:t>
            </a:r>
            <a:r>
              <a:rPr lang="en-US" altLang="zh-TW" dirty="0" err="1" smtClean="0"/>
              <a:t>個training</a:t>
            </a:r>
            <a:r>
              <a:rPr lang="en-US" altLang="zh-TW" dirty="0" smtClean="0"/>
              <a:t> samples, </a:t>
            </a:r>
            <a:r>
              <a:rPr lang="en-US" altLang="zh-TW" i="1" dirty="0" err="1" smtClean="0"/>
              <a:t>c</a:t>
            </a:r>
            <a:r>
              <a:rPr lang="en-US" altLang="zh-TW" dirty="0" err="1" smtClean="0"/>
              <a:t>為class</a:t>
            </a:r>
            <a:endParaRPr lang="zh-TW" altLang="en-US" dirty="0"/>
          </a:p>
        </p:txBody>
      </p:sp>
      <p:pic>
        <p:nvPicPr>
          <p:cNvPr id="1027" name="Picture 3"/>
          <p:cNvPicPr>
            <a:picLocks noChangeAspect="1" noChangeArrowheads="1"/>
          </p:cNvPicPr>
          <p:nvPr/>
        </p:nvPicPr>
        <p:blipFill>
          <a:blip r:embed="rId3" cstate="email"/>
          <a:srcRect/>
          <a:stretch>
            <a:fillRect/>
          </a:stretch>
        </p:blipFill>
        <p:spPr bwMode="auto">
          <a:xfrm>
            <a:off x="179512" y="548680"/>
            <a:ext cx="2781300" cy="600075"/>
          </a:xfrm>
          <a:prstGeom prst="rect">
            <a:avLst/>
          </a:prstGeom>
          <a:noFill/>
          <a:ln w="9525">
            <a:noFill/>
            <a:miter lim="800000"/>
            <a:headEnd/>
            <a:tailEnd/>
          </a:ln>
        </p:spPr>
      </p:pic>
      <p:sp>
        <p:nvSpPr>
          <p:cNvPr id="10" name="文字方塊 9"/>
          <p:cNvSpPr txBox="1"/>
          <p:nvPr/>
        </p:nvSpPr>
        <p:spPr>
          <a:xfrm>
            <a:off x="3995936" y="683404"/>
            <a:ext cx="3888432" cy="369332"/>
          </a:xfrm>
          <a:prstGeom prst="rect">
            <a:avLst/>
          </a:prstGeom>
          <a:noFill/>
        </p:spPr>
        <p:txBody>
          <a:bodyPr wrap="square" rtlCol="0">
            <a:spAutoFit/>
          </a:bodyPr>
          <a:lstStyle/>
          <a:p>
            <a:r>
              <a:rPr lang="zh-TW" altLang="en-US" dirty="0" smtClean="0"/>
              <a:t>每個</a:t>
            </a:r>
            <a:r>
              <a:rPr lang="en-US" altLang="zh-TW" dirty="0" err="1" smtClean="0"/>
              <a:t>sample有</a:t>
            </a:r>
            <a:r>
              <a:rPr lang="en-US" altLang="zh-TW" i="1" dirty="0" err="1" smtClean="0"/>
              <a:t>k</a:t>
            </a:r>
            <a:r>
              <a:rPr lang="en-US" altLang="zh-TW" dirty="0" err="1" smtClean="0"/>
              <a:t>個attributes</a:t>
            </a:r>
            <a:endParaRPr lang="zh-TW" altLang="en-US" dirty="0"/>
          </a:p>
        </p:txBody>
      </p:sp>
      <p:sp>
        <p:nvSpPr>
          <p:cNvPr id="11" name="文字方塊 10"/>
          <p:cNvSpPr txBox="1"/>
          <p:nvPr/>
        </p:nvSpPr>
        <p:spPr>
          <a:xfrm>
            <a:off x="179512" y="1196752"/>
            <a:ext cx="8280920" cy="646331"/>
          </a:xfrm>
          <a:prstGeom prst="rect">
            <a:avLst/>
          </a:prstGeom>
          <a:noFill/>
        </p:spPr>
        <p:txBody>
          <a:bodyPr wrap="square" rtlCol="0">
            <a:spAutoFit/>
          </a:bodyPr>
          <a:lstStyle/>
          <a:p>
            <a:r>
              <a:rPr lang="en-US" altLang="zh-TW" dirty="0" smtClean="0">
                <a:solidFill>
                  <a:srgbClr val="FF0000"/>
                </a:solidFill>
              </a:rPr>
              <a:t>Goal: </a:t>
            </a:r>
            <a:r>
              <a:rPr lang="en-US" altLang="zh-TW" dirty="0" smtClean="0"/>
              <a:t>Learn concepts that can </a:t>
            </a:r>
            <a:r>
              <a:rPr lang="en-US" altLang="zh-TW" dirty="0" smtClean="0">
                <a:solidFill>
                  <a:srgbClr val="0070C0"/>
                </a:solidFill>
              </a:rPr>
              <a:t>cover all of the positive examples without covering the negative examples.</a:t>
            </a:r>
            <a:endParaRPr lang="zh-TW" altLang="en-US" dirty="0">
              <a:solidFill>
                <a:srgbClr val="0070C0"/>
              </a:solidFill>
            </a:endParaRPr>
          </a:p>
        </p:txBody>
      </p:sp>
      <p:pic>
        <p:nvPicPr>
          <p:cNvPr id="1029" name="Picture 5"/>
          <p:cNvPicPr>
            <a:picLocks noChangeAspect="1" noChangeArrowheads="1"/>
          </p:cNvPicPr>
          <p:nvPr/>
        </p:nvPicPr>
        <p:blipFill>
          <a:blip r:embed="rId4" cstate="email"/>
          <a:srcRect/>
          <a:stretch>
            <a:fillRect/>
          </a:stretch>
        </p:blipFill>
        <p:spPr bwMode="auto">
          <a:xfrm>
            <a:off x="251520" y="1988840"/>
            <a:ext cx="3009900" cy="495300"/>
          </a:xfrm>
          <a:prstGeom prst="rect">
            <a:avLst/>
          </a:prstGeom>
          <a:noFill/>
          <a:ln w="9525">
            <a:noFill/>
            <a:miter lim="800000"/>
            <a:headEnd/>
            <a:tailEnd/>
          </a:ln>
        </p:spPr>
      </p:pic>
      <p:sp>
        <p:nvSpPr>
          <p:cNvPr id="13" name="文字方塊 12"/>
          <p:cNvSpPr txBox="1"/>
          <p:nvPr/>
        </p:nvSpPr>
        <p:spPr>
          <a:xfrm>
            <a:off x="3851920" y="1988840"/>
            <a:ext cx="3888432" cy="369332"/>
          </a:xfrm>
          <a:prstGeom prst="rect">
            <a:avLst/>
          </a:prstGeom>
          <a:noFill/>
        </p:spPr>
        <p:txBody>
          <a:bodyPr wrap="square" rtlCol="0">
            <a:spAutoFit/>
          </a:bodyPr>
          <a:lstStyle/>
          <a:p>
            <a:r>
              <a:rPr lang="en-US" altLang="zh-TW" dirty="0" smtClean="0"/>
              <a:t>Concept </a:t>
            </a:r>
            <a:r>
              <a:rPr lang="el-GR" altLang="zh-TW" dirty="0" smtClean="0"/>
              <a:t>Ω</a:t>
            </a:r>
            <a:r>
              <a:rPr lang="en-US" altLang="zh-TW" dirty="0" err="1" smtClean="0"/>
              <a:t>為DNF型式</a:t>
            </a:r>
            <a:endParaRPr lang="zh-TW" altLang="en-US" dirty="0"/>
          </a:p>
        </p:txBody>
      </p:sp>
      <p:pic>
        <p:nvPicPr>
          <p:cNvPr id="1030" name="Picture 6"/>
          <p:cNvPicPr>
            <a:picLocks noChangeAspect="1" noChangeArrowheads="1"/>
          </p:cNvPicPr>
          <p:nvPr/>
        </p:nvPicPr>
        <p:blipFill>
          <a:blip r:embed="rId5" cstate="email"/>
          <a:srcRect/>
          <a:stretch>
            <a:fillRect/>
          </a:stretch>
        </p:blipFill>
        <p:spPr bwMode="auto">
          <a:xfrm>
            <a:off x="179512" y="2420888"/>
            <a:ext cx="2809875" cy="495300"/>
          </a:xfrm>
          <a:prstGeom prst="rect">
            <a:avLst/>
          </a:prstGeom>
          <a:noFill/>
          <a:ln w="9525">
            <a:noFill/>
            <a:miter lim="800000"/>
            <a:headEnd/>
            <a:tailEnd/>
          </a:ln>
        </p:spPr>
      </p:pic>
      <p:sp>
        <p:nvSpPr>
          <p:cNvPr id="15" name="文字方塊 14"/>
          <p:cNvSpPr txBox="1"/>
          <p:nvPr/>
        </p:nvSpPr>
        <p:spPr>
          <a:xfrm>
            <a:off x="3851920" y="2492896"/>
            <a:ext cx="4968552" cy="369332"/>
          </a:xfrm>
          <a:prstGeom prst="rect">
            <a:avLst/>
          </a:prstGeom>
          <a:noFill/>
        </p:spPr>
        <p:txBody>
          <a:bodyPr wrap="square" rtlCol="0">
            <a:spAutoFit/>
          </a:bodyPr>
          <a:lstStyle/>
          <a:p>
            <a:r>
              <a:rPr lang="el-GR" altLang="zh-TW" dirty="0" smtClean="0"/>
              <a:t>δ</a:t>
            </a:r>
            <a:r>
              <a:rPr lang="en-US" altLang="zh-TW" baseline="-25000" dirty="0" err="1" smtClean="0"/>
              <a:t>i</a:t>
            </a:r>
            <a:r>
              <a:rPr lang="en-US" altLang="zh-TW" dirty="0" err="1" smtClean="0"/>
              <a:t>由k個attributes組成</a:t>
            </a:r>
            <a:r>
              <a:rPr lang="en-US" altLang="zh-TW" dirty="0" smtClean="0"/>
              <a:t>, </a:t>
            </a:r>
            <a:r>
              <a:rPr lang="el-GR" altLang="zh-TW" dirty="0" smtClean="0"/>
              <a:t>ζ</a:t>
            </a:r>
            <a:r>
              <a:rPr lang="en-US" altLang="zh-TW" baseline="-25000" dirty="0" err="1" smtClean="0"/>
              <a:t>j,i</a:t>
            </a:r>
            <a:r>
              <a:rPr lang="en-US" altLang="zh-TW" dirty="0" smtClean="0"/>
              <a:t> is a closed interval [</a:t>
            </a:r>
            <a:r>
              <a:rPr lang="en-US" altLang="zh-TW" dirty="0" err="1" smtClean="0"/>
              <a:t>a</a:t>
            </a:r>
            <a:r>
              <a:rPr lang="en-US" altLang="zh-TW" baseline="-25000" dirty="0" err="1" smtClean="0"/>
              <a:t>i</a:t>
            </a:r>
            <a:r>
              <a:rPr lang="en-US" altLang="zh-TW" dirty="0" smtClean="0"/>
              <a:t>,  </a:t>
            </a:r>
            <a:r>
              <a:rPr lang="en-US" altLang="zh-TW" dirty="0" err="1" smtClean="0"/>
              <a:t>b</a:t>
            </a:r>
            <a:r>
              <a:rPr lang="en-US" altLang="zh-TW" baseline="-25000" dirty="0" err="1" smtClean="0"/>
              <a:t>j</a:t>
            </a:r>
            <a:r>
              <a:rPr lang="en-US" altLang="zh-TW" dirty="0" smtClean="0"/>
              <a:t>]</a:t>
            </a:r>
            <a:endParaRPr lang="zh-TW" altLang="en-US" dirty="0" smtClean="0"/>
          </a:p>
        </p:txBody>
      </p:sp>
      <p:sp>
        <p:nvSpPr>
          <p:cNvPr id="16" name="文字方塊 15"/>
          <p:cNvSpPr txBox="1"/>
          <p:nvPr/>
        </p:nvSpPr>
        <p:spPr>
          <a:xfrm>
            <a:off x="3923928" y="3140968"/>
            <a:ext cx="4392488" cy="369332"/>
          </a:xfrm>
          <a:prstGeom prst="rect">
            <a:avLst/>
          </a:prstGeom>
          <a:noFill/>
        </p:spPr>
        <p:txBody>
          <a:bodyPr wrap="square" rtlCol="0">
            <a:spAutoFit/>
          </a:bodyPr>
          <a:lstStyle/>
          <a:p>
            <a:r>
              <a:rPr lang="en-US" altLang="zh-TW" dirty="0" smtClean="0"/>
              <a:t>we called </a:t>
            </a:r>
            <a:r>
              <a:rPr lang="el-GR" altLang="zh-TW" dirty="0" smtClean="0"/>
              <a:t>δ</a:t>
            </a:r>
            <a:r>
              <a:rPr lang="en-US" altLang="zh-TW" baseline="-25000" dirty="0" err="1" smtClean="0"/>
              <a:t>i</a:t>
            </a:r>
            <a:r>
              <a:rPr lang="en-US" altLang="zh-TW" dirty="0" smtClean="0"/>
              <a:t> covers an example E</a:t>
            </a:r>
            <a:r>
              <a:rPr lang="en-US" altLang="zh-TW" baseline="-25000" dirty="0" smtClean="0"/>
              <a:t>t</a:t>
            </a:r>
            <a:endParaRPr lang="zh-TW" altLang="en-US" dirty="0"/>
          </a:p>
        </p:txBody>
      </p:sp>
      <p:pic>
        <p:nvPicPr>
          <p:cNvPr id="1031" name="Picture 7"/>
          <p:cNvPicPr>
            <a:picLocks noChangeAspect="1" noChangeArrowheads="1"/>
          </p:cNvPicPr>
          <p:nvPr/>
        </p:nvPicPr>
        <p:blipFill>
          <a:blip r:embed="rId6" cstate="email"/>
          <a:srcRect/>
          <a:stretch>
            <a:fillRect/>
          </a:stretch>
        </p:blipFill>
        <p:spPr bwMode="auto">
          <a:xfrm>
            <a:off x="179512" y="3068960"/>
            <a:ext cx="3800475" cy="495300"/>
          </a:xfrm>
          <a:prstGeom prst="rect">
            <a:avLst/>
          </a:prstGeom>
          <a:noFill/>
          <a:ln w="9525">
            <a:noFill/>
            <a:miter lim="800000"/>
            <a:headEnd/>
            <a:tailEnd/>
          </a:ln>
        </p:spPr>
      </p:pic>
      <p:sp>
        <p:nvSpPr>
          <p:cNvPr id="18" name="文字方塊 17"/>
          <p:cNvSpPr txBox="1"/>
          <p:nvPr/>
        </p:nvSpPr>
        <p:spPr>
          <a:xfrm>
            <a:off x="323528" y="3789040"/>
            <a:ext cx="3384376" cy="369332"/>
          </a:xfrm>
          <a:prstGeom prst="rect">
            <a:avLst/>
          </a:prstGeom>
          <a:noFill/>
        </p:spPr>
        <p:txBody>
          <a:bodyPr wrap="square" rtlCol="0">
            <a:spAutoFit/>
          </a:bodyPr>
          <a:lstStyle/>
          <a:p>
            <a:r>
              <a:rPr lang="en-US" altLang="zh-TW" dirty="0" smtClean="0">
                <a:solidFill>
                  <a:srgbClr val="FF0000"/>
                </a:solidFill>
              </a:rPr>
              <a:t>fitness function:</a:t>
            </a:r>
            <a:endParaRPr lang="zh-TW" altLang="en-US" dirty="0">
              <a:solidFill>
                <a:srgbClr val="FF0000"/>
              </a:solidFill>
            </a:endParaRPr>
          </a:p>
        </p:txBody>
      </p:sp>
      <p:pic>
        <p:nvPicPr>
          <p:cNvPr id="1032" name="Picture 8"/>
          <p:cNvPicPr>
            <a:picLocks noChangeAspect="1" noChangeArrowheads="1"/>
          </p:cNvPicPr>
          <p:nvPr/>
        </p:nvPicPr>
        <p:blipFill>
          <a:blip r:embed="rId7" cstate="email"/>
          <a:srcRect/>
          <a:stretch>
            <a:fillRect/>
          </a:stretch>
        </p:blipFill>
        <p:spPr bwMode="auto">
          <a:xfrm>
            <a:off x="1979712" y="3717032"/>
            <a:ext cx="2600325" cy="495300"/>
          </a:xfrm>
          <a:prstGeom prst="rect">
            <a:avLst/>
          </a:prstGeom>
          <a:noFill/>
          <a:ln w="9525">
            <a:noFill/>
            <a:miter lim="800000"/>
            <a:headEnd/>
            <a:tailEnd/>
          </a:ln>
        </p:spPr>
      </p:pic>
      <p:sp>
        <p:nvSpPr>
          <p:cNvPr id="20" name="文字方塊 19"/>
          <p:cNvSpPr txBox="1"/>
          <p:nvPr/>
        </p:nvSpPr>
        <p:spPr>
          <a:xfrm>
            <a:off x="323528" y="4293096"/>
            <a:ext cx="7488832" cy="1754326"/>
          </a:xfrm>
          <a:prstGeom prst="rect">
            <a:avLst/>
          </a:prstGeom>
          <a:noFill/>
        </p:spPr>
        <p:txBody>
          <a:bodyPr wrap="square" rtlCol="0">
            <a:spAutoFit/>
          </a:bodyPr>
          <a:lstStyle/>
          <a:p>
            <a:r>
              <a:rPr lang="el-GR" altLang="zh-TW" dirty="0" smtClean="0"/>
              <a:t>α</a:t>
            </a:r>
            <a:r>
              <a:rPr lang="en-US" altLang="zh-TW" dirty="0" smtClean="0"/>
              <a:t>: total number of partial matches</a:t>
            </a:r>
          </a:p>
          <a:p>
            <a:r>
              <a:rPr lang="en-US" altLang="zh-TW" dirty="0" smtClean="0"/>
              <a:t>C: constant</a:t>
            </a:r>
          </a:p>
          <a:p>
            <a:r>
              <a:rPr lang="en-US" altLang="zh-TW" dirty="0" smtClean="0"/>
              <a:t>k: the number of attributes</a:t>
            </a:r>
          </a:p>
          <a:p>
            <a:r>
              <a:rPr lang="en-US" altLang="zh-TW" dirty="0" smtClean="0"/>
              <a:t>p: the number of positive examples covered by the rule</a:t>
            </a:r>
          </a:p>
          <a:p>
            <a:r>
              <a:rPr lang="en-US" altLang="zh-TW" dirty="0" smtClean="0"/>
              <a:t>n: the number of negative examples covered by the rule </a:t>
            </a:r>
          </a:p>
          <a:p>
            <a:endParaRPr lang="zh-TW"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92A71567-5F19-40BA-A122-4EE261C9AD44}" type="slidenum">
              <a:rPr lang="zh-TW" altLang="en-US" smtClean="0"/>
              <a:pPr/>
              <a:t>6</a:t>
            </a:fld>
            <a:endParaRPr lang="zh-TW" altLang="en-US"/>
          </a:p>
        </p:txBody>
      </p:sp>
      <p:pic>
        <p:nvPicPr>
          <p:cNvPr id="2050" name="Picture 2"/>
          <p:cNvPicPr>
            <a:picLocks noChangeAspect="1" noChangeArrowheads="1"/>
          </p:cNvPicPr>
          <p:nvPr/>
        </p:nvPicPr>
        <p:blipFill>
          <a:blip r:embed="rId2" cstate="email"/>
          <a:srcRect/>
          <a:stretch>
            <a:fillRect/>
          </a:stretch>
        </p:blipFill>
        <p:spPr bwMode="auto">
          <a:xfrm>
            <a:off x="0" y="0"/>
            <a:ext cx="91440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92A71567-5F19-40BA-A122-4EE261C9AD44}" type="slidenum">
              <a:rPr lang="zh-TW" altLang="en-US" smtClean="0"/>
              <a:pPr/>
              <a:t>7</a:t>
            </a:fld>
            <a:endParaRPr lang="zh-TW" altLang="en-US"/>
          </a:p>
        </p:txBody>
      </p:sp>
      <p:sp>
        <p:nvSpPr>
          <p:cNvPr id="5" name="文字方塊 4"/>
          <p:cNvSpPr txBox="1"/>
          <p:nvPr/>
        </p:nvSpPr>
        <p:spPr>
          <a:xfrm>
            <a:off x="323528" y="476672"/>
            <a:ext cx="7560840" cy="400110"/>
          </a:xfrm>
          <a:prstGeom prst="rect">
            <a:avLst/>
          </a:prstGeom>
          <a:noFill/>
        </p:spPr>
        <p:txBody>
          <a:bodyPr wrap="square" rtlCol="0">
            <a:spAutoFit/>
          </a:bodyPr>
          <a:lstStyle/>
          <a:p>
            <a:r>
              <a:rPr lang="en-US" altLang="zh-TW" sz="2000" dirty="0" smtClean="0"/>
              <a:t>5 attributes in the original feature set example:</a:t>
            </a:r>
            <a:endParaRPr lang="zh-TW" altLang="en-US" sz="2000" dirty="0"/>
          </a:p>
        </p:txBody>
      </p:sp>
      <p:pic>
        <p:nvPicPr>
          <p:cNvPr id="3074" name="Picture 2"/>
          <p:cNvPicPr>
            <a:picLocks noChangeAspect="1" noChangeArrowheads="1"/>
          </p:cNvPicPr>
          <p:nvPr/>
        </p:nvPicPr>
        <p:blipFill>
          <a:blip r:embed="rId2" cstate="print"/>
          <a:srcRect t="4395"/>
          <a:stretch>
            <a:fillRect/>
          </a:stretch>
        </p:blipFill>
        <p:spPr bwMode="auto">
          <a:xfrm>
            <a:off x="395536" y="1988840"/>
            <a:ext cx="7429500" cy="1566292"/>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323528" y="3933056"/>
            <a:ext cx="8460432" cy="936104"/>
          </a:xfrm>
          <a:prstGeom prst="rect">
            <a:avLst/>
          </a:prstGeom>
          <a:noFill/>
          <a:ln w="9525">
            <a:noFill/>
            <a:miter lim="800000"/>
            <a:headEnd/>
            <a:tailEnd/>
          </a:ln>
        </p:spPr>
      </p:pic>
      <p:sp>
        <p:nvSpPr>
          <p:cNvPr id="8" name="文字方塊 7"/>
          <p:cNvSpPr txBox="1"/>
          <p:nvPr/>
        </p:nvSpPr>
        <p:spPr>
          <a:xfrm>
            <a:off x="467544" y="1196752"/>
            <a:ext cx="7488832" cy="400110"/>
          </a:xfrm>
          <a:prstGeom prst="rect">
            <a:avLst/>
          </a:prstGeom>
          <a:noFill/>
        </p:spPr>
        <p:txBody>
          <a:bodyPr wrap="square" rtlCol="0">
            <a:spAutoFit/>
          </a:bodyPr>
          <a:lstStyle/>
          <a:p>
            <a:r>
              <a:rPr lang="en-US" altLang="zh-TW" sz="2000" dirty="0" smtClean="0"/>
              <a:t>A feature is selected if the corresponding bit is 1, else the bit is 0.</a:t>
            </a:r>
            <a:endParaRPr lang="zh-TW" altLang="en-US" sz="2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Principal Component Analysis (PCA)</a:t>
            </a:r>
            <a:endParaRPr lang="zh-TW" altLang="en-US" dirty="0"/>
          </a:p>
        </p:txBody>
      </p:sp>
      <p:sp>
        <p:nvSpPr>
          <p:cNvPr id="3" name="內容版面配置區 2"/>
          <p:cNvSpPr>
            <a:spLocks noGrp="1"/>
          </p:cNvSpPr>
          <p:nvPr>
            <p:ph idx="1"/>
          </p:nvPr>
        </p:nvSpPr>
        <p:spPr>
          <a:xfrm>
            <a:off x="467544" y="1412776"/>
            <a:ext cx="8229600" cy="964704"/>
          </a:xfrm>
        </p:spPr>
        <p:txBody>
          <a:bodyPr>
            <a:normAutofit/>
          </a:bodyPr>
          <a:lstStyle/>
          <a:p>
            <a:r>
              <a:rPr lang="en-US" altLang="zh-TW" sz="2800" dirty="0" smtClean="0"/>
              <a:t>A way of reducing the dimensionality of a dataset</a:t>
            </a:r>
            <a:endParaRPr lang="zh-TW" altLang="en-US" sz="2800" dirty="0"/>
          </a:p>
        </p:txBody>
      </p:sp>
      <p:sp>
        <p:nvSpPr>
          <p:cNvPr id="4" name="矩形 3"/>
          <p:cNvSpPr/>
          <p:nvPr/>
        </p:nvSpPr>
        <p:spPr>
          <a:xfrm>
            <a:off x="395536" y="2276872"/>
            <a:ext cx="8280920" cy="3108543"/>
          </a:xfrm>
          <a:prstGeom prst="rect">
            <a:avLst/>
          </a:prstGeom>
        </p:spPr>
        <p:txBody>
          <a:bodyPr wrap="square">
            <a:spAutoFit/>
          </a:bodyPr>
          <a:lstStyle/>
          <a:p>
            <a:r>
              <a:rPr lang="en-US" altLang="zh-TW" sz="2800" dirty="0" smtClean="0">
                <a:solidFill>
                  <a:srgbClr val="FF0000"/>
                </a:solidFill>
              </a:rPr>
              <a:t>Step</a:t>
            </a:r>
            <a:r>
              <a:rPr lang="zh-TW" altLang="en-US" sz="2800" dirty="0" smtClean="0">
                <a:solidFill>
                  <a:srgbClr val="FF0000"/>
                </a:solidFill>
              </a:rPr>
              <a:t>：</a:t>
            </a:r>
          </a:p>
          <a:p>
            <a:pPr marL="514350" indent="-514350">
              <a:buFont typeface="+mj-lt"/>
              <a:buAutoNum type="arabicPeriod"/>
            </a:pPr>
            <a:r>
              <a:rPr lang="en-US" altLang="zh-TW" sz="2800" dirty="0" smtClean="0"/>
              <a:t>Get data set</a:t>
            </a:r>
          </a:p>
          <a:p>
            <a:pPr marL="514350" indent="-514350">
              <a:buFont typeface="+mj-lt"/>
              <a:buAutoNum type="arabicPeriod"/>
            </a:pPr>
            <a:r>
              <a:rPr lang="en-US" altLang="zh-TW" sz="2800" dirty="0" smtClean="0"/>
              <a:t>Subtract the mean (Normalization)</a:t>
            </a:r>
          </a:p>
          <a:p>
            <a:pPr marL="514350" indent="-514350">
              <a:buFont typeface="+mj-lt"/>
              <a:buAutoNum type="arabicPeriod"/>
            </a:pPr>
            <a:r>
              <a:rPr lang="en-US" altLang="zh-TW" sz="2800" dirty="0" smtClean="0"/>
              <a:t>Calculate the covariance matrix</a:t>
            </a:r>
          </a:p>
          <a:p>
            <a:pPr marL="514350" indent="-514350">
              <a:buFont typeface="+mj-lt"/>
              <a:buAutoNum type="arabicPeriod"/>
            </a:pPr>
            <a:r>
              <a:rPr lang="en-US" altLang="zh-TW" sz="2800" dirty="0" smtClean="0"/>
              <a:t>Calculate the eigenvectors and </a:t>
            </a:r>
            <a:r>
              <a:rPr lang="en-US" altLang="zh-TW" sz="2800" dirty="0" err="1" smtClean="0"/>
              <a:t>eigenvalues</a:t>
            </a:r>
            <a:r>
              <a:rPr lang="en-US" altLang="zh-TW" sz="2800" dirty="0" smtClean="0"/>
              <a:t> of the covariance matrix</a:t>
            </a:r>
          </a:p>
          <a:p>
            <a:pPr marL="514350" indent="-514350">
              <a:buFont typeface="+mj-lt"/>
              <a:buAutoNum type="arabicPeriod"/>
            </a:pPr>
            <a:r>
              <a:rPr lang="en-US" altLang="zh-TW" sz="2800" dirty="0" smtClean="0"/>
              <a:t>Choose components and form a feature vector</a:t>
            </a:r>
            <a:endParaRPr lang="zh-TW" altLang="en-US" sz="2800" dirty="0"/>
          </a:p>
        </p:txBody>
      </p:sp>
      <p:sp>
        <p:nvSpPr>
          <p:cNvPr id="5" name="投影片編號版面配置區 4"/>
          <p:cNvSpPr>
            <a:spLocks noGrp="1"/>
          </p:cNvSpPr>
          <p:nvPr>
            <p:ph type="sldNum" sz="quarter" idx="12"/>
          </p:nvPr>
        </p:nvSpPr>
        <p:spPr/>
        <p:txBody>
          <a:bodyPr/>
          <a:lstStyle/>
          <a:p>
            <a:fld id="{92A71567-5F19-40BA-A122-4EE261C9AD44}" type="slidenum">
              <a:rPr lang="zh-TW" altLang="en-US" smtClean="0"/>
              <a:pPr/>
              <a:t>8</a:t>
            </a:fld>
            <a:endParaRPr lang="zh-TW"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email"/>
          <a:srcRect/>
          <a:stretch>
            <a:fillRect/>
          </a:stretch>
        </p:blipFill>
        <p:spPr bwMode="auto">
          <a:xfrm>
            <a:off x="0" y="0"/>
            <a:ext cx="9720263" cy="7058025"/>
          </a:xfrm>
          <a:prstGeom prst="rect">
            <a:avLst/>
          </a:prstGeom>
          <a:noFill/>
          <a:ln w="9525">
            <a:noFill/>
            <a:miter lim="800000"/>
            <a:headEnd/>
            <a:tailEnd/>
          </a:ln>
        </p:spPr>
      </p:pic>
      <p:sp>
        <p:nvSpPr>
          <p:cNvPr id="3" name="投影片編號版面配置區 2"/>
          <p:cNvSpPr>
            <a:spLocks noGrp="1"/>
          </p:cNvSpPr>
          <p:nvPr>
            <p:ph type="sldNum" sz="quarter" idx="12"/>
          </p:nvPr>
        </p:nvSpPr>
        <p:spPr/>
        <p:txBody>
          <a:bodyPr/>
          <a:lstStyle/>
          <a:p>
            <a:fld id="{92A71567-5F19-40BA-A122-4EE261C9AD44}" type="slidenum">
              <a:rPr lang="zh-TW" altLang="en-US" smtClean="0"/>
              <a:pPr/>
              <a:t>9</a:t>
            </a:fld>
            <a:endParaRPr lang="zh-TW"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cstate="email"/>
          <a:srcRect/>
          <a:stretch>
            <a:fillRect/>
          </a:stretch>
        </p:blipFill>
        <p:spPr bwMode="auto">
          <a:xfrm>
            <a:off x="0" y="188640"/>
            <a:ext cx="9143918" cy="6480720"/>
          </a:xfrm>
          <a:prstGeom prst="rect">
            <a:avLst/>
          </a:prstGeom>
          <a:noFill/>
          <a:ln w="9525">
            <a:noFill/>
            <a:miter lim="800000"/>
            <a:headEnd/>
            <a:tailEnd/>
          </a:ln>
        </p:spPr>
      </p:pic>
      <p:sp>
        <p:nvSpPr>
          <p:cNvPr id="3" name="投影片編號版面配置區 2"/>
          <p:cNvSpPr>
            <a:spLocks noGrp="1"/>
          </p:cNvSpPr>
          <p:nvPr>
            <p:ph type="sldNum" sz="quarter" idx="12"/>
          </p:nvPr>
        </p:nvSpPr>
        <p:spPr/>
        <p:txBody>
          <a:bodyPr/>
          <a:lstStyle/>
          <a:p>
            <a:fld id="{92A71567-5F19-40BA-A122-4EE261C9AD44}"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cstate="email"/>
          <a:srcRect/>
          <a:stretch>
            <a:fillRect/>
          </a:stretch>
        </p:blipFill>
        <p:spPr bwMode="auto">
          <a:xfrm>
            <a:off x="61020" y="-8364"/>
            <a:ext cx="9082980" cy="6866364"/>
          </a:xfrm>
          <a:prstGeom prst="rect">
            <a:avLst/>
          </a:prstGeom>
          <a:noFill/>
          <a:ln w="9525">
            <a:noFill/>
            <a:miter lim="800000"/>
            <a:headEnd/>
            <a:tailEnd/>
          </a:ln>
        </p:spPr>
      </p:pic>
      <p:sp>
        <p:nvSpPr>
          <p:cNvPr id="3" name="投影片編號版面配置區 2"/>
          <p:cNvSpPr>
            <a:spLocks noGrp="1"/>
          </p:cNvSpPr>
          <p:nvPr>
            <p:ph type="sldNum" sz="quarter" idx="12"/>
          </p:nvPr>
        </p:nvSpPr>
        <p:spPr/>
        <p:txBody>
          <a:bodyPr/>
          <a:lstStyle/>
          <a:p>
            <a:fld id="{92A71567-5F19-40BA-A122-4EE261C9AD44}" type="slidenum">
              <a:rPr lang="zh-TW" altLang="en-US" smtClean="0"/>
              <a:pPr/>
              <a:t>11</a:t>
            </a:fld>
            <a:endParaRPr lang="zh-TW"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0"/>
            <a:ext cx="8229600" cy="1143000"/>
          </a:xfrm>
        </p:spPr>
        <p:txBody>
          <a:bodyPr/>
          <a:lstStyle/>
          <a:p>
            <a:r>
              <a:rPr lang="en-US" altLang="zh-TW" dirty="0" smtClean="0"/>
              <a:t>Factor analysis</a:t>
            </a:r>
            <a:endParaRPr lang="zh-TW" altLang="en-US" dirty="0"/>
          </a:p>
        </p:txBody>
      </p:sp>
      <p:pic>
        <p:nvPicPr>
          <p:cNvPr id="5" name="內容版面配置區 4" descr="3259151459_c1d2b5e6a6.jpg"/>
          <p:cNvPicPr>
            <a:picLocks noGrp="1" noChangeAspect="1"/>
          </p:cNvPicPr>
          <p:nvPr>
            <p:ph idx="1"/>
          </p:nvPr>
        </p:nvPicPr>
        <p:blipFill>
          <a:blip r:embed="rId2" cstate="print"/>
          <a:stretch>
            <a:fillRect/>
          </a:stretch>
        </p:blipFill>
        <p:spPr>
          <a:xfrm>
            <a:off x="611560" y="980728"/>
            <a:ext cx="2376264" cy="1929400"/>
          </a:xfrm>
        </p:spPr>
      </p:pic>
      <p:sp>
        <p:nvSpPr>
          <p:cNvPr id="4" name="投影片編號版面配置區 3"/>
          <p:cNvSpPr>
            <a:spLocks noGrp="1"/>
          </p:cNvSpPr>
          <p:nvPr>
            <p:ph type="sldNum" sz="quarter" idx="12"/>
          </p:nvPr>
        </p:nvSpPr>
        <p:spPr/>
        <p:txBody>
          <a:bodyPr/>
          <a:lstStyle/>
          <a:p>
            <a:fld id="{92A71567-5F19-40BA-A122-4EE261C9AD44}" type="slidenum">
              <a:rPr lang="zh-TW" altLang="en-US" smtClean="0"/>
              <a:pPr/>
              <a:t>12</a:t>
            </a:fld>
            <a:endParaRPr lang="zh-TW" altLang="en-US"/>
          </a:p>
        </p:txBody>
      </p:sp>
      <p:sp>
        <p:nvSpPr>
          <p:cNvPr id="6" name="文字方塊 5"/>
          <p:cNvSpPr txBox="1"/>
          <p:nvPr/>
        </p:nvSpPr>
        <p:spPr>
          <a:xfrm>
            <a:off x="3203848" y="980728"/>
            <a:ext cx="5544616" cy="1754326"/>
          </a:xfrm>
          <a:prstGeom prst="rect">
            <a:avLst/>
          </a:prstGeom>
          <a:noFill/>
        </p:spPr>
        <p:txBody>
          <a:bodyPr wrap="square" rtlCol="0">
            <a:spAutoFit/>
          </a:bodyPr>
          <a:lstStyle/>
          <a:p>
            <a:pPr>
              <a:buFont typeface="Arial" pitchFamily="34" charset="0"/>
              <a:buChar char="•"/>
            </a:pPr>
            <a:r>
              <a:rPr lang="en-US" altLang="zh-TW" dirty="0" smtClean="0"/>
              <a:t>Factor </a:t>
            </a:r>
            <a:r>
              <a:rPr lang="en-US" altLang="zh-TW" dirty="0" err="1" smtClean="0"/>
              <a:t>analysis的目的是以少數幾個因素</a:t>
            </a:r>
            <a:r>
              <a:rPr lang="en-US" altLang="zh-TW" dirty="0" smtClean="0"/>
              <a:t>(factor)</a:t>
            </a:r>
            <a:r>
              <a:rPr lang="en-US" altLang="zh-TW" dirty="0" err="1" smtClean="0"/>
              <a:t>來解釋一群相互有關係的變數，而又能保有原來最多的資訊</a:t>
            </a:r>
            <a:endParaRPr lang="en-US" altLang="zh-TW" dirty="0" smtClean="0"/>
          </a:p>
          <a:p>
            <a:endParaRPr lang="en-US" altLang="zh-TW" dirty="0" smtClean="0"/>
          </a:p>
          <a:p>
            <a:pPr>
              <a:buFont typeface="Arial" pitchFamily="34" charset="0"/>
              <a:buChar char="•"/>
            </a:pPr>
            <a:r>
              <a:rPr lang="zh-TW" altLang="en-US" dirty="0" smtClean="0"/>
              <a:t>相互有關的變數受</a:t>
            </a:r>
            <a:r>
              <a:rPr lang="zh-TW" altLang="en-US" dirty="0" smtClean="0">
                <a:solidFill>
                  <a:srgbClr val="FF0000"/>
                </a:solidFill>
              </a:rPr>
              <a:t>共同因素</a:t>
            </a:r>
            <a:r>
              <a:rPr lang="en-US" altLang="zh-TW" dirty="0" smtClean="0">
                <a:solidFill>
                  <a:srgbClr val="FF0000"/>
                </a:solidFill>
              </a:rPr>
              <a:t>(common factor)</a:t>
            </a:r>
            <a:r>
              <a:rPr lang="zh-TW" altLang="en-US" dirty="0" smtClean="0"/>
              <a:t>及</a:t>
            </a:r>
            <a:r>
              <a:rPr lang="zh-TW" altLang="en-US" dirty="0" smtClean="0">
                <a:solidFill>
                  <a:srgbClr val="FF0000"/>
                </a:solidFill>
              </a:rPr>
              <a:t>獨特因素</a:t>
            </a:r>
            <a:r>
              <a:rPr lang="en-US" altLang="zh-TW" dirty="0" smtClean="0">
                <a:solidFill>
                  <a:srgbClr val="FF0000"/>
                </a:solidFill>
              </a:rPr>
              <a:t>(specific factor)</a:t>
            </a:r>
            <a:r>
              <a:rPr lang="en-US" altLang="zh-TW" dirty="0" err="1" smtClean="0"/>
              <a:t>的影響</a:t>
            </a:r>
            <a:endParaRPr lang="en-US" altLang="zh-TW" dirty="0" smtClean="0"/>
          </a:p>
          <a:p>
            <a:endParaRPr lang="zh-TW" altLang="en-US" dirty="0"/>
          </a:p>
        </p:txBody>
      </p:sp>
      <p:sp>
        <p:nvSpPr>
          <p:cNvPr id="7" name="文字方塊 6"/>
          <p:cNvSpPr txBox="1"/>
          <p:nvPr/>
        </p:nvSpPr>
        <p:spPr>
          <a:xfrm>
            <a:off x="3347864" y="2492896"/>
            <a:ext cx="4968552" cy="1200329"/>
          </a:xfrm>
          <a:prstGeom prst="rect">
            <a:avLst/>
          </a:prstGeom>
          <a:noFill/>
        </p:spPr>
        <p:txBody>
          <a:bodyPr wrap="square" rtlCol="0">
            <a:spAutoFit/>
          </a:bodyPr>
          <a:lstStyle/>
          <a:p>
            <a:r>
              <a:rPr lang="zh-TW" altLang="en-US" dirty="0" smtClean="0"/>
              <a:t>假設</a:t>
            </a:r>
            <a:r>
              <a:rPr lang="en-US" altLang="zh-TW" dirty="0" smtClean="0"/>
              <a:t>common </a:t>
            </a:r>
            <a:r>
              <a:rPr lang="en-US" altLang="zh-TW" dirty="0" err="1" smtClean="0"/>
              <a:t>factor有k個</a:t>
            </a:r>
            <a:r>
              <a:rPr lang="en-US" altLang="zh-TW" dirty="0" smtClean="0"/>
              <a:t>(</a:t>
            </a:r>
            <a:r>
              <a:rPr lang="en-US" altLang="zh-TW" dirty="0" err="1" smtClean="0"/>
              <a:t>自訂</a:t>
            </a:r>
            <a:r>
              <a:rPr lang="en-US" altLang="zh-TW" dirty="0" smtClean="0"/>
              <a:t>)</a:t>
            </a:r>
          </a:p>
          <a:p>
            <a:r>
              <a:rPr lang="zh-TW" altLang="en-US" dirty="0" smtClean="0"/>
              <a:t>變數有</a:t>
            </a:r>
            <a:r>
              <a:rPr lang="en-US" altLang="zh-TW" dirty="0" err="1" smtClean="0"/>
              <a:t>n個，每個變數有t個屬性</a:t>
            </a:r>
            <a:endParaRPr lang="en-US" altLang="zh-TW" dirty="0" smtClean="0"/>
          </a:p>
          <a:p>
            <a:r>
              <a:rPr lang="en-US" altLang="zh-TW" dirty="0" smtClean="0"/>
              <a:t>Factor </a:t>
            </a:r>
            <a:r>
              <a:rPr lang="en-US" altLang="zh-TW" dirty="0" err="1" smtClean="0"/>
              <a:t>analysis即求出每一個common</a:t>
            </a:r>
            <a:r>
              <a:rPr lang="en-US" altLang="zh-TW" dirty="0" smtClean="0"/>
              <a:t> </a:t>
            </a:r>
            <a:r>
              <a:rPr lang="en-US" altLang="zh-TW" dirty="0" err="1" smtClean="0"/>
              <a:t>factor對每一個變數之屬性的影響值</a:t>
            </a:r>
            <a:r>
              <a:rPr lang="en-US" altLang="zh-TW" dirty="0" smtClean="0"/>
              <a:t>(loading)</a:t>
            </a:r>
            <a:endParaRPr lang="zh-TW" altLang="en-US" dirty="0"/>
          </a:p>
        </p:txBody>
      </p:sp>
      <p:graphicFrame>
        <p:nvGraphicFramePr>
          <p:cNvPr id="8" name="表格 7"/>
          <p:cNvGraphicFramePr>
            <a:graphicFrameLocks noGrp="1"/>
          </p:cNvGraphicFramePr>
          <p:nvPr/>
        </p:nvGraphicFramePr>
        <p:xfrm>
          <a:off x="323528" y="3573016"/>
          <a:ext cx="2664295" cy="3184668"/>
        </p:xfrm>
        <a:graphic>
          <a:graphicData uri="http://schemas.openxmlformats.org/drawingml/2006/table">
            <a:tbl>
              <a:tblPr firstRow="1" bandRow="1">
                <a:tableStyleId>{5C22544A-7EE6-4342-B048-85BDC9FD1C3A}</a:tableStyleId>
              </a:tblPr>
              <a:tblGrid>
                <a:gridCol w="405436"/>
                <a:gridCol w="660282"/>
                <a:gridCol w="532859"/>
                <a:gridCol w="532859"/>
                <a:gridCol w="532859"/>
              </a:tblGrid>
              <a:tr h="468008">
                <a:tc>
                  <a:txBody>
                    <a:bodyPr/>
                    <a:lstStyle/>
                    <a:p>
                      <a:pPr algn="ctr"/>
                      <a:r>
                        <a:rPr lang="zh-TW" altLang="en-US" sz="1000" dirty="0" smtClean="0"/>
                        <a:t>店名</a:t>
                      </a:r>
                      <a:endParaRPr lang="zh-TW" altLang="en-US" sz="1000" dirty="0"/>
                    </a:p>
                  </a:txBody>
                  <a:tcPr/>
                </a:tc>
                <a:tc>
                  <a:txBody>
                    <a:bodyPr/>
                    <a:lstStyle/>
                    <a:p>
                      <a:pPr algn="ctr"/>
                      <a:r>
                        <a:rPr lang="zh-TW" altLang="en-US" sz="1000" dirty="0" smtClean="0"/>
                        <a:t>品項齊全度</a:t>
                      </a:r>
                      <a:endParaRPr lang="zh-TW" altLang="en-US" sz="1000" dirty="0"/>
                    </a:p>
                  </a:txBody>
                  <a:tcPr/>
                </a:tc>
                <a:tc>
                  <a:txBody>
                    <a:bodyPr/>
                    <a:lstStyle/>
                    <a:p>
                      <a:pPr algn="ctr"/>
                      <a:r>
                        <a:rPr lang="zh-TW" altLang="en-US" sz="1000" dirty="0" smtClean="0"/>
                        <a:t>氣氛</a:t>
                      </a:r>
                      <a:endParaRPr lang="zh-TW" altLang="en-US" sz="1000" dirty="0"/>
                    </a:p>
                  </a:txBody>
                  <a:tcPr/>
                </a:tc>
                <a:tc>
                  <a:txBody>
                    <a:bodyPr/>
                    <a:lstStyle/>
                    <a:p>
                      <a:pPr algn="ctr"/>
                      <a:r>
                        <a:rPr lang="zh-TW" altLang="en-US" sz="1000" dirty="0" smtClean="0"/>
                        <a:t>親切感</a:t>
                      </a:r>
                      <a:endParaRPr lang="zh-TW" altLang="en-US" sz="1000" dirty="0"/>
                    </a:p>
                  </a:txBody>
                  <a:tcPr/>
                </a:tc>
                <a:tc>
                  <a:txBody>
                    <a:bodyPr/>
                    <a:lstStyle/>
                    <a:p>
                      <a:pPr algn="ctr"/>
                      <a:r>
                        <a:rPr lang="zh-TW" altLang="en-US" sz="1000" dirty="0" smtClean="0"/>
                        <a:t>寬闊感</a:t>
                      </a:r>
                      <a:endParaRPr lang="zh-TW" altLang="en-US" sz="1000" dirty="0"/>
                    </a:p>
                  </a:txBody>
                  <a:tcPr/>
                </a:tc>
              </a:tr>
              <a:tr h="271666">
                <a:tc>
                  <a:txBody>
                    <a:bodyPr/>
                    <a:lstStyle/>
                    <a:p>
                      <a:pPr algn="ctr"/>
                      <a:r>
                        <a:rPr lang="en-US" altLang="zh-TW" sz="1050" dirty="0" smtClean="0"/>
                        <a:t>1</a:t>
                      </a:r>
                      <a:endParaRPr lang="zh-TW" altLang="en-US" sz="1050" dirty="0"/>
                    </a:p>
                  </a:txBody>
                  <a:tcPr/>
                </a:tc>
                <a:tc>
                  <a:txBody>
                    <a:bodyPr/>
                    <a:lstStyle/>
                    <a:p>
                      <a:pPr algn="ctr"/>
                      <a:r>
                        <a:rPr lang="en-US" altLang="zh-TW" sz="1050" dirty="0" smtClean="0"/>
                        <a:t>20</a:t>
                      </a:r>
                      <a:endParaRPr lang="zh-TW" altLang="en-US" sz="1050" dirty="0"/>
                    </a:p>
                  </a:txBody>
                  <a:tcPr/>
                </a:tc>
                <a:tc>
                  <a:txBody>
                    <a:bodyPr/>
                    <a:lstStyle/>
                    <a:p>
                      <a:pPr algn="ctr"/>
                      <a:r>
                        <a:rPr lang="en-US" altLang="zh-TW" sz="1050" dirty="0" smtClean="0"/>
                        <a:t>20</a:t>
                      </a:r>
                      <a:endParaRPr lang="zh-TW" altLang="en-US" sz="1050" dirty="0"/>
                    </a:p>
                  </a:txBody>
                  <a:tcPr/>
                </a:tc>
                <a:tc>
                  <a:txBody>
                    <a:bodyPr/>
                    <a:lstStyle/>
                    <a:p>
                      <a:pPr algn="ctr"/>
                      <a:r>
                        <a:rPr lang="en-US" altLang="zh-TW" sz="1050" dirty="0" smtClean="0"/>
                        <a:t>30</a:t>
                      </a:r>
                      <a:endParaRPr lang="zh-TW" altLang="en-US" sz="1050" dirty="0"/>
                    </a:p>
                  </a:txBody>
                  <a:tcPr/>
                </a:tc>
                <a:tc>
                  <a:txBody>
                    <a:bodyPr/>
                    <a:lstStyle/>
                    <a:p>
                      <a:pPr algn="ctr"/>
                      <a:r>
                        <a:rPr lang="en-US" altLang="zh-TW" sz="1050" dirty="0" smtClean="0"/>
                        <a:t>70</a:t>
                      </a:r>
                      <a:endParaRPr lang="zh-TW" altLang="en-US" sz="1050" dirty="0"/>
                    </a:p>
                  </a:txBody>
                  <a:tcPr/>
                </a:tc>
              </a:tr>
              <a:tr h="271666">
                <a:tc>
                  <a:txBody>
                    <a:bodyPr/>
                    <a:lstStyle/>
                    <a:p>
                      <a:pPr algn="ctr"/>
                      <a:r>
                        <a:rPr lang="en-US" altLang="zh-TW" sz="1050" dirty="0" smtClean="0"/>
                        <a:t>2</a:t>
                      </a:r>
                      <a:endParaRPr lang="zh-TW" altLang="en-US" sz="1050" dirty="0"/>
                    </a:p>
                  </a:txBody>
                  <a:tcPr/>
                </a:tc>
                <a:tc>
                  <a:txBody>
                    <a:bodyPr/>
                    <a:lstStyle/>
                    <a:p>
                      <a:pPr algn="ctr"/>
                      <a:r>
                        <a:rPr lang="en-US" altLang="zh-TW" sz="1050" dirty="0" smtClean="0"/>
                        <a:t>15</a:t>
                      </a:r>
                      <a:endParaRPr lang="zh-TW" altLang="en-US" sz="1050" dirty="0"/>
                    </a:p>
                  </a:txBody>
                  <a:tcPr/>
                </a:tc>
                <a:tc>
                  <a:txBody>
                    <a:bodyPr/>
                    <a:lstStyle/>
                    <a:p>
                      <a:pPr algn="ctr"/>
                      <a:r>
                        <a:rPr lang="en-US" altLang="zh-TW" sz="1050" dirty="0" smtClean="0"/>
                        <a:t>25</a:t>
                      </a:r>
                      <a:endParaRPr lang="zh-TW" altLang="en-US" sz="1050" dirty="0"/>
                    </a:p>
                  </a:txBody>
                  <a:tcPr/>
                </a:tc>
                <a:tc>
                  <a:txBody>
                    <a:bodyPr/>
                    <a:lstStyle/>
                    <a:p>
                      <a:pPr algn="ctr"/>
                      <a:r>
                        <a:rPr lang="en-US" altLang="zh-TW" sz="1050" dirty="0" smtClean="0"/>
                        <a:t>25</a:t>
                      </a:r>
                      <a:endParaRPr lang="zh-TW" altLang="en-US" sz="1050" dirty="0"/>
                    </a:p>
                  </a:txBody>
                  <a:tcPr/>
                </a:tc>
                <a:tc>
                  <a:txBody>
                    <a:bodyPr/>
                    <a:lstStyle/>
                    <a:p>
                      <a:pPr algn="ctr"/>
                      <a:r>
                        <a:rPr lang="en-US" altLang="zh-TW" sz="1050" dirty="0" smtClean="0"/>
                        <a:t>15</a:t>
                      </a:r>
                      <a:endParaRPr lang="zh-TW" altLang="en-US" sz="1050" dirty="0"/>
                    </a:p>
                  </a:txBody>
                  <a:tcPr/>
                </a:tc>
              </a:tr>
              <a:tr h="271666">
                <a:tc>
                  <a:txBody>
                    <a:bodyPr/>
                    <a:lstStyle/>
                    <a:p>
                      <a:pPr algn="ctr"/>
                      <a:r>
                        <a:rPr lang="en-US" altLang="zh-TW" sz="1050" dirty="0" smtClean="0"/>
                        <a:t>3</a:t>
                      </a:r>
                      <a:endParaRPr lang="zh-TW" altLang="en-US" sz="1050" dirty="0"/>
                    </a:p>
                  </a:txBody>
                  <a:tcPr/>
                </a:tc>
                <a:tc>
                  <a:txBody>
                    <a:bodyPr/>
                    <a:lstStyle/>
                    <a:p>
                      <a:pPr algn="ctr"/>
                      <a:r>
                        <a:rPr lang="en-US" altLang="zh-TW" sz="1050" dirty="0" smtClean="0"/>
                        <a:t>60</a:t>
                      </a:r>
                      <a:endParaRPr lang="zh-TW" altLang="en-US" sz="1050" dirty="0"/>
                    </a:p>
                  </a:txBody>
                  <a:tcPr/>
                </a:tc>
                <a:tc>
                  <a:txBody>
                    <a:bodyPr/>
                    <a:lstStyle/>
                    <a:p>
                      <a:pPr algn="ctr"/>
                      <a:r>
                        <a:rPr lang="en-US" altLang="zh-TW" sz="1050" dirty="0" smtClean="0"/>
                        <a:t>70</a:t>
                      </a:r>
                      <a:endParaRPr lang="zh-TW" altLang="en-US" sz="1050" dirty="0"/>
                    </a:p>
                  </a:txBody>
                  <a:tcPr/>
                </a:tc>
                <a:tc>
                  <a:txBody>
                    <a:bodyPr/>
                    <a:lstStyle/>
                    <a:p>
                      <a:pPr algn="ctr"/>
                      <a:r>
                        <a:rPr lang="en-US" altLang="zh-TW" sz="1050" dirty="0" smtClean="0"/>
                        <a:t>60</a:t>
                      </a:r>
                      <a:endParaRPr lang="zh-TW" altLang="en-US" sz="1050" dirty="0"/>
                    </a:p>
                  </a:txBody>
                  <a:tcPr/>
                </a:tc>
                <a:tc>
                  <a:txBody>
                    <a:bodyPr/>
                    <a:lstStyle/>
                    <a:p>
                      <a:pPr algn="ctr"/>
                      <a:r>
                        <a:rPr lang="en-US" altLang="zh-TW" sz="1050" dirty="0" smtClean="0"/>
                        <a:t>30</a:t>
                      </a:r>
                      <a:endParaRPr lang="zh-TW" altLang="en-US" sz="1050" dirty="0"/>
                    </a:p>
                  </a:txBody>
                  <a:tcPr/>
                </a:tc>
              </a:tr>
              <a:tr h="271666">
                <a:tc>
                  <a:txBody>
                    <a:bodyPr/>
                    <a:lstStyle/>
                    <a:p>
                      <a:pPr algn="ctr"/>
                      <a:r>
                        <a:rPr lang="en-US" altLang="zh-TW" sz="1050" dirty="0" smtClean="0"/>
                        <a:t>4</a:t>
                      </a:r>
                      <a:endParaRPr lang="zh-TW" altLang="en-US" sz="1050" dirty="0"/>
                    </a:p>
                  </a:txBody>
                  <a:tcPr/>
                </a:tc>
                <a:tc>
                  <a:txBody>
                    <a:bodyPr/>
                    <a:lstStyle/>
                    <a:p>
                      <a:pPr algn="ctr"/>
                      <a:r>
                        <a:rPr lang="en-US" altLang="zh-TW" sz="1050" dirty="0" smtClean="0"/>
                        <a:t>70</a:t>
                      </a:r>
                      <a:endParaRPr lang="zh-TW" altLang="en-US" sz="1050" dirty="0"/>
                    </a:p>
                  </a:txBody>
                  <a:tcPr/>
                </a:tc>
                <a:tc>
                  <a:txBody>
                    <a:bodyPr/>
                    <a:lstStyle/>
                    <a:p>
                      <a:pPr algn="ctr"/>
                      <a:r>
                        <a:rPr lang="en-US" altLang="zh-TW" sz="1050" dirty="0" smtClean="0"/>
                        <a:t>50</a:t>
                      </a:r>
                      <a:endParaRPr lang="zh-TW" altLang="en-US" sz="1050" dirty="0"/>
                    </a:p>
                  </a:txBody>
                  <a:tcPr/>
                </a:tc>
                <a:tc>
                  <a:txBody>
                    <a:bodyPr/>
                    <a:lstStyle/>
                    <a:p>
                      <a:pPr algn="ctr"/>
                      <a:r>
                        <a:rPr lang="en-US" altLang="zh-TW" sz="1050" dirty="0" smtClean="0"/>
                        <a:t>60</a:t>
                      </a:r>
                      <a:endParaRPr lang="zh-TW" altLang="en-US" sz="1050" dirty="0"/>
                    </a:p>
                  </a:txBody>
                  <a:tcPr/>
                </a:tc>
                <a:tc>
                  <a:txBody>
                    <a:bodyPr/>
                    <a:lstStyle/>
                    <a:p>
                      <a:pPr algn="ctr"/>
                      <a:r>
                        <a:rPr lang="en-US" altLang="zh-TW" sz="1050" dirty="0" smtClean="0"/>
                        <a:t>40</a:t>
                      </a:r>
                      <a:endParaRPr lang="zh-TW" altLang="en-US" sz="1050" dirty="0"/>
                    </a:p>
                  </a:txBody>
                  <a:tcPr/>
                </a:tc>
              </a:tr>
              <a:tr h="271666">
                <a:tc>
                  <a:txBody>
                    <a:bodyPr/>
                    <a:lstStyle/>
                    <a:p>
                      <a:pPr algn="ctr"/>
                      <a:r>
                        <a:rPr lang="en-US" altLang="zh-TW" sz="1050" dirty="0" smtClean="0"/>
                        <a:t>5</a:t>
                      </a:r>
                      <a:endParaRPr lang="zh-TW" altLang="en-US" sz="1050" dirty="0"/>
                    </a:p>
                  </a:txBody>
                  <a:tcPr/>
                </a:tc>
                <a:tc>
                  <a:txBody>
                    <a:bodyPr/>
                    <a:lstStyle/>
                    <a:p>
                      <a:pPr algn="ctr"/>
                      <a:r>
                        <a:rPr lang="en-US" altLang="zh-TW" sz="1050" dirty="0" smtClean="0"/>
                        <a:t>30</a:t>
                      </a:r>
                      <a:endParaRPr lang="zh-TW" altLang="en-US" sz="1050" dirty="0"/>
                    </a:p>
                  </a:txBody>
                  <a:tcPr/>
                </a:tc>
                <a:tc>
                  <a:txBody>
                    <a:bodyPr/>
                    <a:lstStyle/>
                    <a:p>
                      <a:pPr algn="ctr"/>
                      <a:r>
                        <a:rPr lang="en-US" altLang="zh-TW" sz="1050" dirty="0" smtClean="0"/>
                        <a:t>35</a:t>
                      </a:r>
                      <a:endParaRPr lang="zh-TW" altLang="en-US" sz="1050" dirty="0"/>
                    </a:p>
                  </a:txBody>
                  <a:tcPr/>
                </a:tc>
                <a:tc>
                  <a:txBody>
                    <a:bodyPr/>
                    <a:lstStyle/>
                    <a:p>
                      <a:pPr algn="ctr"/>
                      <a:r>
                        <a:rPr lang="en-US" altLang="zh-TW" sz="1050" dirty="0" smtClean="0"/>
                        <a:t>55</a:t>
                      </a:r>
                      <a:endParaRPr lang="zh-TW" altLang="en-US" sz="1050" dirty="0"/>
                    </a:p>
                  </a:txBody>
                  <a:tcPr/>
                </a:tc>
                <a:tc>
                  <a:txBody>
                    <a:bodyPr/>
                    <a:lstStyle/>
                    <a:p>
                      <a:pPr algn="ctr"/>
                      <a:r>
                        <a:rPr lang="en-US" altLang="zh-TW" sz="1050" dirty="0" smtClean="0"/>
                        <a:t>80</a:t>
                      </a:r>
                      <a:endParaRPr lang="zh-TW" altLang="en-US" sz="1050" dirty="0"/>
                    </a:p>
                  </a:txBody>
                  <a:tcPr/>
                </a:tc>
              </a:tr>
              <a:tr h="271666">
                <a:tc>
                  <a:txBody>
                    <a:bodyPr/>
                    <a:lstStyle/>
                    <a:p>
                      <a:pPr algn="ctr"/>
                      <a:r>
                        <a:rPr lang="en-US" altLang="zh-TW" sz="1050" dirty="0" smtClean="0"/>
                        <a:t>6</a:t>
                      </a:r>
                      <a:endParaRPr lang="zh-TW" altLang="en-US" sz="1050" dirty="0"/>
                    </a:p>
                  </a:txBody>
                  <a:tcPr/>
                </a:tc>
                <a:tc>
                  <a:txBody>
                    <a:bodyPr/>
                    <a:lstStyle/>
                    <a:p>
                      <a:pPr algn="ctr"/>
                      <a:r>
                        <a:rPr lang="en-US" altLang="zh-TW" sz="1050" dirty="0" smtClean="0"/>
                        <a:t>50</a:t>
                      </a:r>
                      <a:endParaRPr lang="zh-TW" altLang="en-US" sz="1050" dirty="0"/>
                    </a:p>
                  </a:txBody>
                  <a:tcPr/>
                </a:tc>
                <a:tc>
                  <a:txBody>
                    <a:bodyPr/>
                    <a:lstStyle/>
                    <a:p>
                      <a:pPr algn="ctr"/>
                      <a:r>
                        <a:rPr lang="en-US" altLang="zh-TW" sz="1050" dirty="0" smtClean="0"/>
                        <a:t>85</a:t>
                      </a:r>
                      <a:endParaRPr lang="zh-TW" altLang="en-US" sz="1050" dirty="0"/>
                    </a:p>
                  </a:txBody>
                  <a:tcPr/>
                </a:tc>
                <a:tc>
                  <a:txBody>
                    <a:bodyPr/>
                    <a:lstStyle/>
                    <a:p>
                      <a:pPr algn="ctr"/>
                      <a:r>
                        <a:rPr lang="en-US" altLang="zh-TW" sz="1050" dirty="0" smtClean="0"/>
                        <a:t>85</a:t>
                      </a:r>
                      <a:endParaRPr lang="zh-TW" altLang="en-US" sz="1050" dirty="0"/>
                    </a:p>
                  </a:txBody>
                  <a:tcPr/>
                </a:tc>
                <a:tc>
                  <a:txBody>
                    <a:bodyPr/>
                    <a:lstStyle/>
                    <a:p>
                      <a:pPr algn="ctr"/>
                      <a:r>
                        <a:rPr lang="en-US" altLang="zh-TW" sz="1050" dirty="0" smtClean="0"/>
                        <a:t>80</a:t>
                      </a:r>
                      <a:endParaRPr lang="zh-TW" altLang="en-US" sz="1050" dirty="0"/>
                    </a:p>
                  </a:txBody>
                  <a:tcPr/>
                </a:tc>
              </a:tr>
              <a:tr h="271666">
                <a:tc>
                  <a:txBody>
                    <a:bodyPr/>
                    <a:lstStyle/>
                    <a:p>
                      <a:pPr algn="ctr"/>
                      <a:r>
                        <a:rPr lang="en-US" altLang="zh-TW" sz="1050" dirty="0" smtClean="0"/>
                        <a:t>7</a:t>
                      </a:r>
                      <a:endParaRPr lang="zh-TW" altLang="en-US" sz="1050" dirty="0"/>
                    </a:p>
                  </a:txBody>
                  <a:tcPr/>
                </a:tc>
                <a:tc>
                  <a:txBody>
                    <a:bodyPr/>
                    <a:lstStyle/>
                    <a:p>
                      <a:pPr algn="ctr"/>
                      <a:r>
                        <a:rPr lang="en-US" altLang="zh-TW" sz="1050" dirty="0" smtClean="0"/>
                        <a:t>80</a:t>
                      </a:r>
                      <a:endParaRPr lang="zh-TW" altLang="en-US" sz="1050" dirty="0"/>
                    </a:p>
                  </a:txBody>
                  <a:tcPr/>
                </a:tc>
                <a:tc>
                  <a:txBody>
                    <a:bodyPr/>
                    <a:lstStyle/>
                    <a:p>
                      <a:pPr algn="ctr"/>
                      <a:r>
                        <a:rPr lang="en-US" altLang="zh-TW" sz="1050" dirty="0" smtClean="0"/>
                        <a:t>65</a:t>
                      </a:r>
                      <a:endParaRPr lang="zh-TW" altLang="en-US" sz="1050" dirty="0"/>
                    </a:p>
                  </a:txBody>
                  <a:tcPr/>
                </a:tc>
                <a:tc>
                  <a:txBody>
                    <a:bodyPr/>
                    <a:lstStyle/>
                    <a:p>
                      <a:pPr algn="ctr"/>
                      <a:r>
                        <a:rPr lang="en-US" altLang="zh-TW" sz="1050" dirty="0" smtClean="0"/>
                        <a:t>70</a:t>
                      </a:r>
                      <a:endParaRPr lang="zh-TW" altLang="en-US" sz="1050" dirty="0"/>
                    </a:p>
                  </a:txBody>
                  <a:tcPr/>
                </a:tc>
                <a:tc>
                  <a:txBody>
                    <a:bodyPr/>
                    <a:lstStyle/>
                    <a:p>
                      <a:pPr algn="ctr"/>
                      <a:r>
                        <a:rPr lang="en-US" altLang="zh-TW" sz="1050" dirty="0" smtClean="0"/>
                        <a:t>30</a:t>
                      </a:r>
                      <a:endParaRPr lang="zh-TW" altLang="en-US" sz="1050" dirty="0"/>
                    </a:p>
                  </a:txBody>
                  <a:tcPr/>
                </a:tc>
              </a:tr>
              <a:tr h="271666">
                <a:tc>
                  <a:txBody>
                    <a:bodyPr/>
                    <a:lstStyle/>
                    <a:p>
                      <a:pPr algn="ctr"/>
                      <a:r>
                        <a:rPr lang="en-US" altLang="zh-TW" sz="1050" dirty="0" smtClean="0"/>
                        <a:t>8</a:t>
                      </a:r>
                      <a:endParaRPr lang="zh-TW" altLang="en-US" sz="1050" dirty="0"/>
                    </a:p>
                  </a:txBody>
                  <a:tcPr/>
                </a:tc>
                <a:tc>
                  <a:txBody>
                    <a:bodyPr/>
                    <a:lstStyle/>
                    <a:p>
                      <a:pPr algn="ctr"/>
                      <a:r>
                        <a:rPr lang="en-US" altLang="zh-TW" sz="1050" dirty="0" smtClean="0"/>
                        <a:t>30</a:t>
                      </a:r>
                      <a:endParaRPr lang="zh-TW" altLang="en-US" sz="1050" dirty="0"/>
                    </a:p>
                  </a:txBody>
                  <a:tcPr/>
                </a:tc>
                <a:tc>
                  <a:txBody>
                    <a:bodyPr/>
                    <a:lstStyle/>
                    <a:p>
                      <a:pPr algn="ctr"/>
                      <a:r>
                        <a:rPr lang="en-US" altLang="zh-TW" sz="1050" dirty="0" smtClean="0"/>
                        <a:t>65</a:t>
                      </a:r>
                      <a:endParaRPr lang="zh-TW" altLang="en-US" sz="1050" dirty="0"/>
                    </a:p>
                  </a:txBody>
                  <a:tcPr/>
                </a:tc>
                <a:tc>
                  <a:txBody>
                    <a:bodyPr/>
                    <a:lstStyle/>
                    <a:p>
                      <a:pPr algn="ctr"/>
                      <a:r>
                        <a:rPr lang="en-US" altLang="zh-TW" sz="1050" dirty="0" smtClean="0"/>
                        <a:t>75</a:t>
                      </a:r>
                      <a:endParaRPr lang="zh-TW" altLang="en-US" sz="1050" dirty="0"/>
                    </a:p>
                  </a:txBody>
                  <a:tcPr/>
                </a:tc>
                <a:tc>
                  <a:txBody>
                    <a:bodyPr/>
                    <a:lstStyle/>
                    <a:p>
                      <a:pPr algn="ctr"/>
                      <a:r>
                        <a:rPr lang="en-US" altLang="zh-TW" sz="1050" dirty="0" smtClean="0"/>
                        <a:t>80</a:t>
                      </a:r>
                      <a:endParaRPr lang="zh-TW" altLang="en-US" sz="1050" dirty="0"/>
                    </a:p>
                  </a:txBody>
                  <a:tcPr/>
                </a:tc>
              </a:tr>
              <a:tr h="271666">
                <a:tc>
                  <a:txBody>
                    <a:bodyPr/>
                    <a:lstStyle/>
                    <a:p>
                      <a:pPr algn="ctr"/>
                      <a:r>
                        <a:rPr lang="en-US" altLang="zh-TW" sz="1050" dirty="0" smtClean="0"/>
                        <a:t>9</a:t>
                      </a:r>
                      <a:endParaRPr lang="zh-TW" altLang="en-US" sz="1050" dirty="0"/>
                    </a:p>
                  </a:txBody>
                  <a:tcPr/>
                </a:tc>
                <a:tc>
                  <a:txBody>
                    <a:bodyPr/>
                    <a:lstStyle/>
                    <a:p>
                      <a:pPr algn="ctr"/>
                      <a:r>
                        <a:rPr lang="en-US" altLang="zh-TW" sz="1050" dirty="0" smtClean="0"/>
                        <a:t>60</a:t>
                      </a:r>
                      <a:endParaRPr lang="zh-TW" altLang="en-US" sz="1050" dirty="0"/>
                    </a:p>
                  </a:txBody>
                  <a:tcPr/>
                </a:tc>
                <a:tc>
                  <a:txBody>
                    <a:bodyPr/>
                    <a:lstStyle/>
                    <a:p>
                      <a:pPr algn="ctr"/>
                      <a:r>
                        <a:rPr lang="en-US" altLang="zh-TW" sz="1050" dirty="0" smtClean="0"/>
                        <a:t>20</a:t>
                      </a:r>
                      <a:endParaRPr lang="zh-TW" altLang="en-US" sz="1050" dirty="0"/>
                    </a:p>
                  </a:txBody>
                  <a:tcPr/>
                </a:tc>
                <a:tc>
                  <a:txBody>
                    <a:bodyPr/>
                    <a:lstStyle/>
                    <a:p>
                      <a:pPr algn="ctr"/>
                      <a:r>
                        <a:rPr lang="en-US" altLang="zh-TW" sz="1050" dirty="0" smtClean="0"/>
                        <a:t>50</a:t>
                      </a:r>
                      <a:endParaRPr lang="zh-TW" altLang="en-US" sz="1050" dirty="0"/>
                    </a:p>
                  </a:txBody>
                  <a:tcPr/>
                </a:tc>
                <a:tc>
                  <a:txBody>
                    <a:bodyPr/>
                    <a:lstStyle/>
                    <a:p>
                      <a:pPr algn="ctr"/>
                      <a:r>
                        <a:rPr lang="en-US" altLang="zh-TW" sz="1050" dirty="0" smtClean="0"/>
                        <a:t>40</a:t>
                      </a:r>
                      <a:endParaRPr lang="zh-TW" altLang="en-US" sz="1050" dirty="0"/>
                    </a:p>
                  </a:txBody>
                  <a:tcPr/>
                </a:tc>
              </a:tr>
              <a:tr h="271666">
                <a:tc>
                  <a:txBody>
                    <a:bodyPr/>
                    <a:lstStyle/>
                    <a:p>
                      <a:pPr algn="ctr"/>
                      <a:r>
                        <a:rPr lang="en-US" altLang="zh-TW" sz="1050" dirty="0" smtClean="0"/>
                        <a:t>10</a:t>
                      </a:r>
                      <a:endParaRPr lang="zh-TW" altLang="en-US" sz="1050" dirty="0"/>
                    </a:p>
                  </a:txBody>
                  <a:tcPr/>
                </a:tc>
                <a:tc>
                  <a:txBody>
                    <a:bodyPr/>
                    <a:lstStyle/>
                    <a:p>
                      <a:pPr algn="ctr"/>
                      <a:r>
                        <a:rPr lang="en-US" altLang="zh-TW" sz="1050" dirty="0" smtClean="0"/>
                        <a:t>25</a:t>
                      </a:r>
                      <a:endParaRPr lang="zh-TW" altLang="en-US" sz="1050" dirty="0"/>
                    </a:p>
                  </a:txBody>
                  <a:tcPr/>
                </a:tc>
                <a:tc>
                  <a:txBody>
                    <a:bodyPr/>
                    <a:lstStyle/>
                    <a:p>
                      <a:pPr algn="ctr"/>
                      <a:r>
                        <a:rPr lang="en-US" altLang="zh-TW" sz="1050" dirty="0" smtClean="0"/>
                        <a:t>25</a:t>
                      </a:r>
                      <a:endParaRPr lang="zh-TW" altLang="en-US" sz="1050" dirty="0"/>
                    </a:p>
                  </a:txBody>
                  <a:tcPr/>
                </a:tc>
                <a:tc>
                  <a:txBody>
                    <a:bodyPr/>
                    <a:lstStyle/>
                    <a:p>
                      <a:pPr algn="ctr"/>
                      <a:r>
                        <a:rPr lang="en-US" altLang="zh-TW" sz="1050" dirty="0" smtClean="0"/>
                        <a:t>50</a:t>
                      </a:r>
                      <a:endParaRPr lang="zh-TW" altLang="en-US" sz="1050" dirty="0"/>
                    </a:p>
                  </a:txBody>
                  <a:tcPr/>
                </a:tc>
                <a:tc>
                  <a:txBody>
                    <a:bodyPr/>
                    <a:lstStyle/>
                    <a:p>
                      <a:pPr algn="ctr"/>
                      <a:r>
                        <a:rPr lang="en-US" altLang="zh-TW" sz="1050" dirty="0" smtClean="0"/>
                        <a:t>25</a:t>
                      </a:r>
                      <a:endParaRPr lang="zh-TW" altLang="en-US" sz="1050" dirty="0"/>
                    </a:p>
                  </a:txBody>
                  <a:tcPr/>
                </a:tc>
              </a:tr>
            </a:tbl>
          </a:graphicData>
        </a:graphic>
      </p:graphicFrame>
      <p:graphicFrame>
        <p:nvGraphicFramePr>
          <p:cNvPr id="9" name="表格 8"/>
          <p:cNvGraphicFramePr>
            <a:graphicFrameLocks noGrp="1"/>
          </p:cNvGraphicFramePr>
          <p:nvPr/>
        </p:nvGraphicFramePr>
        <p:xfrm>
          <a:off x="3131840" y="4005064"/>
          <a:ext cx="2664297" cy="1854200"/>
        </p:xfrm>
        <a:graphic>
          <a:graphicData uri="http://schemas.openxmlformats.org/drawingml/2006/table">
            <a:tbl>
              <a:tblPr firstRow="1" bandRow="1">
                <a:tableStyleId>{F5AB1C69-6EDB-4FF4-983F-18BD219EF322}</a:tableStyleId>
              </a:tblPr>
              <a:tblGrid>
                <a:gridCol w="1080119"/>
                <a:gridCol w="792088"/>
                <a:gridCol w="792090"/>
              </a:tblGrid>
              <a:tr h="370840">
                <a:tc>
                  <a:txBody>
                    <a:bodyPr/>
                    <a:lstStyle/>
                    <a:p>
                      <a:pPr algn="ctr"/>
                      <a:r>
                        <a:rPr lang="zh-TW" altLang="en-US" sz="1200" dirty="0" smtClean="0"/>
                        <a:t>變數名稱</a:t>
                      </a:r>
                      <a:endParaRPr lang="zh-TW" altLang="en-US" sz="1200" dirty="0"/>
                    </a:p>
                  </a:txBody>
                  <a:tcPr/>
                </a:tc>
                <a:tc>
                  <a:txBody>
                    <a:bodyPr/>
                    <a:lstStyle/>
                    <a:p>
                      <a:pPr algn="ctr"/>
                      <a:r>
                        <a:rPr lang="zh-TW" altLang="en-US" sz="1200" dirty="0" smtClean="0"/>
                        <a:t>因素</a:t>
                      </a:r>
                      <a:r>
                        <a:rPr lang="en-US" altLang="zh-TW" sz="1200" dirty="0" smtClean="0"/>
                        <a:t>1</a:t>
                      </a:r>
                      <a:endParaRPr lang="zh-TW" altLang="en-US" sz="1200" dirty="0"/>
                    </a:p>
                  </a:txBody>
                  <a:tcPr/>
                </a:tc>
                <a:tc>
                  <a:txBody>
                    <a:bodyPr/>
                    <a:lstStyle/>
                    <a:p>
                      <a:pPr algn="ctr"/>
                      <a:r>
                        <a:rPr lang="zh-TW" altLang="en-US" sz="1200" dirty="0" smtClean="0"/>
                        <a:t>因素</a:t>
                      </a:r>
                      <a:r>
                        <a:rPr lang="en-US" altLang="zh-TW" sz="1200" dirty="0" smtClean="0"/>
                        <a:t>2</a:t>
                      </a:r>
                      <a:endParaRPr lang="zh-TW" altLang="en-US" sz="1200" dirty="0"/>
                    </a:p>
                  </a:txBody>
                  <a:tcPr/>
                </a:tc>
              </a:tr>
              <a:tr h="370840">
                <a:tc>
                  <a:txBody>
                    <a:bodyPr/>
                    <a:lstStyle/>
                    <a:p>
                      <a:pPr algn="ctr"/>
                      <a:r>
                        <a:rPr lang="zh-TW" altLang="en-US" sz="1200" dirty="0" smtClean="0"/>
                        <a:t>品項齊全度</a:t>
                      </a:r>
                      <a:endParaRPr lang="zh-TW" altLang="en-US" sz="1200" dirty="0"/>
                    </a:p>
                  </a:txBody>
                  <a:tcPr/>
                </a:tc>
                <a:tc>
                  <a:txBody>
                    <a:bodyPr/>
                    <a:lstStyle/>
                    <a:p>
                      <a:pPr algn="ctr"/>
                      <a:r>
                        <a:rPr lang="en-US" altLang="zh-TW" sz="1200" dirty="0" smtClean="0"/>
                        <a:t>0.68</a:t>
                      </a:r>
                      <a:endParaRPr lang="zh-TW" altLang="en-US" sz="1200" dirty="0"/>
                    </a:p>
                  </a:txBody>
                  <a:tcPr/>
                </a:tc>
                <a:tc>
                  <a:txBody>
                    <a:bodyPr/>
                    <a:lstStyle/>
                    <a:p>
                      <a:pPr algn="ctr"/>
                      <a:r>
                        <a:rPr lang="en-US" altLang="zh-TW" sz="1200" dirty="0" smtClean="0"/>
                        <a:t>-0.48</a:t>
                      </a:r>
                      <a:endParaRPr lang="zh-TW" altLang="en-US" sz="1200" dirty="0"/>
                    </a:p>
                  </a:txBody>
                  <a:tcPr/>
                </a:tc>
              </a:tr>
              <a:tr h="370840">
                <a:tc>
                  <a:txBody>
                    <a:bodyPr/>
                    <a:lstStyle/>
                    <a:p>
                      <a:pPr algn="ctr"/>
                      <a:r>
                        <a:rPr lang="zh-TW" altLang="en-US" sz="1200" dirty="0" smtClean="0"/>
                        <a:t>氣氛</a:t>
                      </a:r>
                      <a:endParaRPr lang="zh-TW" altLang="en-US" sz="1200" dirty="0"/>
                    </a:p>
                  </a:txBody>
                  <a:tcPr/>
                </a:tc>
                <a:tc>
                  <a:txBody>
                    <a:bodyPr/>
                    <a:lstStyle/>
                    <a:p>
                      <a:pPr algn="ctr"/>
                      <a:r>
                        <a:rPr lang="en-US" altLang="zh-TW" sz="1200" dirty="0" smtClean="0"/>
                        <a:t>0.92</a:t>
                      </a:r>
                      <a:endParaRPr lang="zh-TW" altLang="en-US" sz="1200" dirty="0"/>
                    </a:p>
                  </a:txBody>
                  <a:tcPr/>
                </a:tc>
                <a:tc>
                  <a:txBody>
                    <a:bodyPr/>
                    <a:lstStyle/>
                    <a:p>
                      <a:pPr algn="ctr"/>
                      <a:r>
                        <a:rPr lang="en-US" altLang="zh-TW" sz="1200" dirty="0" smtClean="0"/>
                        <a:t>-0.03</a:t>
                      </a:r>
                      <a:endParaRPr lang="zh-TW" altLang="en-US" sz="1200" dirty="0"/>
                    </a:p>
                  </a:txBody>
                  <a:tcPr/>
                </a:tc>
              </a:tr>
              <a:tr h="370840">
                <a:tc>
                  <a:txBody>
                    <a:bodyPr/>
                    <a:lstStyle/>
                    <a:p>
                      <a:pPr algn="ctr"/>
                      <a:r>
                        <a:rPr lang="zh-TW" altLang="en-US" sz="1200" dirty="0" smtClean="0"/>
                        <a:t>接近性</a:t>
                      </a:r>
                      <a:endParaRPr lang="zh-TW" altLang="en-US" sz="1200" dirty="0"/>
                    </a:p>
                  </a:txBody>
                  <a:tcPr/>
                </a:tc>
                <a:tc>
                  <a:txBody>
                    <a:bodyPr/>
                    <a:lstStyle/>
                    <a:p>
                      <a:pPr algn="ctr"/>
                      <a:r>
                        <a:rPr lang="en-US" altLang="zh-TW" sz="1200" dirty="0" smtClean="0"/>
                        <a:t>0.91</a:t>
                      </a:r>
                      <a:endParaRPr lang="zh-TW" altLang="en-US" sz="1200" dirty="0"/>
                    </a:p>
                  </a:txBody>
                  <a:tcPr/>
                </a:tc>
                <a:tc>
                  <a:txBody>
                    <a:bodyPr/>
                    <a:lstStyle/>
                    <a:p>
                      <a:pPr algn="ctr"/>
                      <a:r>
                        <a:rPr lang="en-US" altLang="zh-TW" sz="1200" dirty="0" smtClean="0"/>
                        <a:t>0.21</a:t>
                      </a:r>
                      <a:endParaRPr lang="zh-TW" altLang="en-US" sz="1200" dirty="0"/>
                    </a:p>
                  </a:txBody>
                  <a:tcPr/>
                </a:tc>
              </a:tr>
              <a:tr h="370840">
                <a:tc>
                  <a:txBody>
                    <a:bodyPr/>
                    <a:lstStyle/>
                    <a:p>
                      <a:pPr algn="ctr"/>
                      <a:r>
                        <a:rPr lang="zh-TW" altLang="en-US" sz="1200" dirty="0" smtClean="0"/>
                        <a:t>寬闊感</a:t>
                      </a:r>
                      <a:endParaRPr lang="zh-TW" altLang="en-US" sz="1200" dirty="0"/>
                    </a:p>
                  </a:txBody>
                  <a:tcPr/>
                </a:tc>
                <a:tc>
                  <a:txBody>
                    <a:bodyPr/>
                    <a:lstStyle/>
                    <a:p>
                      <a:pPr algn="ctr"/>
                      <a:r>
                        <a:rPr lang="en-US" altLang="zh-TW" sz="1200" dirty="0" smtClean="0"/>
                        <a:t>0.25</a:t>
                      </a:r>
                      <a:endParaRPr lang="zh-TW" altLang="en-US" sz="1200" dirty="0"/>
                    </a:p>
                  </a:txBody>
                  <a:tcPr/>
                </a:tc>
                <a:tc>
                  <a:txBody>
                    <a:bodyPr/>
                    <a:lstStyle/>
                    <a:p>
                      <a:pPr algn="ctr"/>
                      <a:r>
                        <a:rPr lang="en-US" altLang="zh-TW" sz="1200" dirty="0" smtClean="0"/>
                        <a:t>0.67</a:t>
                      </a:r>
                      <a:endParaRPr lang="zh-TW" altLang="en-US" sz="1200" dirty="0"/>
                    </a:p>
                  </a:txBody>
                  <a:tcPr/>
                </a:tc>
              </a:tr>
            </a:tbl>
          </a:graphicData>
        </a:graphic>
      </p:graphicFrame>
      <p:sp>
        <p:nvSpPr>
          <p:cNvPr id="10" name="文字方塊 9"/>
          <p:cNvSpPr txBox="1"/>
          <p:nvPr/>
        </p:nvSpPr>
        <p:spPr>
          <a:xfrm>
            <a:off x="5940152" y="4005064"/>
            <a:ext cx="3024336" cy="1477328"/>
          </a:xfrm>
          <a:prstGeom prst="rect">
            <a:avLst/>
          </a:prstGeom>
          <a:noFill/>
        </p:spPr>
        <p:txBody>
          <a:bodyPr wrap="square" rtlCol="0">
            <a:spAutoFit/>
          </a:bodyPr>
          <a:lstStyle/>
          <a:p>
            <a:r>
              <a:rPr lang="zh-TW" altLang="en-US" dirty="0" smtClean="0"/>
              <a:t>此篇</a:t>
            </a:r>
            <a:r>
              <a:rPr lang="en-US" altLang="zh-TW" dirty="0" err="1" smtClean="0"/>
              <a:t>paper使用PCA中eigenvalues</a:t>
            </a:r>
            <a:r>
              <a:rPr lang="en-US" altLang="zh-TW" dirty="0" smtClean="0"/>
              <a:t> &gt; 1的因子個數(k)，</a:t>
            </a:r>
            <a:r>
              <a:rPr lang="en-US" altLang="zh-TW" dirty="0" err="1" smtClean="0"/>
              <a:t>且計算出loading後，經由varimax法旋轉後保留loading</a:t>
            </a:r>
            <a:r>
              <a:rPr lang="en-US" altLang="zh-TW" dirty="0" smtClean="0"/>
              <a:t> &gt; 0.5的features.</a:t>
            </a:r>
            <a:endParaRPr lang="zh-TW"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smtClean="0"/>
              <a:t>Classification and Regression Trees (CART)</a:t>
            </a:r>
            <a:endParaRPr lang="zh-TW" altLang="en-US" sz="3600" dirty="0"/>
          </a:p>
        </p:txBody>
      </p:sp>
      <p:sp>
        <p:nvSpPr>
          <p:cNvPr id="3" name="內容版面配置區 2"/>
          <p:cNvSpPr>
            <a:spLocks noGrp="1"/>
          </p:cNvSpPr>
          <p:nvPr>
            <p:ph idx="1"/>
          </p:nvPr>
        </p:nvSpPr>
        <p:spPr>
          <a:xfrm>
            <a:off x="395536" y="1340768"/>
            <a:ext cx="8229600" cy="864096"/>
          </a:xfrm>
        </p:spPr>
        <p:txBody>
          <a:bodyPr>
            <a:normAutofit/>
          </a:bodyPr>
          <a:lstStyle/>
          <a:p>
            <a:r>
              <a:rPr lang="en-US" altLang="zh-TW" sz="2000" dirty="0" smtClean="0"/>
              <a:t>A binary decision tree.</a:t>
            </a:r>
          </a:p>
          <a:p>
            <a:r>
              <a:rPr lang="en-US" altLang="zh-TW" sz="2000" dirty="0" smtClean="0"/>
              <a:t>Splits based only on one variable</a:t>
            </a:r>
          </a:p>
          <a:p>
            <a:endParaRPr lang="en-US" altLang="zh-TW" sz="2000" dirty="0" smtClean="0"/>
          </a:p>
          <a:p>
            <a:endParaRPr lang="zh-TW" altLang="en-US" sz="2000" dirty="0"/>
          </a:p>
        </p:txBody>
      </p:sp>
      <p:sp>
        <p:nvSpPr>
          <p:cNvPr id="4" name="投影片編號版面配置區 3"/>
          <p:cNvSpPr>
            <a:spLocks noGrp="1"/>
          </p:cNvSpPr>
          <p:nvPr>
            <p:ph type="sldNum" sz="quarter" idx="12"/>
          </p:nvPr>
        </p:nvSpPr>
        <p:spPr/>
        <p:txBody>
          <a:bodyPr/>
          <a:lstStyle/>
          <a:p>
            <a:fld id="{92A71567-5F19-40BA-A122-4EE261C9AD44}" type="slidenum">
              <a:rPr lang="zh-TW" altLang="en-US" smtClean="0"/>
              <a:pPr/>
              <a:t>13</a:t>
            </a:fld>
            <a:endParaRPr lang="zh-TW" altLang="en-US"/>
          </a:p>
        </p:txBody>
      </p:sp>
      <p:sp>
        <p:nvSpPr>
          <p:cNvPr id="49" name="Oval 4"/>
          <p:cNvSpPr>
            <a:spLocks noChangeArrowheads="1"/>
          </p:cNvSpPr>
          <p:nvPr/>
        </p:nvSpPr>
        <p:spPr bwMode="auto">
          <a:xfrm>
            <a:off x="5991671" y="2461624"/>
            <a:ext cx="525116" cy="535947"/>
          </a:xfrm>
          <a:prstGeom prst="ellipse">
            <a:avLst/>
          </a:prstGeom>
          <a:solidFill>
            <a:schemeClr val="accent1"/>
          </a:solidFill>
          <a:ln w="9525">
            <a:solidFill>
              <a:schemeClr val="tx1"/>
            </a:solidFill>
            <a:round/>
            <a:headEnd/>
            <a:tailEnd/>
          </a:ln>
          <a:effectLst/>
        </p:spPr>
        <p:txBody>
          <a:bodyPr wrap="none" anchor="ctr"/>
          <a:lstStyle/>
          <a:p>
            <a:endParaRPr lang="zh-TW" altLang="en-US"/>
          </a:p>
        </p:txBody>
      </p:sp>
      <p:sp>
        <p:nvSpPr>
          <p:cNvPr id="50" name="Text Box 5"/>
          <p:cNvSpPr txBox="1">
            <a:spLocks noChangeArrowheads="1"/>
          </p:cNvSpPr>
          <p:nvPr/>
        </p:nvSpPr>
        <p:spPr bwMode="auto">
          <a:xfrm>
            <a:off x="6795583" y="2796214"/>
            <a:ext cx="1232503" cy="369332"/>
          </a:xfrm>
          <a:prstGeom prst="rect">
            <a:avLst/>
          </a:prstGeom>
          <a:noFill/>
          <a:ln w="9525">
            <a:noFill/>
            <a:miter lim="800000"/>
            <a:headEnd/>
            <a:tailEnd/>
          </a:ln>
          <a:effectLst/>
        </p:spPr>
        <p:txBody>
          <a:bodyPr wrap="square">
            <a:spAutoFit/>
          </a:bodyPr>
          <a:lstStyle/>
          <a:p>
            <a:pPr>
              <a:spcBef>
                <a:spcPct val="50000"/>
              </a:spcBef>
            </a:pPr>
            <a:endParaRPr lang="zh-TW" altLang="zh-TW"/>
          </a:p>
        </p:txBody>
      </p:sp>
      <p:sp>
        <p:nvSpPr>
          <p:cNvPr id="51" name="Oval 6"/>
          <p:cNvSpPr>
            <a:spLocks noChangeArrowheads="1"/>
          </p:cNvSpPr>
          <p:nvPr/>
        </p:nvSpPr>
        <p:spPr bwMode="auto">
          <a:xfrm>
            <a:off x="4910583" y="3757024"/>
            <a:ext cx="525115" cy="535947"/>
          </a:xfrm>
          <a:prstGeom prst="ellipse">
            <a:avLst/>
          </a:prstGeom>
          <a:solidFill>
            <a:schemeClr val="accent1"/>
          </a:solidFill>
          <a:ln w="9525">
            <a:solidFill>
              <a:schemeClr val="tx1"/>
            </a:solidFill>
            <a:round/>
            <a:headEnd/>
            <a:tailEnd/>
          </a:ln>
          <a:effectLst/>
        </p:spPr>
        <p:txBody>
          <a:bodyPr wrap="none" anchor="ctr"/>
          <a:lstStyle/>
          <a:p>
            <a:endParaRPr lang="zh-TW" altLang="en-US"/>
          </a:p>
        </p:txBody>
      </p:sp>
      <p:sp>
        <p:nvSpPr>
          <p:cNvPr id="52" name="Oval 7"/>
          <p:cNvSpPr>
            <a:spLocks noChangeArrowheads="1"/>
          </p:cNvSpPr>
          <p:nvPr/>
        </p:nvSpPr>
        <p:spPr bwMode="auto">
          <a:xfrm>
            <a:off x="3693102" y="5059009"/>
            <a:ext cx="591660" cy="602388"/>
          </a:xfrm>
          <a:prstGeom prst="ellipse">
            <a:avLst/>
          </a:prstGeom>
          <a:solidFill>
            <a:schemeClr val="accent1"/>
          </a:solidFill>
          <a:ln w="9525">
            <a:solidFill>
              <a:schemeClr val="tx1"/>
            </a:solidFill>
            <a:round/>
            <a:headEnd/>
            <a:tailEnd/>
          </a:ln>
          <a:effectLst/>
        </p:spPr>
        <p:txBody>
          <a:bodyPr wrap="none" anchor="ctr"/>
          <a:lstStyle/>
          <a:p>
            <a:endParaRPr lang="zh-TW" altLang="en-US"/>
          </a:p>
        </p:txBody>
      </p:sp>
      <p:sp>
        <p:nvSpPr>
          <p:cNvPr id="53" name="Rectangle 8"/>
          <p:cNvSpPr>
            <a:spLocks noChangeArrowheads="1"/>
          </p:cNvSpPr>
          <p:nvPr/>
        </p:nvSpPr>
        <p:spPr bwMode="auto">
          <a:xfrm>
            <a:off x="2894458" y="6199952"/>
            <a:ext cx="525115" cy="469508"/>
          </a:xfrm>
          <a:prstGeom prst="rect">
            <a:avLst/>
          </a:prstGeom>
          <a:solidFill>
            <a:schemeClr val="accent1"/>
          </a:solidFill>
          <a:ln w="9525">
            <a:solidFill>
              <a:schemeClr val="tx1"/>
            </a:solidFill>
            <a:miter lim="800000"/>
            <a:headEnd/>
            <a:tailEnd/>
          </a:ln>
          <a:effectLst/>
        </p:spPr>
        <p:txBody>
          <a:bodyPr wrap="none" anchor="ctr"/>
          <a:lstStyle/>
          <a:p>
            <a:endParaRPr lang="zh-TW" altLang="en-US"/>
          </a:p>
        </p:txBody>
      </p:sp>
      <p:sp>
        <p:nvSpPr>
          <p:cNvPr id="54" name="Rectangle 9"/>
          <p:cNvSpPr>
            <a:spLocks noChangeArrowheads="1"/>
          </p:cNvSpPr>
          <p:nvPr/>
        </p:nvSpPr>
        <p:spPr bwMode="auto">
          <a:xfrm>
            <a:off x="4485123" y="6199952"/>
            <a:ext cx="590213" cy="469508"/>
          </a:xfrm>
          <a:prstGeom prst="rect">
            <a:avLst/>
          </a:prstGeom>
          <a:solidFill>
            <a:schemeClr val="accent1"/>
          </a:solidFill>
          <a:ln w="9525">
            <a:solidFill>
              <a:schemeClr val="tx1"/>
            </a:solidFill>
            <a:miter lim="800000"/>
            <a:headEnd/>
            <a:tailEnd/>
          </a:ln>
          <a:effectLst/>
        </p:spPr>
        <p:txBody>
          <a:bodyPr wrap="none" anchor="ctr"/>
          <a:lstStyle/>
          <a:p>
            <a:endParaRPr lang="zh-TW" altLang="en-US"/>
          </a:p>
        </p:txBody>
      </p:sp>
      <p:sp>
        <p:nvSpPr>
          <p:cNvPr id="55" name="Rectangle 10"/>
          <p:cNvSpPr>
            <a:spLocks noChangeArrowheads="1"/>
          </p:cNvSpPr>
          <p:nvPr/>
        </p:nvSpPr>
        <p:spPr bwMode="auto">
          <a:xfrm>
            <a:off x="5775771" y="5125449"/>
            <a:ext cx="525116" cy="535947"/>
          </a:xfrm>
          <a:prstGeom prst="rect">
            <a:avLst/>
          </a:prstGeom>
          <a:solidFill>
            <a:schemeClr val="accent1"/>
          </a:solidFill>
          <a:ln w="9525">
            <a:solidFill>
              <a:schemeClr val="tx1"/>
            </a:solidFill>
            <a:miter lim="800000"/>
            <a:headEnd/>
            <a:tailEnd/>
          </a:ln>
          <a:effectLst/>
        </p:spPr>
        <p:txBody>
          <a:bodyPr wrap="none" anchor="ctr"/>
          <a:lstStyle/>
          <a:p>
            <a:endParaRPr lang="zh-TW" altLang="en-US"/>
          </a:p>
        </p:txBody>
      </p:sp>
      <p:sp>
        <p:nvSpPr>
          <p:cNvPr id="56" name="Rectangle 11"/>
          <p:cNvSpPr>
            <a:spLocks noChangeArrowheads="1"/>
          </p:cNvSpPr>
          <p:nvPr/>
        </p:nvSpPr>
        <p:spPr bwMode="auto">
          <a:xfrm>
            <a:off x="6933048" y="3680478"/>
            <a:ext cx="590213" cy="468032"/>
          </a:xfrm>
          <a:prstGeom prst="rect">
            <a:avLst/>
          </a:prstGeom>
          <a:solidFill>
            <a:schemeClr val="accent1"/>
          </a:solidFill>
          <a:ln w="9525">
            <a:solidFill>
              <a:schemeClr val="tx1"/>
            </a:solidFill>
            <a:miter lim="800000"/>
            <a:headEnd/>
            <a:tailEnd/>
          </a:ln>
          <a:effectLst/>
        </p:spPr>
        <p:txBody>
          <a:bodyPr wrap="none" anchor="ctr"/>
          <a:lstStyle/>
          <a:p>
            <a:pPr algn="ctr"/>
            <a:r>
              <a:rPr lang="en-GB" altLang="zh-TW" dirty="0" smtClean="0">
                <a:ea typeface="新細明體" charset="-120"/>
              </a:rPr>
              <a:t>H</a:t>
            </a:r>
            <a:endParaRPr lang="en-GB" altLang="zh-TW" dirty="0">
              <a:ea typeface="新細明體" charset="-120"/>
            </a:endParaRPr>
          </a:p>
        </p:txBody>
      </p:sp>
      <p:sp>
        <p:nvSpPr>
          <p:cNvPr id="57" name="Line 12"/>
          <p:cNvSpPr>
            <a:spLocks noChangeShapeType="1"/>
          </p:cNvSpPr>
          <p:nvPr/>
        </p:nvSpPr>
        <p:spPr bwMode="auto">
          <a:xfrm flipH="1">
            <a:off x="5428089" y="2985075"/>
            <a:ext cx="655309" cy="804660"/>
          </a:xfrm>
          <a:prstGeom prst="line">
            <a:avLst/>
          </a:prstGeom>
          <a:noFill/>
          <a:ln w="9525">
            <a:solidFill>
              <a:schemeClr val="tx1"/>
            </a:solidFill>
            <a:round/>
            <a:headEnd/>
            <a:tailEnd/>
          </a:ln>
          <a:effectLst/>
        </p:spPr>
        <p:txBody>
          <a:bodyPr/>
          <a:lstStyle/>
          <a:p>
            <a:endParaRPr lang="zh-TW" altLang="en-US"/>
          </a:p>
        </p:txBody>
      </p:sp>
      <p:sp>
        <p:nvSpPr>
          <p:cNvPr id="58" name="Line 13"/>
          <p:cNvSpPr>
            <a:spLocks noChangeShapeType="1"/>
          </p:cNvSpPr>
          <p:nvPr/>
        </p:nvSpPr>
        <p:spPr bwMode="auto">
          <a:xfrm>
            <a:off x="6507730" y="2908528"/>
            <a:ext cx="656757" cy="736743"/>
          </a:xfrm>
          <a:prstGeom prst="line">
            <a:avLst/>
          </a:prstGeom>
          <a:noFill/>
          <a:ln w="9525">
            <a:solidFill>
              <a:schemeClr val="tx1"/>
            </a:solidFill>
            <a:round/>
            <a:headEnd/>
            <a:tailEnd/>
          </a:ln>
          <a:effectLst/>
        </p:spPr>
        <p:txBody>
          <a:bodyPr/>
          <a:lstStyle/>
          <a:p>
            <a:endParaRPr lang="zh-TW" altLang="en-US"/>
          </a:p>
        </p:txBody>
      </p:sp>
      <p:sp>
        <p:nvSpPr>
          <p:cNvPr id="59" name="Line 14"/>
          <p:cNvSpPr>
            <a:spLocks noChangeShapeType="1"/>
          </p:cNvSpPr>
          <p:nvPr/>
        </p:nvSpPr>
        <p:spPr bwMode="auto">
          <a:xfrm flipH="1">
            <a:off x="4210607" y="4281951"/>
            <a:ext cx="721854" cy="803183"/>
          </a:xfrm>
          <a:prstGeom prst="line">
            <a:avLst/>
          </a:prstGeom>
          <a:noFill/>
          <a:ln w="9525">
            <a:solidFill>
              <a:schemeClr val="tx1"/>
            </a:solidFill>
            <a:round/>
            <a:headEnd/>
            <a:tailEnd/>
          </a:ln>
          <a:effectLst/>
        </p:spPr>
        <p:txBody>
          <a:bodyPr/>
          <a:lstStyle/>
          <a:p>
            <a:endParaRPr lang="zh-TW" altLang="en-US"/>
          </a:p>
        </p:txBody>
      </p:sp>
      <p:sp>
        <p:nvSpPr>
          <p:cNvPr id="60" name="Line 15"/>
          <p:cNvSpPr>
            <a:spLocks noChangeShapeType="1"/>
          </p:cNvSpPr>
          <p:nvPr/>
        </p:nvSpPr>
        <p:spPr bwMode="auto">
          <a:xfrm>
            <a:off x="5421748" y="4281951"/>
            <a:ext cx="590213" cy="803183"/>
          </a:xfrm>
          <a:prstGeom prst="line">
            <a:avLst/>
          </a:prstGeom>
          <a:noFill/>
          <a:ln w="9525">
            <a:solidFill>
              <a:schemeClr val="tx1"/>
            </a:solidFill>
            <a:round/>
            <a:headEnd/>
            <a:tailEnd/>
          </a:ln>
          <a:effectLst/>
        </p:spPr>
        <p:txBody>
          <a:bodyPr/>
          <a:lstStyle/>
          <a:p>
            <a:endParaRPr lang="zh-TW" altLang="en-US"/>
          </a:p>
        </p:txBody>
      </p:sp>
      <p:sp>
        <p:nvSpPr>
          <p:cNvPr id="61" name="Line 16"/>
          <p:cNvSpPr>
            <a:spLocks noChangeShapeType="1"/>
          </p:cNvSpPr>
          <p:nvPr/>
        </p:nvSpPr>
        <p:spPr bwMode="auto">
          <a:xfrm flipH="1">
            <a:off x="3248479" y="5630164"/>
            <a:ext cx="460019" cy="534471"/>
          </a:xfrm>
          <a:prstGeom prst="line">
            <a:avLst/>
          </a:prstGeom>
          <a:noFill/>
          <a:ln w="9525">
            <a:solidFill>
              <a:schemeClr val="tx1"/>
            </a:solidFill>
            <a:round/>
            <a:headEnd/>
            <a:tailEnd/>
          </a:ln>
          <a:effectLst/>
        </p:spPr>
        <p:txBody>
          <a:bodyPr/>
          <a:lstStyle/>
          <a:p>
            <a:endParaRPr lang="zh-TW" altLang="en-US"/>
          </a:p>
        </p:txBody>
      </p:sp>
      <p:sp>
        <p:nvSpPr>
          <p:cNvPr id="62" name="Line 17"/>
          <p:cNvSpPr>
            <a:spLocks noChangeShapeType="1"/>
          </p:cNvSpPr>
          <p:nvPr/>
        </p:nvSpPr>
        <p:spPr bwMode="auto">
          <a:xfrm>
            <a:off x="4262883" y="5630164"/>
            <a:ext cx="525115" cy="534471"/>
          </a:xfrm>
          <a:prstGeom prst="line">
            <a:avLst/>
          </a:prstGeom>
          <a:noFill/>
          <a:ln w="9525">
            <a:solidFill>
              <a:schemeClr val="tx1"/>
            </a:solidFill>
            <a:round/>
            <a:headEnd/>
            <a:tailEnd/>
          </a:ln>
          <a:effectLst/>
        </p:spPr>
        <p:txBody>
          <a:bodyPr/>
          <a:lstStyle/>
          <a:p>
            <a:endParaRPr lang="zh-TW" altLang="en-US"/>
          </a:p>
        </p:txBody>
      </p:sp>
      <p:sp>
        <p:nvSpPr>
          <p:cNvPr id="63" name="Text Box 18"/>
          <p:cNvSpPr txBox="1">
            <a:spLocks noChangeArrowheads="1"/>
          </p:cNvSpPr>
          <p:nvPr/>
        </p:nvSpPr>
        <p:spPr bwMode="auto">
          <a:xfrm>
            <a:off x="5220072" y="2276872"/>
            <a:ext cx="3607821" cy="523220"/>
          </a:xfrm>
          <a:prstGeom prst="rect">
            <a:avLst/>
          </a:prstGeom>
          <a:noFill/>
          <a:ln w="9525">
            <a:noFill/>
            <a:miter lim="800000"/>
            <a:headEnd/>
            <a:tailEnd/>
          </a:ln>
          <a:effectLst/>
        </p:spPr>
        <p:txBody>
          <a:bodyPr wrap="square">
            <a:spAutoFit/>
          </a:bodyPr>
          <a:lstStyle/>
          <a:p>
            <a:pPr>
              <a:spcBef>
                <a:spcPct val="50000"/>
              </a:spcBef>
            </a:pPr>
            <a:r>
              <a:rPr lang="en-GB" altLang="zh-TW" sz="1400" dirty="0">
                <a:ea typeface="新細明體" charset="-120"/>
              </a:rPr>
              <a:t>Is the minimum systolic blood </a:t>
            </a:r>
            <a:r>
              <a:rPr lang="en-GB" altLang="zh-TW" sz="1400" dirty="0" smtClean="0">
                <a:ea typeface="新細明體" charset="-120"/>
              </a:rPr>
              <a:t>pressure (</a:t>
            </a:r>
            <a:r>
              <a:rPr lang="en-GB" altLang="zh-TW" sz="1400" dirty="0" err="1" smtClean="0">
                <a:ea typeface="新細明體" charset="-120"/>
              </a:rPr>
              <a:t>收縮壓</a:t>
            </a:r>
            <a:r>
              <a:rPr lang="en-GB" altLang="zh-TW" sz="1400" dirty="0" smtClean="0">
                <a:ea typeface="新細明體" charset="-120"/>
              </a:rPr>
              <a:t>) </a:t>
            </a:r>
            <a:r>
              <a:rPr lang="en-GB" altLang="zh-TW" sz="1400" dirty="0">
                <a:ea typeface="新細明體" charset="-120"/>
              </a:rPr>
              <a:t>over the </a:t>
            </a:r>
            <a:r>
              <a:rPr lang="en-GB" altLang="zh-TW" sz="1400" dirty="0" smtClean="0">
                <a:ea typeface="新細明體" charset="-120"/>
              </a:rPr>
              <a:t>last </a:t>
            </a:r>
            <a:r>
              <a:rPr lang="en-GB" altLang="zh-TW" sz="1400" dirty="0">
                <a:ea typeface="新細明體" charset="-120"/>
              </a:rPr>
              <a:t>24 hours&gt;91?</a:t>
            </a:r>
          </a:p>
        </p:txBody>
      </p:sp>
      <p:sp>
        <p:nvSpPr>
          <p:cNvPr id="64" name="Text Box 19"/>
          <p:cNvSpPr txBox="1">
            <a:spLocks noChangeArrowheads="1"/>
          </p:cNvSpPr>
          <p:nvPr/>
        </p:nvSpPr>
        <p:spPr bwMode="auto">
          <a:xfrm>
            <a:off x="3779912" y="3573016"/>
            <a:ext cx="1312066" cy="307777"/>
          </a:xfrm>
          <a:prstGeom prst="rect">
            <a:avLst/>
          </a:prstGeom>
          <a:noFill/>
          <a:ln w="9525">
            <a:noFill/>
            <a:miter lim="800000"/>
            <a:headEnd/>
            <a:tailEnd/>
          </a:ln>
          <a:effectLst/>
        </p:spPr>
        <p:txBody>
          <a:bodyPr wrap="square">
            <a:spAutoFit/>
          </a:bodyPr>
          <a:lstStyle/>
          <a:p>
            <a:pPr>
              <a:spcBef>
                <a:spcPct val="50000"/>
              </a:spcBef>
            </a:pPr>
            <a:r>
              <a:rPr lang="en-GB" altLang="zh-TW" sz="1400" dirty="0">
                <a:ea typeface="新細明體" charset="-120"/>
              </a:rPr>
              <a:t>Is age&gt;62.5?</a:t>
            </a:r>
          </a:p>
        </p:txBody>
      </p:sp>
      <p:sp>
        <p:nvSpPr>
          <p:cNvPr id="65" name="Text Box 20"/>
          <p:cNvSpPr txBox="1">
            <a:spLocks noChangeArrowheads="1"/>
          </p:cNvSpPr>
          <p:nvPr/>
        </p:nvSpPr>
        <p:spPr bwMode="auto">
          <a:xfrm>
            <a:off x="2915816" y="4797152"/>
            <a:ext cx="1728192" cy="523220"/>
          </a:xfrm>
          <a:prstGeom prst="rect">
            <a:avLst/>
          </a:prstGeom>
          <a:noFill/>
          <a:ln w="9525">
            <a:noFill/>
            <a:miter lim="800000"/>
            <a:headEnd/>
            <a:tailEnd/>
          </a:ln>
          <a:effectLst/>
        </p:spPr>
        <p:txBody>
          <a:bodyPr wrap="square">
            <a:spAutoFit/>
          </a:bodyPr>
          <a:lstStyle/>
          <a:p>
            <a:pPr>
              <a:spcBef>
                <a:spcPct val="50000"/>
              </a:spcBef>
            </a:pPr>
            <a:r>
              <a:rPr lang="en-GB" altLang="zh-TW" sz="1400" dirty="0">
                <a:ea typeface="新細明體" charset="-120"/>
              </a:rPr>
              <a:t>Is sinus tachycardia </a:t>
            </a:r>
            <a:r>
              <a:rPr lang="en-GB" altLang="zh-TW" sz="1400" dirty="0" smtClean="0">
                <a:ea typeface="新細明體" charset="-120"/>
              </a:rPr>
              <a:t>(</a:t>
            </a:r>
            <a:r>
              <a:rPr lang="en-GB" altLang="zh-TW" sz="1400" dirty="0" err="1" smtClean="0">
                <a:ea typeface="新細明體" charset="-120"/>
              </a:rPr>
              <a:t>心跳過速</a:t>
            </a:r>
            <a:r>
              <a:rPr lang="en-GB" altLang="zh-TW" sz="1400" dirty="0" smtClean="0">
                <a:ea typeface="新細明體" charset="-120"/>
              </a:rPr>
              <a:t>) present</a:t>
            </a:r>
            <a:r>
              <a:rPr lang="en-GB" altLang="zh-TW" sz="1400" dirty="0">
                <a:ea typeface="新細明體" charset="-120"/>
              </a:rPr>
              <a:t>?</a:t>
            </a:r>
          </a:p>
        </p:txBody>
      </p:sp>
      <p:sp>
        <p:nvSpPr>
          <p:cNvPr id="66" name="Text Box 21"/>
          <p:cNvSpPr txBox="1">
            <a:spLocks noChangeArrowheads="1"/>
          </p:cNvSpPr>
          <p:nvPr/>
        </p:nvSpPr>
        <p:spPr bwMode="auto">
          <a:xfrm>
            <a:off x="3013276" y="6263314"/>
            <a:ext cx="261835" cy="369332"/>
          </a:xfrm>
          <a:prstGeom prst="rect">
            <a:avLst/>
          </a:prstGeom>
          <a:noFill/>
          <a:ln w="9525">
            <a:noFill/>
            <a:miter lim="800000"/>
            <a:headEnd/>
            <a:tailEnd/>
          </a:ln>
          <a:effectLst/>
        </p:spPr>
        <p:txBody>
          <a:bodyPr wrap="square">
            <a:spAutoFit/>
          </a:bodyPr>
          <a:lstStyle/>
          <a:p>
            <a:pPr>
              <a:spcBef>
                <a:spcPct val="50000"/>
              </a:spcBef>
            </a:pPr>
            <a:r>
              <a:rPr lang="en-GB" altLang="zh-TW">
                <a:ea typeface="新細明體" charset="-120"/>
              </a:rPr>
              <a:t>H</a:t>
            </a:r>
          </a:p>
        </p:txBody>
      </p:sp>
      <p:sp>
        <p:nvSpPr>
          <p:cNvPr id="67" name="Text Box 22"/>
          <p:cNvSpPr txBox="1">
            <a:spLocks noChangeArrowheads="1"/>
          </p:cNvSpPr>
          <p:nvPr/>
        </p:nvSpPr>
        <p:spPr bwMode="auto">
          <a:xfrm>
            <a:off x="4610423" y="6263314"/>
            <a:ext cx="393475" cy="369332"/>
          </a:xfrm>
          <a:prstGeom prst="rect">
            <a:avLst/>
          </a:prstGeom>
          <a:noFill/>
          <a:ln w="9525">
            <a:noFill/>
            <a:miter lim="800000"/>
            <a:headEnd/>
            <a:tailEnd/>
          </a:ln>
          <a:effectLst/>
        </p:spPr>
        <p:txBody>
          <a:bodyPr wrap="square">
            <a:spAutoFit/>
          </a:bodyPr>
          <a:lstStyle/>
          <a:p>
            <a:pPr>
              <a:spcBef>
                <a:spcPct val="50000"/>
              </a:spcBef>
            </a:pPr>
            <a:r>
              <a:rPr lang="en-GB" altLang="zh-TW">
                <a:ea typeface="新細明體" charset="-120"/>
              </a:rPr>
              <a:t>L</a:t>
            </a:r>
          </a:p>
        </p:txBody>
      </p:sp>
      <p:sp>
        <p:nvSpPr>
          <p:cNvPr id="68" name="Text Box 23"/>
          <p:cNvSpPr txBox="1">
            <a:spLocks noChangeArrowheads="1"/>
          </p:cNvSpPr>
          <p:nvPr/>
        </p:nvSpPr>
        <p:spPr bwMode="auto">
          <a:xfrm>
            <a:off x="5834386" y="5182227"/>
            <a:ext cx="393475" cy="369332"/>
          </a:xfrm>
          <a:prstGeom prst="rect">
            <a:avLst/>
          </a:prstGeom>
          <a:noFill/>
          <a:ln w="9525">
            <a:noFill/>
            <a:miter lim="800000"/>
            <a:headEnd/>
            <a:tailEnd/>
          </a:ln>
          <a:effectLst/>
        </p:spPr>
        <p:txBody>
          <a:bodyPr wrap="square">
            <a:spAutoFit/>
          </a:bodyPr>
          <a:lstStyle/>
          <a:p>
            <a:pPr>
              <a:spcBef>
                <a:spcPct val="50000"/>
              </a:spcBef>
            </a:pPr>
            <a:r>
              <a:rPr lang="en-GB" altLang="zh-TW" dirty="0" smtClean="0">
                <a:ea typeface="新細明體" charset="-120"/>
              </a:rPr>
              <a:t>L</a:t>
            </a:r>
            <a:endParaRPr lang="en-GB" altLang="zh-TW" dirty="0">
              <a:ea typeface="新細明體" charset="-120"/>
            </a:endParaRPr>
          </a:p>
        </p:txBody>
      </p:sp>
      <p:sp>
        <p:nvSpPr>
          <p:cNvPr id="69" name="Text Box 24"/>
          <p:cNvSpPr txBox="1">
            <a:spLocks noChangeArrowheads="1"/>
          </p:cNvSpPr>
          <p:nvPr/>
        </p:nvSpPr>
        <p:spPr bwMode="auto">
          <a:xfrm>
            <a:off x="6986911" y="3742364"/>
            <a:ext cx="393475" cy="369332"/>
          </a:xfrm>
          <a:prstGeom prst="rect">
            <a:avLst/>
          </a:prstGeom>
          <a:noFill/>
          <a:ln w="9525">
            <a:noFill/>
            <a:miter lim="800000"/>
            <a:headEnd/>
            <a:tailEnd/>
          </a:ln>
          <a:effectLst/>
        </p:spPr>
        <p:txBody>
          <a:bodyPr wrap="square">
            <a:spAutoFit/>
          </a:bodyPr>
          <a:lstStyle/>
          <a:p>
            <a:pPr>
              <a:spcBef>
                <a:spcPct val="50000"/>
              </a:spcBef>
            </a:pPr>
            <a:endParaRPr lang="zh-TW" altLang="zh-TW"/>
          </a:p>
        </p:txBody>
      </p:sp>
      <p:sp>
        <p:nvSpPr>
          <p:cNvPr id="70" name="矩形 69"/>
          <p:cNvSpPr/>
          <p:nvPr/>
        </p:nvSpPr>
        <p:spPr>
          <a:xfrm>
            <a:off x="323528" y="2276872"/>
            <a:ext cx="4572000" cy="1015663"/>
          </a:xfrm>
          <a:prstGeom prst="rect">
            <a:avLst/>
          </a:prstGeom>
        </p:spPr>
        <p:txBody>
          <a:bodyPr>
            <a:spAutoFit/>
          </a:bodyPr>
          <a:lstStyle/>
          <a:p>
            <a:r>
              <a:rPr lang="en-GB" altLang="zh-TW" sz="2000" dirty="0" smtClean="0">
                <a:solidFill>
                  <a:srgbClr val="FF0000"/>
                </a:solidFill>
                <a:ea typeface="新細明體" charset="-120"/>
              </a:rPr>
              <a:t>Example: </a:t>
            </a:r>
            <a:r>
              <a:rPr lang="en-GB" altLang="zh-TW" sz="2000" dirty="0" smtClean="0">
                <a:ea typeface="新細明體" charset="-120"/>
              </a:rPr>
              <a:t>Can the high risk(heart attack, will not survive 30 days) patients be identified?</a:t>
            </a:r>
            <a:endParaRPr lang="en-GB" altLang="zh-TW" sz="2000" dirty="0">
              <a:ea typeface="新細明體" charset="-120"/>
            </a:endParaRPr>
          </a:p>
        </p:txBody>
      </p:sp>
      <p:sp>
        <p:nvSpPr>
          <p:cNvPr id="71" name="矩形 70"/>
          <p:cNvSpPr/>
          <p:nvPr/>
        </p:nvSpPr>
        <p:spPr>
          <a:xfrm>
            <a:off x="395536" y="3645024"/>
            <a:ext cx="2520280" cy="1323439"/>
          </a:xfrm>
          <a:prstGeom prst="rect">
            <a:avLst/>
          </a:prstGeom>
        </p:spPr>
        <p:txBody>
          <a:bodyPr wrap="square">
            <a:spAutoFit/>
          </a:bodyPr>
          <a:lstStyle/>
          <a:p>
            <a:r>
              <a:rPr lang="en-GB" altLang="zh-TW" sz="2000" dirty="0" smtClean="0">
                <a:solidFill>
                  <a:srgbClr val="FF0000"/>
                </a:solidFill>
                <a:ea typeface="新細明體" charset="-120"/>
              </a:rPr>
              <a:t>Construction a tree:</a:t>
            </a:r>
          </a:p>
          <a:p>
            <a:pPr>
              <a:buFont typeface="Arial" pitchFamily="34" charset="0"/>
              <a:buChar char="•"/>
            </a:pPr>
            <a:r>
              <a:rPr lang="en-GB" altLang="zh-TW" sz="2000" dirty="0" smtClean="0">
                <a:ea typeface="新細明體" charset="-120"/>
              </a:rPr>
              <a:t>Growing </a:t>
            </a:r>
          </a:p>
          <a:p>
            <a:pPr>
              <a:buFont typeface="Arial" pitchFamily="34" charset="0"/>
              <a:buChar char="•"/>
            </a:pPr>
            <a:r>
              <a:rPr lang="en-GB" altLang="zh-TW" sz="2000" dirty="0" smtClean="0">
                <a:ea typeface="新細明體" charset="-120"/>
              </a:rPr>
              <a:t>Stopping</a:t>
            </a:r>
          </a:p>
          <a:p>
            <a:pPr>
              <a:buFont typeface="Arial" pitchFamily="34" charset="0"/>
              <a:buChar char="•"/>
            </a:pPr>
            <a:r>
              <a:rPr lang="en-GB" altLang="zh-TW" sz="2000" dirty="0" smtClean="0">
                <a:ea typeface="新細明體" charset="-120"/>
              </a:rPr>
              <a:t>Pruning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92A71567-5F19-40BA-A122-4EE261C9AD44}" type="slidenum">
              <a:rPr lang="zh-TW" altLang="en-US" smtClean="0"/>
              <a:pPr/>
              <a:t>14</a:t>
            </a:fld>
            <a:endParaRPr lang="zh-TW" altLang="en-US"/>
          </a:p>
        </p:txBody>
      </p:sp>
      <p:pic>
        <p:nvPicPr>
          <p:cNvPr id="9218" name="Picture 2"/>
          <p:cNvPicPr>
            <a:picLocks noChangeAspect="1" noChangeArrowheads="1"/>
          </p:cNvPicPr>
          <p:nvPr/>
        </p:nvPicPr>
        <p:blipFill>
          <a:blip r:embed="rId3" cstate="email"/>
          <a:srcRect/>
          <a:stretch>
            <a:fillRect/>
          </a:stretch>
        </p:blipFill>
        <p:spPr bwMode="auto">
          <a:xfrm>
            <a:off x="4499992" y="980728"/>
            <a:ext cx="3718950" cy="2016224"/>
          </a:xfrm>
          <a:prstGeom prst="rect">
            <a:avLst/>
          </a:prstGeom>
          <a:noFill/>
          <a:ln w="9525">
            <a:noFill/>
            <a:miter lim="800000"/>
            <a:headEnd/>
            <a:tailEnd/>
          </a:ln>
        </p:spPr>
      </p:pic>
      <p:sp>
        <p:nvSpPr>
          <p:cNvPr id="7" name="矩形 6"/>
          <p:cNvSpPr/>
          <p:nvPr/>
        </p:nvSpPr>
        <p:spPr>
          <a:xfrm>
            <a:off x="251520" y="188640"/>
            <a:ext cx="1881797" cy="461665"/>
          </a:xfrm>
          <a:prstGeom prst="rect">
            <a:avLst/>
          </a:prstGeom>
        </p:spPr>
        <p:txBody>
          <a:bodyPr wrap="none">
            <a:spAutoFit/>
          </a:bodyPr>
          <a:lstStyle/>
          <a:p>
            <a:r>
              <a:rPr lang="en-GB" altLang="zh-TW" sz="2400" dirty="0" smtClean="0">
                <a:solidFill>
                  <a:srgbClr val="FF0000"/>
                </a:solidFill>
                <a:ea typeface="新細明體" charset="-120"/>
              </a:rPr>
              <a:t>Tree growing:</a:t>
            </a:r>
          </a:p>
        </p:txBody>
      </p:sp>
      <p:pic>
        <p:nvPicPr>
          <p:cNvPr id="9219" name="Picture 3"/>
          <p:cNvPicPr>
            <a:picLocks noChangeAspect="1" noChangeArrowheads="1"/>
          </p:cNvPicPr>
          <p:nvPr/>
        </p:nvPicPr>
        <p:blipFill>
          <a:blip r:embed="rId4" cstate="email"/>
          <a:srcRect/>
          <a:stretch>
            <a:fillRect/>
          </a:stretch>
        </p:blipFill>
        <p:spPr bwMode="auto">
          <a:xfrm>
            <a:off x="1259632" y="648072"/>
            <a:ext cx="2877090" cy="2492896"/>
          </a:xfrm>
          <a:prstGeom prst="rect">
            <a:avLst/>
          </a:prstGeom>
          <a:noFill/>
          <a:ln w="9525">
            <a:noFill/>
            <a:miter lim="800000"/>
            <a:headEnd/>
            <a:tailEnd/>
          </a:ln>
        </p:spPr>
      </p:pic>
      <p:sp>
        <p:nvSpPr>
          <p:cNvPr id="9" name="文字方塊 8"/>
          <p:cNvSpPr txBox="1"/>
          <p:nvPr/>
        </p:nvSpPr>
        <p:spPr>
          <a:xfrm>
            <a:off x="179512" y="3429000"/>
            <a:ext cx="4824536" cy="461665"/>
          </a:xfrm>
          <a:prstGeom prst="rect">
            <a:avLst/>
          </a:prstGeom>
          <a:noFill/>
        </p:spPr>
        <p:txBody>
          <a:bodyPr wrap="square" rtlCol="0">
            <a:spAutoFit/>
          </a:bodyPr>
          <a:lstStyle/>
          <a:p>
            <a:r>
              <a:rPr lang="en-US" altLang="zh-TW" sz="2400" dirty="0" err="1" smtClean="0">
                <a:solidFill>
                  <a:srgbClr val="FF0000"/>
                </a:solidFill>
              </a:rPr>
              <a:t>Gini</a:t>
            </a:r>
            <a:r>
              <a:rPr lang="en-US" altLang="zh-TW" sz="2400" dirty="0" smtClean="0">
                <a:solidFill>
                  <a:srgbClr val="FF0000"/>
                </a:solidFill>
              </a:rPr>
              <a:t> impurity  (</a:t>
            </a:r>
            <a:r>
              <a:rPr lang="en-US" altLang="zh-TW" sz="2400" dirty="0" err="1" smtClean="0">
                <a:solidFill>
                  <a:srgbClr val="FF0000"/>
                </a:solidFill>
              </a:rPr>
              <a:t>不純度</a:t>
            </a:r>
            <a:r>
              <a:rPr lang="en-US" altLang="zh-TW" sz="2400" dirty="0" smtClean="0">
                <a:solidFill>
                  <a:srgbClr val="FF0000"/>
                </a:solidFill>
              </a:rPr>
              <a:t> ) index: </a:t>
            </a:r>
            <a:endParaRPr lang="zh-TW" altLang="en-US" sz="2400" dirty="0">
              <a:solidFill>
                <a:srgbClr val="FF0000"/>
              </a:solidFill>
            </a:endParaRPr>
          </a:p>
        </p:txBody>
      </p:sp>
      <p:sp>
        <p:nvSpPr>
          <p:cNvPr id="11" name="文字方塊 10"/>
          <p:cNvSpPr txBox="1"/>
          <p:nvPr/>
        </p:nvSpPr>
        <p:spPr>
          <a:xfrm>
            <a:off x="683568" y="5445224"/>
            <a:ext cx="7416824" cy="923330"/>
          </a:xfrm>
          <a:prstGeom prst="rect">
            <a:avLst/>
          </a:prstGeom>
          <a:noFill/>
        </p:spPr>
        <p:txBody>
          <a:bodyPr wrap="square" rtlCol="0">
            <a:spAutoFit/>
          </a:bodyPr>
          <a:lstStyle/>
          <a:p>
            <a:pPr>
              <a:buFont typeface="Arial" pitchFamily="34" charset="0"/>
              <a:buChar char="•"/>
            </a:pPr>
            <a:r>
              <a:rPr lang="zh-TW" altLang="en-US" dirty="0" smtClean="0"/>
              <a:t>在節點</a:t>
            </a:r>
            <a:r>
              <a:rPr lang="en-US" altLang="zh-TW" dirty="0" err="1" smtClean="0"/>
              <a:t>t的不純度，為兩種不相同種類的樣本比率相乘之和</a:t>
            </a:r>
            <a:endParaRPr lang="en-US" altLang="zh-TW" dirty="0" smtClean="0"/>
          </a:p>
          <a:p>
            <a:pPr>
              <a:buFont typeface="Arial" pitchFamily="34" charset="0"/>
              <a:buChar char="•"/>
            </a:pPr>
            <a:r>
              <a:rPr lang="zh-TW" altLang="en-US" dirty="0" smtClean="0"/>
              <a:t>當</a:t>
            </a:r>
            <a:r>
              <a:rPr lang="en-US" altLang="zh-TW" dirty="0" err="1" smtClean="0"/>
              <a:t>t的不純度越小時，表示t點的純度越高，反之</a:t>
            </a:r>
            <a:endParaRPr lang="en-US" altLang="zh-TW" dirty="0" smtClean="0"/>
          </a:p>
          <a:p>
            <a:pPr>
              <a:buFont typeface="Arial" pitchFamily="34" charset="0"/>
              <a:buChar char="•"/>
            </a:pPr>
            <a:r>
              <a:rPr lang="zh-TW" altLang="en-US" dirty="0" smtClean="0"/>
              <a:t>目標：找出不純度下降最大的分割條件 </a:t>
            </a:r>
            <a:r>
              <a:rPr lang="en-US" altLang="zh-TW" dirty="0" smtClean="0"/>
              <a:t>(</a:t>
            </a:r>
            <a:r>
              <a:rPr lang="en-US" altLang="zh-TW" dirty="0" err="1" smtClean="0"/>
              <a:t>即最有效提高純度的方法</a:t>
            </a:r>
            <a:r>
              <a:rPr lang="en-US" altLang="zh-TW" dirty="0" smtClean="0"/>
              <a:t>)</a:t>
            </a:r>
            <a:endParaRPr lang="zh-TW" altLang="en-US" dirty="0"/>
          </a:p>
        </p:txBody>
      </p:sp>
      <p:graphicFrame>
        <p:nvGraphicFramePr>
          <p:cNvPr id="10" name="物件 9"/>
          <p:cNvGraphicFramePr>
            <a:graphicFrameLocks noChangeAspect="1"/>
          </p:cNvGraphicFramePr>
          <p:nvPr/>
        </p:nvGraphicFramePr>
        <p:xfrm>
          <a:off x="1331640" y="4221088"/>
          <a:ext cx="5456654" cy="825872"/>
        </p:xfrm>
        <a:graphic>
          <a:graphicData uri="http://schemas.openxmlformats.org/presentationml/2006/ole">
            <p:oleObj spid="_x0000_s4098" name="方程式" r:id="rId5" imgW="2349360" imgH="355320" progId="Equation.3">
              <p:embed/>
            </p:oleObj>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92A71567-5F19-40BA-A122-4EE261C9AD44}" type="slidenum">
              <a:rPr lang="zh-TW" altLang="en-US" smtClean="0"/>
              <a:pPr/>
              <a:t>15</a:t>
            </a:fld>
            <a:endParaRPr lang="zh-TW" altLang="en-US"/>
          </a:p>
        </p:txBody>
      </p:sp>
      <p:pic>
        <p:nvPicPr>
          <p:cNvPr id="10242" name="Picture 2"/>
          <p:cNvPicPr>
            <a:picLocks noChangeAspect="1" noChangeArrowheads="1"/>
          </p:cNvPicPr>
          <p:nvPr/>
        </p:nvPicPr>
        <p:blipFill>
          <a:blip r:embed="rId3" cstate="email"/>
          <a:srcRect/>
          <a:stretch>
            <a:fillRect/>
          </a:stretch>
        </p:blipFill>
        <p:spPr bwMode="auto">
          <a:xfrm>
            <a:off x="4716016" y="476672"/>
            <a:ext cx="4032448" cy="2557375"/>
          </a:xfrm>
          <a:prstGeom prst="rect">
            <a:avLst/>
          </a:prstGeom>
          <a:noFill/>
          <a:ln w="9525">
            <a:noFill/>
            <a:miter lim="800000"/>
            <a:headEnd/>
            <a:tailEnd/>
          </a:ln>
        </p:spPr>
      </p:pic>
      <p:pic>
        <p:nvPicPr>
          <p:cNvPr id="5" name="Picture 5"/>
          <p:cNvPicPr>
            <a:picLocks noChangeAspect="1" noChangeArrowheads="1"/>
          </p:cNvPicPr>
          <p:nvPr/>
        </p:nvPicPr>
        <p:blipFill>
          <a:blip r:embed="rId4" cstate="email"/>
          <a:srcRect/>
          <a:stretch>
            <a:fillRect/>
          </a:stretch>
        </p:blipFill>
        <p:spPr bwMode="auto">
          <a:xfrm>
            <a:off x="179511" y="476672"/>
            <a:ext cx="4370487" cy="2520280"/>
          </a:xfrm>
          <a:prstGeom prst="rect">
            <a:avLst/>
          </a:prstGeom>
          <a:noFill/>
          <a:ln w="9525">
            <a:noFill/>
            <a:miter lim="800000"/>
            <a:headEnd/>
            <a:tailEnd/>
          </a:ln>
        </p:spPr>
      </p:pic>
      <p:pic>
        <p:nvPicPr>
          <p:cNvPr id="5123" name="Picture 3"/>
          <p:cNvPicPr>
            <a:picLocks noChangeAspect="1" noChangeArrowheads="1"/>
          </p:cNvPicPr>
          <p:nvPr/>
        </p:nvPicPr>
        <p:blipFill>
          <a:blip r:embed="rId5" cstate="print"/>
          <a:srcRect/>
          <a:stretch>
            <a:fillRect/>
          </a:stretch>
        </p:blipFill>
        <p:spPr bwMode="auto">
          <a:xfrm>
            <a:off x="179512" y="3356992"/>
            <a:ext cx="4032448" cy="1083781"/>
          </a:xfrm>
          <a:prstGeom prst="rect">
            <a:avLst/>
          </a:prstGeom>
          <a:noFill/>
          <a:ln w="9525">
            <a:noFill/>
            <a:miter lim="800000"/>
            <a:headEnd/>
            <a:tailEnd/>
          </a:ln>
        </p:spPr>
      </p:pic>
      <p:pic>
        <p:nvPicPr>
          <p:cNvPr id="5124" name="Picture 4"/>
          <p:cNvPicPr>
            <a:picLocks noChangeAspect="1" noChangeArrowheads="1"/>
          </p:cNvPicPr>
          <p:nvPr/>
        </p:nvPicPr>
        <p:blipFill>
          <a:blip r:embed="rId6" cstate="print"/>
          <a:srcRect/>
          <a:stretch>
            <a:fillRect/>
          </a:stretch>
        </p:blipFill>
        <p:spPr bwMode="auto">
          <a:xfrm>
            <a:off x="179512" y="4725144"/>
            <a:ext cx="4499992" cy="345296"/>
          </a:xfrm>
          <a:prstGeom prst="rect">
            <a:avLst/>
          </a:prstGeom>
          <a:noFill/>
          <a:ln w="9525">
            <a:noFill/>
            <a:miter lim="800000"/>
            <a:headEnd/>
            <a:tailEnd/>
          </a:ln>
        </p:spPr>
      </p:pic>
      <p:pic>
        <p:nvPicPr>
          <p:cNvPr id="5126" name="Picture 6"/>
          <p:cNvPicPr>
            <a:picLocks noChangeAspect="1" noChangeArrowheads="1"/>
          </p:cNvPicPr>
          <p:nvPr/>
        </p:nvPicPr>
        <p:blipFill>
          <a:blip r:embed="rId7" cstate="print"/>
          <a:srcRect/>
          <a:stretch>
            <a:fillRect/>
          </a:stretch>
        </p:blipFill>
        <p:spPr bwMode="auto">
          <a:xfrm>
            <a:off x="4932040" y="3284984"/>
            <a:ext cx="3687306" cy="360040"/>
          </a:xfrm>
          <a:prstGeom prst="rect">
            <a:avLst/>
          </a:prstGeom>
          <a:noFill/>
          <a:ln w="9525">
            <a:noFill/>
            <a:miter lim="800000"/>
            <a:headEnd/>
            <a:tailEnd/>
          </a:ln>
        </p:spPr>
      </p:pic>
      <p:graphicFrame>
        <p:nvGraphicFramePr>
          <p:cNvPr id="10" name="物件 9"/>
          <p:cNvGraphicFramePr>
            <a:graphicFrameLocks noChangeAspect="1"/>
          </p:cNvGraphicFramePr>
          <p:nvPr/>
        </p:nvGraphicFramePr>
        <p:xfrm>
          <a:off x="5076056" y="3716338"/>
          <a:ext cx="3270250" cy="288925"/>
        </p:xfrm>
        <a:graphic>
          <a:graphicData uri="http://schemas.openxmlformats.org/presentationml/2006/ole">
            <p:oleObj spid="_x0000_s5127" name="方程式" r:id="rId8" imgW="2489040" imgH="228600" progId="Equation.3">
              <p:embed/>
            </p:oleObj>
          </a:graphicData>
        </a:graphic>
      </p:graphicFrame>
      <p:graphicFrame>
        <p:nvGraphicFramePr>
          <p:cNvPr id="11" name="物件 10"/>
          <p:cNvGraphicFramePr>
            <a:graphicFrameLocks noChangeAspect="1"/>
          </p:cNvGraphicFramePr>
          <p:nvPr/>
        </p:nvGraphicFramePr>
        <p:xfrm>
          <a:off x="5076056" y="4203432"/>
          <a:ext cx="3456384" cy="233680"/>
        </p:xfrm>
        <a:graphic>
          <a:graphicData uri="http://schemas.openxmlformats.org/presentationml/2006/ole">
            <p:oleObj spid="_x0000_s5128" name="方程式" r:id="rId9" imgW="2501640" imgH="228600" progId="Equation.3">
              <p:embed/>
            </p:oleObj>
          </a:graphicData>
        </a:graphic>
      </p:graphicFrame>
      <p:graphicFrame>
        <p:nvGraphicFramePr>
          <p:cNvPr id="12" name="物件 11"/>
          <p:cNvGraphicFramePr>
            <a:graphicFrameLocks noChangeAspect="1"/>
          </p:cNvGraphicFramePr>
          <p:nvPr/>
        </p:nvGraphicFramePr>
        <p:xfrm>
          <a:off x="5148064" y="4724251"/>
          <a:ext cx="3287713" cy="288925"/>
        </p:xfrm>
        <a:graphic>
          <a:graphicData uri="http://schemas.openxmlformats.org/presentationml/2006/ole">
            <p:oleObj spid="_x0000_s5129" name="方程式" r:id="rId10" imgW="2641320" imgH="203040" progId="Equation.3">
              <p:embed/>
            </p:oleObj>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92A71567-5F19-40BA-A122-4EE261C9AD44}" type="slidenum">
              <a:rPr lang="zh-TW" altLang="en-US" smtClean="0"/>
              <a:pPr/>
              <a:t>16</a:t>
            </a:fld>
            <a:endParaRPr lang="zh-TW" altLang="en-US"/>
          </a:p>
        </p:txBody>
      </p:sp>
      <p:sp>
        <p:nvSpPr>
          <p:cNvPr id="5" name="矩形 4"/>
          <p:cNvSpPr/>
          <p:nvPr/>
        </p:nvSpPr>
        <p:spPr>
          <a:xfrm>
            <a:off x="611560" y="3140968"/>
            <a:ext cx="1847878" cy="461665"/>
          </a:xfrm>
          <a:prstGeom prst="rect">
            <a:avLst/>
          </a:prstGeom>
        </p:spPr>
        <p:txBody>
          <a:bodyPr wrap="none">
            <a:spAutoFit/>
          </a:bodyPr>
          <a:lstStyle/>
          <a:p>
            <a:r>
              <a:rPr lang="en-GB" altLang="zh-TW" sz="2400" dirty="0" smtClean="0">
                <a:solidFill>
                  <a:srgbClr val="FF0000"/>
                </a:solidFill>
                <a:ea typeface="新細明體" charset="-120"/>
              </a:rPr>
              <a:t>Tree pruning:</a:t>
            </a:r>
          </a:p>
        </p:txBody>
      </p:sp>
      <p:sp>
        <p:nvSpPr>
          <p:cNvPr id="6" name="文字方塊 5"/>
          <p:cNvSpPr txBox="1"/>
          <p:nvPr/>
        </p:nvSpPr>
        <p:spPr>
          <a:xfrm>
            <a:off x="611560" y="3717032"/>
            <a:ext cx="5544616" cy="1200329"/>
          </a:xfrm>
          <a:prstGeom prst="rect">
            <a:avLst/>
          </a:prstGeom>
          <a:noFill/>
        </p:spPr>
        <p:txBody>
          <a:bodyPr wrap="square" rtlCol="0">
            <a:spAutoFit/>
          </a:bodyPr>
          <a:lstStyle/>
          <a:p>
            <a:pPr>
              <a:buFont typeface="Arial" pitchFamily="34" charset="0"/>
              <a:buChar char="•"/>
            </a:pPr>
            <a:r>
              <a:rPr lang="en-US" altLang="zh-TW" sz="2400" dirty="0" smtClean="0"/>
              <a:t>Eliminate spurious branches</a:t>
            </a:r>
          </a:p>
          <a:p>
            <a:pPr>
              <a:buFont typeface="Arial" pitchFamily="34" charset="0"/>
              <a:buChar char="•"/>
            </a:pPr>
            <a:r>
              <a:rPr lang="en-US" altLang="zh-TW" sz="2400" dirty="0" smtClean="0"/>
              <a:t>Example all </a:t>
            </a:r>
            <a:r>
              <a:rPr lang="en-US" altLang="zh-TW" sz="2400" dirty="0" err="1" smtClean="0"/>
              <a:t>subtrees</a:t>
            </a:r>
            <a:r>
              <a:rPr lang="en-US" altLang="zh-TW" sz="2400" dirty="0" smtClean="0"/>
              <a:t> of full tree</a:t>
            </a:r>
          </a:p>
          <a:p>
            <a:pPr>
              <a:buFont typeface="Arial" pitchFamily="34" charset="0"/>
              <a:buChar char="•"/>
            </a:pPr>
            <a:r>
              <a:rPr lang="en-US" altLang="zh-TW" sz="2400" dirty="0" smtClean="0"/>
              <a:t>Compare error rates of </a:t>
            </a:r>
            <a:r>
              <a:rPr lang="en-US" altLang="zh-TW" sz="2400" dirty="0" err="1" smtClean="0"/>
              <a:t>subtrees</a:t>
            </a:r>
            <a:endParaRPr lang="zh-TW" altLang="en-US" sz="2400" dirty="0"/>
          </a:p>
        </p:txBody>
      </p:sp>
      <p:sp>
        <p:nvSpPr>
          <p:cNvPr id="7" name="矩形 6"/>
          <p:cNvSpPr/>
          <p:nvPr/>
        </p:nvSpPr>
        <p:spPr>
          <a:xfrm>
            <a:off x="539552" y="332656"/>
            <a:ext cx="1956818" cy="461665"/>
          </a:xfrm>
          <a:prstGeom prst="rect">
            <a:avLst/>
          </a:prstGeom>
        </p:spPr>
        <p:txBody>
          <a:bodyPr wrap="none">
            <a:spAutoFit/>
          </a:bodyPr>
          <a:lstStyle/>
          <a:p>
            <a:r>
              <a:rPr lang="en-GB" altLang="zh-TW" sz="2400" dirty="0" smtClean="0">
                <a:solidFill>
                  <a:srgbClr val="FF0000"/>
                </a:solidFill>
                <a:ea typeface="新細明體" charset="-120"/>
              </a:rPr>
              <a:t>Tree stopping:</a:t>
            </a:r>
          </a:p>
        </p:txBody>
      </p:sp>
      <p:sp>
        <p:nvSpPr>
          <p:cNvPr id="8" name="文字方塊 7"/>
          <p:cNvSpPr txBox="1"/>
          <p:nvPr/>
        </p:nvSpPr>
        <p:spPr>
          <a:xfrm>
            <a:off x="611560" y="1052736"/>
            <a:ext cx="8136904" cy="1200329"/>
          </a:xfrm>
          <a:prstGeom prst="rect">
            <a:avLst/>
          </a:prstGeom>
          <a:noFill/>
        </p:spPr>
        <p:txBody>
          <a:bodyPr wrap="square" rtlCol="0">
            <a:spAutoFit/>
          </a:bodyPr>
          <a:lstStyle/>
          <a:p>
            <a:pPr>
              <a:buFont typeface="Arial" pitchFamily="34" charset="0"/>
              <a:buChar char="•"/>
            </a:pPr>
            <a:r>
              <a:rPr lang="en-US" altLang="zh-TW" sz="2400" dirty="0" smtClean="0"/>
              <a:t>Differences between resulting nodes is not significant</a:t>
            </a:r>
          </a:p>
          <a:p>
            <a:pPr>
              <a:buFont typeface="Arial" pitchFamily="34" charset="0"/>
              <a:buChar char="•"/>
            </a:pPr>
            <a:r>
              <a:rPr lang="en-US" altLang="zh-TW" sz="2400" dirty="0" smtClean="0"/>
              <a:t>Tree depth</a:t>
            </a:r>
          </a:p>
          <a:p>
            <a:pPr>
              <a:buFont typeface="Arial" pitchFamily="34" charset="0"/>
              <a:buChar char="•"/>
            </a:pPr>
            <a:r>
              <a:rPr lang="en-US" altLang="zh-TW" sz="2400" dirty="0" smtClean="0"/>
              <a:t>n of nodes</a:t>
            </a:r>
            <a:endParaRPr lang="zh-TW"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188640"/>
            <a:ext cx="8229600" cy="1143000"/>
          </a:xfrm>
        </p:spPr>
        <p:txBody>
          <a:bodyPr/>
          <a:lstStyle/>
          <a:p>
            <a:r>
              <a:rPr lang="en-US" altLang="zh-TW" dirty="0" smtClean="0"/>
              <a:t>Artificial Neural Network (ANN)</a:t>
            </a:r>
            <a:endParaRPr lang="zh-TW" altLang="en-US" dirty="0"/>
          </a:p>
        </p:txBody>
      </p:sp>
      <p:sp>
        <p:nvSpPr>
          <p:cNvPr id="3" name="內容版面配置區 2"/>
          <p:cNvSpPr>
            <a:spLocks noGrp="1"/>
          </p:cNvSpPr>
          <p:nvPr>
            <p:ph idx="1"/>
          </p:nvPr>
        </p:nvSpPr>
        <p:spPr>
          <a:xfrm>
            <a:off x="914400" y="1412776"/>
            <a:ext cx="8229600" cy="892696"/>
          </a:xfrm>
        </p:spPr>
        <p:txBody>
          <a:bodyPr>
            <a:normAutofit/>
          </a:bodyPr>
          <a:lstStyle/>
          <a:p>
            <a:r>
              <a:rPr lang="en-US" altLang="zh-TW" sz="2400" dirty="0" smtClean="0"/>
              <a:t>Use multi-layer </a:t>
            </a:r>
            <a:r>
              <a:rPr lang="en-US" altLang="zh-TW" sz="2400" dirty="0" err="1" smtClean="0"/>
              <a:t>perceptron</a:t>
            </a:r>
            <a:r>
              <a:rPr lang="en-US" altLang="zh-TW" sz="2400" dirty="0" smtClean="0"/>
              <a:t> (MLP) with back-propagation learning method</a:t>
            </a:r>
          </a:p>
          <a:p>
            <a:pPr>
              <a:buNone/>
            </a:pPr>
            <a:endParaRPr lang="en-US" altLang="zh-TW" sz="2400" dirty="0" smtClean="0"/>
          </a:p>
        </p:txBody>
      </p:sp>
      <p:pic>
        <p:nvPicPr>
          <p:cNvPr id="1026" name="Picture 2"/>
          <p:cNvPicPr>
            <a:picLocks noChangeAspect="1" noChangeArrowheads="1"/>
          </p:cNvPicPr>
          <p:nvPr/>
        </p:nvPicPr>
        <p:blipFill>
          <a:blip r:embed="rId2" cstate="email"/>
          <a:srcRect/>
          <a:stretch>
            <a:fillRect/>
          </a:stretch>
        </p:blipFill>
        <p:spPr bwMode="auto">
          <a:xfrm>
            <a:off x="467544" y="2204864"/>
            <a:ext cx="8043821" cy="2880320"/>
          </a:xfrm>
          <a:prstGeom prst="rect">
            <a:avLst/>
          </a:prstGeom>
          <a:noFill/>
          <a:ln w="9525">
            <a:noFill/>
            <a:miter lim="800000"/>
            <a:headEnd/>
            <a:tailEnd/>
          </a:ln>
        </p:spPr>
      </p:pic>
      <p:sp>
        <p:nvSpPr>
          <p:cNvPr id="5" name="文字方塊 4"/>
          <p:cNvSpPr txBox="1"/>
          <p:nvPr/>
        </p:nvSpPr>
        <p:spPr>
          <a:xfrm>
            <a:off x="899592" y="5517232"/>
            <a:ext cx="6192688" cy="1015663"/>
          </a:xfrm>
          <a:prstGeom prst="rect">
            <a:avLst/>
          </a:prstGeom>
          <a:noFill/>
        </p:spPr>
        <p:txBody>
          <a:bodyPr wrap="square" rtlCol="0">
            <a:spAutoFit/>
          </a:bodyPr>
          <a:lstStyle/>
          <a:p>
            <a:pPr>
              <a:buFont typeface="Arial" pitchFamily="34" charset="0"/>
              <a:buChar char="•"/>
            </a:pPr>
            <a:r>
              <a:rPr lang="en-US" altLang="zh-TW" sz="2000" dirty="0" smtClean="0"/>
              <a:t>There are weights for each arc between layers.</a:t>
            </a:r>
          </a:p>
          <a:p>
            <a:pPr>
              <a:buFont typeface="Arial" pitchFamily="34" charset="0"/>
              <a:buChar char="•"/>
            </a:pPr>
            <a:r>
              <a:rPr lang="en-US" altLang="zh-TW" sz="2000" dirty="0" smtClean="0"/>
              <a:t>Ex: The output of node 5 is </a:t>
            </a:r>
          </a:p>
          <a:p>
            <a:r>
              <a:rPr lang="en-US" altLang="zh-TW" sz="2000" dirty="0" smtClean="0"/>
              <a:t>  Y</a:t>
            </a:r>
            <a:r>
              <a:rPr lang="en-US" altLang="zh-TW" sz="2000" baseline="-25000" dirty="0" smtClean="0"/>
              <a:t>5</a:t>
            </a:r>
            <a:r>
              <a:rPr lang="en-US" altLang="zh-TW" sz="2000" dirty="0" smtClean="0"/>
              <a:t> = f</a:t>
            </a:r>
            <a:r>
              <a:rPr lang="en-US" altLang="zh-TW" sz="2000" baseline="-25000" dirty="0" smtClean="0"/>
              <a:t>5</a:t>
            </a:r>
            <a:r>
              <a:rPr lang="en-US" altLang="zh-TW" sz="2000" dirty="0" smtClean="0"/>
              <a:t>(w</a:t>
            </a:r>
            <a:r>
              <a:rPr lang="en-US" altLang="zh-TW" sz="2000" baseline="-25000" dirty="0" smtClean="0"/>
              <a:t>15</a:t>
            </a:r>
            <a:r>
              <a:rPr lang="en-US" altLang="zh-TW" sz="2000" dirty="0" smtClean="0"/>
              <a:t>*f</a:t>
            </a:r>
            <a:r>
              <a:rPr lang="en-US" altLang="zh-TW" sz="2000" baseline="-25000" dirty="0" smtClean="0"/>
              <a:t>1</a:t>
            </a:r>
            <a:r>
              <a:rPr lang="en-US" altLang="zh-TW" sz="2000" dirty="0" smtClean="0"/>
              <a:t>(A) + w</a:t>
            </a:r>
            <a:r>
              <a:rPr lang="en-US" altLang="zh-TW" sz="2000" baseline="-25000" dirty="0" smtClean="0"/>
              <a:t>25</a:t>
            </a:r>
            <a:r>
              <a:rPr lang="en-US" altLang="zh-TW" sz="2000" dirty="0" smtClean="0"/>
              <a:t>*f</a:t>
            </a:r>
            <a:r>
              <a:rPr lang="en-US" altLang="zh-TW" sz="2000" baseline="-25000" dirty="0" smtClean="0"/>
              <a:t>2</a:t>
            </a:r>
            <a:r>
              <a:rPr lang="en-US" altLang="zh-TW" sz="2000" dirty="0" smtClean="0"/>
              <a:t>(B) + w</a:t>
            </a:r>
            <a:r>
              <a:rPr lang="en-US" altLang="zh-TW" sz="2000" baseline="-25000" dirty="0" smtClean="0"/>
              <a:t>35</a:t>
            </a:r>
            <a:r>
              <a:rPr lang="en-US" altLang="zh-TW" sz="2000" dirty="0" smtClean="0"/>
              <a:t>*f</a:t>
            </a:r>
            <a:r>
              <a:rPr lang="en-US" altLang="zh-TW" sz="2000" baseline="-25000" dirty="0" smtClean="0"/>
              <a:t>3</a:t>
            </a:r>
            <a:r>
              <a:rPr lang="en-US" altLang="zh-TW" sz="2000" dirty="0" smtClean="0"/>
              <a:t>(C) + w</a:t>
            </a:r>
            <a:r>
              <a:rPr lang="en-US" altLang="zh-TW" sz="2000" baseline="-25000" dirty="0" smtClean="0"/>
              <a:t>45</a:t>
            </a:r>
            <a:r>
              <a:rPr lang="en-US" altLang="zh-TW" sz="2000" dirty="0" smtClean="0"/>
              <a:t>*f</a:t>
            </a:r>
            <a:r>
              <a:rPr lang="en-US" altLang="zh-TW" sz="2000" baseline="-25000" dirty="0" smtClean="0"/>
              <a:t>4</a:t>
            </a:r>
            <a:r>
              <a:rPr lang="en-US" altLang="zh-TW" sz="2000" dirty="0" smtClean="0"/>
              <a:t>(D)</a:t>
            </a:r>
            <a:endParaRPr lang="zh-TW" altLang="en-US" sz="2000" dirty="0"/>
          </a:p>
        </p:txBody>
      </p:sp>
      <p:sp>
        <p:nvSpPr>
          <p:cNvPr id="6" name="投影片編號版面配置區 5"/>
          <p:cNvSpPr>
            <a:spLocks noGrp="1"/>
          </p:cNvSpPr>
          <p:nvPr>
            <p:ph type="sldNum" sz="quarter" idx="12"/>
          </p:nvPr>
        </p:nvSpPr>
        <p:spPr/>
        <p:txBody>
          <a:bodyPr/>
          <a:lstStyle/>
          <a:p>
            <a:fld id="{92A71567-5F19-40BA-A122-4EE261C9AD44}" type="slidenum">
              <a:rPr lang="zh-TW" altLang="en-US" smtClean="0"/>
              <a:pPr/>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43608" y="116632"/>
            <a:ext cx="6048672" cy="369332"/>
          </a:xfrm>
          <a:prstGeom prst="rect">
            <a:avLst/>
          </a:prstGeom>
        </p:spPr>
        <p:txBody>
          <a:bodyPr wrap="square">
            <a:spAutoFit/>
          </a:bodyPr>
          <a:lstStyle/>
          <a:p>
            <a:r>
              <a:rPr lang="en-US" altLang="zh-TW" dirty="0" smtClean="0">
                <a:hlinkClick r:id="rId2"/>
              </a:rPr>
              <a:t>http://galaxy.agh.edu.pl/~vlsi/AI/backp_t_en/backprop.html</a:t>
            </a:r>
            <a:endParaRPr lang="zh-TW" altLang="en-US" dirty="0"/>
          </a:p>
        </p:txBody>
      </p:sp>
      <p:pic>
        <p:nvPicPr>
          <p:cNvPr id="2050" name="Picture 2"/>
          <p:cNvPicPr>
            <a:picLocks noChangeAspect="1" noChangeArrowheads="1"/>
          </p:cNvPicPr>
          <p:nvPr/>
        </p:nvPicPr>
        <p:blipFill>
          <a:blip r:embed="rId3" cstate="email"/>
          <a:srcRect/>
          <a:stretch>
            <a:fillRect/>
          </a:stretch>
        </p:blipFill>
        <p:spPr bwMode="auto">
          <a:xfrm>
            <a:off x="179512" y="432048"/>
            <a:ext cx="8667090" cy="4149080"/>
          </a:xfrm>
          <a:prstGeom prst="rect">
            <a:avLst/>
          </a:prstGeom>
          <a:noFill/>
          <a:ln w="9525">
            <a:noFill/>
            <a:miter lim="800000"/>
            <a:headEnd/>
            <a:tailEnd/>
          </a:ln>
        </p:spPr>
      </p:pic>
      <p:sp>
        <p:nvSpPr>
          <p:cNvPr id="6" name="文字方塊 5"/>
          <p:cNvSpPr txBox="1"/>
          <p:nvPr/>
        </p:nvSpPr>
        <p:spPr>
          <a:xfrm>
            <a:off x="395536" y="4725144"/>
            <a:ext cx="8352928" cy="1938992"/>
          </a:xfrm>
          <a:prstGeom prst="rect">
            <a:avLst/>
          </a:prstGeom>
          <a:noFill/>
        </p:spPr>
        <p:txBody>
          <a:bodyPr wrap="square" rtlCol="0">
            <a:spAutoFit/>
          </a:bodyPr>
          <a:lstStyle/>
          <a:p>
            <a:r>
              <a:rPr lang="en-US" altLang="zh-TW" sz="2000" dirty="0" smtClean="0"/>
              <a:t>Parameters in this paper:</a:t>
            </a:r>
          </a:p>
          <a:p>
            <a:pPr>
              <a:buFont typeface="Arial" pitchFamily="34" charset="0"/>
              <a:buChar char="•"/>
            </a:pPr>
            <a:r>
              <a:rPr lang="en-US" altLang="zh-TW" sz="2000" dirty="0" smtClean="0">
                <a:solidFill>
                  <a:srgbClr val="0070C0"/>
                </a:solidFill>
              </a:rPr>
              <a:t>Learning rate </a:t>
            </a:r>
            <a:r>
              <a:rPr lang="el-GR" altLang="zh-TW" sz="2000" dirty="0" smtClean="0">
                <a:solidFill>
                  <a:srgbClr val="0070C0"/>
                </a:solidFill>
              </a:rPr>
              <a:t>η</a:t>
            </a:r>
            <a:r>
              <a:rPr lang="en-US" altLang="zh-TW" sz="2000" dirty="0" smtClean="0">
                <a:solidFill>
                  <a:srgbClr val="0070C0"/>
                </a:solidFill>
              </a:rPr>
              <a:t> (eta): </a:t>
            </a:r>
            <a:r>
              <a:rPr lang="en-US" altLang="zh-TW" sz="2000" dirty="0" smtClean="0"/>
              <a:t>0.9 is recommended</a:t>
            </a:r>
          </a:p>
          <a:p>
            <a:pPr>
              <a:buFont typeface="Arial" pitchFamily="34" charset="0"/>
              <a:buChar char="•"/>
            </a:pPr>
            <a:r>
              <a:rPr lang="en-US" altLang="zh-TW" sz="2000" dirty="0" smtClean="0">
                <a:solidFill>
                  <a:srgbClr val="0070C0"/>
                </a:solidFill>
              </a:rPr>
              <a:t>Hidden layer: </a:t>
            </a:r>
            <a:r>
              <a:rPr lang="en-US" altLang="zh-TW" sz="2000" dirty="0" smtClean="0"/>
              <a:t>one hidden layer</a:t>
            </a:r>
          </a:p>
          <a:p>
            <a:pPr>
              <a:buFont typeface="Arial" pitchFamily="34" charset="0"/>
              <a:buChar char="•"/>
            </a:pPr>
            <a:r>
              <a:rPr lang="en-US" altLang="zh-TW" sz="2000" dirty="0" smtClean="0">
                <a:solidFill>
                  <a:srgbClr val="0070C0"/>
                </a:solidFill>
              </a:rPr>
              <a:t>Hidden layer node: </a:t>
            </a:r>
            <a:r>
              <a:rPr lang="en-US" altLang="zh-TW" sz="2000" dirty="0" smtClean="0"/>
              <a:t>use 6, 12 and 18 to find the optimal number of nodes</a:t>
            </a:r>
          </a:p>
          <a:p>
            <a:pPr>
              <a:buFont typeface="Arial" pitchFamily="34" charset="0"/>
              <a:buChar char="•"/>
            </a:pPr>
            <a:r>
              <a:rPr lang="en-US" altLang="zh-TW" sz="2000" dirty="0" smtClean="0">
                <a:solidFill>
                  <a:srgbClr val="0070C0"/>
                </a:solidFill>
              </a:rPr>
              <a:t>Training epoch</a:t>
            </a:r>
            <a:r>
              <a:rPr lang="en-US" altLang="zh-TW" sz="2000" dirty="0" smtClean="0"/>
              <a:t>: use 100, 300, 500, and 1000 to find the best training epoch</a:t>
            </a:r>
          </a:p>
          <a:p>
            <a:pPr>
              <a:buFont typeface="Arial" pitchFamily="34" charset="0"/>
              <a:buChar char="•"/>
            </a:pPr>
            <a:endParaRPr lang="zh-TW" altLang="en-US" sz="2000" dirty="0"/>
          </a:p>
        </p:txBody>
      </p:sp>
      <p:sp>
        <p:nvSpPr>
          <p:cNvPr id="7" name="投影片編號版面配置區 6"/>
          <p:cNvSpPr>
            <a:spLocks noGrp="1"/>
          </p:cNvSpPr>
          <p:nvPr>
            <p:ph type="sldNum" sz="quarter" idx="12"/>
          </p:nvPr>
        </p:nvSpPr>
        <p:spPr/>
        <p:txBody>
          <a:bodyPr/>
          <a:lstStyle/>
          <a:p>
            <a:fld id="{92A71567-5F19-40BA-A122-4EE261C9AD44}" type="slidenum">
              <a:rPr lang="zh-TW" altLang="en-US" smtClean="0"/>
              <a:pPr/>
              <a:t>18</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467544" y="404664"/>
            <a:ext cx="8100392" cy="954107"/>
          </a:xfrm>
          <a:prstGeom prst="rect">
            <a:avLst/>
          </a:prstGeom>
          <a:noFill/>
        </p:spPr>
        <p:txBody>
          <a:bodyPr wrap="square" rtlCol="0">
            <a:spAutoFit/>
          </a:bodyPr>
          <a:lstStyle/>
          <a:p>
            <a:pPr algn="ctr"/>
            <a:r>
              <a:rPr lang="en-US" altLang="zh-TW" sz="2800" dirty="0" smtClean="0">
                <a:solidFill>
                  <a:srgbClr val="FF0000"/>
                </a:solidFill>
              </a:rPr>
              <a:t>The results of the processed data can easily calculated by using software WEKA (R or Octave).</a:t>
            </a:r>
            <a:endParaRPr lang="zh-TW" altLang="en-US" sz="2800" dirty="0">
              <a:solidFill>
                <a:srgbClr val="FF0000"/>
              </a:solidFill>
            </a:endParaRPr>
          </a:p>
        </p:txBody>
      </p:sp>
      <p:pic>
        <p:nvPicPr>
          <p:cNvPr id="8194" name="Picture 2" descr="R:\Weka (software) logo.png">
            <a:hlinkClick r:id="rId2"/>
          </p:cNvPr>
          <p:cNvPicPr>
            <a:picLocks noChangeAspect="1" noChangeArrowheads="1"/>
          </p:cNvPicPr>
          <p:nvPr/>
        </p:nvPicPr>
        <p:blipFill>
          <a:blip r:embed="rId3" cstate="email"/>
          <a:srcRect/>
          <a:stretch>
            <a:fillRect/>
          </a:stretch>
        </p:blipFill>
        <p:spPr bwMode="auto">
          <a:xfrm>
            <a:off x="395536" y="1988840"/>
            <a:ext cx="2016224" cy="1059047"/>
          </a:xfrm>
          <a:prstGeom prst="rect">
            <a:avLst/>
          </a:prstGeom>
          <a:noFill/>
        </p:spPr>
      </p:pic>
      <p:sp>
        <p:nvSpPr>
          <p:cNvPr id="6" name="文字方塊 5"/>
          <p:cNvSpPr txBox="1"/>
          <p:nvPr/>
        </p:nvSpPr>
        <p:spPr>
          <a:xfrm>
            <a:off x="251520" y="3212976"/>
            <a:ext cx="8712968" cy="3416320"/>
          </a:xfrm>
          <a:prstGeom prst="rect">
            <a:avLst/>
          </a:prstGeom>
          <a:noFill/>
        </p:spPr>
        <p:txBody>
          <a:bodyPr wrap="square" rtlCol="0">
            <a:spAutoFit/>
          </a:bodyPr>
          <a:lstStyle/>
          <a:p>
            <a:r>
              <a:rPr lang="en-US" altLang="zh-TW" sz="2400" dirty="0" smtClean="0">
                <a:hlinkClick r:id="rId4"/>
              </a:rPr>
              <a:t>Wiki: </a:t>
            </a:r>
            <a:r>
              <a:rPr lang="en-US" altLang="zh-TW" sz="2400" dirty="0" err="1" smtClean="0"/>
              <a:t>Weka</a:t>
            </a:r>
            <a:r>
              <a:rPr lang="en-US" altLang="zh-TW" sz="2400" dirty="0" smtClean="0"/>
              <a:t> (Waikato Environment for Knowledge Analysis) is a popular suite of machine learning software written in Java, developed at the University of Waikato, New Zealand. </a:t>
            </a:r>
            <a:endParaRPr lang="en-US" altLang="zh-TW" sz="2400" dirty="0" smtClean="0">
              <a:solidFill>
                <a:srgbClr val="FF0000"/>
              </a:solidFill>
            </a:endParaRPr>
          </a:p>
          <a:p>
            <a:endParaRPr lang="en-US" altLang="zh-TW" sz="2400" dirty="0" smtClean="0">
              <a:solidFill>
                <a:srgbClr val="FF0000"/>
              </a:solidFill>
            </a:endParaRPr>
          </a:p>
          <a:p>
            <a:r>
              <a:rPr lang="en-US" altLang="zh-TW" sz="2400" dirty="0" smtClean="0">
                <a:solidFill>
                  <a:srgbClr val="FF0000"/>
                </a:solidFill>
                <a:hlinkClick r:id="rId5"/>
              </a:rPr>
              <a:t>Wiki</a:t>
            </a:r>
            <a:r>
              <a:rPr lang="en-US" altLang="zh-TW" sz="2400" dirty="0" smtClean="0">
                <a:solidFill>
                  <a:srgbClr val="FF0000"/>
                </a:solidFill>
              </a:rPr>
              <a:t>:  </a:t>
            </a:r>
            <a:r>
              <a:rPr lang="en-US" altLang="zh-TW" sz="2400" dirty="0" smtClean="0"/>
              <a:t>R is a programming language and software environment for statistical computing and graphics. </a:t>
            </a:r>
          </a:p>
          <a:p>
            <a:endParaRPr lang="en-US" altLang="zh-TW" sz="2400" dirty="0" smtClean="0"/>
          </a:p>
          <a:p>
            <a:r>
              <a:rPr lang="en-US" altLang="zh-TW" sz="2400" dirty="0" smtClean="0">
                <a:hlinkClick r:id="rId6"/>
              </a:rPr>
              <a:t>Wiki</a:t>
            </a:r>
            <a:r>
              <a:rPr lang="en-US" altLang="zh-TW" sz="2400" dirty="0" smtClean="0"/>
              <a:t>: Octave is high-level language, mostly compatible with MATLAB.</a:t>
            </a:r>
          </a:p>
          <a:p>
            <a:r>
              <a:rPr lang="en-US" altLang="zh-TW" sz="2400" dirty="0" smtClean="0">
                <a:solidFill>
                  <a:srgbClr val="FF0000"/>
                </a:solidFill>
              </a:rPr>
              <a:t>All are free software.</a:t>
            </a:r>
            <a:endParaRPr lang="zh-TW" altLang="en-US" sz="2400" dirty="0">
              <a:solidFill>
                <a:srgbClr val="FF0000"/>
              </a:solidFill>
            </a:endParaRPr>
          </a:p>
        </p:txBody>
      </p:sp>
      <p:pic>
        <p:nvPicPr>
          <p:cNvPr id="8195" name="Picture 3" descr="R:\Rlogo.jpg">
            <a:hlinkClick r:id="rId7"/>
          </p:cNvPr>
          <p:cNvPicPr>
            <a:picLocks noChangeAspect="1" noChangeArrowheads="1"/>
          </p:cNvPicPr>
          <p:nvPr/>
        </p:nvPicPr>
        <p:blipFill>
          <a:blip r:embed="rId8" cstate="email"/>
          <a:srcRect/>
          <a:stretch>
            <a:fillRect/>
          </a:stretch>
        </p:blipFill>
        <p:spPr bwMode="auto">
          <a:xfrm>
            <a:off x="3203848" y="1844824"/>
            <a:ext cx="1523021" cy="1152128"/>
          </a:xfrm>
          <a:prstGeom prst="rect">
            <a:avLst/>
          </a:prstGeom>
          <a:noFill/>
        </p:spPr>
      </p:pic>
      <p:sp>
        <p:nvSpPr>
          <p:cNvPr id="7" name="投影片編號版面配置區 6"/>
          <p:cNvSpPr>
            <a:spLocks noGrp="1"/>
          </p:cNvSpPr>
          <p:nvPr>
            <p:ph type="sldNum" sz="quarter" idx="12"/>
          </p:nvPr>
        </p:nvSpPr>
        <p:spPr/>
        <p:txBody>
          <a:bodyPr/>
          <a:lstStyle/>
          <a:p>
            <a:fld id="{92A71567-5F19-40BA-A122-4EE261C9AD44}" type="slidenum">
              <a:rPr lang="zh-TW" altLang="en-US" smtClean="0"/>
              <a:pPr/>
              <a:t>19</a:t>
            </a:fld>
            <a:endParaRPr lang="zh-TW" altLang="en-US"/>
          </a:p>
        </p:txBody>
      </p:sp>
      <p:pic>
        <p:nvPicPr>
          <p:cNvPr id="8" name="圖片 7" descr="260px-Octave_Sombrero.svg.png"/>
          <p:cNvPicPr>
            <a:picLocks noChangeAspect="1"/>
          </p:cNvPicPr>
          <p:nvPr/>
        </p:nvPicPr>
        <p:blipFill>
          <a:blip r:embed="rId9" cstate="print"/>
          <a:stretch>
            <a:fillRect/>
          </a:stretch>
        </p:blipFill>
        <p:spPr>
          <a:xfrm>
            <a:off x="5364088" y="1700808"/>
            <a:ext cx="2476500" cy="14001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email"/>
          <a:srcRect/>
          <a:stretch>
            <a:fillRect/>
          </a:stretch>
        </p:blipFill>
        <p:spPr bwMode="auto">
          <a:xfrm>
            <a:off x="251520" y="188640"/>
            <a:ext cx="8426385" cy="6309320"/>
          </a:xfrm>
          <a:prstGeom prst="rect">
            <a:avLst/>
          </a:prstGeom>
          <a:noFill/>
          <a:ln w="9525">
            <a:noFill/>
            <a:miter lim="800000"/>
            <a:headEnd/>
            <a:tailEnd/>
          </a:ln>
        </p:spPr>
      </p:pic>
      <p:sp>
        <p:nvSpPr>
          <p:cNvPr id="3" name="投影片編號版面配置區 2"/>
          <p:cNvSpPr>
            <a:spLocks noGrp="1"/>
          </p:cNvSpPr>
          <p:nvPr>
            <p:ph type="sldNum" sz="quarter" idx="12"/>
          </p:nvPr>
        </p:nvSpPr>
        <p:spPr/>
        <p:txBody>
          <a:bodyPr/>
          <a:lstStyle/>
          <a:p>
            <a:fld id="{92A71567-5F19-40BA-A122-4EE261C9AD44}"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email"/>
          <a:srcRect/>
          <a:stretch>
            <a:fillRect/>
          </a:stretch>
        </p:blipFill>
        <p:spPr bwMode="auto">
          <a:xfrm>
            <a:off x="107504" y="44624"/>
            <a:ext cx="8856984" cy="3318998"/>
          </a:xfrm>
          <a:prstGeom prst="rect">
            <a:avLst/>
          </a:prstGeom>
          <a:noFill/>
          <a:ln w="9525">
            <a:noFill/>
            <a:miter lim="800000"/>
            <a:headEnd/>
            <a:tailEnd/>
          </a:ln>
        </p:spPr>
      </p:pic>
      <p:pic>
        <p:nvPicPr>
          <p:cNvPr id="9219" name="Picture 3"/>
          <p:cNvPicPr>
            <a:picLocks noChangeAspect="1" noChangeArrowheads="1"/>
          </p:cNvPicPr>
          <p:nvPr/>
        </p:nvPicPr>
        <p:blipFill>
          <a:blip r:embed="rId3" cstate="email"/>
          <a:srcRect/>
          <a:stretch>
            <a:fillRect/>
          </a:stretch>
        </p:blipFill>
        <p:spPr bwMode="auto">
          <a:xfrm>
            <a:off x="971600" y="3356992"/>
            <a:ext cx="6912768" cy="3429000"/>
          </a:xfrm>
          <a:prstGeom prst="rect">
            <a:avLst/>
          </a:prstGeom>
          <a:noFill/>
          <a:ln w="9525">
            <a:noFill/>
            <a:miter lim="800000"/>
            <a:headEnd/>
            <a:tailEnd/>
          </a:ln>
        </p:spPr>
      </p:pic>
      <p:sp>
        <p:nvSpPr>
          <p:cNvPr id="4" name="投影片編號版面配置區 3"/>
          <p:cNvSpPr>
            <a:spLocks noGrp="1"/>
          </p:cNvSpPr>
          <p:nvPr>
            <p:ph type="sldNum" sz="quarter" idx="12"/>
          </p:nvPr>
        </p:nvSpPr>
        <p:spPr/>
        <p:txBody>
          <a:bodyPr/>
          <a:lstStyle/>
          <a:p>
            <a:fld id="{92A71567-5F19-40BA-A122-4EE261C9AD44}" type="slidenum">
              <a:rPr lang="zh-TW" altLang="en-US" smtClean="0"/>
              <a:pPr/>
              <a:t>21</a:t>
            </a:fld>
            <a:endParaRPr lang="zh-TW"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email"/>
          <a:srcRect/>
          <a:stretch>
            <a:fillRect/>
          </a:stretch>
        </p:blipFill>
        <p:spPr bwMode="auto">
          <a:xfrm>
            <a:off x="118216" y="116632"/>
            <a:ext cx="9062296" cy="3384376"/>
          </a:xfrm>
          <a:prstGeom prst="rect">
            <a:avLst/>
          </a:prstGeom>
          <a:noFill/>
          <a:ln w="9525">
            <a:noFill/>
            <a:miter lim="800000"/>
            <a:headEnd/>
            <a:tailEnd/>
          </a:ln>
        </p:spPr>
      </p:pic>
      <p:pic>
        <p:nvPicPr>
          <p:cNvPr id="10243" name="Picture 3"/>
          <p:cNvPicPr>
            <a:picLocks noChangeAspect="1" noChangeArrowheads="1"/>
          </p:cNvPicPr>
          <p:nvPr/>
        </p:nvPicPr>
        <p:blipFill>
          <a:blip r:embed="rId3" cstate="email"/>
          <a:srcRect/>
          <a:stretch>
            <a:fillRect/>
          </a:stretch>
        </p:blipFill>
        <p:spPr bwMode="auto">
          <a:xfrm>
            <a:off x="0" y="3573016"/>
            <a:ext cx="9144000" cy="3128365"/>
          </a:xfrm>
          <a:prstGeom prst="rect">
            <a:avLst/>
          </a:prstGeom>
          <a:noFill/>
          <a:ln w="9525">
            <a:noFill/>
            <a:miter lim="800000"/>
            <a:headEnd/>
            <a:tailEnd/>
          </a:ln>
        </p:spPr>
      </p:pic>
      <p:sp>
        <p:nvSpPr>
          <p:cNvPr id="4" name="投影片編號版面配置區 3"/>
          <p:cNvSpPr>
            <a:spLocks noGrp="1"/>
          </p:cNvSpPr>
          <p:nvPr>
            <p:ph type="sldNum" sz="quarter" idx="12"/>
          </p:nvPr>
        </p:nvSpPr>
        <p:spPr/>
        <p:txBody>
          <a:bodyPr/>
          <a:lstStyle/>
          <a:p>
            <a:fld id="{92A71567-5F19-40BA-A122-4EE261C9AD44}" type="slidenum">
              <a:rPr lang="zh-TW" altLang="en-US" smtClean="0"/>
              <a:pPr/>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116632"/>
            <a:ext cx="8229600" cy="1143000"/>
          </a:xfrm>
        </p:spPr>
        <p:txBody>
          <a:bodyPr/>
          <a:lstStyle/>
          <a:p>
            <a:r>
              <a:rPr lang="en-US" altLang="zh-TW" dirty="0" smtClean="0"/>
              <a:t>Data set</a:t>
            </a:r>
            <a:endParaRPr lang="zh-TW" altLang="en-US" dirty="0"/>
          </a:p>
        </p:txBody>
      </p:sp>
      <p:sp>
        <p:nvSpPr>
          <p:cNvPr id="3" name="內容版面配置區 2"/>
          <p:cNvSpPr>
            <a:spLocks noGrp="1"/>
          </p:cNvSpPr>
          <p:nvPr>
            <p:ph idx="1"/>
          </p:nvPr>
        </p:nvSpPr>
        <p:spPr>
          <a:xfrm>
            <a:off x="467544" y="1124744"/>
            <a:ext cx="8229600" cy="4525963"/>
          </a:xfrm>
        </p:spPr>
        <p:txBody>
          <a:bodyPr>
            <a:normAutofit/>
          </a:bodyPr>
          <a:lstStyle/>
          <a:p>
            <a:r>
              <a:rPr lang="en-US" altLang="zh-TW" sz="2400" dirty="0" smtClean="0"/>
              <a:t>Data source is based on the </a:t>
            </a:r>
            <a:r>
              <a:rPr lang="en-US" altLang="zh-TW" sz="2400" dirty="0" smtClean="0">
                <a:solidFill>
                  <a:srgbClr val="FF0000"/>
                </a:solidFill>
              </a:rPr>
              <a:t>Taiwan Economic Journal (TEJ).</a:t>
            </a:r>
          </a:p>
          <a:p>
            <a:r>
              <a:rPr lang="en-US" altLang="zh-TW" sz="2400" dirty="0" smtClean="0"/>
              <a:t>Only considered </a:t>
            </a:r>
            <a:r>
              <a:rPr lang="en-US" altLang="zh-TW" sz="2400" dirty="0" smtClean="0">
                <a:solidFill>
                  <a:srgbClr val="FF0000"/>
                </a:solidFill>
              </a:rPr>
              <a:t>the listed electronic corporations </a:t>
            </a:r>
            <a:r>
              <a:rPr lang="en-US" altLang="zh-TW" sz="2400" dirty="0" smtClean="0"/>
              <a:t>in Taiwan Stock  Exchange.</a:t>
            </a:r>
          </a:p>
          <a:p>
            <a:r>
              <a:rPr lang="en-US" altLang="zh-TW" sz="2400" dirty="0" smtClean="0"/>
              <a:t>From 2000 Q1 to 2007 Q2. </a:t>
            </a:r>
            <a:r>
              <a:rPr lang="en-US" altLang="zh-TW" sz="2400" dirty="0" smtClean="0">
                <a:solidFill>
                  <a:srgbClr val="FF0000"/>
                </a:solidFill>
              </a:rPr>
              <a:t>Seasonal data </a:t>
            </a:r>
            <a:r>
              <a:rPr lang="en-US" altLang="zh-TW" sz="2400" dirty="0" smtClean="0"/>
              <a:t>are considered. Mainly based on months of 3, 6, 9 ,12. (For financial reports).</a:t>
            </a:r>
          </a:p>
          <a:p>
            <a:r>
              <a:rPr lang="en-US" altLang="zh-TW" sz="2400" dirty="0" smtClean="0"/>
              <a:t>4140 data samples (i.e. case companies) composed of 2117 and 2023 for stocks’ rise and fall respectively.</a:t>
            </a:r>
            <a:endParaRPr lang="zh-TW" altLang="en-US" sz="2400" dirty="0"/>
          </a:p>
        </p:txBody>
      </p:sp>
      <p:sp>
        <p:nvSpPr>
          <p:cNvPr id="4" name="投影片編號版面配置區 3"/>
          <p:cNvSpPr>
            <a:spLocks noGrp="1"/>
          </p:cNvSpPr>
          <p:nvPr>
            <p:ph type="sldNum" sz="quarter" idx="12"/>
          </p:nvPr>
        </p:nvSpPr>
        <p:spPr/>
        <p:txBody>
          <a:bodyPr/>
          <a:lstStyle/>
          <a:p>
            <a:fld id="{92A71567-5F19-40BA-A122-4EE261C9AD44}" type="slidenum">
              <a:rPr lang="zh-TW" altLang="en-US" smtClean="0"/>
              <a:pPr/>
              <a:t>23</a:t>
            </a:fld>
            <a:endParaRPr lang="zh-TW" altLang="en-US"/>
          </a:p>
        </p:txBody>
      </p:sp>
      <p:grpSp>
        <p:nvGrpSpPr>
          <p:cNvPr id="5" name="群組 4"/>
          <p:cNvGrpSpPr/>
          <p:nvPr/>
        </p:nvGrpSpPr>
        <p:grpSpPr>
          <a:xfrm>
            <a:off x="1043608" y="4077072"/>
            <a:ext cx="6912768" cy="2780928"/>
            <a:chOff x="683568" y="0"/>
            <a:chExt cx="6912768" cy="2780928"/>
          </a:xfrm>
        </p:grpSpPr>
        <p:pic>
          <p:nvPicPr>
            <p:cNvPr id="6" name="Picture 2"/>
            <p:cNvPicPr>
              <a:picLocks noChangeAspect="1" noChangeArrowheads="1"/>
            </p:cNvPicPr>
            <p:nvPr/>
          </p:nvPicPr>
          <p:blipFill>
            <a:blip r:embed="rId2" cstate="email"/>
            <a:srcRect/>
            <a:stretch>
              <a:fillRect/>
            </a:stretch>
          </p:blipFill>
          <p:spPr bwMode="auto">
            <a:xfrm>
              <a:off x="683568" y="0"/>
              <a:ext cx="6833452" cy="2780928"/>
            </a:xfrm>
            <a:prstGeom prst="rect">
              <a:avLst/>
            </a:prstGeom>
            <a:noFill/>
            <a:ln w="9525">
              <a:noFill/>
              <a:miter lim="800000"/>
              <a:headEnd/>
              <a:tailEnd/>
            </a:ln>
          </p:spPr>
        </p:pic>
        <p:grpSp>
          <p:nvGrpSpPr>
            <p:cNvPr id="7" name="群組 10"/>
            <p:cNvGrpSpPr/>
            <p:nvPr/>
          </p:nvGrpSpPr>
          <p:grpSpPr>
            <a:xfrm>
              <a:off x="4788024" y="836712"/>
              <a:ext cx="2808312" cy="657364"/>
              <a:chOff x="4788024" y="836712"/>
              <a:chExt cx="2808312" cy="657364"/>
            </a:xfrm>
          </p:grpSpPr>
          <p:sp>
            <p:nvSpPr>
              <p:cNvPr id="8" name="文字方塊 7"/>
              <p:cNvSpPr txBox="1"/>
              <p:nvPr/>
            </p:nvSpPr>
            <p:spPr>
              <a:xfrm>
                <a:off x="4788024" y="836712"/>
                <a:ext cx="432048" cy="369332"/>
              </a:xfrm>
              <a:prstGeom prst="rect">
                <a:avLst/>
              </a:prstGeom>
              <a:noFill/>
            </p:spPr>
            <p:txBody>
              <a:bodyPr wrap="square" rtlCol="0">
                <a:spAutoFit/>
              </a:bodyPr>
              <a:lstStyle/>
              <a:p>
                <a:r>
                  <a:rPr lang="en-US" altLang="zh-TW" dirty="0" smtClean="0">
                    <a:solidFill>
                      <a:srgbClr val="FF0000"/>
                    </a:solidFill>
                  </a:rPr>
                  <a:t>TP</a:t>
                </a:r>
                <a:endParaRPr lang="zh-TW" altLang="en-US" dirty="0">
                  <a:solidFill>
                    <a:srgbClr val="FF0000"/>
                  </a:solidFill>
                </a:endParaRPr>
              </a:p>
            </p:txBody>
          </p:sp>
          <p:sp>
            <p:nvSpPr>
              <p:cNvPr id="9" name="文字方塊 8"/>
              <p:cNvSpPr txBox="1"/>
              <p:nvPr/>
            </p:nvSpPr>
            <p:spPr>
              <a:xfrm>
                <a:off x="4788024" y="1124744"/>
                <a:ext cx="432048" cy="369332"/>
              </a:xfrm>
              <a:prstGeom prst="rect">
                <a:avLst/>
              </a:prstGeom>
              <a:noFill/>
            </p:spPr>
            <p:txBody>
              <a:bodyPr wrap="square" rtlCol="0">
                <a:spAutoFit/>
              </a:bodyPr>
              <a:lstStyle/>
              <a:p>
                <a:r>
                  <a:rPr lang="en-US" altLang="zh-TW" dirty="0" smtClean="0">
                    <a:solidFill>
                      <a:srgbClr val="FF0000"/>
                    </a:solidFill>
                  </a:rPr>
                  <a:t>FP</a:t>
                </a:r>
                <a:endParaRPr lang="zh-TW" altLang="en-US" dirty="0">
                  <a:solidFill>
                    <a:srgbClr val="FF0000"/>
                  </a:solidFill>
                </a:endParaRPr>
              </a:p>
            </p:txBody>
          </p:sp>
          <p:sp>
            <p:nvSpPr>
              <p:cNvPr id="10" name="文字方塊 9"/>
              <p:cNvSpPr txBox="1"/>
              <p:nvPr/>
            </p:nvSpPr>
            <p:spPr>
              <a:xfrm>
                <a:off x="7020272" y="836712"/>
                <a:ext cx="576064" cy="369332"/>
              </a:xfrm>
              <a:prstGeom prst="rect">
                <a:avLst/>
              </a:prstGeom>
              <a:noFill/>
            </p:spPr>
            <p:txBody>
              <a:bodyPr wrap="square" rtlCol="0">
                <a:spAutoFit/>
              </a:bodyPr>
              <a:lstStyle/>
              <a:p>
                <a:r>
                  <a:rPr lang="en-US" altLang="zh-TW" dirty="0" smtClean="0">
                    <a:solidFill>
                      <a:srgbClr val="FF0000"/>
                    </a:solidFill>
                  </a:rPr>
                  <a:t>FN</a:t>
                </a:r>
                <a:endParaRPr lang="zh-TW" altLang="en-US" dirty="0">
                  <a:solidFill>
                    <a:srgbClr val="FF0000"/>
                  </a:solidFill>
                </a:endParaRPr>
              </a:p>
            </p:txBody>
          </p:sp>
          <p:sp>
            <p:nvSpPr>
              <p:cNvPr id="11" name="文字方塊 10"/>
              <p:cNvSpPr txBox="1"/>
              <p:nvPr/>
            </p:nvSpPr>
            <p:spPr>
              <a:xfrm>
                <a:off x="7020272" y="1124744"/>
                <a:ext cx="576064" cy="369332"/>
              </a:xfrm>
              <a:prstGeom prst="rect">
                <a:avLst/>
              </a:prstGeom>
              <a:noFill/>
            </p:spPr>
            <p:txBody>
              <a:bodyPr wrap="square" rtlCol="0">
                <a:spAutoFit/>
              </a:bodyPr>
              <a:lstStyle/>
              <a:p>
                <a:r>
                  <a:rPr lang="en-US" altLang="zh-TW" dirty="0" smtClean="0">
                    <a:solidFill>
                      <a:srgbClr val="FF0000"/>
                    </a:solidFill>
                  </a:rPr>
                  <a:t>TN</a:t>
                </a:r>
                <a:endParaRPr lang="zh-TW" altLang="en-US" dirty="0">
                  <a:solidFill>
                    <a:srgbClr val="FF0000"/>
                  </a:solidFill>
                </a:endParaRPr>
              </a:p>
            </p:txBody>
          </p:sp>
        </p:gr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投影片編號版面配置區 13"/>
          <p:cNvSpPr>
            <a:spLocks noGrp="1"/>
          </p:cNvSpPr>
          <p:nvPr>
            <p:ph type="sldNum" sz="quarter" idx="12"/>
          </p:nvPr>
        </p:nvSpPr>
        <p:spPr/>
        <p:txBody>
          <a:bodyPr/>
          <a:lstStyle/>
          <a:p>
            <a:fld id="{92A71567-5F19-40BA-A122-4EE261C9AD44}" type="slidenum">
              <a:rPr lang="zh-TW" altLang="en-US" smtClean="0"/>
              <a:pPr/>
              <a:t>24</a:t>
            </a:fld>
            <a:endParaRPr lang="zh-TW" altLang="en-US"/>
          </a:p>
        </p:txBody>
      </p:sp>
      <p:pic>
        <p:nvPicPr>
          <p:cNvPr id="31746" name="Picture 2"/>
          <p:cNvPicPr>
            <a:picLocks noChangeAspect="1" noChangeArrowheads="1"/>
          </p:cNvPicPr>
          <p:nvPr/>
        </p:nvPicPr>
        <p:blipFill>
          <a:blip r:embed="rId2" cstate="print"/>
          <a:srcRect/>
          <a:stretch>
            <a:fillRect/>
          </a:stretch>
        </p:blipFill>
        <p:spPr bwMode="auto">
          <a:xfrm>
            <a:off x="1187624" y="0"/>
            <a:ext cx="6264696" cy="3491104"/>
          </a:xfrm>
          <a:prstGeom prst="rect">
            <a:avLst/>
          </a:prstGeom>
          <a:noFill/>
          <a:ln w="9525">
            <a:noFill/>
            <a:miter lim="800000"/>
            <a:headEnd/>
            <a:tailEnd/>
          </a:ln>
        </p:spPr>
      </p:pic>
      <p:pic>
        <p:nvPicPr>
          <p:cNvPr id="31748" name="Picture 4"/>
          <p:cNvPicPr>
            <a:picLocks noChangeAspect="1" noChangeArrowheads="1"/>
          </p:cNvPicPr>
          <p:nvPr/>
        </p:nvPicPr>
        <p:blipFill>
          <a:blip r:embed="rId3" cstate="print"/>
          <a:srcRect/>
          <a:stretch>
            <a:fillRect/>
          </a:stretch>
        </p:blipFill>
        <p:spPr bwMode="auto">
          <a:xfrm>
            <a:off x="1215008" y="3524250"/>
            <a:ext cx="6237312" cy="33337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email"/>
          <a:srcRect/>
          <a:stretch>
            <a:fillRect/>
          </a:stretch>
        </p:blipFill>
        <p:spPr bwMode="auto">
          <a:xfrm>
            <a:off x="-1" y="288032"/>
            <a:ext cx="9144001" cy="1916832"/>
          </a:xfrm>
          <a:prstGeom prst="rect">
            <a:avLst/>
          </a:prstGeom>
          <a:noFill/>
          <a:ln w="9525">
            <a:noFill/>
            <a:miter lim="800000"/>
            <a:headEnd/>
            <a:tailEnd/>
          </a:ln>
        </p:spPr>
      </p:pic>
      <p:pic>
        <p:nvPicPr>
          <p:cNvPr id="11267" name="Picture 3"/>
          <p:cNvPicPr>
            <a:picLocks noChangeAspect="1" noChangeArrowheads="1"/>
          </p:cNvPicPr>
          <p:nvPr/>
        </p:nvPicPr>
        <p:blipFill>
          <a:blip r:embed="rId3" cstate="email"/>
          <a:srcRect/>
          <a:stretch>
            <a:fillRect/>
          </a:stretch>
        </p:blipFill>
        <p:spPr bwMode="auto">
          <a:xfrm>
            <a:off x="1" y="2420888"/>
            <a:ext cx="9143999" cy="4320480"/>
          </a:xfrm>
          <a:prstGeom prst="rect">
            <a:avLst/>
          </a:prstGeom>
          <a:noFill/>
          <a:ln w="9525">
            <a:noFill/>
            <a:miter lim="800000"/>
            <a:headEnd/>
            <a:tailEnd/>
          </a:ln>
        </p:spPr>
      </p:pic>
      <p:sp>
        <p:nvSpPr>
          <p:cNvPr id="6" name="文字方塊 5"/>
          <p:cNvSpPr txBox="1"/>
          <p:nvPr/>
        </p:nvSpPr>
        <p:spPr>
          <a:xfrm>
            <a:off x="1403648" y="188640"/>
            <a:ext cx="432048" cy="369332"/>
          </a:xfrm>
          <a:prstGeom prst="rect">
            <a:avLst/>
          </a:prstGeom>
          <a:noFill/>
        </p:spPr>
        <p:txBody>
          <a:bodyPr wrap="square" rtlCol="0">
            <a:spAutoFit/>
          </a:bodyPr>
          <a:lstStyle/>
          <a:p>
            <a:r>
              <a:rPr lang="en-US" altLang="zh-TW" dirty="0" smtClean="0">
                <a:solidFill>
                  <a:srgbClr val="0070C0"/>
                </a:solidFill>
              </a:rPr>
              <a:t>22</a:t>
            </a:r>
            <a:endParaRPr lang="zh-TW" altLang="en-US" dirty="0">
              <a:solidFill>
                <a:srgbClr val="0070C0"/>
              </a:solidFill>
            </a:endParaRPr>
          </a:p>
        </p:txBody>
      </p:sp>
      <p:sp>
        <p:nvSpPr>
          <p:cNvPr id="7" name="文字方塊 6"/>
          <p:cNvSpPr txBox="1"/>
          <p:nvPr/>
        </p:nvSpPr>
        <p:spPr>
          <a:xfrm>
            <a:off x="1331640" y="2276872"/>
            <a:ext cx="432048" cy="369332"/>
          </a:xfrm>
          <a:prstGeom prst="rect">
            <a:avLst/>
          </a:prstGeom>
          <a:noFill/>
        </p:spPr>
        <p:txBody>
          <a:bodyPr wrap="square" rtlCol="0">
            <a:spAutoFit/>
          </a:bodyPr>
          <a:lstStyle/>
          <a:p>
            <a:r>
              <a:rPr lang="en-US" altLang="zh-TW" dirty="0" smtClean="0">
                <a:solidFill>
                  <a:srgbClr val="0070C0"/>
                </a:solidFill>
              </a:rPr>
              <a:t>63</a:t>
            </a:r>
            <a:endParaRPr lang="zh-TW" altLang="en-US" dirty="0">
              <a:solidFill>
                <a:srgbClr val="0070C0"/>
              </a:solidFill>
            </a:endParaRPr>
          </a:p>
        </p:txBody>
      </p:sp>
      <p:sp>
        <p:nvSpPr>
          <p:cNvPr id="8" name="投影片編號版面配置區 7"/>
          <p:cNvSpPr>
            <a:spLocks noGrp="1"/>
          </p:cNvSpPr>
          <p:nvPr>
            <p:ph type="sldNum" sz="quarter" idx="12"/>
          </p:nvPr>
        </p:nvSpPr>
        <p:spPr/>
        <p:txBody>
          <a:bodyPr/>
          <a:lstStyle/>
          <a:p>
            <a:fld id="{92A71567-5F19-40BA-A122-4EE261C9AD44}" type="slidenum">
              <a:rPr lang="zh-TW" altLang="en-US" smtClean="0"/>
              <a:pPr/>
              <a:t>25</a:t>
            </a:fld>
            <a:endParaRPr lang="zh-TW"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2" cstate="email"/>
          <a:srcRect/>
          <a:stretch>
            <a:fillRect/>
          </a:stretch>
        </p:blipFill>
        <p:spPr bwMode="auto">
          <a:xfrm>
            <a:off x="374124" y="188640"/>
            <a:ext cx="8230324" cy="3312368"/>
          </a:xfrm>
          <a:prstGeom prst="rect">
            <a:avLst/>
          </a:prstGeom>
          <a:noFill/>
          <a:ln w="9525">
            <a:noFill/>
            <a:miter lim="800000"/>
            <a:headEnd/>
            <a:tailEnd/>
          </a:ln>
        </p:spPr>
      </p:pic>
      <p:pic>
        <p:nvPicPr>
          <p:cNvPr id="5" name="Picture 2"/>
          <p:cNvPicPr>
            <a:picLocks noChangeAspect="1" noChangeArrowheads="1"/>
          </p:cNvPicPr>
          <p:nvPr/>
        </p:nvPicPr>
        <p:blipFill>
          <a:blip r:embed="rId3" cstate="email"/>
          <a:srcRect/>
          <a:stretch>
            <a:fillRect/>
          </a:stretch>
        </p:blipFill>
        <p:spPr bwMode="auto">
          <a:xfrm>
            <a:off x="467544" y="3573016"/>
            <a:ext cx="7971590" cy="2880320"/>
          </a:xfrm>
          <a:prstGeom prst="rect">
            <a:avLst/>
          </a:prstGeom>
          <a:noFill/>
          <a:ln w="9525">
            <a:noFill/>
            <a:miter lim="800000"/>
            <a:headEnd/>
            <a:tailEnd/>
          </a:ln>
        </p:spPr>
      </p:pic>
      <p:sp>
        <p:nvSpPr>
          <p:cNvPr id="6" name="投影片編號版面配置區 5"/>
          <p:cNvSpPr>
            <a:spLocks noGrp="1"/>
          </p:cNvSpPr>
          <p:nvPr>
            <p:ph type="sldNum" sz="quarter" idx="12"/>
          </p:nvPr>
        </p:nvSpPr>
        <p:spPr/>
        <p:txBody>
          <a:bodyPr/>
          <a:lstStyle/>
          <a:p>
            <a:fld id="{92A71567-5F19-40BA-A122-4EE261C9AD44}" type="slidenum">
              <a:rPr lang="zh-TW" altLang="en-US" smtClean="0"/>
              <a:pPr/>
              <a:t>26</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cstate="email"/>
          <a:srcRect/>
          <a:stretch>
            <a:fillRect/>
          </a:stretch>
        </p:blipFill>
        <p:spPr bwMode="auto">
          <a:xfrm>
            <a:off x="467544" y="0"/>
            <a:ext cx="7887357" cy="3429000"/>
          </a:xfrm>
          <a:prstGeom prst="rect">
            <a:avLst/>
          </a:prstGeom>
          <a:noFill/>
          <a:ln w="9525">
            <a:noFill/>
            <a:miter lim="800000"/>
            <a:headEnd/>
            <a:tailEnd/>
          </a:ln>
        </p:spPr>
      </p:pic>
      <p:pic>
        <p:nvPicPr>
          <p:cNvPr id="4100" name="Picture 4"/>
          <p:cNvPicPr>
            <a:picLocks noChangeAspect="1" noChangeArrowheads="1"/>
          </p:cNvPicPr>
          <p:nvPr/>
        </p:nvPicPr>
        <p:blipFill>
          <a:blip r:embed="rId3" cstate="email"/>
          <a:srcRect/>
          <a:stretch>
            <a:fillRect/>
          </a:stretch>
        </p:blipFill>
        <p:spPr bwMode="auto">
          <a:xfrm>
            <a:off x="539551" y="3429000"/>
            <a:ext cx="7868509" cy="3240360"/>
          </a:xfrm>
          <a:prstGeom prst="rect">
            <a:avLst/>
          </a:prstGeom>
          <a:noFill/>
          <a:ln w="9525">
            <a:noFill/>
            <a:miter lim="800000"/>
            <a:headEnd/>
            <a:tailEnd/>
          </a:ln>
        </p:spPr>
      </p:pic>
      <p:sp>
        <p:nvSpPr>
          <p:cNvPr id="7" name="投影片編號版面配置區 6"/>
          <p:cNvSpPr>
            <a:spLocks noGrp="1"/>
          </p:cNvSpPr>
          <p:nvPr>
            <p:ph type="sldNum" sz="quarter" idx="12"/>
          </p:nvPr>
        </p:nvSpPr>
        <p:spPr/>
        <p:txBody>
          <a:bodyPr/>
          <a:lstStyle/>
          <a:p>
            <a:fld id="{92A71567-5F19-40BA-A122-4EE261C9AD44}"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email"/>
          <a:srcRect/>
          <a:stretch>
            <a:fillRect/>
          </a:stretch>
        </p:blipFill>
        <p:spPr bwMode="auto">
          <a:xfrm>
            <a:off x="1403648" y="0"/>
            <a:ext cx="5925756" cy="3068960"/>
          </a:xfrm>
          <a:prstGeom prst="rect">
            <a:avLst/>
          </a:prstGeom>
          <a:noFill/>
          <a:ln w="9525">
            <a:noFill/>
            <a:miter lim="800000"/>
            <a:headEnd/>
            <a:tailEnd/>
          </a:ln>
        </p:spPr>
      </p:pic>
      <p:pic>
        <p:nvPicPr>
          <p:cNvPr id="5123" name="Picture 3"/>
          <p:cNvPicPr>
            <a:picLocks noChangeAspect="1" noChangeArrowheads="1"/>
          </p:cNvPicPr>
          <p:nvPr/>
        </p:nvPicPr>
        <p:blipFill>
          <a:blip r:embed="rId3" cstate="email"/>
          <a:srcRect/>
          <a:stretch>
            <a:fillRect/>
          </a:stretch>
        </p:blipFill>
        <p:spPr bwMode="auto">
          <a:xfrm>
            <a:off x="1259632" y="3429000"/>
            <a:ext cx="6192466" cy="3152903"/>
          </a:xfrm>
          <a:prstGeom prst="rect">
            <a:avLst/>
          </a:prstGeom>
          <a:noFill/>
          <a:ln w="9525">
            <a:noFill/>
            <a:miter lim="800000"/>
            <a:headEnd/>
            <a:tailEnd/>
          </a:ln>
        </p:spPr>
      </p:pic>
      <p:sp>
        <p:nvSpPr>
          <p:cNvPr id="6" name="投影片編號版面配置區 5"/>
          <p:cNvSpPr>
            <a:spLocks noGrp="1"/>
          </p:cNvSpPr>
          <p:nvPr>
            <p:ph type="sldNum" sz="quarter" idx="12"/>
          </p:nvPr>
        </p:nvSpPr>
        <p:spPr/>
        <p:txBody>
          <a:bodyPr/>
          <a:lstStyle/>
          <a:p>
            <a:fld id="{92A71567-5F19-40BA-A122-4EE261C9AD44}" type="slidenum">
              <a:rPr lang="zh-TW" altLang="en-US" smtClean="0"/>
              <a:pPr/>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email"/>
          <a:srcRect/>
          <a:stretch>
            <a:fillRect/>
          </a:stretch>
        </p:blipFill>
        <p:spPr bwMode="auto">
          <a:xfrm>
            <a:off x="827584" y="0"/>
            <a:ext cx="6981553" cy="3380919"/>
          </a:xfrm>
          <a:prstGeom prst="rect">
            <a:avLst/>
          </a:prstGeom>
          <a:noFill/>
          <a:ln w="9525">
            <a:noFill/>
            <a:miter lim="800000"/>
            <a:headEnd/>
            <a:tailEnd/>
          </a:ln>
        </p:spPr>
      </p:pic>
      <p:pic>
        <p:nvPicPr>
          <p:cNvPr id="6147" name="Picture 3"/>
          <p:cNvPicPr>
            <a:picLocks noChangeAspect="1" noChangeArrowheads="1"/>
          </p:cNvPicPr>
          <p:nvPr/>
        </p:nvPicPr>
        <p:blipFill>
          <a:blip r:embed="rId3" cstate="email"/>
          <a:srcRect/>
          <a:stretch>
            <a:fillRect/>
          </a:stretch>
        </p:blipFill>
        <p:spPr bwMode="auto">
          <a:xfrm>
            <a:off x="971600" y="3516656"/>
            <a:ext cx="6709272" cy="3296720"/>
          </a:xfrm>
          <a:prstGeom prst="rect">
            <a:avLst/>
          </a:prstGeom>
          <a:noFill/>
          <a:ln w="9525">
            <a:noFill/>
            <a:miter lim="800000"/>
            <a:headEnd/>
            <a:tailEnd/>
          </a:ln>
        </p:spPr>
      </p:pic>
      <p:sp>
        <p:nvSpPr>
          <p:cNvPr id="6" name="投影片編號版面配置區 5"/>
          <p:cNvSpPr>
            <a:spLocks noGrp="1"/>
          </p:cNvSpPr>
          <p:nvPr>
            <p:ph type="sldNum" sz="quarter" idx="12"/>
          </p:nvPr>
        </p:nvSpPr>
        <p:spPr/>
        <p:txBody>
          <a:bodyPr/>
          <a:lstStyle/>
          <a:p>
            <a:fld id="{92A71567-5F19-40BA-A122-4EE261C9AD44}" type="slidenum">
              <a:rPr lang="zh-TW" altLang="en-US" smtClean="0"/>
              <a:pPr/>
              <a:t>29</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email"/>
          <a:srcRect/>
          <a:stretch>
            <a:fillRect/>
          </a:stretch>
        </p:blipFill>
        <p:spPr bwMode="auto">
          <a:xfrm>
            <a:off x="51861" y="188640"/>
            <a:ext cx="8984635" cy="3888432"/>
          </a:xfrm>
          <a:prstGeom prst="rect">
            <a:avLst/>
          </a:prstGeom>
          <a:noFill/>
          <a:ln w="9525">
            <a:noFill/>
            <a:miter lim="800000"/>
            <a:headEnd/>
            <a:tailEnd/>
          </a:ln>
        </p:spPr>
      </p:pic>
      <p:pic>
        <p:nvPicPr>
          <p:cNvPr id="7171" name="Picture 3"/>
          <p:cNvPicPr>
            <a:picLocks noChangeAspect="1" noChangeArrowheads="1"/>
          </p:cNvPicPr>
          <p:nvPr/>
        </p:nvPicPr>
        <p:blipFill>
          <a:blip r:embed="rId3" cstate="email"/>
          <a:srcRect/>
          <a:stretch>
            <a:fillRect/>
          </a:stretch>
        </p:blipFill>
        <p:spPr bwMode="auto">
          <a:xfrm>
            <a:off x="107504" y="4293095"/>
            <a:ext cx="8856984" cy="1749629"/>
          </a:xfrm>
          <a:prstGeom prst="rect">
            <a:avLst/>
          </a:prstGeom>
          <a:noFill/>
          <a:ln w="9525">
            <a:noFill/>
            <a:miter lim="800000"/>
            <a:headEnd/>
            <a:tailEnd/>
          </a:ln>
        </p:spPr>
      </p:pic>
      <p:sp>
        <p:nvSpPr>
          <p:cNvPr id="6" name="投影片編號版面配置區 5"/>
          <p:cNvSpPr>
            <a:spLocks noGrp="1"/>
          </p:cNvSpPr>
          <p:nvPr>
            <p:ph type="sldNum" sz="quarter" idx="12"/>
          </p:nvPr>
        </p:nvSpPr>
        <p:spPr/>
        <p:txBody>
          <a:bodyPr/>
          <a:lstStyle/>
          <a:p>
            <a:fld id="{92A71567-5F19-40BA-A122-4EE261C9AD44}" type="slidenum">
              <a:rPr lang="zh-TW" altLang="en-US" smtClean="0"/>
              <a:pPr/>
              <a:t>30</a:t>
            </a:fld>
            <a:endParaRPr lang="zh-TW"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email"/>
          <a:srcRect/>
          <a:stretch>
            <a:fillRect/>
          </a:stretch>
        </p:blipFill>
        <p:spPr bwMode="auto">
          <a:xfrm>
            <a:off x="0" y="476672"/>
            <a:ext cx="9073867" cy="2520280"/>
          </a:xfrm>
          <a:prstGeom prst="rect">
            <a:avLst/>
          </a:prstGeom>
          <a:noFill/>
          <a:ln w="9525">
            <a:noFill/>
            <a:miter lim="800000"/>
            <a:headEnd/>
            <a:tailEnd/>
          </a:ln>
        </p:spPr>
      </p:pic>
      <p:pic>
        <p:nvPicPr>
          <p:cNvPr id="8195" name="Picture 3"/>
          <p:cNvPicPr>
            <a:picLocks noChangeAspect="1" noChangeArrowheads="1"/>
          </p:cNvPicPr>
          <p:nvPr/>
        </p:nvPicPr>
        <p:blipFill>
          <a:blip r:embed="rId3" cstate="email"/>
          <a:srcRect/>
          <a:stretch>
            <a:fillRect/>
          </a:stretch>
        </p:blipFill>
        <p:spPr bwMode="auto">
          <a:xfrm>
            <a:off x="0" y="3645024"/>
            <a:ext cx="9132783" cy="2376264"/>
          </a:xfrm>
          <a:prstGeom prst="rect">
            <a:avLst/>
          </a:prstGeom>
          <a:noFill/>
          <a:ln w="9525">
            <a:noFill/>
            <a:miter lim="800000"/>
            <a:headEnd/>
            <a:tailEnd/>
          </a:ln>
        </p:spPr>
      </p:pic>
      <p:sp>
        <p:nvSpPr>
          <p:cNvPr id="6" name="投影片編號版面配置區 5"/>
          <p:cNvSpPr>
            <a:spLocks noGrp="1"/>
          </p:cNvSpPr>
          <p:nvPr>
            <p:ph type="sldNum" sz="quarter" idx="12"/>
          </p:nvPr>
        </p:nvSpPr>
        <p:spPr/>
        <p:txBody>
          <a:bodyPr/>
          <a:lstStyle/>
          <a:p>
            <a:fld id="{92A71567-5F19-40BA-A122-4EE261C9AD44}" type="slidenum">
              <a:rPr lang="zh-TW" altLang="en-US" smtClean="0"/>
              <a:pPr/>
              <a:t>31</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395536" y="2636912"/>
            <a:ext cx="8496944" cy="1446550"/>
          </a:xfrm>
          <a:prstGeom prst="rect">
            <a:avLst/>
          </a:prstGeom>
          <a:noFill/>
        </p:spPr>
        <p:txBody>
          <a:bodyPr wrap="square" rtlCol="0">
            <a:spAutoFit/>
          </a:bodyPr>
          <a:lstStyle/>
          <a:p>
            <a:pPr algn="ctr"/>
            <a:r>
              <a:rPr lang="en-US" altLang="zh-TW" sz="8800" dirty="0" smtClean="0"/>
              <a:t>Thank you!!</a:t>
            </a:r>
            <a:endParaRPr lang="zh-TW" altLang="en-US" sz="8800" dirty="0"/>
          </a:p>
        </p:txBody>
      </p:sp>
      <p:sp>
        <p:nvSpPr>
          <p:cNvPr id="3" name="投影片編號版面配置區 2"/>
          <p:cNvSpPr>
            <a:spLocks noGrp="1"/>
          </p:cNvSpPr>
          <p:nvPr>
            <p:ph type="sldNum" sz="quarter" idx="12"/>
          </p:nvPr>
        </p:nvSpPr>
        <p:spPr/>
        <p:txBody>
          <a:bodyPr/>
          <a:lstStyle/>
          <a:p>
            <a:fld id="{99727940-80A4-4EDF-A52A-4B9C31CAFBDE}" type="slidenum">
              <a:rPr lang="zh-TW" altLang="en-US" smtClean="0"/>
              <a:pPr/>
              <a:t>32</a:t>
            </a:fld>
            <a:endParaRPr lang="zh-TW" altLang="en-US"/>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907</TotalTime>
  <Words>1140</Words>
  <Application>Microsoft Office PowerPoint</Application>
  <PresentationFormat>如螢幕大小 (4:3)</PresentationFormat>
  <Paragraphs>204</Paragraphs>
  <Slides>32</Slides>
  <Notes>0</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32</vt:i4>
      </vt:variant>
    </vt:vector>
  </HeadingPairs>
  <TitlesOfParts>
    <vt:vector size="34" baseType="lpstr">
      <vt:lpstr>Office 佈景主題</vt:lpstr>
      <vt:lpstr>方程式</vt:lpstr>
      <vt:lpstr>Chih-Fong Tsai (蔡志豐), Yu-Chieh Hsiao (蕭鈺潔) Department of Information Management, National Central University, Taiwan</vt:lpstr>
      <vt:lpstr>Abstract</vt:lpstr>
      <vt:lpstr>投影片 3</vt:lpstr>
      <vt:lpstr>Genetic Algorithm (GA)</vt:lpstr>
      <vt:lpstr>投影片 5</vt:lpstr>
      <vt:lpstr>投影片 6</vt:lpstr>
      <vt:lpstr>投影片 7</vt:lpstr>
      <vt:lpstr>Principal Component Analysis (PCA)</vt:lpstr>
      <vt:lpstr>投影片 9</vt:lpstr>
      <vt:lpstr>投影片 10</vt:lpstr>
      <vt:lpstr>投影片 11</vt:lpstr>
      <vt:lpstr>Factor analysis</vt:lpstr>
      <vt:lpstr>Classification and Regression Trees (CART)</vt:lpstr>
      <vt:lpstr>投影片 14</vt:lpstr>
      <vt:lpstr>投影片 15</vt:lpstr>
      <vt:lpstr>投影片 16</vt:lpstr>
      <vt:lpstr>Artificial Neural Network (ANN)</vt:lpstr>
      <vt:lpstr>投影片 18</vt:lpstr>
      <vt:lpstr>投影片 19</vt:lpstr>
      <vt:lpstr>投影片 20</vt:lpstr>
      <vt:lpstr>投影片 21</vt:lpstr>
      <vt:lpstr>投影片 22</vt:lpstr>
      <vt:lpstr>Data set</vt:lpstr>
      <vt:lpstr>投影片 24</vt:lpstr>
      <vt:lpstr>投影片 25</vt:lpstr>
      <vt:lpstr>投影片 26</vt:lpstr>
      <vt:lpstr>投影片 27</vt:lpstr>
      <vt:lpstr>投影片 28</vt:lpstr>
      <vt:lpstr>投影片 29</vt:lpstr>
      <vt:lpstr>投影片 30</vt:lpstr>
      <vt:lpstr>投影片 31</vt:lpstr>
      <vt:lpstr>投影片 32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Chih-Fong Tsai (蔡志豐), Yu-Chieh Hsiao (蕭鈺潔) Department of Information Management, National Central University, Taiwan</dc:title>
  <dc:creator>Hung-Hsi Chen</dc:creator>
  <cp:lastModifiedBy>par67vm</cp:lastModifiedBy>
  <cp:revision>158</cp:revision>
  <dcterms:created xsi:type="dcterms:W3CDTF">2010-09-26T17:50:27Z</dcterms:created>
  <dcterms:modified xsi:type="dcterms:W3CDTF">2010-10-26T09:17:55Z</dcterms:modified>
</cp:coreProperties>
</file>