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5" r:id="rId9"/>
    <p:sldId id="266" r:id="rId10"/>
    <p:sldId id="264" r:id="rId1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2010/1/26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785926"/>
            <a:ext cx="7772400" cy="1470025"/>
          </a:xfrm>
        </p:spPr>
        <p:txBody>
          <a:bodyPr>
            <a:normAutofit fontScale="90000"/>
          </a:bodyPr>
          <a:lstStyle/>
          <a:p>
            <a:r>
              <a:rPr lang="en-US" altLang="zh-TW" dirty="0" smtClean="0"/>
              <a:t>SVM-KM: speeding SVMs  learning with a  priori cluster selection and k-means</a:t>
            </a:r>
            <a:endParaRPr lang="zh-TW" altLang="en-US" dirty="0"/>
          </a:p>
        </p:txBody>
      </p:sp>
      <p:sp>
        <p:nvSpPr>
          <p:cNvPr id="3" name="副標題 2"/>
          <p:cNvSpPr>
            <a:spLocks noGrp="1"/>
          </p:cNvSpPr>
          <p:nvPr>
            <p:ph type="subTitle" idx="1"/>
          </p:nvPr>
        </p:nvSpPr>
        <p:spPr/>
        <p:txBody>
          <a:bodyPr>
            <a:normAutofit fontScale="70000" lnSpcReduction="20000"/>
          </a:bodyPr>
          <a:lstStyle/>
          <a:p>
            <a:r>
              <a:rPr lang="en-US" dirty="0" smtClean="0">
                <a:solidFill>
                  <a:schemeClr val="tx1"/>
                </a:solidFill>
              </a:rPr>
              <a:t>Marcelo Barros de Almeida, </a:t>
            </a:r>
            <a:r>
              <a:rPr lang="en-US" dirty="0" err="1" smtClean="0">
                <a:solidFill>
                  <a:schemeClr val="tx1"/>
                </a:solidFill>
              </a:rPr>
              <a:t>Antônio</a:t>
            </a:r>
            <a:r>
              <a:rPr lang="en-US" dirty="0" smtClean="0">
                <a:solidFill>
                  <a:schemeClr val="tx1"/>
                </a:solidFill>
              </a:rPr>
              <a:t> de </a:t>
            </a:r>
            <a:r>
              <a:rPr lang="en-US" dirty="0" err="1" smtClean="0">
                <a:solidFill>
                  <a:schemeClr val="tx1"/>
                </a:solidFill>
              </a:rPr>
              <a:t>Pádua</a:t>
            </a:r>
            <a:r>
              <a:rPr lang="en-US" dirty="0" smtClean="0">
                <a:solidFill>
                  <a:schemeClr val="tx1"/>
                </a:solidFill>
              </a:rPr>
              <a:t> Braga</a:t>
            </a:r>
            <a:r>
              <a:rPr lang="pt-BR" dirty="0" smtClean="0">
                <a:solidFill>
                  <a:schemeClr val="tx1"/>
                </a:solidFill>
              </a:rPr>
              <a:t>, </a:t>
            </a:r>
            <a:r>
              <a:rPr lang="en-US" dirty="0" err="1" smtClean="0">
                <a:solidFill>
                  <a:schemeClr val="tx1"/>
                </a:solidFill>
              </a:rPr>
              <a:t>João</a:t>
            </a:r>
            <a:r>
              <a:rPr lang="en-US" dirty="0" smtClean="0">
                <a:solidFill>
                  <a:schemeClr val="tx1"/>
                </a:solidFill>
              </a:rPr>
              <a:t> Pedro Braga</a:t>
            </a:r>
          </a:p>
          <a:p>
            <a:endParaRPr lang="en-US" dirty="0" smtClean="0">
              <a:solidFill>
                <a:schemeClr val="tx1"/>
              </a:solidFill>
            </a:endParaRPr>
          </a:p>
          <a:p>
            <a:r>
              <a:rPr lang="en-US" smtClean="0">
                <a:solidFill>
                  <a:schemeClr val="tx1"/>
                </a:solidFill>
              </a:rPr>
              <a:t>IEEE </a:t>
            </a:r>
            <a:r>
              <a:rPr lang="en-US" smtClean="0">
                <a:solidFill>
                  <a:schemeClr val="tx1"/>
                </a:solidFill>
              </a:rPr>
              <a:t>Transactions </a:t>
            </a:r>
            <a:r>
              <a:rPr lang="en-US" smtClean="0">
                <a:solidFill>
                  <a:schemeClr val="tx1"/>
                </a:solidFill>
              </a:rPr>
              <a:t>on Neural Networks </a:t>
            </a:r>
            <a:r>
              <a:rPr lang="en-US" smtClean="0">
                <a:solidFill>
                  <a:schemeClr val="tx1"/>
                </a:solidFill>
              </a:rPr>
              <a:t/>
            </a:r>
            <a:br>
              <a:rPr lang="en-US" smtClean="0">
                <a:solidFill>
                  <a:schemeClr val="tx1"/>
                </a:solidFill>
              </a:rPr>
            </a:br>
            <a:r>
              <a:rPr lang="en-US" smtClean="0">
                <a:solidFill>
                  <a:schemeClr val="tx1"/>
                </a:solidFill>
              </a:rPr>
              <a:t>882-890</a:t>
            </a:r>
            <a:r>
              <a:rPr lang="en-US" dirty="0" smtClean="0">
                <a:solidFill>
                  <a:schemeClr val="tx1"/>
                </a:solidFill>
              </a:rPr>
              <a:t>, Volume: 20, Issue: 5, May 2009</a:t>
            </a:r>
            <a:endParaRPr lang="zh-TW" altLang="en-US" dirty="0">
              <a:solidFill>
                <a:schemeClr val="tx1"/>
              </a:solidFill>
            </a:endParaRPr>
          </a:p>
        </p:txBody>
      </p:sp>
      <p:sp>
        <p:nvSpPr>
          <p:cNvPr id="4" name="Text Box 6"/>
          <p:cNvSpPr txBox="1">
            <a:spLocks noChangeArrowheads="1"/>
          </p:cNvSpPr>
          <p:nvPr/>
        </p:nvSpPr>
        <p:spPr bwMode="auto">
          <a:xfrm>
            <a:off x="6572264" y="5572140"/>
            <a:ext cx="1960024" cy="566309"/>
          </a:xfrm>
          <a:prstGeom prst="rect">
            <a:avLst/>
          </a:prstGeom>
          <a:noFill/>
          <a:ln w="9525">
            <a:noFill/>
            <a:miter lim="800000"/>
            <a:headEnd/>
            <a:tailEnd/>
          </a:ln>
        </p:spPr>
        <p:txBody>
          <a:bodyPr wrap="none">
            <a:spAutoFit/>
          </a:bodyPr>
          <a:lstStyle/>
          <a:p>
            <a:pPr>
              <a:spcBef>
                <a:spcPct val="20000"/>
              </a:spcBef>
            </a:pPr>
            <a:r>
              <a:rPr lang="en-US" altLang="zh-TW" sz="1400" dirty="0"/>
              <a:t>Presenter : </a:t>
            </a:r>
            <a:r>
              <a:rPr lang="en-US" altLang="zh-TW" sz="1400" dirty="0" err="1"/>
              <a:t>Chih</a:t>
            </a:r>
            <a:r>
              <a:rPr lang="en-US" altLang="zh-TW" sz="1400" dirty="0"/>
              <a:t>-Ying Lin</a:t>
            </a:r>
          </a:p>
          <a:p>
            <a:pPr>
              <a:spcBef>
                <a:spcPct val="20000"/>
              </a:spcBef>
            </a:pPr>
            <a:r>
              <a:rPr lang="en-US" altLang="zh-TW" sz="1400" dirty="0"/>
              <a:t>Date : </a:t>
            </a:r>
            <a:r>
              <a:rPr lang="en-US" sz="1400" dirty="0" smtClean="0"/>
              <a:t>Jan.</a:t>
            </a:r>
            <a:r>
              <a:rPr lang="en-US" altLang="zh-TW" sz="1400" dirty="0" smtClean="0"/>
              <a:t> 26, 2010</a:t>
            </a:r>
            <a:endParaRPr lang="en-US" altLang="zh-TW" dirty="0">
              <a:latin typeface="Tahom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Abstract(1/2)</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dirty="0" smtClean="0"/>
              <a:t>A procedure called SVM-KM, based on clustering by k-means and to accelerate the training of support vector machines, is the main objective of the work. During the support vector machines (SVMs) optimization phase, training vectors near the separation margins, are likely to become support vector and must be preserved. Conversely, training vectors far from the margins are not in general taken into account for the SVM's design process. SVM-KM groups the training vectors in many clusters. Clusters formed only by a vector that belongs to the same class label can be disregard and only cluster centers are used. </a:t>
            </a:r>
            <a:endParaRPr lang="zh-TW"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p:txBody>
          <a:bodyPr>
            <a:normAutofit lnSpcReduction="10000"/>
          </a:bodyPr>
          <a:lstStyle/>
          <a:p>
            <a:r>
              <a:rPr lang="en-US" dirty="0" smtClean="0"/>
              <a:t>On the other hand, clusters with more than one class label are unchanged and all training vectors belonging to them are considered. Clusters with mixed composition are likely to happen near the separation margins and they may hold some support vectors. Consequently, the number of vectors in a SVM training is smaller and the training time can be decreased without compromising the generalization capability of the SVM</a:t>
            </a:r>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Method</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四角星形 3"/>
          <p:cNvSpPr/>
          <p:nvPr/>
        </p:nvSpPr>
        <p:spPr>
          <a:xfrm>
            <a:off x="5857884" y="4500570"/>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四角星形 4"/>
          <p:cNvSpPr/>
          <p:nvPr/>
        </p:nvSpPr>
        <p:spPr>
          <a:xfrm>
            <a:off x="5214942" y="4357694"/>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四角星形 5"/>
          <p:cNvSpPr/>
          <p:nvPr/>
        </p:nvSpPr>
        <p:spPr>
          <a:xfrm>
            <a:off x="4714876" y="321468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四角星形 6"/>
          <p:cNvSpPr/>
          <p:nvPr/>
        </p:nvSpPr>
        <p:spPr>
          <a:xfrm>
            <a:off x="4000496" y="321468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四角星形 7"/>
          <p:cNvSpPr/>
          <p:nvPr/>
        </p:nvSpPr>
        <p:spPr>
          <a:xfrm>
            <a:off x="4429124" y="2285992"/>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四角星形 8"/>
          <p:cNvSpPr/>
          <p:nvPr/>
        </p:nvSpPr>
        <p:spPr>
          <a:xfrm>
            <a:off x="5643570" y="357187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四角星形 9"/>
          <p:cNvSpPr/>
          <p:nvPr/>
        </p:nvSpPr>
        <p:spPr>
          <a:xfrm>
            <a:off x="5357818" y="2714620"/>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四角星形 10"/>
          <p:cNvSpPr/>
          <p:nvPr/>
        </p:nvSpPr>
        <p:spPr>
          <a:xfrm>
            <a:off x="6286512" y="3286124"/>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四角星形 11"/>
          <p:cNvSpPr/>
          <p:nvPr/>
        </p:nvSpPr>
        <p:spPr>
          <a:xfrm>
            <a:off x="5857884" y="2928934"/>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四角星形 12"/>
          <p:cNvSpPr/>
          <p:nvPr/>
        </p:nvSpPr>
        <p:spPr>
          <a:xfrm>
            <a:off x="5000628" y="3857628"/>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五角星形 13"/>
          <p:cNvSpPr/>
          <p:nvPr/>
        </p:nvSpPr>
        <p:spPr>
          <a:xfrm>
            <a:off x="5500694" y="5214950"/>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五角星形 14"/>
          <p:cNvSpPr/>
          <p:nvPr/>
        </p:nvSpPr>
        <p:spPr>
          <a:xfrm>
            <a:off x="4071934" y="464344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五角星形 15"/>
          <p:cNvSpPr/>
          <p:nvPr/>
        </p:nvSpPr>
        <p:spPr>
          <a:xfrm>
            <a:off x="3714744" y="5072074"/>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五角星形 16"/>
          <p:cNvSpPr/>
          <p:nvPr/>
        </p:nvSpPr>
        <p:spPr>
          <a:xfrm>
            <a:off x="2643174" y="3143248"/>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五角星形 17"/>
          <p:cNvSpPr/>
          <p:nvPr/>
        </p:nvSpPr>
        <p:spPr>
          <a:xfrm>
            <a:off x="3929058" y="371475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五角星形 18"/>
          <p:cNvSpPr/>
          <p:nvPr/>
        </p:nvSpPr>
        <p:spPr>
          <a:xfrm>
            <a:off x="5715008" y="478632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五角星形 19"/>
          <p:cNvSpPr/>
          <p:nvPr/>
        </p:nvSpPr>
        <p:spPr>
          <a:xfrm>
            <a:off x="4429124" y="5072074"/>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五角星形 20"/>
          <p:cNvSpPr/>
          <p:nvPr/>
        </p:nvSpPr>
        <p:spPr>
          <a:xfrm>
            <a:off x="3143240" y="357187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五角星形 21"/>
          <p:cNvSpPr/>
          <p:nvPr/>
        </p:nvSpPr>
        <p:spPr>
          <a:xfrm>
            <a:off x="3643306" y="4357694"/>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五角星形 22"/>
          <p:cNvSpPr/>
          <p:nvPr/>
        </p:nvSpPr>
        <p:spPr>
          <a:xfrm>
            <a:off x="5786446" y="514351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五角星形 23"/>
          <p:cNvSpPr/>
          <p:nvPr/>
        </p:nvSpPr>
        <p:spPr>
          <a:xfrm>
            <a:off x="4572000" y="407194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五角星形 24"/>
          <p:cNvSpPr/>
          <p:nvPr/>
        </p:nvSpPr>
        <p:spPr>
          <a:xfrm>
            <a:off x="2928926" y="2571744"/>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五角星形 25"/>
          <p:cNvSpPr/>
          <p:nvPr/>
        </p:nvSpPr>
        <p:spPr>
          <a:xfrm>
            <a:off x="4643438" y="4500570"/>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5214942" y="2500306"/>
            <a:ext cx="1285884" cy="135732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5357818" y="4429132"/>
            <a:ext cx="928694" cy="12144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4500562" y="3786190"/>
            <a:ext cx="857256" cy="10715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500430" y="2214554"/>
            <a:ext cx="1571636" cy="171451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3500430" y="4143380"/>
            <a:ext cx="1143008" cy="135732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四角星形 32"/>
          <p:cNvSpPr/>
          <p:nvPr/>
        </p:nvSpPr>
        <p:spPr>
          <a:xfrm>
            <a:off x="3214678" y="2786058"/>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2571736" y="2500306"/>
            <a:ext cx="857256" cy="157163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四角星形 35"/>
          <p:cNvSpPr/>
          <p:nvPr/>
        </p:nvSpPr>
        <p:spPr>
          <a:xfrm>
            <a:off x="6357950" y="4214818"/>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四角星形 36"/>
          <p:cNvSpPr/>
          <p:nvPr/>
        </p:nvSpPr>
        <p:spPr>
          <a:xfrm>
            <a:off x="6572264" y="392906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四角星形 37"/>
          <p:cNvSpPr/>
          <p:nvPr/>
        </p:nvSpPr>
        <p:spPr>
          <a:xfrm>
            <a:off x="6929454" y="4357694"/>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四角星形 38"/>
          <p:cNvSpPr/>
          <p:nvPr/>
        </p:nvSpPr>
        <p:spPr>
          <a:xfrm>
            <a:off x="7000892" y="3500438"/>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五角星形 39"/>
          <p:cNvSpPr/>
          <p:nvPr/>
        </p:nvSpPr>
        <p:spPr>
          <a:xfrm>
            <a:off x="2571736" y="428625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五角星形 40"/>
          <p:cNvSpPr/>
          <p:nvPr/>
        </p:nvSpPr>
        <p:spPr>
          <a:xfrm>
            <a:off x="2285984" y="4857760"/>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五角星形 41"/>
          <p:cNvSpPr/>
          <p:nvPr/>
        </p:nvSpPr>
        <p:spPr>
          <a:xfrm>
            <a:off x="3000364" y="500063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五角星形 42"/>
          <p:cNvSpPr/>
          <p:nvPr/>
        </p:nvSpPr>
        <p:spPr>
          <a:xfrm>
            <a:off x="2714612" y="464344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橢圓 43"/>
          <p:cNvSpPr/>
          <p:nvPr/>
        </p:nvSpPr>
        <p:spPr>
          <a:xfrm>
            <a:off x="6286512" y="3429000"/>
            <a:ext cx="1143008" cy="135732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橢圓 45"/>
          <p:cNvSpPr/>
          <p:nvPr/>
        </p:nvSpPr>
        <p:spPr>
          <a:xfrm>
            <a:off x="2000232" y="4071942"/>
            <a:ext cx="1285884" cy="157163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Method</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四角星形 3"/>
          <p:cNvSpPr/>
          <p:nvPr/>
        </p:nvSpPr>
        <p:spPr>
          <a:xfrm>
            <a:off x="5857884" y="4500570"/>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四角星形 4"/>
          <p:cNvSpPr/>
          <p:nvPr/>
        </p:nvSpPr>
        <p:spPr>
          <a:xfrm>
            <a:off x="5214942" y="4357694"/>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四角星形 5"/>
          <p:cNvSpPr/>
          <p:nvPr/>
        </p:nvSpPr>
        <p:spPr>
          <a:xfrm>
            <a:off x="4714876" y="321468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四角星形 6"/>
          <p:cNvSpPr/>
          <p:nvPr/>
        </p:nvSpPr>
        <p:spPr>
          <a:xfrm>
            <a:off x="4000496" y="321468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四角星形 7"/>
          <p:cNvSpPr/>
          <p:nvPr/>
        </p:nvSpPr>
        <p:spPr>
          <a:xfrm>
            <a:off x="4429124" y="2285992"/>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四角星形 11"/>
          <p:cNvSpPr/>
          <p:nvPr/>
        </p:nvSpPr>
        <p:spPr>
          <a:xfrm>
            <a:off x="5857884" y="2928934"/>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四角星形 12"/>
          <p:cNvSpPr/>
          <p:nvPr/>
        </p:nvSpPr>
        <p:spPr>
          <a:xfrm>
            <a:off x="5000628" y="3857628"/>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五角星形 13"/>
          <p:cNvSpPr/>
          <p:nvPr/>
        </p:nvSpPr>
        <p:spPr>
          <a:xfrm>
            <a:off x="5500694" y="5214950"/>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五角星形 14"/>
          <p:cNvSpPr/>
          <p:nvPr/>
        </p:nvSpPr>
        <p:spPr>
          <a:xfrm>
            <a:off x="4071934" y="464344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五角星形 16"/>
          <p:cNvSpPr/>
          <p:nvPr/>
        </p:nvSpPr>
        <p:spPr>
          <a:xfrm>
            <a:off x="2643174" y="3143248"/>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五角星形 17"/>
          <p:cNvSpPr/>
          <p:nvPr/>
        </p:nvSpPr>
        <p:spPr>
          <a:xfrm>
            <a:off x="3929058" y="371475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五角星形 18"/>
          <p:cNvSpPr/>
          <p:nvPr/>
        </p:nvSpPr>
        <p:spPr>
          <a:xfrm>
            <a:off x="5715008" y="478632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五角星形 20"/>
          <p:cNvSpPr/>
          <p:nvPr/>
        </p:nvSpPr>
        <p:spPr>
          <a:xfrm>
            <a:off x="3143240" y="357187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五角星形 22"/>
          <p:cNvSpPr/>
          <p:nvPr/>
        </p:nvSpPr>
        <p:spPr>
          <a:xfrm>
            <a:off x="5786446" y="514351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五角星形 23"/>
          <p:cNvSpPr/>
          <p:nvPr/>
        </p:nvSpPr>
        <p:spPr>
          <a:xfrm>
            <a:off x="4572000" y="407194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五角星形 24"/>
          <p:cNvSpPr/>
          <p:nvPr/>
        </p:nvSpPr>
        <p:spPr>
          <a:xfrm>
            <a:off x="2928926" y="2571744"/>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五角星形 25"/>
          <p:cNvSpPr/>
          <p:nvPr/>
        </p:nvSpPr>
        <p:spPr>
          <a:xfrm>
            <a:off x="4643438" y="4500570"/>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5357818" y="4429132"/>
            <a:ext cx="928694" cy="12144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4500562" y="3786190"/>
            <a:ext cx="857256" cy="10715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500430" y="2214554"/>
            <a:ext cx="1571636" cy="171451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四角星形 32"/>
          <p:cNvSpPr/>
          <p:nvPr/>
        </p:nvSpPr>
        <p:spPr>
          <a:xfrm>
            <a:off x="3214678" y="2786058"/>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2571736" y="2500306"/>
            <a:ext cx="857256" cy="157163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四角星形 36"/>
          <p:cNvSpPr/>
          <p:nvPr/>
        </p:nvSpPr>
        <p:spPr>
          <a:xfrm>
            <a:off x="6572264" y="392906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五角星形 42"/>
          <p:cNvSpPr/>
          <p:nvPr/>
        </p:nvSpPr>
        <p:spPr>
          <a:xfrm>
            <a:off x="2714612" y="464344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Method</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四角星形 3"/>
          <p:cNvSpPr/>
          <p:nvPr/>
        </p:nvSpPr>
        <p:spPr>
          <a:xfrm>
            <a:off x="5857884" y="4500570"/>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四角星形 4"/>
          <p:cNvSpPr/>
          <p:nvPr/>
        </p:nvSpPr>
        <p:spPr>
          <a:xfrm>
            <a:off x="5214942" y="4357694"/>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四角星形 5"/>
          <p:cNvSpPr/>
          <p:nvPr/>
        </p:nvSpPr>
        <p:spPr>
          <a:xfrm>
            <a:off x="4714876" y="321468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四角星形 6"/>
          <p:cNvSpPr/>
          <p:nvPr/>
        </p:nvSpPr>
        <p:spPr>
          <a:xfrm>
            <a:off x="4000496" y="321468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四角星形 7"/>
          <p:cNvSpPr/>
          <p:nvPr/>
        </p:nvSpPr>
        <p:spPr>
          <a:xfrm>
            <a:off x="4429124" y="2285992"/>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四角星形 11"/>
          <p:cNvSpPr/>
          <p:nvPr/>
        </p:nvSpPr>
        <p:spPr>
          <a:xfrm>
            <a:off x="5857884" y="2928934"/>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四角星形 12"/>
          <p:cNvSpPr/>
          <p:nvPr/>
        </p:nvSpPr>
        <p:spPr>
          <a:xfrm>
            <a:off x="5000628" y="3857628"/>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五角星形 13"/>
          <p:cNvSpPr/>
          <p:nvPr/>
        </p:nvSpPr>
        <p:spPr>
          <a:xfrm>
            <a:off x="5500694" y="5214950"/>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五角星形 14"/>
          <p:cNvSpPr/>
          <p:nvPr/>
        </p:nvSpPr>
        <p:spPr>
          <a:xfrm>
            <a:off x="4071934" y="464344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五角星形 16"/>
          <p:cNvSpPr/>
          <p:nvPr/>
        </p:nvSpPr>
        <p:spPr>
          <a:xfrm>
            <a:off x="2643174" y="3143248"/>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五角星形 17"/>
          <p:cNvSpPr/>
          <p:nvPr/>
        </p:nvSpPr>
        <p:spPr>
          <a:xfrm>
            <a:off x="3929058" y="371475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五角星形 18"/>
          <p:cNvSpPr/>
          <p:nvPr/>
        </p:nvSpPr>
        <p:spPr>
          <a:xfrm>
            <a:off x="5715008" y="478632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五角星形 20"/>
          <p:cNvSpPr/>
          <p:nvPr/>
        </p:nvSpPr>
        <p:spPr>
          <a:xfrm>
            <a:off x="3143240" y="357187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五角星形 22"/>
          <p:cNvSpPr/>
          <p:nvPr/>
        </p:nvSpPr>
        <p:spPr>
          <a:xfrm>
            <a:off x="5786446" y="514351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五角星形 23"/>
          <p:cNvSpPr/>
          <p:nvPr/>
        </p:nvSpPr>
        <p:spPr>
          <a:xfrm>
            <a:off x="4572000" y="4071942"/>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五角星形 24"/>
          <p:cNvSpPr/>
          <p:nvPr/>
        </p:nvSpPr>
        <p:spPr>
          <a:xfrm>
            <a:off x="2928926" y="2571744"/>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五角星形 25"/>
          <p:cNvSpPr/>
          <p:nvPr/>
        </p:nvSpPr>
        <p:spPr>
          <a:xfrm>
            <a:off x="4643438" y="4500570"/>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四角星形 32"/>
          <p:cNvSpPr/>
          <p:nvPr/>
        </p:nvSpPr>
        <p:spPr>
          <a:xfrm>
            <a:off x="3214678" y="2786058"/>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四角星形 36"/>
          <p:cNvSpPr/>
          <p:nvPr/>
        </p:nvSpPr>
        <p:spPr>
          <a:xfrm>
            <a:off x="6572264" y="3929066"/>
            <a:ext cx="142876" cy="142876"/>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五角星形 42"/>
          <p:cNvSpPr/>
          <p:nvPr/>
        </p:nvSpPr>
        <p:spPr>
          <a:xfrm>
            <a:off x="2714612" y="4643446"/>
            <a:ext cx="142876" cy="14287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smtClean="0"/>
              <a:t>Simulation</a:t>
            </a:r>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2071670" y="1500174"/>
            <a:ext cx="2638425" cy="257175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686319" y="1471617"/>
            <a:ext cx="2600325" cy="26003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2000232" y="3929066"/>
            <a:ext cx="2714625" cy="2657475"/>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4714876" y="4000504"/>
            <a:ext cx="2571750" cy="2562225"/>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pic>
        <p:nvPicPr>
          <p:cNvPr id="3074" name="Picture 2"/>
          <p:cNvPicPr>
            <a:picLocks noChangeAspect="1" noChangeArrowheads="1"/>
          </p:cNvPicPr>
          <p:nvPr/>
        </p:nvPicPr>
        <p:blipFill>
          <a:blip r:embed="rId2"/>
          <a:srcRect/>
          <a:stretch>
            <a:fillRect/>
          </a:stretch>
        </p:blipFill>
        <p:spPr bwMode="auto">
          <a:xfrm>
            <a:off x="1071538" y="2285992"/>
            <a:ext cx="7360320" cy="2752736"/>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Simulation</a:t>
            </a:r>
            <a:endParaRPr lang="zh-TW" altLang="en-US" dirty="0"/>
          </a:p>
        </p:txBody>
      </p:sp>
      <p:pic>
        <p:nvPicPr>
          <p:cNvPr id="4098" name="Picture 2"/>
          <p:cNvPicPr>
            <a:picLocks noChangeAspect="1" noChangeArrowheads="1"/>
          </p:cNvPicPr>
          <p:nvPr/>
        </p:nvPicPr>
        <p:blipFill>
          <a:blip r:embed="rId2"/>
          <a:srcRect/>
          <a:stretch>
            <a:fillRect/>
          </a:stretch>
        </p:blipFill>
        <p:spPr bwMode="auto">
          <a:xfrm>
            <a:off x="1643042" y="1500174"/>
            <a:ext cx="2714644" cy="2647616"/>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4572001" y="1500174"/>
            <a:ext cx="2714644" cy="2647116"/>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1714480" y="4143380"/>
            <a:ext cx="2643206" cy="2603853"/>
          </a:xfrm>
          <a:prstGeom prst="rect">
            <a:avLst/>
          </a:prstGeom>
          <a:noFill/>
          <a:ln w="9525">
            <a:noFill/>
            <a:miter lim="800000"/>
            <a:headEnd/>
            <a:tailEnd/>
          </a:ln>
          <a:effectLst/>
        </p:spPr>
      </p:pic>
      <p:pic>
        <p:nvPicPr>
          <p:cNvPr id="4101" name="Picture 5"/>
          <p:cNvPicPr>
            <a:picLocks noChangeAspect="1" noChangeArrowheads="1"/>
          </p:cNvPicPr>
          <p:nvPr/>
        </p:nvPicPr>
        <p:blipFill>
          <a:blip r:embed="rId5"/>
          <a:srcRect/>
          <a:stretch>
            <a:fillRect/>
          </a:stretch>
        </p:blipFill>
        <p:spPr bwMode="auto">
          <a:xfrm>
            <a:off x="4643438" y="4143380"/>
            <a:ext cx="2650496" cy="2571768"/>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pic>
        <p:nvPicPr>
          <p:cNvPr id="2051" name="Picture 3"/>
          <p:cNvPicPr>
            <a:picLocks noGrp="1" noChangeAspect="1" noChangeArrowheads="1"/>
          </p:cNvPicPr>
          <p:nvPr>
            <p:ph idx="1"/>
          </p:nvPr>
        </p:nvPicPr>
        <p:blipFill>
          <a:blip r:embed="rId2"/>
          <a:srcRect/>
          <a:stretch>
            <a:fillRect/>
          </a:stretch>
        </p:blipFill>
        <p:spPr bwMode="auto">
          <a:xfrm>
            <a:off x="1214414" y="2428868"/>
            <a:ext cx="7231350" cy="2714644"/>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233</Words>
  <PresentationFormat>如螢幕大小 (4:3)</PresentationFormat>
  <Paragraphs>17</Paragraphs>
  <Slides>10</Slides>
  <Notes>0</Notes>
  <HiddenSlides>0</HiddenSlides>
  <MMClips>0</MMClips>
  <ScaleCrop>false</ScaleCrop>
  <HeadingPairs>
    <vt:vector size="4" baseType="variant">
      <vt:variant>
        <vt:lpstr>佈景主題</vt:lpstr>
      </vt:variant>
      <vt:variant>
        <vt:i4>1</vt:i4>
      </vt:variant>
      <vt:variant>
        <vt:lpstr>投影片標題</vt:lpstr>
      </vt:variant>
      <vt:variant>
        <vt:i4>10</vt:i4>
      </vt:variant>
    </vt:vector>
  </HeadingPairs>
  <TitlesOfParts>
    <vt:vector size="11" baseType="lpstr">
      <vt:lpstr>Office 佈景主題</vt:lpstr>
      <vt:lpstr>SVM-KM: speeding SVMs  learning with a  priori cluster selection and k-means</vt:lpstr>
      <vt:lpstr>Abstract(1/2)</vt:lpstr>
      <vt:lpstr>Abstract(2/2)</vt:lpstr>
      <vt:lpstr>Method</vt:lpstr>
      <vt:lpstr>Method</vt:lpstr>
      <vt:lpstr>Method</vt:lpstr>
      <vt:lpstr>Simulation</vt:lpstr>
      <vt:lpstr>Result</vt:lpstr>
      <vt:lpstr>Simulation</vt:lpstr>
      <vt:lpstr>Result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SVM-KM: speeding SVMs  learning with a  priori cluster selection and k-means</dc:title>
  <cp:lastModifiedBy>Sephiroth</cp:lastModifiedBy>
  <cp:revision>13</cp:revision>
  <dcterms:modified xsi:type="dcterms:W3CDTF">2010-01-26T14:48:10Z</dcterms:modified>
</cp:coreProperties>
</file>