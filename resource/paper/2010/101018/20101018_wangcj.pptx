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2" d="100"/>
          <a:sy n="102" d="100"/>
        </p:scale>
        <p:origin x="-234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5ACC4-5B74-4A4D-9B27-9F2D6D250A68}" type="datetimeFigureOut">
              <a:rPr lang="zh-TW" altLang="en-US" smtClean="0"/>
              <a:pPr/>
              <a:t>2010/10/18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B79B4-8367-4FB4-9260-9C486E8E02DD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5ACC4-5B74-4A4D-9B27-9F2D6D250A68}" type="datetimeFigureOut">
              <a:rPr lang="zh-TW" altLang="en-US" smtClean="0"/>
              <a:pPr/>
              <a:t>2010/10/18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B79B4-8367-4FB4-9260-9C486E8E02DD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5ACC4-5B74-4A4D-9B27-9F2D6D250A68}" type="datetimeFigureOut">
              <a:rPr lang="zh-TW" altLang="en-US" smtClean="0"/>
              <a:pPr/>
              <a:t>2010/10/18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B79B4-8367-4FB4-9260-9C486E8E02DD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5ACC4-5B74-4A4D-9B27-9F2D6D250A68}" type="datetimeFigureOut">
              <a:rPr lang="zh-TW" altLang="en-US" smtClean="0"/>
              <a:pPr/>
              <a:t>2010/10/18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B79B4-8367-4FB4-9260-9C486E8E02DD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5ACC4-5B74-4A4D-9B27-9F2D6D250A68}" type="datetimeFigureOut">
              <a:rPr lang="zh-TW" altLang="en-US" smtClean="0"/>
              <a:pPr/>
              <a:t>2010/10/18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B79B4-8367-4FB4-9260-9C486E8E02DD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5ACC4-5B74-4A4D-9B27-9F2D6D250A68}" type="datetimeFigureOut">
              <a:rPr lang="zh-TW" altLang="en-US" smtClean="0"/>
              <a:pPr/>
              <a:t>2010/10/18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B79B4-8367-4FB4-9260-9C486E8E02DD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5ACC4-5B74-4A4D-9B27-9F2D6D250A68}" type="datetimeFigureOut">
              <a:rPr lang="zh-TW" altLang="en-US" smtClean="0"/>
              <a:pPr/>
              <a:t>2010/10/18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B79B4-8367-4FB4-9260-9C486E8E02DD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5ACC4-5B74-4A4D-9B27-9F2D6D250A68}" type="datetimeFigureOut">
              <a:rPr lang="zh-TW" altLang="en-US" smtClean="0"/>
              <a:pPr/>
              <a:t>2010/10/18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B79B4-8367-4FB4-9260-9C486E8E02DD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5ACC4-5B74-4A4D-9B27-9F2D6D250A68}" type="datetimeFigureOut">
              <a:rPr lang="zh-TW" altLang="en-US" smtClean="0"/>
              <a:pPr/>
              <a:t>2010/10/18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B79B4-8367-4FB4-9260-9C486E8E02DD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5ACC4-5B74-4A4D-9B27-9F2D6D250A68}" type="datetimeFigureOut">
              <a:rPr lang="zh-TW" altLang="en-US" smtClean="0"/>
              <a:pPr/>
              <a:t>2010/10/18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B79B4-8367-4FB4-9260-9C486E8E02DD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5ACC4-5B74-4A4D-9B27-9F2D6D250A68}" type="datetimeFigureOut">
              <a:rPr lang="zh-TW" altLang="en-US" smtClean="0"/>
              <a:pPr/>
              <a:t>2010/10/18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B79B4-8367-4FB4-9260-9C486E8E02DD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85ACC4-5B74-4A4D-9B27-9F2D6D250A68}" type="datetimeFigureOut">
              <a:rPr lang="zh-TW" altLang="en-US" smtClean="0"/>
              <a:pPr/>
              <a:t>2010/10/18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CB79B4-8367-4FB4-9260-9C486E8E02DD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altLang="zh-TW" sz="3200" dirty="0">
                <a:latin typeface="Times New Roman" pitchFamily="18" charset="0"/>
                <a:cs typeface="Times New Roman" pitchFamily="18" charset="0"/>
              </a:rPr>
              <a:t>DBCP: a web server for disulfide bonding</a:t>
            </a:r>
            <a:br>
              <a:rPr lang="en-US" altLang="zh-TW" sz="3200" dirty="0">
                <a:latin typeface="Times New Roman" pitchFamily="18" charset="0"/>
                <a:cs typeface="Times New Roman" pitchFamily="18" charset="0"/>
              </a:rPr>
            </a:br>
            <a:r>
              <a:rPr lang="en-US" altLang="zh-TW" sz="3200" dirty="0">
                <a:latin typeface="Times New Roman" pitchFamily="18" charset="0"/>
                <a:cs typeface="Times New Roman" pitchFamily="18" charset="0"/>
              </a:rPr>
              <a:t>connectivity pattern prediction without </a:t>
            </a:r>
            <a:r>
              <a:rPr lang="en-US" altLang="zh-TW" sz="3200" dirty="0" smtClean="0">
                <a:latin typeface="Times New Roman" pitchFamily="18" charset="0"/>
                <a:cs typeface="Times New Roman" pitchFamily="18" charset="0"/>
              </a:rPr>
              <a:t>the prior knowledge </a:t>
            </a:r>
            <a:r>
              <a:rPr lang="en-US" altLang="zh-TW" sz="3200" dirty="0">
                <a:latin typeface="Times New Roman" pitchFamily="18" charset="0"/>
                <a:cs typeface="Times New Roman" pitchFamily="18" charset="0"/>
              </a:rPr>
              <a:t>of the bonding state </a:t>
            </a:r>
            <a:r>
              <a:rPr lang="en-US" altLang="zh-TW" sz="3200" dirty="0" smtClean="0">
                <a:latin typeface="Times New Roman" pitchFamily="18" charset="0"/>
                <a:cs typeface="Times New Roman" pitchFamily="18" charset="0"/>
              </a:rPr>
              <a:t>of </a:t>
            </a:r>
            <a:r>
              <a:rPr lang="en-US" altLang="zh-TW" sz="3200" dirty="0" err="1" smtClean="0">
                <a:latin typeface="Times New Roman" pitchFamily="18" charset="0"/>
                <a:cs typeface="Times New Roman" pitchFamily="18" charset="0"/>
              </a:rPr>
              <a:t>cysteines</a:t>
            </a:r>
            <a:endParaRPr lang="zh-TW" alt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altLang="zh-TW" sz="18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Hsuan</a:t>
            </a:r>
            <a:r>
              <a:rPr lang="en-US" altLang="zh-TW" sz="1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-Hung </a:t>
            </a:r>
            <a:r>
              <a:rPr lang="en-US" altLang="zh-TW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Lin(</a:t>
            </a:r>
            <a:r>
              <a:rPr lang="zh-TW" altLang="en-US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林宣宏</a:t>
            </a:r>
            <a:r>
              <a:rPr lang="en-US" altLang="zh-TW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) and </a:t>
            </a:r>
            <a:r>
              <a:rPr lang="en-US" altLang="zh-TW" sz="1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Lin-Yu </a:t>
            </a:r>
            <a:r>
              <a:rPr lang="en-US" altLang="zh-TW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Tseng(</a:t>
            </a:r>
            <a:r>
              <a:rPr lang="zh-TW" altLang="en-US" sz="1800" b="1" dirty="0" smtClean="0">
                <a:solidFill>
                  <a:schemeClr val="tx1"/>
                </a:solidFill>
              </a:rPr>
              <a:t>曾怜玉</a:t>
            </a:r>
            <a:r>
              <a:rPr lang="en-US" altLang="zh-TW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r>
              <a:rPr lang="en-US" altLang="zh-TW" sz="1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Nucleic Acids Research, 2010, Vol. 38, Web Server issue </a:t>
            </a:r>
            <a:r>
              <a:rPr lang="en-US" altLang="zh-TW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W503–W507</a:t>
            </a:r>
          </a:p>
          <a:p>
            <a:pPr>
              <a:lnSpc>
                <a:spcPct val="80000"/>
              </a:lnSpc>
            </a:pPr>
            <a:r>
              <a:rPr lang="en-US" altLang="zh-TW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Speaker: Chong-</a:t>
            </a:r>
            <a:r>
              <a:rPr lang="en-US" altLang="zh-TW" sz="18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Jie</a:t>
            </a:r>
            <a:r>
              <a:rPr lang="en-US" altLang="zh-TW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Wang</a:t>
            </a:r>
          </a:p>
          <a:p>
            <a:pPr>
              <a:lnSpc>
                <a:spcPct val="80000"/>
              </a:lnSpc>
            </a:pPr>
            <a:r>
              <a:rPr lang="en-US" altLang="zh-TW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Date: </a:t>
            </a:r>
            <a:r>
              <a:rPr lang="en-US" altLang="zh-TW" sz="180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October 18, </a:t>
            </a:r>
            <a:r>
              <a:rPr lang="en-US" altLang="zh-TW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2010</a:t>
            </a:r>
          </a:p>
          <a:p>
            <a:endParaRPr lang="zh-TW" altLang="en-US" sz="1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000" dirty="0" smtClean="0">
                <a:latin typeface="Times New Roman" pitchFamily="18" charset="0"/>
                <a:cs typeface="Times New Roman" pitchFamily="18" charset="0"/>
              </a:rPr>
              <a:t>Abstract</a:t>
            </a:r>
            <a:endParaRPr lang="zh-TW" altLang="en-US" sz="4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The proper prediction of the location of 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disulfide bridges 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is efficient in helping to solve the 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protein folding 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problem. Most of the previous works 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on the 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prediction of disulfide connectivity pattern 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use the 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prior knowledge of the bonding state of </a:t>
            </a:r>
            <a:r>
              <a:rPr lang="en-US" altLang="zh-TW" dirty="0" err="1" smtClean="0">
                <a:latin typeface="Times New Roman" pitchFamily="18" charset="0"/>
                <a:cs typeface="Times New Roman" pitchFamily="18" charset="0"/>
              </a:rPr>
              <a:t>cysteines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. The 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DBCP web server provides prediction 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of disulfide 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bonding connectivity pattern without 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the prior 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knowledge of the bonding state of </a:t>
            </a:r>
            <a:r>
              <a:rPr lang="en-US" altLang="zh-TW" dirty="0" err="1" smtClean="0">
                <a:latin typeface="Times New Roman" pitchFamily="18" charset="0"/>
                <a:cs typeface="Times New Roman" pitchFamily="18" charset="0"/>
              </a:rPr>
              <a:t>cysteines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. The 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method used in this server improves 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the accuracy 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of disulfide connectivity pattern 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prediction (</a:t>
            </a:r>
            <a:r>
              <a:rPr lang="en-US" altLang="zh-TW" dirty="0" err="1" smtClean="0">
                <a:latin typeface="Times New Roman" pitchFamily="18" charset="0"/>
                <a:cs typeface="Times New Roman" pitchFamily="18" charset="0"/>
              </a:rPr>
              <a:t>Qp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) over the previous studies reported in 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the literature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.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000" dirty="0" smtClean="0">
                <a:latin typeface="Times New Roman" pitchFamily="18" charset="0"/>
                <a:cs typeface="Times New Roman" pitchFamily="18" charset="0"/>
              </a:rPr>
              <a:t>System</a:t>
            </a:r>
            <a:endParaRPr lang="zh-TW" altLang="en-US" sz="4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err="1" smtClean="0">
                <a:latin typeface="Times New Roman" pitchFamily="18" charset="0"/>
                <a:cs typeface="Times New Roman" pitchFamily="18" charset="0"/>
              </a:rPr>
              <a:t>MODELLER:</a:t>
            </a:r>
            <a:r>
              <a:rPr lang="en-US" altLang="zh-TW" dirty="0" err="1">
                <a:latin typeface="Times New Roman" pitchFamily="18" charset="0"/>
                <a:cs typeface="Times New Roman" pitchFamily="18" charset="0"/>
              </a:rPr>
              <a:t>used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 to predict the coordinate (X, 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Y, Z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) of the 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l-GR" altLang="zh-TW" baseline="-25000" dirty="0" smtClean="0">
                <a:latin typeface="Times New Roman" pitchFamily="18" charset="0"/>
                <a:cs typeface="Times New Roman" pitchFamily="18" charset="0"/>
              </a:rPr>
              <a:t>α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  </a:t>
            </a:r>
          </a:p>
          <a:p>
            <a:endParaRPr lang="en-US" altLang="zh-TW" baseline="-25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altLang="zh-TW" smtClean="0">
                <a:latin typeface="Times New Roman" pitchFamily="18" charset="0"/>
                <a:cs typeface="Times New Roman" pitchFamily="18" charset="0"/>
              </a:rPr>
              <a:t>http://140.120.14.136/dbcp/</a:t>
            </a:r>
            <a:endParaRPr lang="en-US" altLang="zh-TW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 descr="fig1.bmp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84418" y="0"/>
            <a:ext cx="697516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000" dirty="0" smtClean="0">
                <a:latin typeface="Times New Roman" pitchFamily="18" charset="0"/>
                <a:cs typeface="Times New Roman" pitchFamily="18" charset="0"/>
              </a:rPr>
              <a:t>Feature</a:t>
            </a:r>
            <a:endParaRPr lang="zh-TW" altLang="en-US" sz="4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TW" sz="2800" dirty="0" err="1" smtClean="0">
                <a:latin typeface="Times New Roman" pitchFamily="18" charset="0"/>
                <a:cs typeface="Times New Roman" pitchFamily="18" charset="0"/>
              </a:rPr>
              <a:t>D</a:t>
            </a:r>
            <a:r>
              <a:rPr lang="en-US" altLang="zh-TW" sz="2800" i="1" baseline="-25000" dirty="0" err="1" smtClean="0">
                <a:latin typeface="Times New Roman" pitchFamily="18" charset="0"/>
                <a:cs typeface="Times New Roman" pitchFamily="18" charset="0"/>
              </a:rPr>
              <a:t>ij</a:t>
            </a:r>
            <a:r>
              <a:rPr lang="en-US" altLang="zh-TW" sz="2800" dirty="0" smtClean="0">
                <a:latin typeface="Times New Roman" pitchFamily="18" charset="0"/>
                <a:cs typeface="Times New Roman" pitchFamily="18" charset="0"/>
              </a:rPr>
              <a:t>: the Euclidean distance between </a:t>
            </a:r>
            <a:r>
              <a:rPr lang="en-US" altLang="zh-TW" sz="2800" dirty="0">
                <a:latin typeface="Times New Roman" pitchFamily="18" charset="0"/>
                <a:cs typeface="Times New Roman" pitchFamily="18" charset="0"/>
              </a:rPr>
              <a:t>the amino acid at the </a:t>
            </a:r>
            <a:r>
              <a:rPr lang="en-US" altLang="zh-TW" sz="2800" i="1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zh-TW" sz="2800" dirty="0" err="1">
                <a:latin typeface="Times New Roman" pitchFamily="18" charset="0"/>
                <a:cs typeface="Times New Roman" pitchFamily="18" charset="0"/>
              </a:rPr>
              <a:t>-th</a:t>
            </a:r>
            <a:r>
              <a:rPr lang="en-US" altLang="zh-TW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TW" sz="2800" dirty="0" smtClean="0">
                <a:latin typeface="Times New Roman" pitchFamily="18" charset="0"/>
                <a:cs typeface="Times New Roman" pitchFamily="18" charset="0"/>
              </a:rPr>
              <a:t>position and </a:t>
            </a:r>
            <a:r>
              <a:rPr lang="en-US" altLang="zh-TW" sz="2800" dirty="0">
                <a:latin typeface="Times New Roman" pitchFamily="18" charset="0"/>
                <a:cs typeface="Times New Roman" pitchFamily="18" charset="0"/>
              </a:rPr>
              <a:t>the amino acid at the </a:t>
            </a:r>
            <a:r>
              <a:rPr lang="en-US" altLang="zh-TW" sz="2800" i="1" dirty="0">
                <a:latin typeface="Times New Roman" pitchFamily="18" charset="0"/>
                <a:cs typeface="Times New Roman" pitchFamily="18" charset="0"/>
              </a:rPr>
              <a:t>j</a:t>
            </a:r>
            <a:r>
              <a:rPr lang="en-US" altLang="zh-TW" sz="2800" dirty="0">
                <a:latin typeface="Times New Roman" pitchFamily="18" charset="0"/>
                <a:cs typeface="Times New Roman" pitchFamily="18" charset="0"/>
              </a:rPr>
              <a:t>-</a:t>
            </a:r>
            <a:r>
              <a:rPr lang="en-US" altLang="zh-TW" sz="2800" dirty="0" err="1">
                <a:latin typeface="Times New Roman" pitchFamily="18" charset="0"/>
                <a:cs typeface="Times New Roman" pitchFamily="18" charset="0"/>
              </a:rPr>
              <a:t>th</a:t>
            </a:r>
            <a:r>
              <a:rPr lang="en-US" altLang="zh-TW" sz="2800" dirty="0">
                <a:latin typeface="Times New Roman" pitchFamily="18" charset="0"/>
                <a:cs typeface="Times New Roman" pitchFamily="18" charset="0"/>
              </a:rPr>
              <a:t> position</a:t>
            </a:r>
            <a:r>
              <a:rPr lang="en-US" altLang="zh-TW" sz="28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endParaRPr lang="en-US" altLang="zh-TW" sz="28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altLang="zh-TW" sz="2800" dirty="0" smtClean="0">
                <a:latin typeface="Times New Roman" pitchFamily="18" charset="0"/>
                <a:cs typeface="Times New Roman" pitchFamily="18" charset="0"/>
              </a:rPr>
              <a:t>PD: pair distance</a:t>
            </a:r>
          </a:p>
          <a:p>
            <a:endParaRPr lang="en-US" altLang="zh-TW" sz="28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altLang="zh-TW" sz="2800" dirty="0">
                <a:latin typeface="Times New Roman" pitchFamily="18" charset="0"/>
                <a:cs typeface="Times New Roman" pitchFamily="18" charset="0"/>
              </a:rPr>
              <a:t>The PD </a:t>
            </a:r>
            <a:r>
              <a:rPr lang="en-US" altLang="zh-TW" sz="2800" dirty="0" smtClean="0">
                <a:latin typeface="Times New Roman" pitchFamily="18" charset="0"/>
                <a:cs typeface="Times New Roman" pitchFamily="18" charset="0"/>
              </a:rPr>
              <a:t>between </a:t>
            </a:r>
            <a:r>
              <a:rPr lang="en-US" altLang="zh-TW" sz="2800" dirty="0" err="1" smtClean="0">
                <a:latin typeface="Times New Roman" pitchFamily="18" charset="0"/>
                <a:cs typeface="Times New Roman" pitchFamily="18" charset="0"/>
              </a:rPr>
              <a:t>cystein</a:t>
            </a:r>
            <a:r>
              <a:rPr lang="en-US" altLang="zh-TW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TW" sz="2800" i="1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zh-TW" sz="2800" dirty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altLang="zh-TW" sz="2800" dirty="0" err="1" smtClean="0">
                <a:latin typeface="Times New Roman" pitchFamily="18" charset="0"/>
                <a:cs typeface="Times New Roman" pitchFamily="18" charset="0"/>
              </a:rPr>
              <a:t>cystein</a:t>
            </a:r>
            <a:r>
              <a:rPr lang="en-US" altLang="zh-TW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TW" sz="2800" i="1" dirty="0">
                <a:latin typeface="Times New Roman" pitchFamily="18" charset="0"/>
                <a:cs typeface="Times New Roman" pitchFamily="18" charset="0"/>
              </a:rPr>
              <a:t>j</a:t>
            </a:r>
            <a:r>
              <a:rPr lang="en-US" altLang="zh-TW" sz="2800" dirty="0">
                <a:latin typeface="Times New Roman" pitchFamily="18" charset="0"/>
                <a:cs typeface="Times New Roman" pitchFamily="18" charset="0"/>
              </a:rPr>
              <a:t> is defined to be a </a:t>
            </a:r>
            <a:r>
              <a:rPr lang="en-US" altLang="zh-TW" sz="2800" dirty="0" smtClean="0">
                <a:latin typeface="Times New Roman" pitchFamily="18" charset="0"/>
                <a:cs typeface="Times New Roman" pitchFamily="18" charset="0"/>
              </a:rPr>
              <a:t>vector </a:t>
            </a:r>
            <a:r>
              <a:rPr lang="pl-PL" altLang="zh-TW" sz="28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pl-PL" altLang="zh-TW" sz="2800" i="1" dirty="0" smtClean="0">
                <a:latin typeface="Times New Roman" pitchFamily="18" charset="0"/>
                <a:cs typeface="Times New Roman" pitchFamily="18" charset="0"/>
              </a:rPr>
              <a:t>D</a:t>
            </a:r>
            <a:r>
              <a:rPr lang="pl-PL" altLang="zh-TW" sz="2800" i="1" baseline="-25000" dirty="0" smtClean="0">
                <a:latin typeface="Times New Roman" pitchFamily="18" charset="0"/>
                <a:cs typeface="Times New Roman" pitchFamily="18" charset="0"/>
              </a:rPr>
              <a:t>pi</a:t>
            </a:r>
            <a:r>
              <a:rPr lang="en-US" altLang="zh-TW" sz="2800" i="1" baseline="-25000" dirty="0" smtClean="0">
                <a:latin typeface="Times New Roman" pitchFamily="18" charset="0"/>
                <a:cs typeface="Times New Roman" pitchFamily="18" charset="0"/>
              </a:rPr>
              <a:t>-</a:t>
            </a:r>
            <a:r>
              <a:rPr lang="pl-PL" altLang="zh-TW" sz="2800" baseline="-25000" dirty="0" smtClean="0">
                <a:latin typeface="Times New Roman" pitchFamily="18" charset="0"/>
                <a:cs typeface="Times New Roman" pitchFamily="18" charset="0"/>
              </a:rPr>
              <a:t>[</a:t>
            </a:r>
            <a:r>
              <a:rPr lang="pl-PL" altLang="zh-TW" sz="2800" i="1" baseline="-25000" dirty="0" smtClean="0">
                <a:latin typeface="Times New Roman" pitchFamily="18" charset="0"/>
                <a:cs typeface="Times New Roman" pitchFamily="18" charset="0"/>
              </a:rPr>
              <a:t>w/2</a:t>
            </a:r>
            <a:r>
              <a:rPr lang="pl-PL" altLang="zh-TW" sz="2800" baseline="-25000" dirty="0" smtClean="0">
                <a:latin typeface="Times New Roman" pitchFamily="18" charset="0"/>
                <a:cs typeface="Times New Roman" pitchFamily="18" charset="0"/>
              </a:rPr>
              <a:t>]</a:t>
            </a:r>
            <a:r>
              <a:rPr lang="pl-PL" altLang="zh-TW" sz="2800" i="1" baseline="-25000" dirty="0" smtClean="0">
                <a:latin typeface="Times New Roman" pitchFamily="18" charset="0"/>
                <a:cs typeface="Times New Roman" pitchFamily="18" charset="0"/>
              </a:rPr>
              <a:t>,Pj</a:t>
            </a:r>
            <a:r>
              <a:rPr lang="en-US" altLang="zh-TW" sz="2800" i="1" baseline="-25000" dirty="0" smtClean="0">
                <a:latin typeface="Times New Roman" pitchFamily="18" charset="0"/>
                <a:cs typeface="Times New Roman" pitchFamily="18" charset="0"/>
              </a:rPr>
              <a:t>-</a:t>
            </a:r>
            <a:r>
              <a:rPr lang="pl-PL" altLang="zh-TW" sz="2800" baseline="-25000" dirty="0" smtClean="0">
                <a:latin typeface="Times New Roman" pitchFamily="18" charset="0"/>
                <a:cs typeface="Times New Roman" pitchFamily="18" charset="0"/>
              </a:rPr>
              <a:t>[</a:t>
            </a:r>
            <a:r>
              <a:rPr lang="pl-PL" altLang="zh-TW" sz="2800" i="1" baseline="-25000" dirty="0">
                <a:latin typeface="Times New Roman" pitchFamily="18" charset="0"/>
                <a:cs typeface="Times New Roman" pitchFamily="18" charset="0"/>
              </a:rPr>
              <a:t>w/2</a:t>
            </a:r>
            <a:r>
              <a:rPr lang="pl-PL" altLang="zh-TW" sz="2800" baseline="-25000" dirty="0" smtClean="0">
                <a:latin typeface="Times New Roman" pitchFamily="18" charset="0"/>
                <a:cs typeface="Times New Roman" pitchFamily="18" charset="0"/>
              </a:rPr>
              <a:t>]</a:t>
            </a:r>
            <a:r>
              <a:rPr lang="en-US" altLang="zh-TW" sz="2800" baseline="-25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pl-PL" altLang="zh-TW" sz="2800" i="1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pl-PL" altLang="zh-TW" sz="2800" i="1" dirty="0">
                <a:latin typeface="Times New Roman" pitchFamily="18" charset="0"/>
                <a:cs typeface="Times New Roman" pitchFamily="18" charset="0"/>
              </a:rPr>
              <a:t>. . . , </a:t>
            </a:r>
            <a:r>
              <a:rPr lang="pl-PL" altLang="zh-TW" sz="2800" i="1" dirty="0" smtClean="0">
                <a:latin typeface="Times New Roman" pitchFamily="18" charset="0"/>
                <a:cs typeface="Times New Roman" pitchFamily="18" charset="0"/>
              </a:rPr>
              <a:t>D</a:t>
            </a:r>
            <a:r>
              <a:rPr lang="pl-PL" altLang="zh-TW" sz="2800" i="1" baseline="-25000" dirty="0" smtClean="0">
                <a:latin typeface="Times New Roman" pitchFamily="18" charset="0"/>
                <a:cs typeface="Times New Roman" pitchFamily="18" charset="0"/>
              </a:rPr>
              <a:t>pi</a:t>
            </a:r>
            <a:r>
              <a:rPr lang="en-US" altLang="zh-TW" sz="2800" i="1" baseline="-25000" dirty="0" smtClean="0">
                <a:latin typeface="Times New Roman" pitchFamily="18" charset="0"/>
                <a:cs typeface="Times New Roman" pitchFamily="18" charset="0"/>
              </a:rPr>
              <a:t>-</a:t>
            </a:r>
            <a:r>
              <a:rPr lang="pl-PL" altLang="zh-TW" sz="2800" i="1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pl-PL" altLang="zh-TW" sz="2800" i="1" baseline="-250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pl-PL" altLang="zh-TW" sz="2800" i="1" baseline="-25000" dirty="0" smtClean="0">
                <a:latin typeface="Times New Roman" pitchFamily="18" charset="0"/>
                <a:cs typeface="Times New Roman" pitchFamily="18" charset="0"/>
              </a:rPr>
              <a:t>Pj</a:t>
            </a:r>
            <a:r>
              <a:rPr lang="en-US" altLang="zh-TW" sz="2800" i="1" baseline="-25000" dirty="0" smtClean="0">
                <a:latin typeface="Times New Roman" pitchFamily="18" charset="0"/>
                <a:cs typeface="Times New Roman" pitchFamily="18" charset="0"/>
              </a:rPr>
              <a:t>-</a:t>
            </a:r>
            <a:r>
              <a:rPr lang="pl-PL" altLang="zh-TW" sz="2800" i="1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pl-PL" altLang="zh-TW" sz="2800" i="1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pl-PL" altLang="zh-TW" sz="2800" i="1" dirty="0" smtClean="0">
                <a:latin typeface="Times New Roman" pitchFamily="18" charset="0"/>
                <a:cs typeface="Times New Roman" pitchFamily="18" charset="0"/>
              </a:rPr>
              <a:t>D</a:t>
            </a:r>
            <a:r>
              <a:rPr lang="pl-PL" altLang="zh-TW" sz="2800" i="1" baseline="-25000" dirty="0" smtClean="0">
                <a:latin typeface="Times New Roman" pitchFamily="18" charset="0"/>
                <a:cs typeface="Times New Roman" pitchFamily="18" charset="0"/>
              </a:rPr>
              <a:t>Pi</a:t>
            </a:r>
            <a:r>
              <a:rPr lang="pl-PL" altLang="zh-TW" sz="2800" i="1" baseline="-25000" dirty="0">
                <a:latin typeface="Times New Roman" pitchFamily="18" charset="0"/>
                <a:cs typeface="Times New Roman" pitchFamily="18" charset="0"/>
              </a:rPr>
              <a:t>, Pj</a:t>
            </a:r>
            <a:r>
              <a:rPr lang="pl-PL" altLang="zh-TW" sz="2800" i="1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pl-PL" altLang="zh-TW" sz="2800" i="1" dirty="0" smtClean="0">
                <a:latin typeface="Times New Roman" pitchFamily="18" charset="0"/>
                <a:cs typeface="Times New Roman" pitchFamily="18" charset="0"/>
              </a:rPr>
              <a:t>D</a:t>
            </a:r>
            <a:r>
              <a:rPr lang="pl-PL" altLang="zh-TW" sz="2800" i="1" baseline="-25000" dirty="0" smtClean="0">
                <a:latin typeface="Times New Roman" pitchFamily="18" charset="0"/>
                <a:cs typeface="Times New Roman" pitchFamily="18" charset="0"/>
              </a:rPr>
              <a:t>Pi+1</a:t>
            </a:r>
            <a:r>
              <a:rPr lang="pl-PL" altLang="zh-TW" sz="2800" i="1" baseline="-25000" dirty="0">
                <a:latin typeface="Times New Roman" pitchFamily="18" charset="0"/>
                <a:cs typeface="Times New Roman" pitchFamily="18" charset="0"/>
              </a:rPr>
              <a:t>, Pj+1</a:t>
            </a:r>
            <a:r>
              <a:rPr lang="pl-PL" altLang="zh-TW" sz="2800" i="1" dirty="0">
                <a:latin typeface="Times New Roman" pitchFamily="18" charset="0"/>
                <a:cs typeface="Times New Roman" pitchFamily="18" charset="0"/>
              </a:rPr>
              <a:t>,. . </a:t>
            </a:r>
            <a:r>
              <a:rPr lang="pl-PL" altLang="zh-TW" sz="2800" i="1" dirty="0" smtClean="0">
                <a:latin typeface="Times New Roman" pitchFamily="18" charset="0"/>
                <a:cs typeface="Times New Roman" pitchFamily="18" charset="0"/>
              </a:rPr>
              <a:t>.,</a:t>
            </a:r>
            <a:r>
              <a:rPr lang="en-US" altLang="zh-TW" sz="2800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TW" sz="2800" i="1" dirty="0" err="1" smtClean="0">
                <a:latin typeface="Times New Roman" pitchFamily="18" charset="0"/>
                <a:cs typeface="Times New Roman" pitchFamily="18" charset="0"/>
              </a:rPr>
              <a:t>D</a:t>
            </a:r>
            <a:r>
              <a:rPr lang="en-US" altLang="zh-TW" sz="2800" i="1" baseline="-25000" dirty="0" err="1" smtClean="0">
                <a:latin typeface="Times New Roman" pitchFamily="18" charset="0"/>
                <a:cs typeface="Times New Roman" pitchFamily="18" charset="0"/>
              </a:rPr>
              <a:t>Pi</a:t>
            </a:r>
            <a:r>
              <a:rPr lang="en-US" altLang="zh-TW" sz="2800" i="1" baseline="-25000" dirty="0">
                <a:latin typeface="Times New Roman" pitchFamily="18" charset="0"/>
                <a:cs typeface="Times New Roman" pitchFamily="18" charset="0"/>
              </a:rPr>
              <a:t>+</a:t>
            </a:r>
            <a:r>
              <a:rPr lang="en-US" altLang="zh-TW" sz="2800" baseline="-25000" dirty="0">
                <a:latin typeface="Times New Roman" pitchFamily="18" charset="0"/>
                <a:cs typeface="Times New Roman" pitchFamily="18" charset="0"/>
              </a:rPr>
              <a:t>[(</a:t>
            </a:r>
            <a:r>
              <a:rPr lang="en-US" altLang="zh-TW" sz="2800" i="1" baseline="-25000" dirty="0">
                <a:latin typeface="Times New Roman" pitchFamily="18" charset="0"/>
                <a:cs typeface="Times New Roman" pitchFamily="18" charset="0"/>
              </a:rPr>
              <a:t>w1</a:t>
            </a:r>
            <a:r>
              <a:rPr lang="en-US" altLang="zh-TW" sz="2800" baseline="-25000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altLang="zh-TW" sz="2800" i="1" baseline="-25000" dirty="0">
                <a:latin typeface="Times New Roman" pitchFamily="18" charset="0"/>
                <a:cs typeface="Times New Roman" pitchFamily="18" charset="0"/>
              </a:rPr>
              <a:t>/2</a:t>
            </a:r>
            <a:r>
              <a:rPr lang="en-US" altLang="zh-TW" sz="2800" baseline="-25000" dirty="0">
                <a:latin typeface="Times New Roman" pitchFamily="18" charset="0"/>
                <a:cs typeface="Times New Roman" pitchFamily="18" charset="0"/>
              </a:rPr>
              <a:t>],</a:t>
            </a:r>
            <a:r>
              <a:rPr lang="en-US" altLang="zh-TW" sz="2800" i="1" baseline="-25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TW" sz="2800" i="1" baseline="-25000" dirty="0" err="1">
                <a:latin typeface="Times New Roman" pitchFamily="18" charset="0"/>
                <a:cs typeface="Times New Roman" pitchFamily="18" charset="0"/>
              </a:rPr>
              <a:t>Pj</a:t>
            </a:r>
            <a:r>
              <a:rPr lang="en-US" altLang="zh-TW" sz="2800" i="1" baseline="-25000" dirty="0">
                <a:latin typeface="Times New Roman" pitchFamily="18" charset="0"/>
                <a:cs typeface="Times New Roman" pitchFamily="18" charset="0"/>
              </a:rPr>
              <a:t>+</a:t>
            </a:r>
            <a:r>
              <a:rPr lang="en-US" altLang="zh-TW" sz="2800" baseline="-25000" dirty="0">
                <a:latin typeface="Times New Roman" pitchFamily="18" charset="0"/>
                <a:cs typeface="Times New Roman" pitchFamily="18" charset="0"/>
              </a:rPr>
              <a:t>[(</a:t>
            </a:r>
            <a:r>
              <a:rPr lang="en-US" altLang="zh-TW" sz="2800" i="1" baseline="-25000" dirty="0">
                <a:latin typeface="Times New Roman" pitchFamily="18" charset="0"/>
                <a:cs typeface="Times New Roman" pitchFamily="18" charset="0"/>
              </a:rPr>
              <a:t>w1</a:t>
            </a:r>
            <a:r>
              <a:rPr lang="en-US" altLang="zh-TW" sz="2800" baseline="-25000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altLang="zh-TW" sz="2800" i="1" baseline="-25000" dirty="0">
                <a:latin typeface="Times New Roman" pitchFamily="18" charset="0"/>
                <a:cs typeface="Times New Roman" pitchFamily="18" charset="0"/>
              </a:rPr>
              <a:t>/2</a:t>
            </a:r>
            <a:r>
              <a:rPr lang="en-US" altLang="zh-TW" sz="2800" baseline="-25000" dirty="0">
                <a:latin typeface="Times New Roman" pitchFamily="18" charset="0"/>
                <a:cs typeface="Times New Roman" pitchFamily="18" charset="0"/>
              </a:rPr>
              <a:t>])</a:t>
            </a:r>
            <a:r>
              <a:rPr lang="en-US" altLang="zh-TW" sz="2800" i="1" baseline="-25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TW" sz="2800" dirty="0">
                <a:latin typeface="Times New Roman" pitchFamily="18" charset="0"/>
                <a:cs typeface="Times New Roman" pitchFamily="18" charset="0"/>
              </a:rPr>
              <a:t>that contains </a:t>
            </a:r>
            <a:r>
              <a:rPr lang="en-US" altLang="zh-TW" sz="2800" dirty="0" smtClean="0">
                <a:latin typeface="Times New Roman" pitchFamily="18" charset="0"/>
                <a:cs typeface="Times New Roman" pitchFamily="18" charset="0"/>
              </a:rPr>
              <a:t>w Euclidean distances,</a:t>
            </a:r>
            <a:r>
              <a:rPr lang="en-US" altLang="zh-TW" sz="2800" dirty="0">
                <a:latin typeface="Times New Roman" pitchFamily="18" charset="0"/>
                <a:cs typeface="Times New Roman" pitchFamily="18" charset="0"/>
              </a:rPr>
              <a:t> where w is the window size.</a:t>
            </a:r>
            <a:endParaRPr lang="zh-TW" alt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000" dirty="0" smtClean="0">
                <a:latin typeface="Times New Roman" pitchFamily="18" charset="0"/>
                <a:cs typeface="Times New Roman" pitchFamily="18" charset="0"/>
              </a:rPr>
              <a:t>Methodology(1)</a:t>
            </a:r>
            <a:endParaRPr lang="zh-TW" altLang="en-US" sz="40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內容版面配置區 3" descr="m1.bmp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843087" y="1929606"/>
            <a:ext cx="5457825" cy="3867150"/>
          </a:xfr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Methodology(2)</a:t>
            </a:r>
            <a:endParaRPr lang="zh-TW" altLang="en-US" dirty="0"/>
          </a:p>
        </p:txBody>
      </p:sp>
      <p:pic>
        <p:nvPicPr>
          <p:cNvPr id="4" name="內容版面配置區 3" descr="m2.bmp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835696" y="1628800"/>
            <a:ext cx="5438775" cy="3390900"/>
          </a:xfrm>
        </p:spPr>
      </p:pic>
      <p:pic>
        <p:nvPicPr>
          <p:cNvPr id="5" name="圖片 4" descr="m3.bmp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907704" y="5013176"/>
            <a:ext cx="5400675" cy="9429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Databases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SPX: sequences from PDB</a:t>
            </a:r>
          </a:p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SP56NS: sequences from SP56.3,that are neither in SP39 nor in SPX  </a:t>
            </a:r>
            <a:endParaRPr lang="en-US" altLang="zh-TW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SP56NS_25: sequences from SP56.3,that are neither in SP39 nor in </a:t>
            </a:r>
            <a:r>
              <a:rPr lang="en-US" altLang="zh-TW" dirty="0" err="1" smtClean="0">
                <a:latin typeface="Times New Roman" pitchFamily="18" charset="0"/>
                <a:cs typeface="Times New Roman" pitchFamily="18" charset="0"/>
              </a:rPr>
              <a:t>SPX,and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 has identity &lt;25% with SPX </a:t>
            </a:r>
          </a:p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CHK25: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 sequences from the 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SP56.3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, where either the 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sequence shares 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identity &lt;25% to the template sequence found 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by the 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BLAST or the </a:t>
            </a:r>
            <a:r>
              <a:rPr lang="en-US" altLang="zh-TW" i="1" dirty="0">
                <a:latin typeface="Times New Roman" pitchFamily="18" charset="0"/>
                <a:cs typeface="Times New Roman" pitchFamily="18" charset="0"/>
              </a:rPr>
              <a:t>E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-value of the template sequence 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is &gt;10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.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</a:t>
            </a:r>
            <a:r>
              <a:rPr lang="en-US" altLang="zh-TW" dirty="0" smtClean="0"/>
              <a:t>esults</a:t>
            </a:r>
            <a:endParaRPr lang="zh-TW" altLang="en-US" dirty="0"/>
          </a:p>
        </p:txBody>
      </p:sp>
      <p:pic>
        <p:nvPicPr>
          <p:cNvPr id="4" name="內容版面配置區 3" descr="t1.bmp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752600" y="2520156"/>
            <a:ext cx="5638800" cy="2686050"/>
          </a:xfr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 descr="t23.bmp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757362" y="781050"/>
            <a:ext cx="5629275" cy="52959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 descr="ts1.bmp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90537" y="28575"/>
            <a:ext cx="8162925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 descr="ts2.bmp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38162" y="1671637"/>
            <a:ext cx="8067675" cy="351472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Thank you!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243</TotalTime>
  <Words>336</Words>
  <Application>Microsoft Office PowerPoint</Application>
  <PresentationFormat>如螢幕大小 (4:3)</PresentationFormat>
  <Paragraphs>26</Paragraphs>
  <Slides>13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13</vt:i4>
      </vt:variant>
    </vt:vector>
  </HeadingPairs>
  <TitlesOfParts>
    <vt:vector size="14" baseType="lpstr">
      <vt:lpstr>Office 佈景主題</vt:lpstr>
      <vt:lpstr>DBCP: a web server for disulfide bonding connectivity pattern prediction without the prior knowledge of the bonding state of cysteines</vt:lpstr>
      <vt:lpstr>Abstract</vt:lpstr>
      <vt:lpstr>System</vt:lpstr>
      <vt:lpstr>投影片 4</vt:lpstr>
      <vt:lpstr>Feature</vt:lpstr>
      <vt:lpstr>Methodology(1)</vt:lpstr>
      <vt:lpstr>Methodology(2)</vt:lpstr>
      <vt:lpstr>Databases</vt:lpstr>
      <vt:lpstr>Results</vt:lpstr>
      <vt:lpstr>投影片 10</vt:lpstr>
      <vt:lpstr>投影片 11</vt:lpstr>
      <vt:lpstr>投影片 12</vt:lpstr>
      <vt:lpstr>Thank you!</vt:lpstr>
    </vt:vector>
  </TitlesOfParts>
  <Company>pplab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DBCP: a web server for disulfide bonding connectivity pattern prediction without the prior knowledge of the bonding state of cysteines</dc:title>
  <dc:creator>王重傑</dc:creator>
  <cp:lastModifiedBy>王重傑</cp:lastModifiedBy>
  <cp:revision>15</cp:revision>
  <dcterms:created xsi:type="dcterms:W3CDTF">2010-10-12T07:22:16Z</dcterms:created>
  <dcterms:modified xsi:type="dcterms:W3CDTF">2010-10-18T08:29:48Z</dcterms:modified>
</cp:coreProperties>
</file>