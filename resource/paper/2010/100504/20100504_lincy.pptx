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1" r:id="rId8"/>
    <p:sldId id="262" r:id="rId9"/>
    <p:sldId id="263"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2010/5/4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785926"/>
            <a:ext cx="7772400" cy="1470025"/>
          </a:xfrm>
        </p:spPr>
        <p:txBody>
          <a:bodyPr>
            <a:normAutofit/>
          </a:bodyPr>
          <a:lstStyle/>
          <a:p>
            <a:r>
              <a:rPr lang="en-US" altLang="zh-TW" dirty="0" smtClean="0"/>
              <a:t>Issues in Stacked Generalization</a:t>
            </a:r>
            <a:endParaRPr lang="zh-TW" altLang="en-US" dirty="0"/>
          </a:p>
        </p:txBody>
      </p:sp>
      <p:sp>
        <p:nvSpPr>
          <p:cNvPr id="3" name="副標題 2"/>
          <p:cNvSpPr>
            <a:spLocks noGrp="1"/>
          </p:cNvSpPr>
          <p:nvPr>
            <p:ph type="subTitle" idx="1"/>
          </p:nvPr>
        </p:nvSpPr>
        <p:spPr/>
        <p:txBody>
          <a:bodyPr>
            <a:normAutofit/>
          </a:bodyPr>
          <a:lstStyle/>
          <a:p>
            <a:r>
              <a:rPr lang="en-US" sz="2000" dirty="0" smtClean="0">
                <a:solidFill>
                  <a:schemeClr val="tx1"/>
                </a:solidFill>
              </a:rPr>
              <a:t>Kai Ming Ting and Ian H. Witten</a:t>
            </a:r>
          </a:p>
          <a:p>
            <a:endParaRPr lang="en-US" sz="2000" dirty="0" smtClean="0">
              <a:solidFill>
                <a:schemeClr val="tx1"/>
              </a:solidFill>
            </a:endParaRPr>
          </a:p>
          <a:p>
            <a:r>
              <a:rPr lang="en-US" sz="2000" dirty="0" smtClean="0">
                <a:solidFill>
                  <a:schemeClr val="tx1"/>
                </a:solidFill>
              </a:rPr>
              <a:t>Journal of Artificial Intelligence Research </a:t>
            </a:r>
            <a:r>
              <a:rPr lang="en-US" altLang="zh-TW" sz="2000" dirty="0" smtClean="0">
                <a:solidFill>
                  <a:schemeClr val="tx1"/>
                </a:solidFill>
              </a:rPr>
              <a:t>Volume</a:t>
            </a:r>
            <a:r>
              <a:rPr lang="en-US" altLang="zh-TW" sz="2000" dirty="0" smtClean="0"/>
              <a:t> </a:t>
            </a:r>
            <a:r>
              <a:rPr lang="en-US" sz="2000" dirty="0" smtClean="0">
                <a:solidFill>
                  <a:schemeClr val="tx1"/>
                </a:solidFill>
              </a:rPr>
              <a:t>10, </a:t>
            </a:r>
            <a:r>
              <a:rPr lang="en-US" altLang="zh-TW" sz="2000" dirty="0" smtClean="0">
                <a:solidFill>
                  <a:schemeClr val="tx1"/>
                </a:solidFill>
              </a:rPr>
              <a:t>pages</a:t>
            </a:r>
            <a:r>
              <a:rPr lang="en-US" altLang="zh-TW" sz="2000" dirty="0" smtClean="0"/>
              <a:t> </a:t>
            </a:r>
            <a:r>
              <a:rPr lang="en-US" sz="2000" dirty="0" smtClean="0">
                <a:solidFill>
                  <a:schemeClr val="tx1"/>
                </a:solidFill>
              </a:rPr>
              <a:t>271-289, </a:t>
            </a:r>
            <a:r>
              <a:rPr lang="en-US" altLang="zh-TW" sz="2000" dirty="0" smtClean="0">
                <a:solidFill>
                  <a:schemeClr val="tx1"/>
                </a:solidFill>
              </a:rPr>
              <a:t>1999</a:t>
            </a:r>
            <a:endParaRPr lang="zh-TW" altLang="en-US" sz="2000" dirty="0">
              <a:solidFill>
                <a:schemeClr val="tx1"/>
              </a:solidFill>
            </a:endParaRPr>
          </a:p>
        </p:txBody>
      </p:sp>
      <p:sp>
        <p:nvSpPr>
          <p:cNvPr id="4" name="Text Box 6"/>
          <p:cNvSpPr txBox="1">
            <a:spLocks noChangeArrowheads="1"/>
          </p:cNvSpPr>
          <p:nvPr/>
        </p:nvSpPr>
        <p:spPr bwMode="auto">
          <a:xfrm>
            <a:off x="6572264" y="5572140"/>
            <a:ext cx="2043893"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a:t>
            </a:r>
            <a:r>
              <a:rPr lang="en-US" altLang="zh-TW" sz="1400"/>
              <a:t>: </a:t>
            </a:r>
            <a:r>
              <a:rPr lang="en-US" sz="1400" smtClean="0"/>
              <a:t>May 04</a:t>
            </a:r>
            <a:r>
              <a:rPr lang="en-US" altLang="zh-TW" sz="1400" smtClean="0"/>
              <a:t>, </a:t>
            </a:r>
            <a:r>
              <a:rPr lang="en-US" altLang="zh-TW" sz="1400" dirty="0" smtClean="0"/>
              <a:t>2010</a:t>
            </a:r>
            <a:endParaRPr lang="en-US" altLang="zh-TW" dirty="0">
              <a:latin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smtClean="0"/>
              <a:t>Abstract</a:t>
            </a:r>
            <a:endParaRPr lang="zh-TW" altLang="en-US" dirty="0"/>
          </a:p>
        </p:txBody>
      </p:sp>
      <p:sp>
        <p:nvSpPr>
          <p:cNvPr id="3" name="內容版面配置區 2"/>
          <p:cNvSpPr>
            <a:spLocks noGrp="1"/>
          </p:cNvSpPr>
          <p:nvPr>
            <p:ph idx="1"/>
          </p:nvPr>
        </p:nvSpPr>
        <p:spPr>
          <a:xfrm>
            <a:off x="457200" y="1600200"/>
            <a:ext cx="8229600" cy="4972072"/>
          </a:xfrm>
        </p:spPr>
        <p:txBody>
          <a:bodyPr>
            <a:normAutofit fontScale="62500" lnSpcReduction="20000"/>
          </a:bodyPr>
          <a:lstStyle/>
          <a:p>
            <a:pPr>
              <a:buNone/>
            </a:pPr>
            <a:r>
              <a:rPr lang="en-US" altLang="zh-TW" dirty="0" smtClean="0"/>
              <a:t>	</a:t>
            </a:r>
            <a:r>
              <a:rPr lang="en-US" altLang="zh-TW" sz="3800" dirty="0" smtClean="0"/>
              <a:t>Stacked generalization is a general method of using a high-level model to combine lower-level models to achieve greater predictive accuracy. In this paper we address two crucial issues which have been considered to be a ‘black art’ in classification tasks ever since the introduction of stacked generalization in 1992 by </a:t>
            </a:r>
            <a:r>
              <a:rPr lang="en-US" altLang="zh-TW" sz="3800" dirty="0" err="1" smtClean="0"/>
              <a:t>Wolpert</a:t>
            </a:r>
            <a:r>
              <a:rPr lang="en-US" altLang="zh-TW" sz="3800" dirty="0" smtClean="0"/>
              <a:t>: the type of </a:t>
            </a:r>
            <a:r>
              <a:rPr lang="en-US" altLang="zh-TW" sz="3800" dirty="0" err="1" smtClean="0"/>
              <a:t>generalizer</a:t>
            </a:r>
            <a:r>
              <a:rPr lang="en-US" altLang="zh-TW" sz="3800" dirty="0" smtClean="0"/>
              <a:t> that is suitable to derive the higher-level model, and the kind of attributes that should be used as its input. We find that best results are obtained when the higher-level model combines the confidence (and not just the predictions) of the lower-level ones.</a:t>
            </a:r>
          </a:p>
          <a:p>
            <a:pPr>
              <a:buNone/>
            </a:pPr>
            <a:r>
              <a:rPr lang="en-US" altLang="zh-TW" sz="3800" dirty="0" smtClean="0"/>
              <a:t>	We demonstrate the effectiveness of stacked generalization for combining three different types of learning algorithms for classification tasks. We also compare the performance of stacked generalization with majority vote and published results of arcing and bagging.</a:t>
            </a:r>
            <a:endParaRPr lang="zh-TW" alt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Method</a:t>
            </a:r>
            <a:endParaRPr lang="zh-TW" altLang="en-US" dirty="0"/>
          </a:p>
        </p:txBody>
      </p:sp>
      <p:sp>
        <p:nvSpPr>
          <p:cNvPr id="8" name="矩形 7"/>
          <p:cNvSpPr/>
          <p:nvPr/>
        </p:nvSpPr>
        <p:spPr>
          <a:xfrm>
            <a:off x="1000100" y="5500702"/>
            <a:ext cx="292895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Input data</a:t>
            </a:r>
            <a:endParaRPr lang="zh-TW" altLang="en-US" dirty="0"/>
          </a:p>
        </p:txBody>
      </p:sp>
      <p:sp>
        <p:nvSpPr>
          <p:cNvPr id="9" name="矩形 8"/>
          <p:cNvSpPr/>
          <p:nvPr/>
        </p:nvSpPr>
        <p:spPr>
          <a:xfrm>
            <a:off x="965985" y="1928802"/>
            <a:ext cx="292895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Result </a:t>
            </a:r>
            <a:endParaRPr lang="zh-TW" altLang="en-US" dirty="0"/>
          </a:p>
        </p:txBody>
      </p:sp>
      <p:sp>
        <p:nvSpPr>
          <p:cNvPr id="13" name="橢圓 12"/>
          <p:cNvSpPr/>
          <p:nvPr/>
        </p:nvSpPr>
        <p:spPr>
          <a:xfrm>
            <a:off x="285720"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16" name="文字方塊 15"/>
          <p:cNvSpPr txBox="1"/>
          <p:nvPr/>
        </p:nvSpPr>
        <p:spPr>
          <a:xfrm>
            <a:off x="2727742" y="4071942"/>
            <a:ext cx="415498" cy="369332"/>
          </a:xfrm>
          <a:prstGeom prst="rect">
            <a:avLst/>
          </a:prstGeom>
          <a:noFill/>
        </p:spPr>
        <p:txBody>
          <a:bodyPr wrap="none" rtlCol="0">
            <a:spAutoFit/>
          </a:bodyPr>
          <a:lstStyle/>
          <a:p>
            <a:r>
              <a:rPr lang="en-US" altLang="zh-TW" dirty="0" smtClean="0"/>
              <a:t>…</a:t>
            </a:r>
            <a:endParaRPr lang="zh-TW" altLang="en-US" dirty="0"/>
          </a:p>
        </p:txBody>
      </p:sp>
      <p:cxnSp>
        <p:nvCxnSpPr>
          <p:cNvPr id="23" name="直線單箭頭接點 22"/>
          <p:cNvCxnSpPr>
            <a:stCxn id="8" idx="0"/>
            <a:endCxn id="13" idx="4"/>
          </p:cNvCxnSpPr>
          <p:nvPr/>
        </p:nvCxnSpPr>
        <p:spPr>
          <a:xfrm rot="16200000" flipV="1">
            <a:off x="1178695" y="4214818"/>
            <a:ext cx="928694" cy="16430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a:stCxn id="8" idx="0"/>
            <a:endCxn id="44" idx="4"/>
          </p:cNvCxnSpPr>
          <p:nvPr/>
        </p:nvCxnSpPr>
        <p:spPr>
          <a:xfrm rot="16200000" flipV="1">
            <a:off x="1785918" y="4822041"/>
            <a:ext cx="928694" cy="4286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stCxn id="8" idx="0"/>
            <a:endCxn id="45" idx="4"/>
          </p:cNvCxnSpPr>
          <p:nvPr/>
        </p:nvCxnSpPr>
        <p:spPr>
          <a:xfrm rot="5400000" flipH="1" flipV="1">
            <a:off x="2714612" y="4321975"/>
            <a:ext cx="928694" cy="1428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橢圓 43"/>
          <p:cNvSpPr/>
          <p:nvPr/>
        </p:nvSpPr>
        <p:spPr>
          <a:xfrm>
            <a:off x="1500166"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45" name="橢圓 44"/>
          <p:cNvSpPr/>
          <p:nvPr/>
        </p:nvSpPr>
        <p:spPr>
          <a:xfrm>
            <a:off x="3357554"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48" name="橢圓 47"/>
          <p:cNvSpPr/>
          <p:nvPr/>
        </p:nvSpPr>
        <p:spPr>
          <a:xfrm>
            <a:off x="1500166" y="3071810"/>
            <a:ext cx="1857388"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classifier</a:t>
            </a:r>
            <a:endParaRPr lang="zh-TW" altLang="en-US" dirty="0"/>
          </a:p>
        </p:txBody>
      </p:sp>
      <p:cxnSp>
        <p:nvCxnSpPr>
          <p:cNvPr id="50" name="直線單箭頭接點 49"/>
          <p:cNvCxnSpPr>
            <a:stCxn id="13" idx="0"/>
            <a:endCxn id="48" idx="4"/>
          </p:cNvCxnSpPr>
          <p:nvPr/>
        </p:nvCxnSpPr>
        <p:spPr>
          <a:xfrm rot="5400000" flipH="1" flipV="1">
            <a:off x="1267992" y="2982513"/>
            <a:ext cx="714380" cy="160735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stCxn id="44" idx="0"/>
            <a:endCxn id="48" idx="4"/>
          </p:cNvCxnSpPr>
          <p:nvPr/>
        </p:nvCxnSpPr>
        <p:spPr>
          <a:xfrm rot="5400000" flipH="1" flipV="1">
            <a:off x="1875215" y="3589736"/>
            <a:ext cx="714380" cy="39290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a:stCxn id="45" idx="0"/>
            <a:endCxn id="48" idx="4"/>
          </p:cNvCxnSpPr>
          <p:nvPr/>
        </p:nvCxnSpPr>
        <p:spPr>
          <a:xfrm rot="16200000" flipV="1">
            <a:off x="2803910" y="3053950"/>
            <a:ext cx="714380" cy="14644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stCxn id="48" idx="0"/>
            <a:endCxn id="9" idx="2"/>
          </p:cNvCxnSpPr>
          <p:nvPr/>
        </p:nvCxnSpPr>
        <p:spPr>
          <a:xfrm rot="5400000" flipH="1" flipV="1">
            <a:off x="2215348" y="2856694"/>
            <a:ext cx="428628" cy="16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文字方塊 58"/>
          <p:cNvSpPr txBox="1"/>
          <p:nvPr/>
        </p:nvSpPr>
        <p:spPr>
          <a:xfrm>
            <a:off x="928662" y="3652067"/>
            <a:ext cx="484428" cy="276999"/>
          </a:xfrm>
          <a:prstGeom prst="rect">
            <a:avLst/>
          </a:prstGeom>
          <a:noFill/>
        </p:spPr>
        <p:txBody>
          <a:bodyPr wrap="none" rtlCol="0">
            <a:spAutoFit/>
          </a:bodyPr>
          <a:lstStyle/>
          <a:p>
            <a:r>
              <a:rPr lang="en-US" altLang="zh-TW" sz="1200" dirty="0" smtClean="0"/>
              <a:t>class</a:t>
            </a:r>
          </a:p>
        </p:txBody>
      </p:sp>
      <p:sp>
        <p:nvSpPr>
          <p:cNvPr id="60" name="文字方塊 59"/>
          <p:cNvSpPr txBox="1"/>
          <p:nvPr/>
        </p:nvSpPr>
        <p:spPr>
          <a:xfrm>
            <a:off x="2214546" y="3643314"/>
            <a:ext cx="484428" cy="276999"/>
          </a:xfrm>
          <a:prstGeom prst="rect">
            <a:avLst/>
          </a:prstGeom>
          <a:noFill/>
        </p:spPr>
        <p:txBody>
          <a:bodyPr wrap="none" rtlCol="0">
            <a:spAutoFit/>
          </a:bodyPr>
          <a:lstStyle/>
          <a:p>
            <a:r>
              <a:rPr lang="en-US" altLang="zh-TW" sz="1200" dirty="0" smtClean="0"/>
              <a:t>class</a:t>
            </a:r>
          </a:p>
        </p:txBody>
      </p:sp>
      <p:sp>
        <p:nvSpPr>
          <p:cNvPr id="61" name="文字方塊 60"/>
          <p:cNvSpPr txBox="1"/>
          <p:nvPr/>
        </p:nvSpPr>
        <p:spPr>
          <a:xfrm>
            <a:off x="3357554" y="3652067"/>
            <a:ext cx="484428" cy="276999"/>
          </a:xfrm>
          <a:prstGeom prst="rect">
            <a:avLst/>
          </a:prstGeom>
          <a:noFill/>
        </p:spPr>
        <p:txBody>
          <a:bodyPr wrap="none" rtlCol="0">
            <a:spAutoFit/>
          </a:bodyPr>
          <a:lstStyle/>
          <a:p>
            <a:r>
              <a:rPr lang="en-US" altLang="zh-TW" sz="1200" dirty="0" smtClean="0"/>
              <a:t>class</a:t>
            </a:r>
          </a:p>
        </p:txBody>
      </p:sp>
      <p:pic>
        <p:nvPicPr>
          <p:cNvPr id="1027" name="Picture 3"/>
          <p:cNvPicPr>
            <a:picLocks noChangeAspect="1" noChangeArrowheads="1"/>
          </p:cNvPicPr>
          <p:nvPr/>
        </p:nvPicPr>
        <p:blipFill>
          <a:blip r:embed="rId2" cstate="print"/>
          <a:srcRect/>
          <a:stretch>
            <a:fillRect/>
          </a:stretch>
        </p:blipFill>
        <p:spPr bwMode="auto">
          <a:xfrm>
            <a:off x="3428992" y="3071810"/>
            <a:ext cx="400050" cy="314325"/>
          </a:xfrm>
          <a:prstGeom prst="rect">
            <a:avLst/>
          </a:prstGeom>
          <a:noFill/>
          <a:ln w="9525">
            <a:noFill/>
            <a:miter lim="800000"/>
            <a:headEnd/>
            <a:tailEnd/>
          </a:ln>
        </p:spPr>
      </p:pic>
      <p:sp>
        <p:nvSpPr>
          <p:cNvPr id="65" name="矩形 64"/>
          <p:cNvSpPr/>
          <p:nvPr/>
        </p:nvSpPr>
        <p:spPr>
          <a:xfrm>
            <a:off x="5391933" y="5500702"/>
            <a:ext cx="292895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Input data</a:t>
            </a:r>
            <a:endParaRPr lang="zh-TW" altLang="en-US" dirty="0"/>
          </a:p>
        </p:txBody>
      </p:sp>
      <p:sp>
        <p:nvSpPr>
          <p:cNvPr id="66" name="矩形 65"/>
          <p:cNvSpPr/>
          <p:nvPr/>
        </p:nvSpPr>
        <p:spPr>
          <a:xfrm>
            <a:off x="5357818" y="1928802"/>
            <a:ext cx="2928958" cy="714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Result </a:t>
            </a:r>
            <a:endParaRPr lang="zh-TW" altLang="en-US" dirty="0"/>
          </a:p>
        </p:txBody>
      </p:sp>
      <p:sp>
        <p:nvSpPr>
          <p:cNvPr id="67" name="橢圓 66"/>
          <p:cNvSpPr/>
          <p:nvPr/>
        </p:nvSpPr>
        <p:spPr>
          <a:xfrm>
            <a:off x="4677553"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68" name="文字方塊 67"/>
          <p:cNvSpPr txBox="1"/>
          <p:nvPr/>
        </p:nvSpPr>
        <p:spPr>
          <a:xfrm>
            <a:off x="7119575" y="4071942"/>
            <a:ext cx="415498" cy="369332"/>
          </a:xfrm>
          <a:prstGeom prst="rect">
            <a:avLst/>
          </a:prstGeom>
          <a:noFill/>
        </p:spPr>
        <p:txBody>
          <a:bodyPr wrap="none" rtlCol="0">
            <a:spAutoFit/>
          </a:bodyPr>
          <a:lstStyle/>
          <a:p>
            <a:r>
              <a:rPr lang="en-US" altLang="zh-TW" dirty="0" smtClean="0"/>
              <a:t>…</a:t>
            </a:r>
            <a:endParaRPr lang="zh-TW" altLang="en-US" dirty="0"/>
          </a:p>
        </p:txBody>
      </p:sp>
      <p:cxnSp>
        <p:nvCxnSpPr>
          <p:cNvPr id="69" name="直線單箭頭接點 68"/>
          <p:cNvCxnSpPr>
            <a:stCxn id="65" idx="0"/>
            <a:endCxn id="67" idx="4"/>
          </p:cNvCxnSpPr>
          <p:nvPr/>
        </p:nvCxnSpPr>
        <p:spPr>
          <a:xfrm rot="16200000" flipV="1">
            <a:off x="5570528" y="4214818"/>
            <a:ext cx="928694" cy="16430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a:stCxn id="65" idx="0"/>
            <a:endCxn id="72" idx="4"/>
          </p:cNvCxnSpPr>
          <p:nvPr/>
        </p:nvCxnSpPr>
        <p:spPr>
          <a:xfrm rot="16200000" flipV="1">
            <a:off x="6177751" y="4822041"/>
            <a:ext cx="928694" cy="4286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a:stCxn id="65" idx="0"/>
            <a:endCxn id="73" idx="4"/>
          </p:cNvCxnSpPr>
          <p:nvPr/>
        </p:nvCxnSpPr>
        <p:spPr>
          <a:xfrm rot="5400000" flipH="1" flipV="1">
            <a:off x="7106445" y="4321975"/>
            <a:ext cx="928694" cy="1428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2" name="橢圓 71"/>
          <p:cNvSpPr/>
          <p:nvPr/>
        </p:nvSpPr>
        <p:spPr>
          <a:xfrm>
            <a:off x="5891999"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73" name="橢圓 72"/>
          <p:cNvSpPr/>
          <p:nvPr/>
        </p:nvSpPr>
        <p:spPr>
          <a:xfrm>
            <a:off x="7749387" y="4143380"/>
            <a:ext cx="1071570"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smtClean="0"/>
              <a:t>classifier</a:t>
            </a:r>
            <a:endParaRPr lang="zh-TW" altLang="en-US" sz="1200" dirty="0"/>
          </a:p>
        </p:txBody>
      </p:sp>
      <p:sp>
        <p:nvSpPr>
          <p:cNvPr id="74" name="橢圓 73"/>
          <p:cNvSpPr/>
          <p:nvPr/>
        </p:nvSpPr>
        <p:spPr>
          <a:xfrm>
            <a:off x="5891999" y="3071810"/>
            <a:ext cx="1857388" cy="357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classifier</a:t>
            </a:r>
            <a:endParaRPr lang="zh-TW" altLang="en-US" dirty="0"/>
          </a:p>
        </p:txBody>
      </p:sp>
      <p:cxnSp>
        <p:nvCxnSpPr>
          <p:cNvPr id="75" name="直線單箭頭接點 74"/>
          <p:cNvCxnSpPr>
            <a:stCxn id="67" idx="0"/>
            <a:endCxn id="74" idx="4"/>
          </p:cNvCxnSpPr>
          <p:nvPr/>
        </p:nvCxnSpPr>
        <p:spPr>
          <a:xfrm rot="5400000" flipH="1" flipV="1">
            <a:off x="5659825" y="2982513"/>
            <a:ext cx="714380" cy="160735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stCxn id="72" idx="0"/>
            <a:endCxn id="74" idx="4"/>
          </p:cNvCxnSpPr>
          <p:nvPr/>
        </p:nvCxnSpPr>
        <p:spPr>
          <a:xfrm rot="5400000" flipH="1" flipV="1">
            <a:off x="6267048" y="3589736"/>
            <a:ext cx="714380" cy="39290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stCxn id="73" idx="0"/>
            <a:endCxn id="74" idx="4"/>
          </p:cNvCxnSpPr>
          <p:nvPr/>
        </p:nvCxnSpPr>
        <p:spPr>
          <a:xfrm rot="16200000" flipV="1">
            <a:off x="7195743" y="3053950"/>
            <a:ext cx="714380" cy="14644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stCxn id="74" idx="0"/>
            <a:endCxn id="66" idx="2"/>
          </p:cNvCxnSpPr>
          <p:nvPr/>
        </p:nvCxnSpPr>
        <p:spPr>
          <a:xfrm rot="5400000" flipH="1" flipV="1">
            <a:off x="6607181" y="2856694"/>
            <a:ext cx="428628" cy="160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文字方塊 78"/>
          <p:cNvSpPr txBox="1"/>
          <p:nvPr/>
        </p:nvSpPr>
        <p:spPr>
          <a:xfrm>
            <a:off x="5320495" y="3652067"/>
            <a:ext cx="505267" cy="276999"/>
          </a:xfrm>
          <a:prstGeom prst="rect">
            <a:avLst/>
          </a:prstGeom>
          <a:noFill/>
        </p:spPr>
        <p:txBody>
          <a:bodyPr wrap="none" rtlCol="0">
            <a:spAutoFit/>
          </a:bodyPr>
          <a:lstStyle/>
          <a:p>
            <a:r>
              <a:rPr lang="en-US" altLang="zh-TW" sz="1200" dirty="0" smtClean="0"/>
              <a:t>prob.</a:t>
            </a:r>
          </a:p>
        </p:txBody>
      </p:sp>
      <p:sp>
        <p:nvSpPr>
          <p:cNvPr id="80" name="文字方塊 79"/>
          <p:cNvSpPr txBox="1"/>
          <p:nvPr/>
        </p:nvSpPr>
        <p:spPr>
          <a:xfrm>
            <a:off x="6606379" y="3643314"/>
            <a:ext cx="505267" cy="276999"/>
          </a:xfrm>
          <a:prstGeom prst="rect">
            <a:avLst/>
          </a:prstGeom>
          <a:noFill/>
        </p:spPr>
        <p:txBody>
          <a:bodyPr wrap="none" rtlCol="0">
            <a:spAutoFit/>
          </a:bodyPr>
          <a:lstStyle/>
          <a:p>
            <a:r>
              <a:rPr lang="en-US" altLang="zh-TW" sz="1200" dirty="0" smtClean="0"/>
              <a:t>prob.</a:t>
            </a:r>
          </a:p>
        </p:txBody>
      </p:sp>
      <p:sp>
        <p:nvSpPr>
          <p:cNvPr id="81" name="文字方塊 80"/>
          <p:cNvSpPr txBox="1"/>
          <p:nvPr/>
        </p:nvSpPr>
        <p:spPr>
          <a:xfrm>
            <a:off x="7749387" y="3652067"/>
            <a:ext cx="505267" cy="276999"/>
          </a:xfrm>
          <a:prstGeom prst="rect">
            <a:avLst/>
          </a:prstGeom>
          <a:noFill/>
        </p:spPr>
        <p:txBody>
          <a:bodyPr wrap="none" rtlCol="0">
            <a:spAutoFit/>
          </a:bodyPr>
          <a:lstStyle/>
          <a:p>
            <a:r>
              <a:rPr lang="en-US" altLang="zh-TW" sz="1200" dirty="0" smtClean="0"/>
              <a:t>prob.</a:t>
            </a:r>
          </a:p>
        </p:txBody>
      </p:sp>
      <p:pic>
        <p:nvPicPr>
          <p:cNvPr id="1028" name="Picture 4"/>
          <p:cNvPicPr>
            <a:picLocks noChangeAspect="1" noChangeArrowheads="1"/>
          </p:cNvPicPr>
          <p:nvPr/>
        </p:nvPicPr>
        <p:blipFill>
          <a:blip r:embed="rId3" cstate="print"/>
          <a:srcRect/>
          <a:stretch>
            <a:fillRect/>
          </a:stretch>
        </p:blipFill>
        <p:spPr bwMode="auto">
          <a:xfrm>
            <a:off x="7805763" y="3067050"/>
            <a:ext cx="409575" cy="3619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Generalizers</a:t>
            </a:r>
            <a:endParaRPr lang="zh-TW" altLang="en-US" dirty="0"/>
          </a:p>
        </p:txBody>
      </p:sp>
      <p:sp>
        <p:nvSpPr>
          <p:cNvPr id="3" name="內容版面配置區 2"/>
          <p:cNvSpPr>
            <a:spLocks noGrp="1"/>
          </p:cNvSpPr>
          <p:nvPr>
            <p:ph idx="1"/>
          </p:nvPr>
        </p:nvSpPr>
        <p:spPr/>
        <p:txBody>
          <a:bodyPr/>
          <a:lstStyle/>
          <a:p>
            <a:r>
              <a:rPr lang="en-US" altLang="zh-TW" dirty="0" smtClean="0"/>
              <a:t>C4.5: decision tree</a:t>
            </a:r>
          </a:p>
          <a:p>
            <a:r>
              <a:rPr lang="en-US" altLang="zh-TW" dirty="0" smtClean="0"/>
              <a:t>NB: Naive Bayesian classifier</a:t>
            </a:r>
          </a:p>
          <a:p>
            <a:r>
              <a:rPr lang="en-US" altLang="zh-TW" dirty="0" smtClean="0"/>
              <a:t>IB1: lazy learning algorithm</a:t>
            </a:r>
          </a:p>
          <a:p>
            <a:r>
              <a:rPr lang="en-US" altLang="zh-TW" dirty="0" smtClean="0"/>
              <a:t>MLR: linear regression</a:t>
            </a:r>
            <a:endParaRPr lang="zh-TW" altLang="en-US" dirty="0"/>
          </a:p>
        </p:txBody>
      </p:sp>
      <p:pic>
        <p:nvPicPr>
          <p:cNvPr id="2051" name="Picture 3"/>
          <p:cNvPicPr>
            <a:picLocks noChangeAspect="1" noChangeArrowheads="1"/>
          </p:cNvPicPr>
          <p:nvPr/>
        </p:nvPicPr>
        <p:blipFill>
          <a:blip r:embed="rId2" cstate="print"/>
          <a:srcRect/>
          <a:stretch>
            <a:fillRect/>
          </a:stretch>
        </p:blipFill>
        <p:spPr bwMode="auto">
          <a:xfrm>
            <a:off x="2143108" y="4027980"/>
            <a:ext cx="3929090" cy="829780"/>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2143108" y="5072074"/>
            <a:ext cx="3571900" cy="590397"/>
          </a:xfrm>
          <a:prstGeom prst="rect">
            <a:avLst/>
          </a:prstGeom>
          <a:noFill/>
          <a:ln w="9525">
            <a:noFill/>
            <a:miter lim="800000"/>
            <a:headEnd/>
            <a:tailEnd/>
          </a:ln>
        </p:spPr>
      </p:pic>
      <p:pic>
        <p:nvPicPr>
          <p:cNvPr id="2053" name="Picture 5"/>
          <p:cNvPicPr>
            <a:picLocks noChangeAspect="1" noChangeArrowheads="1"/>
          </p:cNvPicPr>
          <p:nvPr/>
        </p:nvPicPr>
        <p:blipFill>
          <a:blip r:embed="rId4" cstate="print"/>
          <a:srcRect/>
          <a:stretch>
            <a:fillRect/>
          </a:stretch>
        </p:blipFill>
        <p:spPr bwMode="auto">
          <a:xfrm>
            <a:off x="2214546" y="5836157"/>
            <a:ext cx="2214578" cy="807553"/>
          </a:xfrm>
          <a:prstGeom prst="rect">
            <a:avLst/>
          </a:prstGeom>
          <a:noFill/>
          <a:ln w="9525">
            <a:noFill/>
            <a:miter lim="800000"/>
            <a:headEnd/>
            <a:tailEnd/>
          </a:ln>
        </p:spPr>
      </p:pic>
      <p:pic>
        <p:nvPicPr>
          <p:cNvPr id="2054" name="Picture 6"/>
          <p:cNvPicPr>
            <a:picLocks noChangeAspect="1" noChangeArrowheads="1"/>
          </p:cNvPicPr>
          <p:nvPr/>
        </p:nvPicPr>
        <p:blipFill>
          <a:blip r:embed="rId5" cstate="print"/>
          <a:srcRect/>
          <a:stretch>
            <a:fillRect/>
          </a:stretch>
        </p:blipFill>
        <p:spPr bwMode="auto">
          <a:xfrm>
            <a:off x="5357818" y="5857892"/>
            <a:ext cx="2472129" cy="714380"/>
          </a:xfrm>
          <a:prstGeom prst="rect">
            <a:avLst/>
          </a:prstGeom>
          <a:noFill/>
          <a:ln w="9525">
            <a:noFill/>
            <a:miter lim="800000"/>
            <a:headEnd/>
            <a:tailEnd/>
          </a:ln>
        </p:spPr>
      </p:pic>
      <p:sp>
        <p:nvSpPr>
          <p:cNvPr id="9" name="文字方塊 8"/>
          <p:cNvSpPr txBox="1"/>
          <p:nvPr/>
        </p:nvSpPr>
        <p:spPr>
          <a:xfrm>
            <a:off x="4766478" y="6000768"/>
            <a:ext cx="377026" cy="369332"/>
          </a:xfrm>
          <a:prstGeom prst="rect">
            <a:avLst/>
          </a:prstGeom>
          <a:noFill/>
        </p:spPr>
        <p:txBody>
          <a:bodyPr wrap="none" rtlCol="0">
            <a:spAutoFit/>
          </a:bodyPr>
          <a:lstStyle/>
          <a:p>
            <a:r>
              <a:rPr lang="en-US" altLang="zh-TW" dirty="0" smtClean="0"/>
              <a:t>or</a:t>
            </a:r>
            <a:endParaRPr lang="zh-TW"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graphicFrame>
        <p:nvGraphicFramePr>
          <p:cNvPr id="4" name="表格 3"/>
          <p:cNvGraphicFramePr>
            <a:graphicFrameLocks noGrp="1"/>
          </p:cNvGraphicFramePr>
          <p:nvPr/>
        </p:nvGraphicFramePr>
        <p:xfrm>
          <a:off x="2428860" y="1428736"/>
          <a:ext cx="4288176" cy="1463040"/>
        </p:xfrm>
        <a:graphic>
          <a:graphicData uri="http://schemas.openxmlformats.org/drawingml/2006/table">
            <a:tbl>
              <a:tblPr firstRow="1" firstCol="1">
                <a:tableStyleId>{5C22544A-7EE6-4342-B048-85BDC9FD1C3A}</a:tableStyleId>
              </a:tblPr>
              <a:tblGrid>
                <a:gridCol w="1287780"/>
                <a:gridCol w="1000132"/>
                <a:gridCol w="1000132"/>
                <a:gridCol w="1000132"/>
              </a:tblGrid>
              <a:tr h="123986">
                <a:tc>
                  <a:txBody>
                    <a:bodyPr/>
                    <a:lstStyle/>
                    <a:p>
                      <a:pPr algn="ctr"/>
                      <a:r>
                        <a:rPr lang="en-US" altLang="zh-TW" dirty="0" smtClean="0"/>
                        <a:t>X</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Class 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Class 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Class 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9172">
                <a:tc>
                  <a:txBody>
                    <a:bodyPr/>
                    <a:lstStyle/>
                    <a:p>
                      <a:pPr algn="ctr"/>
                      <a:r>
                        <a:rPr lang="en-US" altLang="zh-TW" dirty="0" smtClean="0"/>
                        <a:t>Classifier 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9172">
                <a:tc>
                  <a:txBody>
                    <a:bodyPr/>
                    <a:lstStyle/>
                    <a:p>
                      <a:pPr algn="ctr"/>
                      <a:r>
                        <a:rPr lang="en-US" altLang="zh-TW" dirty="0" smtClean="0"/>
                        <a:t>Classifier 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0.05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0.25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49172">
                <a:tc>
                  <a:txBody>
                    <a:bodyPr/>
                    <a:lstStyle/>
                    <a:p>
                      <a:pPr algn="ctr"/>
                      <a:r>
                        <a:rPr lang="en-US" altLang="zh-TW" dirty="0" smtClean="0"/>
                        <a:t>Classifier 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0.3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8" name="表格 7"/>
          <p:cNvGraphicFramePr>
            <a:graphicFrameLocks noGrp="1"/>
          </p:cNvGraphicFramePr>
          <p:nvPr/>
        </p:nvGraphicFramePr>
        <p:xfrm>
          <a:off x="1071539" y="3500438"/>
          <a:ext cx="6500858" cy="2964677"/>
        </p:xfrm>
        <a:graphic>
          <a:graphicData uri="http://schemas.openxmlformats.org/drawingml/2006/table">
            <a:tbl>
              <a:tblPr>
                <a:tableStyleId>{5C22544A-7EE6-4342-B048-85BDC9FD1C3A}</a:tableStyleId>
              </a:tblPr>
              <a:tblGrid>
                <a:gridCol w="911335"/>
                <a:gridCol w="2732002"/>
                <a:gridCol w="2857521"/>
              </a:tblGrid>
              <a:tr h="928694">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8661">
                <a:tc>
                  <a:txBody>
                    <a:bodyPr/>
                    <a:lstStyle/>
                    <a:p>
                      <a:pPr algn="ctr"/>
                      <a:r>
                        <a:rPr lang="en-US" altLang="zh-TW" dirty="0" smtClean="0"/>
                        <a:t>LR</a:t>
                      </a:r>
                      <a:r>
                        <a:rPr lang="en-US" altLang="zh-TW" baseline="-25000" dirty="0" smtClean="0"/>
                        <a:t>1</a:t>
                      </a:r>
                      <a:r>
                        <a:rPr lang="en-US" altLang="zh-TW" baseline="0" dirty="0" smtClean="0"/>
                        <a:t>(X)</a:t>
                      </a:r>
                      <a:endParaRPr lang="zh-TW" altLang="en-US" baseline="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l-GR" altLang="zh-TW" dirty="0" smtClean="0"/>
                        <a:t>α</a:t>
                      </a:r>
                      <a:r>
                        <a:rPr lang="en-US" altLang="zh-TW" baseline="-25000" dirty="0" smtClean="0"/>
                        <a:t>11</a:t>
                      </a:r>
                      <a:r>
                        <a:rPr lang="en-US" altLang="zh-TW" baseline="0" dirty="0" smtClean="0"/>
                        <a:t>*0.9+</a:t>
                      </a:r>
                      <a:r>
                        <a:rPr lang="el-GR" altLang="zh-TW" dirty="0" smtClean="0"/>
                        <a:t>α</a:t>
                      </a:r>
                      <a:r>
                        <a:rPr lang="en-US" altLang="zh-TW" baseline="-25000" dirty="0" smtClean="0"/>
                        <a:t>21</a:t>
                      </a:r>
                      <a:r>
                        <a:rPr lang="en-US" altLang="zh-TW" baseline="0" dirty="0" smtClean="0"/>
                        <a:t>*0.7+</a:t>
                      </a:r>
                      <a:r>
                        <a:rPr lang="el-GR" altLang="zh-TW" dirty="0" smtClean="0"/>
                        <a:t>α</a:t>
                      </a:r>
                      <a:r>
                        <a:rPr lang="en-US" altLang="zh-TW" baseline="-25000" dirty="0" smtClean="0"/>
                        <a:t>31</a:t>
                      </a:r>
                      <a:r>
                        <a:rPr lang="en-US" altLang="zh-TW" baseline="0" dirty="0" smtClean="0"/>
                        <a:t>*0.4</a:t>
                      </a:r>
                      <a:endParaRPr lang="zh-TW" altLang="en-US" baseline="-25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TW" sz="1600" dirty="0" smtClean="0"/>
                        <a:t>α</a:t>
                      </a:r>
                      <a:r>
                        <a:rPr lang="en-US" altLang="zh-TW" sz="1600" baseline="-25000" dirty="0" smtClean="0"/>
                        <a:t>111</a:t>
                      </a:r>
                      <a:r>
                        <a:rPr lang="en-US" altLang="zh-TW" sz="1600" baseline="0" dirty="0" smtClean="0"/>
                        <a:t>*0.9+</a:t>
                      </a:r>
                      <a:r>
                        <a:rPr lang="el-GR" altLang="zh-TW" sz="1600" dirty="0" smtClean="0"/>
                        <a:t>α</a:t>
                      </a:r>
                      <a:r>
                        <a:rPr lang="en-US" altLang="zh-TW" sz="1600" baseline="-25000" dirty="0" smtClean="0"/>
                        <a:t>211</a:t>
                      </a:r>
                      <a:r>
                        <a:rPr lang="en-US" altLang="zh-TW" sz="1600" baseline="0" dirty="0" smtClean="0"/>
                        <a:t>*0.7+</a:t>
                      </a:r>
                      <a:r>
                        <a:rPr lang="el-GR" altLang="zh-TW" sz="1600" dirty="0" smtClean="0"/>
                        <a:t>α</a:t>
                      </a:r>
                      <a:r>
                        <a:rPr lang="en-US" altLang="zh-TW" sz="1600" baseline="-25000" dirty="0" smtClean="0"/>
                        <a:t>311</a:t>
                      </a:r>
                      <a:r>
                        <a:rPr lang="en-US" altLang="zh-TW" sz="1600" baseline="0" dirty="0" smtClean="0"/>
                        <a:t>*0.4</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t>
                      </a:r>
                      <a:r>
                        <a:rPr lang="el-GR" altLang="zh-TW" sz="1600" dirty="0" smtClean="0"/>
                        <a:t>α</a:t>
                      </a:r>
                      <a:r>
                        <a:rPr lang="en-US" altLang="zh-TW" sz="1600" baseline="-25000" dirty="0" smtClean="0"/>
                        <a:t>122</a:t>
                      </a:r>
                      <a:r>
                        <a:rPr lang="en-US" altLang="zh-TW" sz="1600" baseline="0" dirty="0" smtClean="0"/>
                        <a:t>*0.1+</a:t>
                      </a:r>
                      <a:r>
                        <a:rPr lang="el-GR" altLang="zh-TW" sz="1600" dirty="0" smtClean="0"/>
                        <a:t>α</a:t>
                      </a:r>
                      <a:r>
                        <a:rPr lang="en-US" altLang="zh-TW" sz="1600" baseline="-25000" dirty="0" smtClean="0"/>
                        <a:t>222</a:t>
                      </a:r>
                      <a:r>
                        <a:rPr lang="en-US" altLang="zh-TW" sz="1600" baseline="0" dirty="0" smtClean="0"/>
                        <a:t>*0.05+</a:t>
                      </a:r>
                      <a:r>
                        <a:rPr lang="el-GR" altLang="zh-TW" sz="1600" dirty="0" smtClean="0"/>
                        <a:t>α</a:t>
                      </a:r>
                      <a:r>
                        <a:rPr lang="en-US" altLang="zh-TW" sz="1600" baseline="-25000" dirty="0" smtClean="0"/>
                        <a:t>322</a:t>
                      </a:r>
                      <a:r>
                        <a:rPr lang="en-US" altLang="zh-TW" sz="1600" baseline="0" dirty="0" smtClean="0"/>
                        <a:t>*0.3</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t>
                      </a:r>
                      <a:r>
                        <a:rPr lang="el-GR" altLang="zh-TW" sz="1600" dirty="0" smtClean="0"/>
                        <a:t>α</a:t>
                      </a:r>
                      <a:r>
                        <a:rPr lang="en-US" altLang="zh-TW" sz="1600" baseline="-25000" dirty="0" smtClean="0"/>
                        <a:t>133</a:t>
                      </a:r>
                      <a:r>
                        <a:rPr lang="en-US" altLang="zh-TW" sz="1600" baseline="0" dirty="0" smtClean="0"/>
                        <a:t>*0 +</a:t>
                      </a:r>
                      <a:r>
                        <a:rPr lang="el-GR" altLang="zh-TW" sz="1600" dirty="0" smtClean="0"/>
                        <a:t>α</a:t>
                      </a:r>
                      <a:r>
                        <a:rPr lang="en-US" altLang="zh-TW" sz="1600" baseline="-25000" dirty="0" smtClean="0"/>
                        <a:t>233</a:t>
                      </a:r>
                      <a:r>
                        <a:rPr lang="en-US" altLang="zh-TW" sz="1600" baseline="0" dirty="0" smtClean="0"/>
                        <a:t>*0.25+</a:t>
                      </a:r>
                      <a:r>
                        <a:rPr lang="el-GR" altLang="zh-TW" sz="1600" dirty="0" smtClean="0"/>
                        <a:t>α</a:t>
                      </a:r>
                      <a:r>
                        <a:rPr lang="en-US" altLang="zh-TW" sz="1600" baseline="-25000" dirty="0" smtClean="0"/>
                        <a:t>333</a:t>
                      </a:r>
                      <a:r>
                        <a:rPr lang="en-US" altLang="zh-TW" sz="1600" baseline="0" dirty="0" smtClean="0"/>
                        <a:t>*0.3</a:t>
                      </a:r>
                      <a:endParaRPr lang="zh-TW" altLang="en-US" sz="1600" baseline="-25000" dirty="0" smtClean="0"/>
                    </a:p>
                    <a:p>
                      <a:pPr algn="ctr"/>
                      <a:endParaRPr lang="zh-TW" altLang="en-US" baseline="-25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866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LR</a:t>
                      </a:r>
                      <a:r>
                        <a:rPr lang="en-US" altLang="zh-TW" baseline="-25000" dirty="0" smtClean="0"/>
                        <a:t>2</a:t>
                      </a:r>
                      <a:r>
                        <a:rPr lang="en-US" altLang="zh-TW" baseline="0" dirty="0" smtClean="0"/>
                        <a:t>(X)</a:t>
                      </a:r>
                      <a:endParaRPr lang="zh-TW" altLang="en-US" baseline="0" dirty="0" smtClean="0"/>
                    </a:p>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TW" dirty="0" smtClean="0"/>
                        <a:t>α</a:t>
                      </a:r>
                      <a:r>
                        <a:rPr lang="en-US" altLang="zh-TW" baseline="-25000" dirty="0" smtClean="0"/>
                        <a:t>12</a:t>
                      </a:r>
                      <a:r>
                        <a:rPr lang="en-US" altLang="zh-TW" baseline="0" dirty="0" smtClean="0"/>
                        <a:t>*0.1+</a:t>
                      </a:r>
                      <a:r>
                        <a:rPr lang="el-GR" altLang="zh-TW" dirty="0" smtClean="0"/>
                        <a:t>α</a:t>
                      </a:r>
                      <a:r>
                        <a:rPr lang="en-US" altLang="zh-TW" baseline="-25000" dirty="0" smtClean="0"/>
                        <a:t>22</a:t>
                      </a:r>
                      <a:r>
                        <a:rPr lang="en-US" altLang="zh-TW" baseline="0" dirty="0" smtClean="0"/>
                        <a:t>*0.05+</a:t>
                      </a:r>
                      <a:r>
                        <a:rPr lang="el-GR" altLang="zh-TW" dirty="0" smtClean="0"/>
                        <a:t>α</a:t>
                      </a:r>
                      <a:r>
                        <a:rPr lang="en-US" altLang="zh-TW" baseline="-25000" dirty="0" smtClean="0"/>
                        <a:t>32</a:t>
                      </a:r>
                      <a:r>
                        <a:rPr lang="en-US" altLang="zh-TW" baseline="0" dirty="0" smtClean="0"/>
                        <a:t>*0.3</a:t>
                      </a:r>
                      <a:endParaRPr lang="zh-TW" altLang="en-US" baseline="-25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baseline="-25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7866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LR</a:t>
                      </a:r>
                      <a:r>
                        <a:rPr lang="en-US" altLang="zh-TW" baseline="-25000" dirty="0" smtClean="0"/>
                        <a:t>3</a:t>
                      </a:r>
                      <a:r>
                        <a:rPr lang="en-US" altLang="zh-TW" baseline="0" dirty="0" smtClean="0"/>
                        <a:t>(X)</a:t>
                      </a:r>
                      <a:endParaRPr lang="zh-TW" altLang="en-US" baseline="0" dirty="0" smtClean="0"/>
                    </a:p>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l-GR" altLang="zh-TW" dirty="0" smtClean="0"/>
                        <a:t>α</a:t>
                      </a:r>
                      <a:r>
                        <a:rPr lang="en-US" altLang="zh-TW" baseline="-25000" dirty="0" smtClean="0"/>
                        <a:t>13</a:t>
                      </a:r>
                      <a:r>
                        <a:rPr lang="en-US" altLang="zh-TW" baseline="0" dirty="0" smtClean="0"/>
                        <a:t>*0 +</a:t>
                      </a:r>
                      <a:r>
                        <a:rPr lang="el-GR" altLang="zh-TW" dirty="0" smtClean="0"/>
                        <a:t>α</a:t>
                      </a:r>
                      <a:r>
                        <a:rPr lang="en-US" altLang="zh-TW" baseline="-25000" dirty="0" smtClean="0"/>
                        <a:t>23</a:t>
                      </a:r>
                      <a:r>
                        <a:rPr lang="en-US" altLang="zh-TW" baseline="0" dirty="0" smtClean="0"/>
                        <a:t>*0.25+</a:t>
                      </a:r>
                      <a:r>
                        <a:rPr lang="el-GR" altLang="zh-TW" dirty="0" smtClean="0"/>
                        <a:t>α</a:t>
                      </a:r>
                      <a:r>
                        <a:rPr lang="en-US" altLang="zh-TW" baseline="-25000" dirty="0" smtClean="0"/>
                        <a:t>33</a:t>
                      </a:r>
                      <a:r>
                        <a:rPr lang="en-US" altLang="zh-TW" baseline="0" dirty="0" smtClean="0"/>
                        <a:t>*0.3</a:t>
                      </a:r>
                      <a:endParaRPr lang="zh-TW" altLang="en-US" baseline="-25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baseline="-25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9" name="Picture 5"/>
          <p:cNvPicPr>
            <a:picLocks noChangeAspect="1" noChangeArrowheads="1"/>
          </p:cNvPicPr>
          <p:nvPr/>
        </p:nvPicPr>
        <p:blipFill>
          <a:blip r:embed="rId2" cstate="print"/>
          <a:srcRect/>
          <a:stretch>
            <a:fillRect/>
          </a:stretch>
        </p:blipFill>
        <p:spPr bwMode="auto">
          <a:xfrm>
            <a:off x="2285984" y="3550141"/>
            <a:ext cx="2214578" cy="807553"/>
          </a:xfrm>
          <a:prstGeom prst="rect">
            <a:avLst/>
          </a:prstGeom>
          <a:noFill/>
          <a:ln w="9525">
            <a:noFill/>
            <a:miter lim="800000"/>
            <a:headEnd/>
            <a:tailEnd/>
          </a:ln>
        </p:spPr>
      </p:pic>
      <p:pic>
        <p:nvPicPr>
          <p:cNvPr id="6" name="Picture 6"/>
          <p:cNvPicPr>
            <a:picLocks noChangeAspect="1" noChangeArrowheads="1"/>
          </p:cNvPicPr>
          <p:nvPr/>
        </p:nvPicPr>
        <p:blipFill>
          <a:blip r:embed="rId3" cstate="print"/>
          <a:srcRect/>
          <a:stretch>
            <a:fillRect/>
          </a:stretch>
        </p:blipFill>
        <p:spPr bwMode="auto">
          <a:xfrm>
            <a:off x="4929190" y="3571876"/>
            <a:ext cx="2472129" cy="71438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Datastes</a:t>
            </a:r>
            <a:r>
              <a:rPr lang="en-US" altLang="zh-TW" dirty="0" smtClean="0"/>
              <a:t> </a:t>
            </a:r>
            <a:endParaRPr lang="zh-TW" alt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778074" y="1600200"/>
            <a:ext cx="7587851" cy="4525963"/>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 </a:t>
            </a:r>
            <a:endParaRPr lang="zh-TW" altLang="en-US" dirty="0"/>
          </a:p>
        </p:txBody>
      </p:sp>
      <p:pic>
        <p:nvPicPr>
          <p:cNvPr id="4099" name="Picture 3"/>
          <p:cNvPicPr>
            <a:picLocks noGrp="1" noChangeAspect="1" noChangeArrowheads="1"/>
          </p:cNvPicPr>
          <p:nvPr>
            <p:ph idx="1"/>
          </p:nvPr>
        </p:nvPicPr>
        <p:blipFill>
          <a:blip r:embed="rId2" cstate="print"/>
          <a:srcRect/>
          <a:stretch>
            <a:fillRect/>
          </a:stretch>
        </p:blipFill>
        <p:spPr bwMode="auto">
          <a:xfrm>
            <a:off x="1479258" y="1600200"/>
            <a:ext cx="6185483" cy="452596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457200" y="1500174"/>
            <a:ext cx="8229600" cy="3525834"/>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1357290" y="5214950"/>
            <a:ext cx="6515100" cy="111442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 </a:t>
            </a:r>
            <a:endParaRPr lang="zh-TW" altLang="en-US" dirty="0"/>
          </a:p>
        </p:txBody>
      </p:sp>
      <p:pic>
        <p:nvPicPr>
          <p:cNvPr id="6148" name="Picture 4"/>
          <p:cNvPicPr>
            <a:picLocks noGrp="1" noChangeAspect="1" noChangeArrowheads="1"/>
          </p:cNvPicPr>
          <p:nvPr>
            <p:ph idx="1"/>
          </p:nvPr>
        </p:nvPicPr>
        <p:blipFill>
          <a:blip r:embed="rId2" cstate="print"/>
          <a:srcRect/>
          <a:stretch>
            <a:fillRect/>
          </a:stretch>
        </p:blipFill>
        <p:spPr bwMode="auto">
          <a:xfrm>
            <a:off x="1022225" y="1600200"/>
            <a:ext cx="7099550" cy="4525963"/>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2">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154</Words>
  <Application>Microsoft Office PowerPoint</Application>
  <PresentationFormat>如螢幕大小 (4:3)</PresentationFormat>
  <Paragraphs>66</Paragraphs>
  <Slides>9</Slides>
  <Notes>0</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Office 佈景主題</vt:lpstr>
      <vt:lpstr>Issues in Stacked Generalization</vt:lpstr>
      <vt:lpstr>Abstract</vt:lpstr>
      <vt:lpstr>Method</vt:lpstr>
      <vt:lpstr>Generalizers</vt:lpstr>
      <vt:lpstr>Example</vt:lpstr>
      <vt:lpstr>Datastes </vt:lpstr>
      <vt:lpstr>Result </vt:lpstr>
      <vt:lpstr>Result</vt:lpstr>
      <vt:lpstr>Result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SVM-KM: speeding SVMs  learning with a  priori cluster selection and k-means</dc:title>
  <cp:lastModifiedBy>Sephiroth</cp:lastModifiedBy>
  <cp:revision>49</cp:revision>
  <dcterms:modified xsi:type="dcterms:W3CDTF">2010-05-04T11:36:50Z</dcterms:modified>
</cp:coreProperties>
</file>