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23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087B-26DF-4F18-B309-B3A995053987}" type="datetimeFigureOut">
              <a:rPr lang="zh-TW" altLang="en-US" smtClean="0"/>
              <a:pPr/>
              <a:t>2010/4/13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4D69-7A3B-4A65-8CB8-02B907D537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087B-26DF-4F18-B309-B3A995053987}" type="datetimeFigureOut">
              <a:rPr lang="zh-TW" altLang="en-US" smtClean="0"/>
              <a:pPr/>
              <a:t>2010/4/13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4D69-7A3B-4A65-8CB8-02B907D537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087B-26DF-4F18-B309-B3A995053987}" type="datetimeFigureOut">
              <a:rPr lang="zh-TW" altLang="en-US" smtClean="0"/>
              <a:pPr/>
              <a:t>2010/4/13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4D69-7A3B-4A65-8CB8-02B907D537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087B-26DF-4F18-B309-B3A995053987}" type="datetimeFigureOut">
              <a:rPr lang="zh-TW" altLang="en-US" smtClean="0"/>
              <a:pPr/>
              <a:t>2010/4/13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4D69-7A3B-4A65-8CB8-02B907D537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087B-26DF-4F18-B309-B3A995053987}" type="datetimeFigureOut">
              <a:rPr lang="zh-TW" altLang="en-US" smtClean="0"/>
              <a:pPr/>
              <a:t>2010/4/13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4D69-7A3B-4A65-8CB8-02B907D537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087B-26DF-4F18-B309-B3A995053987}" type="datetimeFigureOut">
              <a:rPr lang="zh-TW" altLang="en-US" smtClean="0"/>
              <a:pPr/>
              <a:t>2010/4/13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4D69-7A3B-4A65-8CB8-02B907D537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087B-26DF-4F18-B309-B3A995053987}" type="datetimeFigureOut">
              <a:rPr lang="zh-TW" altLang="en-US" smtClean="0"/>
              <a:pPr/>
              <a:t>2010/4/13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4D69-7A3B-4A65-8CB8-02B907D537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087B-26DF-4F18-B309-B3A995053987}" type="datetimeFigureOut">
              <a:rPr lang="zh-TW" altLang="en-US" smtClean="0"/>
              <a:pPr/>
              <a:t>2010/4/13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4D69-7A3B-4A65-8CB8-02B907D537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087B-26DF-4F18-B309-B3A995053987}" type="datetimeFigureOut">
              <a:rPr lang="zh-TW" altLang="en-US" smtClean="0"/>
              <a:pPr/>
              <a:t>2010/4/13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4D69-7A3B-4A65-8CB8-02B907D537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087B-26DF-4F18-B309-B3A995053987}" type="datetimeFigureOut">
              <a:rPr lang="zh-TW" altLang="en-US" smtClean="0"/>
              <a:pPr/>
              <a:t>2010/4/13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4D69-7A3B-4A65-8CB8-02B907D537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087B-26DF-4F18-B309-B3A995053987}" type="datetimeFigureOut">
              <a:rPr lang="zh-TW" altLang="en-US" smtClean="0"/>
              <a:pPr/>
              <a:t>2010/4/13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4D69-7A3B-4A65-8CB8-02B907D537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AB087B-26DF-4F18-B309-B3A995053987}" type="datetimeFigureOut">
              <a:rPr lang="zh-TW" altLang="en-US" smtClean="0"/>
              <a:pPr/>
              <a:t>2010/4/13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B4D69-7A3B-4A65-8CB8-02B907D537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42910" y="642918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New efficient algorithms for the LCS and constrained</a:t>
            </a:r>
            <a:br>
              <a:rPr lang="en-US" altLang="zh-TW" dirty="0"/>
            </a:br>
            <a:r>
              <a:rPr lang="en-US" altLang="zh-TW" dirty="0"/>
              <a:t>LCS problems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843738" cy="1752600"/>
          </a:xfrm>
        </p:spPr>
        <p:txBody>
          <a:bodyPr>
            <a:normAutofit/>
          </a:bodyPr>
          <a:lstStyle/>
          <a:p>
            <a:r>
              <a:rPr lang="en-US" altLang="zh-TW" sz="1800" dirty="0">
                <a:solidFill>
                  <a:schemeClr val="tx1"/>
                </a:solidFill>
              </a:rPr>
              <a:t>Costas S. Iliopoulos </a:t>
            </a:r>
            <a:r>
              <a:rPr lang="en-US" altLang="zh-TW" sz="1800" dirty="0" smtClean="0">
                <a:solidFill>
                  <a:schemeClr val="tx1"/>
                </a:solidFill>
              </a:rPr>
              <a:t>, </a:t>
            </a:r>
            <a:r>
              <a:rPr lang="en-US" altLang="zh-TW" sz="1800" dirty="0">
                <a:solidFill>
                  <a:schemeClr val="tx1"/>
                </a:solidFill>
              </a:rPr>
              <a:t>M. </a:t>
            </a:r>
            <a:r>
              <a:rPr lang="en-US" altLang="zh-TW" sz="1800" dirty="0" err="1">
                <a:solidFill>
                  <a:schemeClr val="tx1"/>
                </a:solidFill>
              </a:rPr>
              <a:t>Sohel</a:t>
            </a:r>
            <a:r>
              <a:rPr lang="en-US" altLang="zh-TW" sz="1800" dirty="0">
                <a:solidFill>
                  <a:schemeClr val="tx1"/>
                </a:solidFill>
              </a:rPr>
              <a:t> </a:t>
            </a:r>
            <a:r>
              <a:rPr lang="en-US" altLang="zh-TW" sz="1800" dirty="0" err="1" smtClean="0">
                <a:solidFill>
                  <a:schemeClr val="tx1"/>
                </a:solidFill>
              </a:rPr>
              <a:t>Rahman</a:t>
            </a:r>
            <a:endParaRPr lang="en-US" altLang="zh-TW" sz="1800" dirty="0" smtClean="0">
              <a:solidFill>
                <a:schemeClr val="tx1"/>
              </a:solidFill>
            </a:endParaRPr>
          </a:p>
          <a:p>
            <a:r>
              <a:rPr lang="en-US" altLang="zh-TW" sz="1800" dirty="0">
                <a:solidFill>
                  <a:schemeClr val="tx1"/>
                </a:solidFill>
              </a:rPr>
              <a:t>Information Processing Letters 106 (2008) </a:t>
            </a:r>
            <a:r>
              <a:rPr lang="en-US" altLang="zh-TW" sz="1800" dirty="0" smtClean="0">
                <a:solidFill>
                  <a:schemeClr val="tx1"/>
                </a:solidFill>
              </a:rPr>
              <a:t>13–18</a:t>
            </a:r>
          </a:p>
          <a:p>
            <a:r>
              <a:rPr lang="en-US" altLang="zh-TW" sz="1800" dirty="0">
                <a:solidFill>
                  <a:schemeClr val="tx1"/>
                </a:solidFill>
              </a:rPr>
              <a:t>Presenter: </a:t>
            </a:r>
            <a:r>
              <a:rPr lang="en-US" altLang="zh-TW" sz="1800" dirty="0" smtClean="0">
                <a:solidFill>
                  <a:schemeClr val="tx1"/>
                </a:solidFill>
              </a:rPr>
              <a:t>Kai-Yu </a:t>
            </a:r>
            <a:r>
              <a:rPr lang="en-US" altLang="zh-TW" sz="1800" dirty="0">
                <a:solidFill>
                  <a:schemeClr val="tx1"/>
                </a:solidFill>
              </a:rPr>
              <a:t>Chen</a:t>
            </a:r>
          </a:p>
          <a:p>
            <a:r>
              <a:rPr lang="en-US" altLang="zh-TW" sz="1800" dirty="0">
                <a:solidFill>
                  <a:schemeClr val="tx1"/>
                </a:solidFill>
              </a:rPr>
              <a:t>Date: </a:t>
            </a:r>
            <a:r>
              <a:rPr lang="en-US" altLang="zh-TW" sz="1800" dirty="0" smtClean="0">
                <a:solidFill>
                  <a:schemeClr val="tx1"/>
                </a:solidFill>
              </a:rPr>
              <a:t>Apr. 13, </a:t>
            </a:r>
            <a:r>
              <a:rPr lang="en-US" altLang="zh-TW" sz="1800" dirty="0">
                <a:solidFill>
                  <a:schemeClr val="tx1"/>
                </a:solidFill>
              </a:rPr>
              <a:t>2010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/>
              <a:t>In this paper, we study the classic and well-studied longest common subsequence (LCS) problem and a recent variant of </a:t>
            </a:r>
            <a:r>
              <a:rPr lang="en-US" altLang="zh-TW" dirty="0" smtClean="0"/>
              <a:t>it, namely </a:t>
            </a:r>
            <a:r>
              <a:rPr lang="en-US" altLang="zh-TW" dirty="0"/>
              <a:t>the constrained LCS (CLCS) problem. In the CLCS problem, the computed LCS must also be a </a:t>
            </a:r>
            <a:r>
              <a:rPr lang="en-US" altLang="zh-TW" dirty="0" err="1"/>
              <a:t>supersequence</a:t>
            </a:r>
            <a:r>
              <a:rPr lang="en-US" altLang="zh-TW" dirty="0"/>
              <a:t> of a </a:t>
            </a:r>
            <a:r>
              <a:rPr lang="en-US" altLang="zh-TW" dirty="0" smtClean="0"/>
              <a:t>third given </a:t>
            </a:r>
            <a:r>
              <a:rPr lang="en-US" altLang="zh-TW" dirty="0"/>
              <a:t>string. In this paper, we first present an efficient algorithm for the traditional LCS problem that runs in </a:t>
            </a:r>
            <a:r>
              <a:rPr lang="en-US" altLang="zh-TW" i="1" dirty="0"/>
              <a:t>O(</a:t>
            </a:r>
            <a:r>
              <a:rPr lang="en-US" altLang="zh-TW" i="1" dirty="0" err="1"/>
              <a:t>Rlog</a:t>
            </a:r>
            <a:r>
              <a:rPr lang="en-US" altLang="zh-TW" i="1" dirty="0"/>
              <a:t> log n + </a:t>
            </a:r>
            <a:r>
              <a:rPr lang="en-US" altLang="zh-TW" i="1" dirty="0" smtClean="0"/>
              <a:t>n) </a:t>
            </a:r>
            <a:r>
              <a:rPr lang="en-US" altLang="zh-TW" dirty="0" smtClean="0"/>
              <a:t>time</a:t>
            </a:r>
            <a:r>
              <a:rPr lang="en-US" altLang="zh-TW" dirty="0"/>
              <a:t>, where </a:t>
            </a:r>
            <a:r>
              <a:rPr lang="en-US" altLang="zh-TW" i="1" dirty="0"/>
              <a:t>R is the total number of ordered pairs of positions at which the two strings match and n is the length of the two </a:t>
            </a:r>
            <a:r>
              <a:rPr lang="en-US" altLang="zh-TW" i="1" dirty="0" smtClean="0"/>
              <a:t>given </a:t>
            </a:r>
            <a:r>
              <a:rPr lang="en-US" altLang="zh-TW" dirty="0" smtClean="0"/>
              <a:t>strings</a:t>
            </a:r>
            <a:r>
              <a:rPr lang="en-US" altLang="zh-TW" dirty="0"/>
              <a:t>. Then, using this algorithm, we devise an algorithm for the CLCS problem having time complexity </a:t>
            </a:r>
            <a:r>
              <a:rPr lang="en-US" altLang="zh-TW" i="1" dirty="0"/>
              <a:t>O(</a:t>
            </a:r>
            <a:r>
              <a:rPr lang="en-US" altLang="zh-TW" i="1" dirty="0" err="1"/>
              <a:t>pRlog</a:t>
            </a:r>
            <a:r>
              <a:rPr lang="en-US" altLang="zh-TW" i="1" dirty="0"/>
              <a:t> log </a:t>
            </a:r>
            <a:r>
              <a:rPr lang="en-US" altLang="zh-TW" i="1" dirty="0" err="1"/>
              <a:t>n+n</a:t>
            </a:r>
            <a:r>
              <a:rPr lang="en-US" altLang="zh-TW" i="1" dirty="0"/>
              <a:t>) </a:t>
            </a:r>
            <a:r>
              <a:rPr lang="en-US" altLang="zh-TW" i="1" dirty="0" smtClean="0"/>
              <a:t>in </a:t>
            </a:r>
            <a:r>
              <a:rPr lang="en-US" altLang="zh-TW" dirty="0" smtClean="0"/>
              <a:t>the </a:t>
            </a:r>
            <a:r>
              <a:rPr lang="en-US" altLang="zh-TW" dirty="0"/>
              <a:t>worst case, where </a:t>
            </a:r>
            <a:r>
              <a:rPr lang="en-US" altLang="zh-TW" i="1" dirty="0"/>
              <a:t>p is the length of the third string.</a:t>
            </a:r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US" altLang="zh-TW" b="1" dirty="0"/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500726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sz="2800" i="1" dirty="0" smtClean="0"/>
              <a:t>Example</a:t>
            </a:r>
            <a:br>
              <a:rPr lang="en-US" altLang="zh-TW" sz="2800" i="1" dirty="0" smtClean="0"/>
            </a:br>
            <a:r>
              <a:rPr lang="en-US" altLang="zh-TW" sz="2800" i="1" dirty="0" smtClean="0"/>
              <a:t>X </a:t>
            </a:r>
            <a:r>
              <a:rPr lang="en-US" altLang="zh-TW" sz="2800" i="1" dirty="0"/>
              <a:t>= TCCACA, Y = </a:t>
            </a:r>
            <a:r>
              <a:rPr lang="en-US" altLang="zh-TW" sz="2800" i="1" dirty="0" smtClean="0"/>
              <a:t>ACCAAG </a:t>
            </a:r>
            <a:r>
              <a:rPr lang="en-US" altLang="zh-TW" sz="2800" dirty="0" smtClean="0"/>
              <a:t>and </a:t>
            </a:r>
            <a:r>
              <a:rPr lang="en-US" altLang="zh-TW" sz="2800" i="1" dirty="0"/>
              <a:t>Z = </a:t>
            </a:r>
            <a:r>
              <a:rPr lang="en-US" altLang="zh-TW" sz="2800" i="1" dirty="0" smtClean="0"/>
              <a:t>AC</a:t>
            </a:r>
          </a:p>
          <a:p>
            <a:endParaRPr lang="en-US" altLang="zh-TW" sz="2800" i="1" dirty="0" smtClean="0"/>
          </a:p>
          <a:p>
            <a:r>
              <a:rPr lang="en-US" altLang="zh-TW" sz="2800" i="1" dirty="0" smtClean="0"/>
              <a:t>LCS(X</a:t>
            </a:r>
            <a:r>
              <a:rPr lang="en-US" altLang="zh-TW" sz="2800" i="1" dirty="0"/>
              <a:t>, Y </a:t>
            </a:r>
            <a:r>
              <a:rPr lang="en-US" altLang="zh-TW" sz="2800" i="1" dirty="0" smtClean="0"/>
              <a:t>)=CCAA</a:t>
            </a:r>
            <a:br>
              <a:rPr lang="en-US" altLang="zh-TW" sz="2800" i="1" dirty="0" smtClean="0"/>
            </a:br>
            <a:r>
              <a:rPr lang="en-US" altLang="zh-TW" sz="2800" i="1" dirty="0" smtClean="0"/>
              <a:t>LCS</a:t>
            </a:r>
            <a:r>
              <a:rPr lang="en-US" altLang="zh-TW" sz="2800" i="1" baseline="-25000" dirty="0" smtClean="0"/>
              <a:t>Z</a:t>
            </a:r>
            <a:r>
              <a:rPr lang="en-US" altLang="zh-TW" sz="2800" i="1" dirty="0" smtClean="0"/>
              <a:t>(X</a:t>
            </a:r>
            <a:r>
              <a:rPr lang="en-US" altLang="zh-TW" sz="2800" i="1" dirty="0"/>
              <a:t>, Y </a:t>
            </a:r>
            <a:r>
              <a:rPr lang="en-US" altLang="zh-TW" sz="2800" i="1" dirty="0" smtClean="0"/>
              <a:t>)=ACA</a:t>
            </a:r>
          </a:p>
          <a:p>
            <a:endParaRPr lang="en-US" altLang="zh-TW" sz="2800" i="1" dirty="0"/>
          </a:p>
          <a:p>
            <a:r>
              <a:rPr lang="en-US" altLang="zh-TW" sz="2800" dirty="0" smtClean="0"/>
              <a:t>If </a:t>
            </a:r>
            <a:r>
              <a:rPr lang="en-US" altLang="zh-TW" sz="2800" i="1" dirty="0"/>
              <a:t>X[</a:t>
            </a:r>
            <a:r>
              <a:rPr lang="en-US" altLang="zh-TW" sz="2800" i="1" dirty="0" err="1"/>
              <a:t>i</a:t>
            </a:r>
            <a:r>
              <a:rPr lang="en-US" altLang="zh-TW" sz="2800" i="1" dirty="0"/>
              <a:t>] = Y[j </a:t>
            </a:r>
            <a:r>
              <a:rPr lang="en-US" altLang="zh-TW" sz="2800" i="1" dirty="0" smtClean="0"/>
              <a:t>]</a:t>
            </a:r>
            <a:r>
              <a:rPr lang="en-US" altLang="zh-TW" sz="2800" dirty="0" smtClean="0"/>
              <a:t/>
            </a:r>
            <a:br>
              <a:rPr lang="en-US" altLang="zh-TW" sz="2800" dirty="0" smtClean="0"/>
            </a:br>
            <a:r>
              <a:rPr lang="en-US" altLang="zh-TW" sz="2800" i="1" dirty="0"/>
              <a:t>M </a:t>
            </a:r>
            <a:r>
              <a:rPr lang="en-US" altLang="zh-TW" sz="2800" i="1" dirty="0" smtClean="0"/>
              <a:t>={ (</a:t>
            </a:r>
            <a:r>
              <a:rPr lang="en-US" altLang="zh-TW" sz="2800" i="1" dirty="0" err="1"/>
              <a:t>i</a:t>
            </a:r>
            <a:r>
              <a:rPr lang="en-US" altLang="zh-TW" sz="2800" i="1" dirty="0"/>
              <a:t>, j ) | X[</a:t>
            </a:r>
            <a:r>
              <a:rPr lang="en-US" altLang="zh-TW" sz="2800" i="1" dirty="0" err="1"/>
              <a:t>i</a:t>
            </a:r>
            <a:r>
              <a:rPr lang="en-US" altLang="zh-TW" sz="2800" i="1" dirty="0"/>
              <a:t>] = Y[j ], 1 </a:t>
            </a:r>
            <a:r>
              <a:rPr lang="en-US" altLang="zh-TW" sz="2800" i="1" dirty="0" smtClean="0"/>
              <a:t>≤ </a:t>
            </a:r>
            <a:r>
              <a:rPr lang="en-US" altLang="zh-TW" sz="2800" i="1" dirty="0" err="1"/>
              <a:t>i</a:t>
            </a:r>
            <a:r>
              <a:rPr lang="en-US" altLang="zh-TW" sz="2800" i="1" dirty="0"/>
              <a:t>, j </a:t>
            </a:r>
            <a:r>
              <a:rPr lang="en-US" altLang="zh-TW" sz="2800" i="1" dirty="0" smtClean="0"/>
              <a:t>≤ n}</a:t>
            </a:r>
          </a:p>
          <a:p>
            <a:pPr>
              <a:buNone/>
            </a:pPr>
            <a:r>
              <a:rPr lang="en-US" altLang="zh-TW" sz="2800" i="1" dirty="0" smtClean="0"/>
              <a:t>   |M|=</a:t>
            </a:r>
            <a:r>
              <a:rPr lang="en-US" altLang="zh-TW" sz="2800" i="1" dirty="0" smtClean="0"/>
              <a:t>R</a:t>
            </a:r>
            <a:endParaRPr lang="en-US" altLang="zh-TW" sz="2800" i="1" dirty="0" smtClean="0"/>
          </a:p>
          <a:p>
            <a:pPr>
              <a:buNone/>
            </a:pPr>
            <a:endParaRPr lang="en-US" altLang="zh-TW" sz="2800" i="1" smtClean="0"/>
          </a:p>
          <a:p>
            <a:pPr>
              <a:buNone/>
            </a:pPr>
            <a:r>
              <a:rPr lang="en-US" altLang="zh-TW" sz="2800" i="1" smtClean="0"/>
              <a:t>Ex</a:t>
            </a:r>
            <a:r>
              <a:rPr lang="en-US" altLang="zh-TW" sz="2800" i="1" dirty="0" smtClean="0"/>
              <a:t>.</a:t>
            </a:r>
            <a:r>
              <a:rPr lang="en-US" altLang="zh-TW" sz="2800" dirty="0" smtClean="0"/>
              <a:t> M={(2,2),(2,3),(3,2),(3,3),(4,1),(4,4),(4,5),(5,2),</a:t>
            </a:r>
            <a:br>
              <a:rPr lang="en-US" altLang="zh-TW" sz="2800" dirty="0" smtClean="0"/>
            </a:br>
            <a:r>
              <a:rPr lang="en-US" altLang="zh-TW" sz="2800" dirty="0" smtClean="0"/>
              <a:t>	(5,3),(6,1),(6,4),(6,5)}</a:t>
            </a:r>
            <a:br>
              <a:rPr lang="en-US" altLang="zh-TW" sz="2800" dirty="0" smtClean="0"/>
            </a:br>
            <a:r>
              <a:rPr lang="en-US" altLang="zh-TW" sz="2800" dirty="0" smtClean="0"/>
              <a:t>       R=12</a:t>
            </a:r>
          </a:p>
          <a:p>
            <a:pPr>
              <a:buNone/>
            </a:pPr>
            <a:endParaRPr lang="en-US" altLang="zh-TW" sz="2800" i="1" dirty="0" smtClean="0"/>
          </a:p>
          <a:p>
            <a:r>
              <a:rPr lang="en-US" altLang="zh-TW" sz="2400" dirty="0" smtClean="0"/>
              <a:t>The preprocessing requires </a:t>
            </a:r>
            <a:r>
              <a:rPr lang="en-US" altLang="zh-TW" sz="2400" i="1" dirty="0" smtClean="0"/>
              <a:t>O(</a:t>
            </a:r>
            <a:r>
              <a:rPr lang="en-US" altLang="zh-TW" sz="2400" i="1" dirty="0" err="1" smtClean="0"/>
              <a:t>Rlog</a:t>
            </a:r>
            <a:r>
              <a:rPr lang="en-US" altLang="zh-TW" sz="2400" i="1" dirty="0" smtClean="0"/>
              <a:t> log n + n) time to </a:t>
            </a:r>
            <a:r>
              <a:rPr lang="en-US" altLang="zh-TW" sz="2400" dirty="0" smtClean="0"/>
              <a:t>get the set </a:t>
            </a:r>
            <a:r>
              <a:rPr lang="en-US" altLang="zh-TW" sz="2400" i="1" dirty="0" smtClean="0"/>
              <a:t>M in the required order [15].</a:t>
            </a:r>
            <a:endParaRPr lang="en-US" altLang="zh-TW" sz="2800" i="1" dirty="0" smtClean="0"/>
          </a:p>
          <a:p>
            <a:endParaRPr lang="en-US" altLang="zh-TW" sz="2800" i="1" dirty="0"/>
          </a:p>
          <a:p>
            <a:endParaRPr lang="en-US" altLang="zh-TW" sz="2800" i="1" dirty="0"/>
          </a:p>
          <a:p>
            <a:endParaRPr lang="en-US" altLang="zh-TW" i="1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928694"/>
          </a:xfrm>
        </p:spPr>
        <p:txBody>
          <a:bodyPr/>
          <a:lstStyle/>
          <a:p>
            <a:r>
              <a:rPr lang="en-US" altLang="zh-TW" dirty="0" err="1" smtClean="0"/>
              <a:t>BoundedHeap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357850"/>
          </a:xfrm>
        </p:spPr>
        <p:txBody>
          <a:bodyPr>
            <a:noAutofit/>
          </a:bodyPr>
          <a:lstStyle/>
          <a:p>
            <a:r>
              <a:rPr lang="en-US" altLang="zh-TW" sz="2000" dirty="0" smtClean="0"/>
              <a:t>Insert</a:t>
            </a:r>
            <a:r>
              <a:rPr lang="en-US" altLang="zh-TW" sz="2000" i="1" dirty="0" smtClean="0"/>
              <a:t>(H, Pos, Value, Data): Insert into the Bounded-</a:t>
            </a:r>
            <a:r>
              <a:rPr lang="en-US" altLang="zh-TW" sz="2000" dirty="0" smtClean="0"/>
              <a:t>Heap </a:t>
            </a:r>
            <a:r>
              <a:rPr lang="en-US" altLang="zh-TW" sz="2000" i="1" dirty="0" smtClean="0"/>
              <a:t>H the position Pos with value </a:t>
            </a:r>
            <a:r>
              <a:rPr lang="en-US" altLang="zh-TW" sz="2000" i="1" dirty="0" err="1" smtClean="0"/>
              <a:t>Value</a:t>
            </a:r>
            <a:r>
              <a:rPr lang="en-US" altLang="zh-TW" sz="2000" i="1" dirty="0" smtClean="0"/>
              <a:t> and associated </a:t>
            </a:r>
            <a:r>
              <a:rPr lang="en-US" altLang="zh-TW" sz="2000" dirty="0" smtClean="0"/>
              <a:t>information Data.</a:t>
            </a:r>
            <a:br>
              <a:rPr lang="en-US" altLang="zh-TW" sz="2000" dirty="0" smtClean="0"/>
            </a:br>
            <a:endParaRPr lang="en-US" altLang="zh-TW" sz="2000" dirty="0" smtClean="0"/>
          </a:p>
          <a:p>
            <a:r>
              <a:rPr lang="en-US" altLang="zh-TW" sz="2000" dirty="0" err="1" smtClean="0"/>
              <a:t>IncreaseValue</a:t>
            </a:r>
            <a:r>
              <a:rPr lang="en-US" altLang="zh-TW" sz="2000" i="1" dirty="0" smtClean="0"/>
              <a:t>(H, Pos, Value, Data): If H does not already </a:t>
            </a:r>
            <a:r>
              <a:rPr lang="en-US" altLang="zh-TW" sz="2000" dirty="0" smtClean="0"/>
              <a:t>contain the position Pos, perform Insert</a:t>
            </a:r>
            <a:r>
              <a:rPr lang="en-US" altLang="zh-TW" sz="2000" i="1" dirty="0" smtClean="0"/>
              <a:t>(H, </a:t>
            </a:r>
            <a:r>
              <a:rPr lang="en-US" altLang="zh-TW" sz="2000" dirty="0" smtClean="0"/>
              <a:t>Pos</a:t>
            </a:r>
            <a:r>
              <a:rPr lang="en-US" altLang="zh-TW" sz="2000" i="1" dirty="0" smtClean="0"/>
              <a:t>, Value, Data). Otherwise, set this position’s </a:t>
            </a:r>
            <a:r>
              <a:rPr lang="en-US" altLang="zh-TW" sz="2000" dirty="0" smtClean="0"/>
              <a:t>value to max{Value</a:t>
            </a:r>
            <a:r>
              <a:rPr lang="en-US" altLang="zh-TW" sz="2000" i="1" dirty="0" smtClean="0"/>
              <a:t>, Value}, where Value is its previous </a:t>
            </a:r>
            <a:r>
              <a:rPr lang="en-US" altLang="zh-TW" sz="2000" dirty="0" smtClean="0"/>
              <a:t>value. Also, update Data accordingly.</a:t>
            </a:r>
            <a:br>
              <a:rPr lang="en-US" altLang="zh-TW" sz="2000" dirty="0" smtClean="0"/>
            </a:br>
            <a:endParaRPr lang="en-US" altLang="zh-TW" sz="2000" dirty="0" smtClean="0"/>
          </a:p>
          <a:p>
            <a:r>
              <a:rPr lang="en-US" altLang="zh-TW" sz="2000" dirty="0" err="1" smtClean="0"/>
              <a:t>BoundedMax</a:t>
            </a:r>
            <a:r>
              <a:rPr lang="en-US" altLang="zh-TW" sz="2000" i="1" dirty="0" smtClean="0"/>
              <a:t>(H, Pos): Return the item (with additional data) that has maximum value among all </a:t>
            </a:r>
            <a:r>
              <a:rPr lang="en-US" altLang="zh-TW" sz="2000" dirty="0" smtClean="0"/>
              <a:t>items in </a:t>
            </a:r>
            <a:r>
              <a:rPr lang="en-US" altLang="zh-TW" sz="2000" i="1" dirty="0" smtClean="0"/>
              <a:t>H with position smaller than Pos. If H </a:t>
            </a:r>
            <a:r>
              <a:rPr lang="en-US" altLang="zh-TW" sz="2000" dirty="0" smtClean="0"/>
              <a:t>does not contain any items with position smaller than Pos, return 0.</a:t>
            </a:r>
            <a:br>
              <a:rPr lang="en-US" altLang="zh-TW" sz="2000" dirty="0" smtClean="0"/>
            </a:br>
            <a:endParaRPr lang="en-US" altLang="zh-TW" sz="2000" dirty="0" smtClean="0"/>
          </a:p>
          <a:p>
            <a:r>
              <a:rPr lang="en-US" altLang="zh-TW" sz="2000" b="1" dirty="0" smtClean="0"/>
              <a:t>Theorem 1. </a:t>
            </a:r>
            <a:r>
              <a:rPr lang="en-US" altLang="zh-TW" sz="2000" b="1" i="1" dirty="0" smtClean="0"/>
              <a:t>(See [5].) </a:t>
            </a:r>
            <a:r>
              <a:rPr lang="en-US" altLang="zh-TW" sz="2000" i="1" dirty="0" err="1" smtClean="0"/>
              <a:t>BoundedHeap</a:t>
            </a:r>
            <a:r>
              <a:rPr lang="en-US" altLang="zh-TW" sz="2000" i="1" dirty="0" smtClean="0"/>
              <a:t> data structure can</a:t>
            </a:r>
            <a:r>
              <a:rPr lang="en-US" altLang="zh-TW" sz="2000" b="1" i="1" dirty="0" smtClean="0"/>
              <a:t> </a:t>
            </a:r>
            <a:r>
              <a:rPr lang="en-US" altLang="zh-TW" sz="2000" i="1" dirty="0" smtClean="0"/>
              <a:t>support each of the above operations in O(log </a:t>
            </a:r>
            <a:r>
              <a:rPr lang="en-US" altLang="zh-TW" sz="2000" i="1" dirty="0" err="1" smtClean="0"/>
              <a:t>log</a:t>
            </a:r>
            <a:r>
              <a:rPr lang="en-US" altLang="zh-TW" sz="2000" i="1" dirty="0" smtClean="0"/>
              <a:t> n) amortized time, where keys are drawn from the set </a:t>
            </a:r>
            <a:r>
              <a:rPr lang="en-US" altLang="zh-TW" sz="2000" dirty="0" smtClean="0"/>
              <a:t>{1</a:t>
            </a:r>
            <a:r>
              <a:rPr lang="en-US" altLang="zh-TW" sz="2000" i="1" dirty="0" smtClean="0"/>
              <a:t>, . . . , n}. The data structure requires O(n) space.</a:t>
            </a:r>
            <a:endParaRPr lang="zh-TW" alt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LCS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500726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We follow </a:t>
            </a:r>
            <a:r>
              <a:rPr lang="en-US" altLang="zh-TW" sz="2800" dirty="0"/>
              <a:t>the simple dynamic programming </a:t>
            </a:r>
            <a:r>
              <a:rPr lang="en-US" altLang="zh-TW" sz="2800" dirty="0" smtClean="0"/>
              <a:t>formulation of </a:t>
            </a:r>
            <a:r>
              <a:rPr lang="en-US" altLang="zh-TW" sz="2800" dirty="0"/>
              <a:t>[15] and improve its running time of </a:t>
            </a:r>
            <a:r>
              <a:rPr lang="en-US" altLang="zh-TW" sz="2800" i="1" dirty="0"/>
              <a:t>O(n</a:t>
            </a:r>
            <a:r>
              <a:rPr lang="en-US" altLang="zh-TW" sz="2800" i="1" baseline="30000" dirty="0"/>
              <a:t>2</a:t>
            </a:r>
            <a:r>
              <a:rPr lang="en-US" altLang="zh-TW" sz="2800" i="1" dirty="0"/>
              <a:t> + R) </a:t>
            </a:r>
            <a:r>
              <a:rPr lang="en-US" altLang="zh-TW" sz="2800" i="1" dirty="0" smtClean="0"/>
              <a:t>to O(</a:t>
            </a:r>
            <a:r>
              <a:rPr lang="en-US" altLang="zh-TW" sz="2800" i="1" dirty="0" err="1" smtClean="0"/>
              <a:t>Rlog</a:t>
            </a:r>
            <a:r>
              <a:rPr lang="en-US" altLang="zh-TW" sz="2800" i="1" dirty="0" smtClean="0"/>
              <a:t> </a:t>
            </a:r>
            <a:r>
              <a:rPr lang="en-US" altLang="zh-TW" sz="2800" i="1" dirty="0"/>
              <a:t>log n + n). The dynamic </a:t>
            </a:r>
            <a:r>
              <a:rPr lang="en-US" altLang="zh-TW" sz="2800" i="1" dirty="0" smtClean="0"/>
              <a:t>programming  formulation </a:t>
            </a:r>
            <a:r>
              <a:rPr lang="en-US" altLang="zh-TW" sz="2800" dirty="0" smtClean="0"/>
              <a:t>from </a:t>
            </a:r>
            <a:r>
              <a:rPr lang="en-US" altLang="zh-TW" sz="2800" dirty="0"/>
              <a:t>[15] is as follows</a:t>
            </a:r>
            <a:r>
              <a:rPr lang="en-US" altLang="zh-TW" sz="2800" dirty="0" smtClean="0"/>
              <a:t>:</a:t>
            </a:r>
          </a:p>
          <a:p>
            <a:endParaRPr lang="en-US" altLang="zh-TW" sz="2800" dirty="0"/>
          </a:p>
          <a:p>
            <a:endParaRPr lang="en-US" altLang="zh-TW" sz="2800" dirty="0" smtClean="0"/>
          </a:p>
          <a:p>
            <a:endParaRPr lang="en-US" altLang="zh-TW" sz="2800" dirty="0"/>
          </a:p>
          <a:p>
            <a:endParaRPr lang="en-US" altLang="zh-TW" sz="2800" dirty="0" smtClean="0"/>
          </a:p>
          <a:p>
            <a:endParaRPr lang="en-US" altLang="zh-TW" sz="2800" dirty="0"/>
          </a:p>
          <a:p>
            <a:endParaRPr lang="en-US" altLang="zh-TW" sz="2800" dirty="0" smtClean="0"/>
          </a:p>
          <a:p>
            <a:endParaRPr lang="zh-TW" altLang="en-US" sz="2800" dirty="0"/>
          </a:p>
        </p:txBody>
      </p:sp>
      <p:pic>
        <p:nvPicPr>
          <p:cNvPr id="4" name="圖片 3" descr="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00100" y="3286124"/>
            <a:ext cx="6241019" cy="23574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857256"/>
          </a:xfrm>
        </p:spPr>
        <p:txBody>
          <a:bodyPr/>
          <a:lstStyle/>
          <a:p>
            <a:r>
              <a:rPr lang="en-US" altLang="zh-TW" dirty="0" err="1" smtClean="0"/>
              <a:t>AlgLCSNew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4911741"/>
          </a:xfrm>
        </p:spPr>
        <p:txBody>
          <a:bodyPr>
            <a:normAutofit/>
          </a:bodyPr>
          <a:lstStyle/>
          <a:p>
            <a:r>
              <a:rPr lang="en-US" altLang="zh-TW" sz="2200" dirty="0" smtClean="0"/>
              <a:t>Recall that we perform a row by row operation.</a:t>
            </a:r>
          </a:p>
          <a:p>
            <a:r>
              <a:rPr lang="en-US" altLang="zh-TW" sz="2200" dirty="0" smtClean="0"/>
              <a:t>While considering row </a:t>
            </a:r>
            <a:r>
              <a:rPr lang="en-US" altLang="zh-TW" sz="2200" i="1" dirty="0" err="1" smtClean="0"/>
              <a:t>i</a:t>
            </a:r>
            <a:r>
              <a:rPr lang="en-US" altLang="zh-TW" sz="2200" i="1" dirty="0" smtClean="0"/>
              <a:t>, we already have the </a:t>
            </a:r>
            <a:r>
              <a:rPr lang="en-US" altLang="zh-TW" sz="2200" dirty="0" err="1" smtClean="0"/>
              <a:t>BoundedHeap</a:t>
            </a:r>
            <a:r>
              <a:rPr lang="en-US" altLang="zh-TW" sz="2200" dirty="0" smtClean="0"/>
              <a:t> data structure </a:t>
            </a:r>
            <a:r>
              <a:rPr lang="en-US" altLang="zh-TW" sz="2200" i="1" dirty="0" smtClean="0"/>
              <a:t>H</a:t>
            </a:r>
            <a:r>
              <a:rPr lang="en-US" altLang="zh-TW" sz="2200" i="1" baseline="-25000" dirty="0" smtClean="0"/>
              <a:t>i−1</a:t>
            </a:r>
            <a:r>
              <a:rPr lang="en-US" altLang="zh-TW" sz="2200" i="1" dirty="0" smtClean="0"/>
              <a:t> at our hand; now we </a:t>
            </a:r>
            <a:r>
              <a:rPr lang="en-US" altLang="zh-TW" sz="2200" dirty="0" smtClean="0"/>
              <a:t>construct the </a:t>
            </a:r>
            <a:r>
              <a:rPr lang="en-US" altLang="zh-TW" sz="2200" dirty="0" err="1" smtClean="0"/>
              <a:t>BoundedHeap</a:t>
            </a:r>
            <a:r>
              <a:rPr lang="en-US" altLang="zh-TW" sz="2200" dirty="0" smtClean="0"/>
              <a:t> data structure </a:t>
            </a:r>
            <a:r>
              <a:rPr lang="en-US" altLang="zh-TW" sz="2200" i="1" dirty="0" smtClean="0"/>
              <a:t>H</a:t>
            </a:r>
            <a:r>
              <a:rPr lang="en-US" altLang="zh-TW" sz="2200" i="1" baseline="-25000" dirty="0" smtClean="0"/>
              <a:t>i</a:t>
            </a:r>
            <a:r>
              <a:rPr lang="en-US" altLang="zh-TW" sz="2200" i="1" dirty="0" smtClean="0"/>
              <a:t>.</a:t>
            </a:r>
          </a:p>
          <a:p>
            <a:r>
              <a:rPr lang="en-US" altLang="zh-TW" sz="2200" dirty="0" smtClean="0"/>
              <a:t>At first </a:t>
            </a:r>
            <a:r>
              <a:rPr lang="en-US" altLang="zh-TW" sz="2200" i="1" dirty="0" smtClean="0"/>
              <a:t>H</a:t>
            </a:r>
            <a:r>
              <a:rPr lang="en-US" altLang="zh-TW" sz="2200" i="1" baseline="-25000" dirty="0" smtClean="0"/>
              <a:t>i</a:t>
            </a:r>
            <a:r>
              <a:rPr lang="en-US" altLang="zh-TW" sz="2200" i="1" dirty="0" smtClean="0"/>
              <a:t> is initialized to H</a:t>
            </a:r>
            <a:r>
              <a:rPr lang="en-US" altLang="zh-TW" sz="2200" i="1" baseline="-25000" dirty="0" smtClean="0"/>
              <a:t>i−1</a:t>
            </a:r>
            <a:r>
              <a:rPr lang="en-US" altLang="zh-TW" sz="2200" i="1" dirty="0" smtClean="0"/>
              <a:t>.</a:t>
            </a:r>
          </a:p>
          <a:p>
            <a:endParaRPr lang="en-US" altLang="zh-TW" sz="2200" i="1" dirty="0" smtClean="0"/>
          </a:p>
          <a:p>
            <a:r>
              <a:rPr lang="en-US" altLang="zh-TW" sz="2200" dirty="0" smtClean="0"/>
              <a:t>Assume that we are considering the match </a:t>
            </a:r>
            <a:r>
              <a:rPr lang="en-US" altLang="zh-TW" sz="2200" i="1" dirty="0" smtClean="0"/>
              <a:t>(</a:t>
            </a:r>
            <a:r>
              <a:rPr lang="en-US" altLang="zh-TW" sz="2200" i="1" dirty="0" err="1" smtClean="0"/>
              <a:t>i</a:t>
            </a:r>
            <a:r>
              <a:rPr lang="en-US" altLang="zh-TW" sz="2200" i="1" dirty="0" smtClean="0"/>
              <a:t>, j ) ∈ M</a:t>
            </a:r>
            <a:r>
              <a:rPr lang="en-US" altLang="zh-TW" sz="2200" i="1" baseline="-25000" dirty="0" smtClean="0"/>
              <a:t>i </a:t>
            </a:r>
            <a:r>
              <a:rPr lang="en-US" altLang="zh-TW" sz="2200" i="1" dirty="0" smtClean="0"/>
              <a:t> :</a:t>
            </a:r>
            <a:endParaRPr lang="en-US" altLang="zh-TW" sz="2200" i="1" baseline="-25000" dirty="0" smtClean="0"/>
          </a:p>
          <a:p>
            <a:pPr>
              <a:buNone/>
            </a:pPr>
            <a:r>
              <a:rPr lang="en-US" altLang="zh-TW" sz="2200" i="1" dirty="0" smtClean="0"/>
              <a:t>		T [</a:t>
            </a:r>
            <a:r>
              <a:rPr lang="en-US" altLang="zh-TW" sz="2200" i="1" dirty="0" err="1" smtClean="0"/>
              <a:t>i</a:t>
            </a:r>
            <a:r>
              <a:rPr lang="en-US" altLang="zh-TW" sz="2200" i="1" dirty="0" smtClean="0"/>
              <a:t>, j ].Value = </a:t>
            </a:r>
            <a:r>
              <a:rPr lang="en-US" altLang="zh-TW" sz="2200" i="1" dirty="0" err="1" smtClean="0"/>
              <a:t>BoundedMax</a:t>
            </a:r>
            <a:r>
              <a:rPr lang="en-US" altLang="zh-TW" sz="2200" i="1" dirty="0" smtClean="0"/>
              <a:t>(H</a:t>
            </a:r>
            <a:r>
              <a:rPr lang="en-US" altLang="zh-TW" sz="2200" i="1" baseline="-25000" dirty="0" smtClean="0"/>
              <a:t>i−1</a:t>
            </a:r>
            <a:r>
              <a:rPr lang="en-US" altLang="zh-TW" sz="2200" i="1" dirty="0" smtClean="0"/>
              <a:t>, j).Value+ 1. </a:t>
            </a:r>
          </a:p>
          <a:p>
            <a:pPr>
              <a:buNone/>
            </a:pPr>
            <a:r>
              <a:rPr lang="en-US" altLang="zh-TW" sz="2200" i="1" dirty="0" smtClean="0"/>
              <a:t>		T [</a:t>
            </a:r>
            <a:r>
              <a:rPr lang="en-US" altLang="zh-TW" sz="2200" i="1" dirty="0" err="1" smtClean="0"/>
              <a:t>i</a:t>
            </a:r>
            <a:r>
              <a:rPr lang="en-US" altLang="zh-TW" sz="2200" i="1" dirty="0" smtClean="0"/>
              <a:t>, j ].</a:t>
            </a:r>
            <a:r>
              <a:rPr lang="en-US" altLang="zh-TW" sz="2200" i="1" dirty="0" err="1" smtClean="0"/>
              <a:t>Prev</a:t>
            </a:r>
            <a:r>
              <a:rPr lang="en-US" altLang="zh-TW" sz="2200" i="1" dirty="0" smtClean="0"/>
              <a:t> = </a:t>
            </a:r>
            <a:r>
              <a:rPr lang="en-US" altLang="zh-TW" sz="2200" i="1" dirty="0" err="1" smtClean="0"/>
              <a:t>BoundedMax</a:t>
            </a:r>
            <a:r>
              <a:rPr lang="en-US" altLang="zh-TW" sz="2200" i="1" dirty="0" smtClean="0"/>
              <a:t>(H</a:t>
            </a:r>
            <a:r>
              <a:rPr lang="en-US" altLang="zh-TW" sz="2200" i="1" baseline="-25000" dirty="0" smtClean="0"/>
              <a:t>i−1</a:t>
            </a:r>
            <a:r>
              <a:rPr lang="en-US" altLang="zh-TW" sz="2200" i="1" dirty="0" smtClean="0"/>
              <a:t>, j).data.</a:t>
            </a:r>
          </a:p>
          <a:p>
            <a:pPr>
              <a:buNone/>
            </a:pPr>
            <a:r>
              <a:rPr lang="en-US" altLang="zh-TW" sz="2200" dirty="0" smtClean="0"/>
              <a:t>     Then we perform the following operation:</a:t>
            </a:r>
          </a:p>
          <a:p>
            <a:pPr>
              <a:buNone/>
            </a:pPr>
            <a:r>
              <a:rPr lang="en-US" altLang="zh-TW" sz="2200" dirty="0" smtClean="0"/>
              <a:t>		</a:t>
            </a:r>
            <a:r>
              <a:rPr lang="en-US" altLang="zh-TW" sz="2200" dirty="0" err="1" smtClean="0"/>
              <a:t>IncreaseValue</a:t>
            </a:r>
            <a:r>
              <a:rPr lang="en-US" altLang="zh-TW" sz="2200" dirty="0" smtClean="0"/>
              <a:t>(</a:t>
            </a:r>
            <a:r>
              <a:rPr lang="en-US" altLang="zh-TW" sz="2200" i="1" dirty="0" smtClean="0"/>
              <a:t>H</a:t>
            </a:r>
            <a:r>
              <a:rPr lang="en-US" altLang="zh-TW" sz="2200" i="1" baseline="-25000" dirty="0" smtClean="0"/>
              <a:t>i </a:t>
            </a:r>
            <a:r>
              <a:rPr lang="en-US" altLang="zh-TW" sz="2200" i="1" dirty="0" smtClean="0"/>
              <a:t>, j, T [</a:t>
            </a:r>
            <a:r>
              <a:rPr lang="en-US" altLang="zh-TW" sz="2200" i="1" dirty="0" err="1" smtClean="0"/>
              <a:t>i</a:t>
            </a:r>
            <a:r>
              <a:rPr lang="en-US" altLang="zh-TW" sz="2200" i="1" dirty="0" smtClean="0"/>
              <a:t>, j ].Value, (</a:t>
            </a:r>
            <a:r>
              <a:rPr lang="en-US" altLang="zh-TW" sz="2200" i="1" dirty="0" err="1" smtClean="0"/>
              <a:t>i,j</a:t>
            </a:r>
            <a:r>
              <a:rPr lang="en-US" altLang="zh-TW" sz="2200" i="1" dirty="0" smtClean="0"/>
              <a:t>)).</a:t>
            </a:r>
            <a:endParaRPr lang="zh-TW" alt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/>
          <a:lstStyle/>
          <a:p>
            <a:r>
              <a:rPr lang="en-US" altLang="zh-TW" dirty="0" smtClean="0"/>
              <a:t>CLCS problem</a:t>
            </a:r>
            <a:endParaRPr lang="zh-TW" altLang="en-US" dirty="0"/>
          </a:p>
        </p:txBody>
      </p:sp>
      <p:pic>
        <p:nvPicPr>
          <p:cNvPr id="4" name="內容版面配置區 3" descr="3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71604" y="1142984"/>
            <a:ext cx="5357850" cy="5493111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857256"/>
          </a:xfrm>
        </p:spPr>
        <p:txBody>
          <a:bodyPr/>
          <a:lstStyle/>
          <a:p>
            <a:r>
              <a:rPr lang="en-US" altLang="zh-TW" dirty="0" err="1" smtClean="0"/>
              <a:t>AlgCLCSNew</a:t>
            </a:r>
            <a:endParaRPr lang="zh-TW" altLang="en-US" dirty="0"/>
          </a:p>
        </p:txBody>
      </p:sp>
      <p:pic>
        <p:nvPicPr>
          <p:cNvPr id="7" name="內容版面配置區 6" descr="4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85918" y="1000108"/>
            <a:ext cx="5114925" cy="914400"/>
          </a:xfrm>
        </p:spPr>
      </p:pic>
      <p:pic>
        <p:nvPicPr>
          <p:cNvPr id="8" name="圖片 7" descr="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43042" y="1785926"/>
            <a:ext cx="5086350" cy="3533775"/>
          </a:xfrm>
          <a:prstGeom prst="rect">
            <a:avLst/>
          </a:prstGeom>
        </p:spPr>
      </p:pic>
      <p:pic>
        <p:nvPicPr>
          <p:cNvPr id="9" name="圖片 8" descr="6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714480" y="5038725"/>
            <a:ext cx="5057775" cy="18192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928694"/>
          </a:xfrm>
        </p:spPr>
        <p:txBody>
          <a:bodyPr/>
          <a:lstStyle/>
          <a:p>
            <a:r>
              <a:rPr lang="en-US" altLang="zh-TW" dirty="0" err="1" smtClean="0"/>
              <a:t>AlgCLCSNew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4911741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we always deal with 3 </a:t>
            </a:r>
            <a:r>
              <a:rPr lang="en-US" altLang="zh-TW" dirty="0" err="1" smtClean="0"/>
              <a:t>BoundedHeap</a:t>
            </a:r>
            <a:r>
              <a:rPr lang="en-US" altLang="zh-TW" dirty="0" smtClean="0"/>
              <a:t> data structures              and </a:t>
            </a:r>
            <a:endParaRPr lang="en-US" altLang="zh-TW" i="1" dirty="0" smtClean="0"/>
          </a:p>
          <a:p>
            <a:endParaRPr lang="en-US" altLang="zh-TW" i="1" dirty="0" smtClean="0"/>
          </a:p>
        </p:txBody>
      </p:sp>
      <p:pic>
        <p:nvPicPr>
          <p:cNvPr id="4" name="圖片 3" descr="7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5786" y="2357430"/>
            <a:ext cx="6143668" cy="2445302"/>
          </a:xfrm>
          <a:prstGeom prst="rect">
            <a:avLst/>
          </a:prstGeom>
        </p:spPr>
      </p:pic>
      <p:graphicFrame>
        <p:nvGraphicFramePr>
          <p:cNvPr id="6" name="物件 5"/>
          <p:cNvGraphicFramePr>
            <a:graphicFrameLocks noChangeAspect="1"/>
          </p:cNvGraphicFramePr>
          <p:nvPr/>
        </p:nvGraphicFramePr>
        <p:xfrm>
          <a:off x="2633663" y="1785938"/>
          <a:ext cx="1163637" cy="441325"/>
        </p:xfrm>
        <a:graphic>
          <a:graphicData uri="http://schemas.openxmlformats.org/presentationml/2006/ole">
            <p:oleObj spid="_x0000_s1027" name="方程式" r:id="rId4" imgW="634680" imgH="241200" progId="Equation.3">
              <p:embed/>
            </p:oleObj>
          </a:graphicData>
        </a:graphic>
      </p:graphicFrame>
      <p:graphicFrame>
        <p:nvGraphicFramePr>
          <p:cNvPr id="7" name="物件 6"/>
          <p:cNvGraphicFramePr>
            <a:graphicFrameLocks noChangeAspect="1"/>
          </p:cNvGraphicFramePr>
          <p:nvPr/>
        </p:nvGraphicFramePr>
        <p:xfrm>
          <a:off x="4657725" y="1785938"/>
          <a:ext cx="469900" cy="469900"/>
        </p:xfrm>
        <a:graphic>
          <a:graphicData uri="http://schemas.openxmlformats.org/presentationml/2006/ole">
            <p:oleObj spid="_x0000_s1028" name="方程式" r:id="rId5" imgW="241200" imgH="241200" progId="Equation.3">
              <p:embed/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325</Words>
  <Application>Microsoft Office PowerPoint</Application>
  <PresentationFormat>如螢幕大小 (4:3)</PresentationFormat>
  <Paragraphs>45</Paragraphs>
  <Slides>9</Slides>
  <Notes>0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1" baseType="lpstr">
      <vt:lpstr>Office 佈景主題</vt:lpstr>
      <vt:lpstr>方程式</vt:lpstr>
      <vt:lpstr>New efficient algorithms for the LCS and constrained LCS problems</vt:lpstr>
      <vt:lpstr>Abstract</vt:lpstr>
      <vt:lpstr>Introduction</vt:lpstr>
      <vt:lpstr>BoundedHeap</vt:lpstr>
      <vt:lpstr>LCS problem</vt:lpstr>
      <vt:lpstr>AlgLCSNew</vt:lpstr>
      <vt:lpstr>CLCS problem</vt:lpstr>
      <vt:lpstr>AlgCLCSNew</vt:lpstr>
      <vt:lpstr>AlgCLCSNew</vt:lpstr>
    </vt:vector>
  </TitlesOfParts>
  <Company>pplab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efficient algorithms for the LCS and constrained LCS problems</dc:title>
  <dc:creator>kai</dc:creator>
  <cp:lastModifiedBy>kai</cp:lastModifiedBy>
  <cp:revision>31</cp:revision>
  <dcterms:created xsi:type="dcterms:W3CDTF">2010-04-12T14:42:21Z</dcterms:created>
  <dcterms:modified xsi:type="dcterms:W3CDTF">2010-04-13T10:27:49Z</dcterms:modified>
</cp:coreProperties>
</file>