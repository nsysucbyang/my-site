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9" r:id="rId10"/>
    <p:sldId id="264" r:id="rId11"/>
    <p:sldId id="265" r:id="rId12"/>
    <p:sldId id="266" r:id="rId13"/>
    <p:sldId id="267" r:id="rId14"/>
    <p:sldId id="268"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3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2010/12/14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2010/12/14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3600" dirty="0" smtClean="0">
                <a:latin typeface="Times New Roman" pitchFamily="18" charset="0"/>
                <a:cs typeface="Times New Roman" pitchFamily="18" charset="0"/>
              </a:rPr>
              <a:t>A new taxonomy-based protein fold recognition approach</a:t>
            </a:r>
            <a:br>
              <a:rPr lang="en-US" altLang="zh-TW" sz="3600" dirty="0" smtClean="0">
                <a:latin typeface="Times New Roman" pitchFamily="18" charset="0"/>
                <a:cs typeface="Times New Roman" pitchFamily="18" charset="0"/>
              </a:rPr>
            </a:br>
            <a:r>
              <a:rPr lang="en-US" altLang="zh-TW" sz="3600" dirty="0" smtClean="0">
                <a:latin typeface="Times New Roman" pitchFamily="18" charset="0"/>
                <a:cs typeface="Times New Roman" pitchFamily="18" charset="0"/>
              </a:rPr>
              <a:t>based on autocross-covariance transformation</a:t>
            </a:r>
            <a:endParaRPr lang="zh-TW" altLang="en-US" sz="3600" dirty="0">
              <a:latin typeface="Times New Roman" pitchFamily="18" charset="0"/>
              <a:cs typeface="Times New Roman" pitchFamily="18" charset="0"/>
            </a:endParaRPr>
          </a:p>
        </p:txBody>
      </p:sp>
      <p:sp>
        <p:nvSpPr>
          <p:cNvPr id="3" name="副標題 2"/>
          <p:cNvSpPr>
            <a:spLocks noGrp="1"/>
          </p:cNvSpPr>
          <p:nvPr>
            <p:ph type="subTitle" idx="1"/>
          </p:nvPr>
        </p:nvSpPr>
        <p:spPr/>
        <p:txBody>
          <a:bodyPr>
            <a:normAutofit lnSpcReduction="10000"/>
          </a:bodyPr>
          <a:lstStyle/>
          <a:p>
            <a:endParaRPr lang="en-US" altLang="zh-TW" sz="1800" dirty="0" smtClean="0"/>
          </a:p>
          <a:p>
            <a:r>
              <a:rPr lang="en-US" altLang="zh-TW" sz="1800" dirty="0" err="1" smtClean="0">
                <a:solidFill>
                  <a:schemeClr val="tx1"/>
                </a:solidFill>
                <a:latin typeface="Times New Roman" pitchFamily="18" charset="0"/>
                <a:cs typeface="Times New Roman" pitchFamily="18" charset="0"/>
              </a:rPr>
              <a:t>Qiwen</a:t>
            </a:r>
            <a:r>
              <a:rPr lang="en-US" altLang="zh-TW" sz="1800" dirty="0" smtClean="0">
                <a:solidFill>
                  <a:schemeClr val="tx1"/>
                </a:solidFill>
                <a:latin typeface="Times New Roman" pitchFamily="18" charset="0"/>
                <a:cs typeface="Times New Roman" pitchFamily="18" charset="0"/>
              </a:rPr>
              <a:t> Dong, </a:t>
            </a:r>
            <a:r>
              <a:rPr lang="en-US" altLang="zh-TW" sz="1800" dirty="0" err="1" smtClean="0">
                <a:solidFill>
                  <a:schemeClr val="tx1"/>
                </a:solidFill>
                <a:latin typeface="Times New Roman" pitchFamily="18" charset="0"/>
                <a:cs typeface="Times New Roman" pitchFamily="18" charset="0"/>
              </a:rPr>
              <a:t>Shuigeng</a:t>
            </a:r>
            <a:r>
              <a:rPr lang="en-US" altLang="zh-TW" sz="1800" dirty="0" smtClean="0">
                <a:solidFill>
                  <a:schemeClr val="tx1"/>
                </a:solidFill>
                <a:latin typeface="Times New Roman" pitchFamily="18" charset="0"/>
                <a:cs typeface="Times New Roman" pitchFamily="18" charset="0"/>
              </a:rPr>
              <a:t> Zhou, and </a:t>
            </a:r>
            <a:r>
              <a:rPr lang="en-US" altLang="zh-TW" sz="1800" dirty="0" err="1" smtClean="0">
                <a:solidFill>
                  <a:schemeClr val="tx1"/>
                </a:solidFill>
                <a:latin typeface="Times New Roman" pitchFamily="18" charset="0"/>
                <a:cs typeface="Times New Roman" pitchFamily="18" charset="0"/>
              </a:rPr>
              <a:t>Jihong</a:t>
            </a:r>
            <a:r>
              <a:rPr lang="en-US" altLang="zh-TW" sz="1800" dirty="0" smtClean="0">
                <a:solidFill>
                  <a:schemeClr val="tx1"/>
                </a:solidFill>
                <a:latin typeface="Times New Roman" pitchFamily="18" charset="0"/>
                <a:cs typeface="Times New Roman" pitchFamily="18" charset="0"/>
              </a:rPr>
              <a:t> Guan</a:t>
            </a:r>
          </a:p>
          <a:p>
            <a:r>
              <a:rPr lang="en-US" altLang="zh-TW" sz="1800" dirty="0" smtClean="0">
                <a:solidFill>
                  <a:schemeClr val="tx1"/>
                </a:solidFill>
                <a:latin typeface="Times New Roman" pitchFamily="18" charset="0"/>
                <a:cs typeface="Times New Roman" pitchFamily="18" charset="0"/>
              </a:rPr>
              <a:t>BIOINFORMATICS ORIGINAL PAPER Vol. 25 no. 20 2009, pages 2655–2662</a:t>
            </a:r>
          </a:p>
          <a:p>
            <a:pPr>
              <a:lnSpc>
                <a:spcPct val="80000"/>
              </a:lnSpc>
            </a:pPr>
            <a:r>
              <a:rPr lang="en-US" altLang="zh-TW" sz="1800" dirty="0" smtClean="0">
                <a:solidFill>
                  <a:schemeClr val="tx1"/>
                </a:solidFill>
                <a:latin typeface="Times New Roman" pitchFamily="18" charset="0"/>
                <a:cs typeface="Times New Roman" pitchFamily="18" charset="0"/>
              </a:rPr>
              <a:t>Speaker: Chong-</a:t>
            </a:r>
            <a:r>
              <a:rPr lang="en-US" altLang="zh-TW" sz="1800" dirty="0" err="1" smtClean="0">
                <a:solidFill>
                  <a:schemeClr val="tx1"/>
                </a:solidFill>
                <a:latin typeface="Times New Roman" pitchFamily="18" charset="0"/>
                <a:cs typeface="Times New Roman" pitchFamily="18" charset="0"/>
              </a:rPr>
              <a:t>Jie</a:t>
            </a:r>
            <a:r>
              <a:rPr lang="en-US" altLang="zh-TW" sz="1800" dirty="0" smtClean="0">
                <a:solidFill>
                  <a:schemeClr val="tx1"/>
                </a:solidFill>
                <a:latin typeface="Times New Roman" pitchFamily="18" charset="0"/>
                <a:cs typeface="Times New Roman" pitchFamily="18" charset="0"/>
              </a:rPr>
              <a:t> Wang</a:t>
            </a:r>
          </a:p>
          <a:p>
            <a:pPr>
              <a:lnSpc>
                <a:spcPct val="80000"/>
              </a:lnSpc>
            </a:pPr>
            <a:r>
              <a:rPr lang="en-US" altLang="zh-TW" sz="1800" dirty="0" smtClean="0">
                <a:solidFill>
                  <a:schemeClr val="tx1"/>
                </a:solidFill>
                <a:latin typeface="Times New Roman" pitchFamily="18" charset="0"/>
                <a:cs typeface="Times New Roman" pitchFamily="18" charset="0"/>
              </a:rPr>
              <a:t>Date: October 18, 2010</a:t>
            </a:r>
          </a:p>
          <a:p>
            <a:endParaRPr lang="en-US" altLang="zh-TW" sz="18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Abstract(1/2)</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70000" lnSpcReduction="20000"/>
          </a:bodyPr>
          <a:lstStyle/>
          <a:p>
            <a:r>
              <a:rPr lang="en-US" altLang="zh-TW" b="1" dirty="0" smtClean="0">
                <a:latin typeface="Times New Roman" pitchFamily="18" charset="0"/>
                <a:cs typeface="Times New Roman" pitchFamily="18" charset="0"/>
              </a:rPr>
              <a:t>Motivation: </a:t>
            </a:r>
            <a:r>
              <a:rPr lang="en-US" altLang="zh-TW" dirty="0" smtClean="0">
                <a:latin typeface="Times New Roman" pitchFamily="18" charset="0"/>
                <a:cs typeface="Times New Roman" pitchFamily="18" charset="0"/>
              </a:rPr>
              <a:t>Fold recognition is an important step in protein structure and function prediction. Traditional sequence comparison methods fail to identify reliable homologies with low sequence identity, while the taxonomic methods are effective alternatives, but their prediction accuracies are around 70%, which are still relatively low for practical usage.</a:t>
            </a:r>
          </a:p>
          <a:p>
            <a:r>
              <a:rPr lang="en-US" altLang="zh-TW" b="1" dirty="0" smtClean="0">
                <a:latin typeface="Times New Roman" pitchFamily="18" charset="0"/>
                <a:cs typeface="Times New Roman" pitchFamily="18" charset="0"/>
              </a:rPr>
              <a:t>Results: </a:t>
            </a:r>
            <a:r>
              <a:rPr lang="en-US" altLang="zh-TW" dirty="0" smtClean="0">
                <a:latin typeface="Times New Roman" pitchFamily="18" charset="0"/>
                <a:cs typeface="Times New Roman" pitchFamily="18" charset="0"/>
              </a:rPr>
              <a:t>In this study, a simple and powerful method is presented for taxonomic fold recognition, which combines support vector machine (SVM) with autocross-covariance (ACC) transformation. The evolutionary information represented in the form of position-specific score matrices is converted into a series of fixed-length vectors by ACC transformation and these vectors are then input to a SVM classifier for fold recognition. </a:t>
            </a:r>
            <a:endParaRPr lang="zh-TW" alt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Abstract(2/2)</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77500" lnSpcReduction="20000"/>
          </a:bodyPr>
          <a:lstStyle/>
          <a:p>
            <a:r>
              <a:rPr lang="en-US" altLang="zh-TW" dirty="0" smtClean="0">
                <a:latin typeface="Times New Roman" pitchFamily="18" charset="0"/>
                <a:cs typeface="Times New Roman" pitchFamily="18" charset="0"/>
              </a:rPr>
              <a:t>The sequence-order effect can be effectively captured by this scheme. Experiments are performed on the widely used D-B dataset and the corresponding extended dataset, respectively. The proposed method, called </a:t>
            </a:r>
            <a:r>
              <a:rPr lang="en-US" altLang="zh-TW" dirty="0" err="1" smtClean="0">
                <a:latin typeface="Times New Roman" pitchFamily="18" charset="0"/>
                <a:cs typeface="Times New Roman" pitchFamily="18" charset="0"/>
              </a:rPr>
              <a:t>ACCFold</a:t>
            </a:r>
            <a:r>
              <a:rPr lang="en-US" altLang="zh-TW" dirty="0" smtClean="0">
                <a:latin typeface="Times New Roman" pitchFamily="18" charset="0"/>
                <a:cs typeface="Times New Roman" pitchFamily="18" charset="0"/>
              </a:rPr>
              <a:t>, gets an overall accuracy of 70.1% on the D-B dataset, which is higher than major existing taxonomic methods by 2–14%. Furthermore, the method achieves an overall accuracy of 87.6% on the extended dataset, which surpasses major existing taxonomic methods by 9–17%. Additionally, our method obtains an overall accuracy of 80.9% for 86-folds and 77.2% for 199-folds. These results demonstrate that the </a:t>
            </a:r>
            <a:r>
              <a:rPr lang="en-US" altLang="zh-TW" dirty="0" err="1" smtClean="0">
                <a:latin typeface="Times New Roman" pitchFamily="18" charset="0"/>
                <a:cs typeface="Times New Roman" pitchFamily="18" charset="0"/>
              </a:rPr>
              <a:t>ACCFold</a:t>
            </a:r>
            <a:r>
              <a:rPr lang="en-US" altLang="zh-TW" dirty="0" smtClean="0">
                <a:latin typeface="Times New Roman" pitchFamily="18" charset="0"/>
                <a:cs typeface="Times New Roman" pitchFamily="18" charset="0"/>
              </a:rPr>
              <a:t> method provides the state-of-the-art performance for taxonomic fold recognition.</a:t>
            </a:r>
            <a:endParaRPr lang="zh-TW" alt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dataset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D-B dataset: </a:t>
            </a:r>
          </a:p>
          <a:p>
            <a:pPr lvl="1"/>
            <a:r>
              <a:rPr lang="en-US" altLang="zh-TW" dirty="0" smtClean="0">
                <a:latin typeface="Times New Roman" pitchFamily="18" charset="0"/>
                <a:cs typeface="Times New Roman" pitchFamily="18" charset="0"/>
              </a:rPr>
              <a:t>311 proteins for training and 383 proteins for test.</a:t>
            </a:r>
          </a:p>
          <a:p>
            <a:pPr lvl="1"/>
            <a:r>
              <a:rPr lang="en-US" altLang="zh-TW" dirty="0" smtClean="0">
                <a:latin typeface="Times New Roman" pitchFamily="18" charset="0"/>
                <a:cs typeface="Times New Roman" pitchFamily="18" charset="0"/>
              </a:rPr>
              <a:t>Any two proteins in the training set share </a:t>
            </a:r>
            <a:r>
              <a:rPr lang="en-US" altLang="zh-TW" i="1" dirty="0" smtClean="0">
                <a:latin typeface="Times New Roman" pitchFamily="18" charset="0"/>
                <a:cs typeface="Times New Roman" pitchFamily="18" charset="0"/>
              </a:rPr>
              <a:t>&lt;</a:t>
            </a:r>
            <a:r>
              <a:rPr lang="en-US" altLang="zh-TW" dirty="0" smtClean="0">
                <a:latin typeface="Times New Roman" pitchFamily="18" charset="0"/>
                <a:cs typeface="Times New Roman" pitchFamily="18" charset="0"/>
              </a:rPr>
              <a:t>40%</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identity</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and each fold has at least seven members.</a:t>
            </a:r>
          </a:p>
          <a:p>
            <a:pPr lvl="1"/>
            <a:r>
              <a:rPr lang="en-US" altLang="zh-TW" dirty="0" smtClean="0">
                <a:latin typeface="Times New Roman" pitchFamily="18" charset="0"/>
                <a:cs typeface="Times New Roman" pitchFamily="18" charset="0"/>
              </a:rPr>
              <a:t>Each protein in the test set has not more than 35% identity to any protein in the training set.</a:t>
            </a:r>
          </a:p>
          <a:p>
            <a:pPr lvl="1"/>
            <a:r>
              <a:rPr lang="en-US" altLang="zh-TW" dirty="0" smtClean="0">
                <a:latin typeface="Times New Roman" pitchFamily="18" charset="0"/>
                <a:cs typeface="Times New Roman" pitchFamily="18" charset="0"/>
              </a:rPr>
              <a:t>The proteins in this dataset belong to 27 different SCOP folds.</a:t>
            </a:r>
          </a:p>
          <a:p>
            <a:endParaRPr lang="en-US" altLang="zh-TW" dirty="0" smtClean="0">
              <a:latin typeface="Times New Roman" pitchFamily="18" charset="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t1.bmp"/>
          <p:cNvPicPr>
            <a:picLocks noChangeAspect="1"/>
          </p:cNvPicPr>
          <p:nvPr/>
        </p:nvPicPr>
        <p:blipFill>
          <a:blip r:embed="rId2" cstate="print"/>
          <a:stretch>
            <a:fillRect/>
          </a:stretch>
        </p:blipFill>
        <p:spPr>
          <a:xfrm>
            <a:off x="2853012" y="0"/>
            <a:ext cx="3437976"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dataset</a:t>
            </a:r>
            <a:endParaRPr lang="zh-TW" altLang="en-US" dirty="0"/>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F86: contains 86 folds and 5671 sequences, in which each fold has at least 25 members.</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F199: contains 199 folds and 7437 sequences, in which each fold has at least 10 members.</a:t>
            </a:r>
            <a:endParaRPr lang="zh-TW" alt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ACC transformation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Use PSSM</a:t>
            </a:r>
            <a:endParaRPr lang="en-US" altLang="zh-TW" dirty="0" smtClean="0"/>
          </a:p>
          <a:p>
            <a:r>
              <a:rPr lang="en-US" altLang="zh-TW" dirty="0" smtClean="0">
                <a:latin typeface="Times New Roman" pitchFamily="18" charset="0"/>
                <a:cs typeface="Times New Roman" pitchFamily="18" charset="0"/>
              </a:rPr>
              <a:t>AC: the correlation of the same property between two residues separated by a distance of </a:t>
            </a:r>
            <a:r>
              <a:rPr lang="en-US" altLang="zh-TW" i="1" dirty="0" err="1" smtClean="0">
                <a:latin typeface="Times New Roman" pitchFamily="18" charset="0"/>
                <a:cs typeface="Times New Roman" pitchFamily="18" charset="0"/>
              </a:rPr>
              <a:t>lg</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along the sequence.</a:t>
            </a:r>
            <a:endParaRPr lang="zh-TW" altLang="en-US" dirty="0">
              <a:latin typeface="Times New Roman" pitchFamily="18" charset="0"/>
              <a:cs typeface="Times New Roman" pitchFamily="18" charset="0"/>
            </a:endParaRPr>
          </a:p>
        </p:txBody>
      </p:sp>
      <p:pic>
        <p:nvPicPr>
          <p:cNvPr id="6" name="圖片 5" descr="AC_f.bmp"/>
          <p:cNvPicPr>
            <a:picLocks noChangeAspect="1"/>
          </p:cNvPicPr>
          <p:nvPr/>
        </p:nvPicPr>
        <p:blipFill>
          <a:blip r:embed="rId2" cstate="print"/>
          <a:stretch>
            <a:fillRect/>
          </a:stretch>
        </p:blipFill>
        <p:spPr>
          <a:xfrm>
            <a:off x="323528" y="3933056"/>
            <a:ext cx="8572500" cy="1762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ACC transformation</a:t>
            </a:r>
            <a:endParaRPr lang="zh-TW" altLang="en-US" dirty="0"/>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CC: the correlation of two different properties between two residues separated by </a:t>
            </a:r>
            <a:r>
              <a:rPr lang="en-US" altLang="zh-TW" i="1" dirty="0" err="1" smtClean="0">
                <a:latin typeface="Times New Roman" pitchFamily="18" charset="0"/>
                <a:cs typeface="Times New Roman" pitchFamily="18" charset="0"/>
              </a:rPr>
              <a:t>lg</a:t>
            </a:r>
            <a:r>
              <a:rPr lang="en-US" altLang="zh-TW" i="1"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along the sequence.</a:t>
            </a:r>
          </a:p>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pPr>
              <a:buNone/>
            </a:pPr>
            <a:endParaRPr lang="zh-TW" altLang="en-US" dirty="0">
              <a:latin typeface="Times New Roman" pitchFamily="18" charset="0"/>
              <a:cs typeface="Times New Roman" pitchFamily="18" charset="0"/>
            </a:endParaRPr>
          </a:p>
        </p:txBody>
      </p:sp>
      <p:pic>
        <p:nvPicPr>
          <p:cNvPr id="4" name="圖片 3" descr="CC_f.bmp"/>
          <p:cNvPicPr>
            <a:picLocks noChangeAspect="1"/>
          </p:cNvPicPr>
          <p:nvPr/>
        </p:nvPicPr>
        <p:blipFill>
          <a:blip r:embed="rId2" cstate="print"/>
          <a:stretch>
            <a:fillRect/>
          </a:stretch>
        </p:blipFill>
        <p:spPr>
          <a:xfrm>
            <a:off x="0" y="3212976"/>
            <a:ext cx="9144000" cy="15822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47500" lnSpcReduction="20000"/>
          </a:bodyPr>
          <a:lstStyle/>
          <a:p>
            <a:pPr marL="274320" indent="-274320">
              <a:buClr>
                <a:schemeClr val="accent3"/>
              </a:buClr>
              <a:buNone/>
              <a:defRPr/>
            </a:pPr>
            <a:r>
              <a:rPr lang="pt-BR" altLang="zh-TW" dirty="0" smtClean="0">
                <a:latin typeface="Courier New" pitchFamily="49" charset="0"/>
                <a:cs typeface="Courier New" pitchFamily="49" charset="0"/>
              </a:rPr>
              <a:t>    A  </a:t>
            </a:r>
            <a:r>
              <a:rPr lang="pt-BR" altLang="zh-TW" dirty="0" smtClean="0">
                <a:latin typeface="Courier New" pitchFamily="49" charset="0"/>
                <a:cs typeface="Courier New" pitchFamily="49" charset="0"/>
              </a:rPr>
              <a:t>R  N  D  C  Q  E  G  H  I  L  K  M  F  P  S  T  W  Y  V</a:t>
            </a:r>
          </a:p>
          <a:p>
            <a:pPr marL="274320" indent="-274320">
              <a:buClr>
                <a:schemeClr val="accent3"/>
              </a:buClr>
              <a:buNone/>
              <a:defRPr/>
            </a:pPr>
            <a:r>
              <a:rPr lang="pt-BR" altLang="zh-TW" dirty="0" smtClean="0">
                <a:latin typeface="Courier New" pitchFamily="49" charset="0"/>
                <a:cs typeface="Courier New" pitchFamily="49" charset="0"/>
              </a:rPr>
              <a:t> G  0 -3 -1 -2 -3 -2 -3  6 -3 -4 -4 -2 -3 -4 -3 -1 -2 -3 -4 -4</a:t>
            </a:r>
          </a:p>
          <a:p>
            <a:pPr marL="274320" indent="-274320">
              <a:buClr>
                <a:schemeClr val="accent3"/>
              </a:buClr>
              <a:buNone/>
              <a:defRPr/>
            </a:pPr>
            <a:r>
              <a:rPr lang="pt-BR" altLang="zh-TW" dirty="0" smtClean="0">
                <a:latin typeface="Courier New" pitchFamily="49" charset="0"/>
                <a:cs typeface="Courier New" pitchFamily="49" charset="0"/>
              </a:rPr>
              <a:t> V  2 -3 -3 -3 -1 -2 -2 -2 -3  3  0 -2  0  1 -2 -1 -1 -3 -1  3</a:t>
            </a:r>
          </a:p>
          <a:p>
            <a:pPr marL="274320" indent="-274320">
              <a:buClr>
                <a:schemeClr val="accent3"/>
              </a:buClr>
              <a:buNone/>
              <a:defRPr/>
            </a:pPr>
            <a:r>
              <a:rPr lang="pt-BR" altLang="zh-TW" dirty="0" smtClean="0">
                <a:latin typeface="Courier New" pitchFamily="49" charset="0"/>
                <a:cs typeface="Courier New" pitchFamily="49" charset="0"/>
              </a:rPr>
              <a:t> S  2 -2 -2 -2 -2 -1 -1 -1 -2 -3 -3 -1 -2 -4  7  1 -1 -4 -3 -2</a:t>
            </a:r>
          </a:p>
          <a:p>
            <a:pPr marL="274320" indent="-274320">
              <a:buClr>
                <a:schemeClr val="accent3"/>
              </a:buClr>
              <a:buNone/>
              <a:defRPr/>
            </a:pPr>
            <a:r>
              <a:rPr lang="pt-BR" altLang="zh-TW" dirty="0" smtClean="0">
                <a:latin typeface="Courier New" pitchFamily="49" charset="0"/>
                <a:cs typeface="Courier New" pitchFamily="49" charset="0"/>
              </a:rPr>
              <a:t> C -1 -4 -4 -4 10 -4 -5 -3 -4 -2 -2 -4 -2 -3 -4 -2 -2 -3 -3 -2</a:t>
            </a:r>
          </a:p>
          <a:p>
            <a:pPr marL="274320" indent="-274320">
              <a:buClr>
                <a:schemeClr val="accent3"/>
              </a:buClr>
              <a:buNone/>
              <a:defRPr/>
            </a:pPr>
            <a:r>
              <a:rPr lang="pt-BR" altLang="zh-TW" dirty="0" smtClean="0">
                <a:latin typeface="Courier New" pitchFamily="49" charset="0"/>
                <a:cs typeface="Courier New" pitchFamily="49" charset="0"/>
              </a:rPr>
              <a:t> L  0  3 -2 -3 -2 -1 -1 -3 -2  0  3  1  1 -1 -3 -2 -1 -3 -2 -1</a:t>
            </a:r>
          </a:p>
          <a:p>
            <a:pPr marL="274320" indent="-274320">
              <a:buClr>
                <a:schemeClr val="accent3"/>
              </a:buClr>
              <a:buNone/>
              <a:defRPr/>
            </a:pPr>
            <a:r>
              <a:rPr lang="pt-BR" altLang="zh-TW" dirty="0" smtClean="0">
                <a:latin typeface="Courier New" pitchFamily="49" charset="0"/>
                <a:cs typeface="Courier New" pitchFamily="49" charset="0"/>
              </a:rPr>
              <a:t> C -1 -4 -4 -4 10 -4 -5 -3 -4 -2 -2 -4 -2 -3 -4 -2 -2 -3 -3 -2</a:t>
            </a:r>
          </a:p>
          <a:p>
            <a:pPr marL="274320" indent="-274320">
              <a:buClr>
                <a:schemeClr val="accent3"/>
              </a:buClr>
              <a:buNone/>
              <a:defRPr/>
            </a:pPr>
            <a:r>
              <a:rPr lang="pt-BR" altLang="zh-TW" dirty="0" smtClean="0">
                <a:latin typeface="Courier New" pitchFamily="49" charset="0"/>
                <a:cs typeface="Courier New" pitchFamily="49" charset="0"/>
              </a:rPr>
              <a:t> D  0 -2  1  6 -3 -1  1 -2 -2 -2 -3  0 -3 -4 -2 -1 -1 -5 -3 -1</a:t>
            </a:r>
          </a:p>
          <a:p>
            <a:pPr marL="274320" indent="-274320">
              <a:buClr>
                <a:schemeClr val="accent3"/>
              </a:buClr>
              <a:buNone/>
              <a:defRPr/>
            </a:pPr>
            <a:r>
              <a:rPr lang="pt-BR" altLang="zh-TW" dirty="0" smtClean="0">
                <a:latin typeface="Courier New" pitchFamily="49" charset="0"/>
                <a:cs typeface="Courier New" pitchFamily="49" charset="0"/>
              </a:rPr>
              <a:t> S  0 -1  2  2 -2  0  0 -1 -1 -3 -3 -1 -2 -3 -1  5  1 -4 -2 -2</a:t>
            </a:r>
          </a:p>
          <a:p>
            <a:pPr marL="274320" indent="-274320">
              <a:buClr>
                <a:schemeClr val="accent3"/>
              </a:buClr>
              <a:buNone/>
              <a:defRPr/>
            </a:pPr>
            <a:r>
              <a:rPr lang="pt-BR" altLang="zh-TW" dirty="0" smtClean="0">
                <a:latin typeface="Courier New" pitchFamily="49" charset="0"/>
                <a:cs typeface="Courier New" pitchFamily="49" charset="0"/>
              </a:rPr>
              <a:t> D -2 -2  1  7 -4 -1  1 -2 -2 -4 -4 -1 -4 -4 -2  1 -1 -5 -4 -4</a:t>
            </a:r>
          </a:p>
          <a:p>
            <a:pPr marL="274320" indent="-274320">
              <a:buClr>
                <a:schemeClr val="accent3"/>
              </a:buClr>
              <a:buNone/>
              <a:defRPr/>
            </a:pPr>
            <a:r>
              <a:rPr lang="pt-BR" altLang="zh-TW" dirty="0" smtClean="0">
                <a:latin typeface="Courier New" pitchFamily="49" charset="0"/>
                <a:cs typeface="Courier New" pitchFamily="49" charset="0"/>
              </a:rPr>
              <a:t> G  0 -3 -1 -2 -3 -2 -3  6 -3 -5 -4 -2 -3 -4 -3 -1 -2 -3 -4 -4</a:t>
            </a:r>
          </a:p>
          <a:p>
            <a:pPr marL="274320" indent="-274320">
              <a:buClr>
                <a:schemeClr val="accent3"/>
              </a:buClr>
              <a:buNone/>
              <a:defRPr/>
            </a:pPr>
            <a:r>
              <a:rPr lang="pt-BR" altLang="zh-TW" dirty="0" smtClean="0">
                <a:latin typeface="Courier New" pitchFamily="49" charset="0"/>
                <a:cs typeface="Courier New" pitchFamily="49" charset="0"/>
              </a:rPr>
              <a:t> P -1 -3 -3 -2 -4 -2 -2 -3 -3 -4 -4 -2 -3 -5  8 -1 -2 -5 -4 -3</a:t>
            </a:r>
          </a:p>
          <a:p>
            <a:pPr marL="274320" indent="-274320">
              <a:buClr>
                <a:schemeClr val="accent3"/>
              </a:buClr>
              <a:buNone/>
              <a:defRPr/>
            </a:pPr>
            <a:r>
              <a:rPr lang="pt-BR" altLang="zh-TW" dirty="0" smtClean="0">
                <a:latin typeface="Courier New" pitchFamily="49" charset="0"/>
                <a:cs typeface="Courier New" pitchFamily="49" charset="0"/>
              </a:rPr>
              <a:t> S  0  0  3  3 -2  0  0 -1  2 -3 -3  0 -2 -3 -2  3  2 -4 -2 -2</a:t>
            </a:r>
          </a:p>
          <a:p>
            <a:pPr marL="274320" indent="-274320">
              <a:buClr>
                <a:schemeClr val="accent3"/>
              </a:buClr>
              <a:buNone/>
              <a:defRPr/>
            </a:pPr>
            <a:r>
              <a:rPr lang="pt-BR" altLang="zh-TW" dirty="0" smtClean="0">
                <a:latin typeface="Courier New" pitchFamily="49" charset="0"/>
                <a:cs typeface="Courier New" pitchFamily="49" charset="0"/>
              </a:rPr>
              <a:t> V  0 -2 -2 -3 -1 -2 -2 -3 -3  2  0 -2  0 -1  0  0  2 -3 -2  3</a:t>
            </a:r>
          </a:p>
          <a:p>
            <a:pPr marL="274320" indent="-274320">
              <a:buClr>
                <a:schemeClr val="accent3"/>
              </a:buClr>
              <a:buNone/>
              <a:defRPr/>
            </a:pPr>
            <a:r>
              <a:rPr lang="pt-BR" altLang="zh-TW" dirty="0" smtClean="0">
                <a:latin typeface="Courier New" pitchFamily="49" charset="0"/>
                <a:cs typeface="Courier New" pitchFamily="49" charset="0"/>
              </a:rPr>
              <a:t> </a:t>
            </a:r>
            <a:r>
              <a:rPr lang="pt-BR" altLang="zh-TW" dirty="0" smtClean="0">
                <a:latin typeface="Courier New" pitchFamily="49" charset="0"/>
                <a:cs typeface="Courier New" pitchFamily="49" charset="0"/>
              </a:rPr>
              <a:t> </a:t>
            </a:r>
            <a:endParaRPr lang="pt-BR" altLang="zh-TW" dirty="0" smtClean="0">
              <a:solidFill>
                <a:schemeClr val="bg1">
                  <a:lumMod val="50000"/>
                </a:schemeClr>
              </a:solidFill>
              <a:latin typeface="Courier New" pitchFamily="49" charset="0"/>
              <a:cs typeface="Courier New" pitchFamily="49" charset="0"/>
            </a:endParaRPr>
          </a:p>
          <a:p>
            <a:pPr marL="274320" indent="-274320">
              <a:buClr>
                <a:schemeClr val="accent3"/>
              </a:buClr>
              <a:buNone/>
              <a:defRPr/>
            </a:pPr>
            <a:r>
              <a:rPr lang="pt-BR" altLang="zh-TW" dirty="0" smtClean="0">
                <a:latin typeface="Courier New" pitchFamily="49" charset="0"/>
                <a:cs typeface="Courier New" pitchFamily="49" charset="0"/>
              </a:rPr>
              <a:t>    </a:t>
            </a:r>
            <a:r>
              <a:rPr lang="pt-BR" altLang="zh-TW" dirty="0" smtClean="0">
                <a:latin typeface="Courier New" pitchFamily="49" charset="0"/>
                <a:cs typeface="Courier New" pitchFamily="49" charset="0"/>
              </a:rPr>
              <a:t>A  R  N  D  C  Q  E  G  H  I  L  K  M  F  P  S  T  W  Y  V</a:t>
            </a:r>
            <a:endParaRPr lang="zh-TW" altLang="en-US" dirty="0"/>
          </a:p>
        </p:txBody>
      </p:sp>
      <p:sp>
        <p:nvSpPr>
          <p:cNvPr id="4" name="文字方塊 3"/>
          <p:cNvSpPr txBox="1"/>
          <p:nvPr/>
        </p:nvSpPr>
        <p:spPr>
          <a:xfrm>
            <a:off x="539552" y="4797152"/>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5" name="文字方塊 4"/>
          <p:cNvSpPr txBox="1"/>
          <p:nvPr/>
        </p:nvSpPr>
        <p:spPr>
          <a:xfrm>
            <a:off x="3635896" y="4797152"/>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6" name="文字方塊 5"/>
          <p:cNvSpPr txBox="1"/>
          <p:nvPr/>
        </p:nvSpPr>
        <p:spPr>
          <a:xfrm>
            <a:off x="7380312" y="4797152"/>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Results </a:t>
            </a:r>
            <a:endParaRPr lang="zh-TW" altLang="en-US" dirty="0"/>
          </a:p>
        </p:txBody>
      </p:sp>
      <p:pic>
        <p:nvPicPr>
          <p:cNvPr id="4" name="內容版面配置區 3" descr="LG.bmp"/>
          <p:cNvPicPr>
            <a:picLocks noGrp="1" noChangeAspect="1"/>
          </p:cNvPicPr>
          <p:nvPr>
            <p:ph idx="1"/>
          </p:nvPr>
        </p:nvPicPr>
        <p:blipFill>
          <a:blip r:embed="rId2" cstate="print"/>
          <a:stretch>
            <a:fillRect/>
          </a:stretch>
        </p:blipFill>
        <p:spPr>
          <a:xfrm>
            <a:off x="457200" y="2420218"/>
            <a:ext cx="8229600" cy="2885926"/>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t2.bmp"/>
          <p:cNvPicPr>
            <a:picLocks noGrp="1" noChangeAspect="1"/>
          </p:cNvPicPr>
          <p:nvPr>
            <p:ph idx="1"/>
          </p:nvPr>
        </p:nvPicPr>
        <p:blipFill>
          <a:blip r:embed="rId2" cstate="print"/>
          <a:stretch>
            <a:fillRect/>
          </a:stretch>
        </p:blipFill>
        <p:spPr>
          <a:xfrm>
            <a:off x="2309812" y="2920206"/>
            <a:ext cx="4524375" cy="188595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t3~7.bmp"/>
          <p:cNvPicPr>
            <a:picLocks noChangeAspect="1"/>
          </p:cNvPicPr>
          <p:nvPr/>
        </p:nvPicPr>
        <p:blipFill>
          <a:blip r:embed="rId2" cstate="print"/>
          <a:stretch>
            <a:fillRect/>
          </a:stretch>
        </p:blipFill>
        <p:spPr>
          <a:xfrm>
            <a:off x="0" y="931333"/>
            <a:ext cx="9144000" cy="49953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st3.bmp"/>
          <p:cNvPicPr>
            <a:picLocks noGrp="1" noChangeAspect="1"/>
          </p:cNvPicPr>
          <p:nvPr>
            <p:ph idx="1"/>
          </p:nvPr>
        </p:nvPicPr>
        <p:blipFill>
          <a:blip r:embed="rId2" cstate="print"/>
          <a:stretch>
            <a:fillRect/>
          </a:stretch>
        </p:blipFill>
        <p:spPr>
          <a:xfrm>
            <a:off x="457200" y="2237929"/>
            <a:ext cx="8229600" cy="3250504"/>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p:txBody>
          <a:bodyPr/>
          <a:lstStyle/>
          <a:p>
            <a:r>
              <a:rPr lang="en-US" altLang="zh-TW" dirty="0" smtClean="0">
                <a:latin typeface="Times New Roman" pitchFamily="18" charset="0"/>
                <a:cs typeface="Times New Roman" pitchFamily="18" charset="0"/>
              </a:rPr>
              <a:t>Thank you!</a:t>
            </a:r>
            <a:endParaRPr lang="zh-TW" altLang="en-US" dirty="0">
              <a:latin typeface="Times New Roman" pitchFamily="18" charset="0"/>
              <a:cs typeface="Times New Roman" pitchFamily="18" charset="0"/>
            </a:endParaRPr>
          </a:p>
        </p:txBody>
      </p:sp>
      <p:sp>
        <p:nvSpPr>
          <p:cNvPr id="5" name="副標題 4"/>
          <p:cNvSpPr>
            <a:spLocks noGrp="1"/>
          </p:cNvSpPr>
          <p:nvPr>
            <p:ph type="subTitle" idx="1"/>
          </p:nvPr>
        </p:nvSpPr>
        <p:spPr/>
        <p:txBody>
          <a:bodyPr/>
          <a:lstStyle/>
          <a:p>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TotalTime>
  <Words>976</Words>
  <Application>Microsoft Office PowerPoint</Application>
  <PresentationFormat>如螢幕大小 (4:3)</PresentationFormat>
  <Paragraphs>49</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A new taxonomy-based protein fold recognition approach based on autocross-covariance transformation</vt:lpstr>
      <vt:lpstr>Abstract(1/2)</vt:lpstr>
      <vt:lpstr>Abstract(2/2)</vt:lpstr>
      <vt:lpstr>dataset</vt:lpstr>
      <vt:lpstr>投影片 5</vt:lpstr>
      <vt:lpstr>dataset</vt:lpstr>
      <vt:lpstr>ACC transformation</vt:lpstr>
      <vt:lpstr>ACC transformation</vt:lpstr>
      <vt:lpstr>投影片 9</vt:lpstr>
      <vt:lpstr>Results </vt:lpstr>
      <vt:lpstr>投影片 11</vt:lpstr>
      <vt:lpstr>投影片 12</vt:lpstr>
      <vt:lpstr>投影片 13</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taxonomy-based protein fold recognition approach based on autocross-covariance transformation</dc:title>
  <cp:lastModifiedBy>王重傑</cp:lastModifiedBy>
  <cp:revision>23</cp:revision>
  <dcterms:modified xsi:type="dcterms:W3CDTF">2010-12-14T10:12:01Z</dcterms:modified>
</cp:coreProperties>
</file>