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D5F74E-DDB5-457F-99B3-BF2DDCE556DE}" type="datetimeFigureOut">
              <a:rPr lang="zh-TW" altLang="en-US" smtClean="0"/>
              <a:pPr/>
              <a:t>2010/4/27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5D7D5D-89BB-43CD-9B18-F305E149634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BA5D7D5D-89BB-43CD-9B18-F305E1496346}" type="slidenum">
              <a:rPr lang="zh-TW" altLang="en-US" smtClean="0"/>
              <a:pPr/>
              <a:t>1</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2010/4/27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4000" dirty="0" smtClean="0">
                <a:latin typeface="Times New Roman" pitchFamily="18" charset="0"/>
                <a:cs typeface="Times New Roman" pitchFamily="18" charset="0"/>
              </a:rPr>
              <a:t>Weighted LCS</a:t>
            </a:r>
            <a:endParaRPr lang="zh-TW" altLang="en-US" sz="40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a:bodyPr>
          <a:lstStyle/>
          <a:p>
            <a:r>
              <a:rPr lang="en-US" altLang="zh-TW" sz="2000" dirty="0" err="1" smtClean="0">
                <a:solidFill>
                  <a:schemeClr val="tx1"/>
                </a:solidFill>
                <a:latin typeface="Times New Roman" pitchFamily="18" charset="0"/>
                <a:cs typeface="Times New Roman" pitchFamily="18" charset="0"/>
              </a:rPr>
              <a:t>Amihood</a:t>
            </a:r>
            <a:r>
              <a:rPr lang="en-US" altLang="zh-TW" sz="2000" dirty="0" smtClean="0">
                <a:solidFill>
                  <a:schemeClr val="tx1"/>
                </a:solidFill>
                <a:latin typeface="Times New Roman" pitchFamily="18" charset="0"/>
                <a:cs typeface="Times New Roman" pitchFamily="18" charset="0"/>
              </a:rPr>
              <a:t> Amir, </a:t>
            </a:r>
            <a:r>
              <a:rPr lang="en-US" altLang="zh-TW" sz="2000" dirty="0" err="1" smtClean="0">
                <a:solidFill>
                  <a:schemeClr val="tx1"/>
                </a:solidFill>
                <a:latin typeface="Times New Roman" pitchFamily="18" charset="0"/>
                <a:cs typeface="Times New Roman" pitchFamily="18" charset="0"/>
              </a:rPr>
              <a:t>Zvi</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Gotthilf</a:t>
            </a:r>
            <a:r>
              <a:rPr lang="en-US" altLang="zh-TW" sz="2000" dirty="0" smtClean="0">
                <a:solidFill>
                  <a:schemeClr val="tx1"/>
                </a:solidFill>
                <a:latin typeface="Times New Roman" pitchFamily="18" charset="0"/>
                <a:cs typeface="Times New Roman" pitchFamily="18" charset="0"/>
              </a:rPr>
              <a:t> , B. Riva Shalom</a:t>
            </a:r>
          </a:p>
          <a:p>
            <a:r>
              <a:rPr lang="en-US" altLang="zh-TW" sz="2000" dirty="0" smtClean="0">
                <a:solidFill>
                  <a:schemeClr val="tx1"/>
                </a:solidFill>
                <a:latin typeface="Times New Roman" pitchFamily="18" charset="0"/>
                <a:cs typeface="Times New Roman" pitchFamily="18" charset="0"/>
              </a:rPr>
              <a:t>Journal of </a:t>
            </a:r>
            <a:r>
              <a:rPr lang="en-US" altLang="zh-TW" sz="2000" smtClean="0">
                <a:solidFill>
                  <a:schemeClr val="tx1"/>
                </a:solidFill>
                <a:latin typeface="Times New Roman" pitchFamily="18" charset="0"/>
                <a:cs typeface="Times New Roman" pitchFamily="18" charset="0"/>
              </a:rPr>
              <a:t>Discrete </a:t>
            </a:r>
            <a:r>
              <a:rPr lang="en-US" altLang="zh-TW" sz="2000" smtClean="0">
                <a:solidFill>
                  <a:schemeClr val="tx1"/>
                </a:solidFill>
                <a:latin typeface="Times New Roman" pitchFamily="18" charset="0"/>
                <a:cs typeface="Times New Roman" pitchFamily="18" charset="0"/>
              </a:rPr>
              <a:t>Algorithms 2010</a:t>
            </a:r>
            <a:endParaRPr lang="en-US" altLang="zh-TW" sz="2000" dirty="0" smtClean="0">
              <a:solidFill>
                <a:schemeClr val="tx1"/>
              </a:solidFill>
              <a:latin typeface="Times New Roman" pitchFamily="18" charset="0"/>
              <a:cs typeface="Times New Roman" pitchFamily="18" charset="0"/>
            </a:endParaRPr>
          </a:p>
          <a:p>
            <a:pPr>
              <a:lnSpc>
                <a:spcPct val="80000"/>
              </a:lnSpc>
            </a:pPr>
            <a:r>
              <a:rPr lang="en-US" altLang="zh-TW" sz="2000" dirty="0" smtClean="0">
                <a:solidFill>
                  <a:schemeClr val="tx1"/>
                </a:solidFill>
                <a:latin typeface="Times New Roman" pitchFamily="18" charset="0"/>
                <a:cs typeface="Times New Roman" pitchFamily="18" charset="0"/>
              </a:rPr>
              <a:t>Speaker: Chong-</a:t>
            </a:r>
            <a:r>
              <a:rPr lang="en-US" altLang="zh-TW" sz="2000" dirty="0" err="1" smtClean="0">
                <a:solidFill>
                  <a:schemeClr val="tx1"/>
                </a:solidFill>
                <a:latin typeface="Times New Roman" pitchFamily="18" charset="0"/>
                <a:cs typeface="Times New Roman" pitchFamily="18" charset="0"/>
              </a:rPr>
              <a:t>Jie</a:t>
            </a:r>
            <a:r>
              <a:rPr lang="en-US" altLang="zh-TW" sz="2000" dirty="0" smtClean="0">
                <a:solidFill>
                  <a:schemeClr val="tx1"/>
                </a:solidFill>
                <a:latin typeface="Times New Roman" pitchFamily="18" charset="0"/>
                <a:cs typeface="Times New Roman" pitchFamily="18" charset="0"/>
              </a:rPr>
              <a:t> Wang</a:t>
            </a:r>
          </a:p>
          <a:p>
            <a:pPr>
              <a:lnSpc>
                <a:spcPct val="80000"/>
              </a:lnSpc>
            </a:pPr>
            <a:r>
              <a:rPr lang="en-US" altLang="zh-TW" sz="2000" dirty="0" smtClean="0">
                <a:solidFill>
                  <a:schemeClr val="tx1"/>
                </a:solidFill>
                <a:latin typeface="Times New Roman" pitchFamily="18" charset="0"/>
                <a:cs typeface="Times New Roman" pitchFamily="18" charset="0"/>
              </a:rPr>
              <a:t>Date: April 27, 2010</a:t>
            </a:r>
          </a:p>
          <a:p>
            <a:endParaRPr lang="zh-TW" altLang="en-US" sz="2000"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Abstract</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70000" lnSpcReduction="20000"/>
          </a:bodyPr>
          <a:lstStyle/>
          <a:p>
            <a:r>
              <a:rPr lang="en-US" altLang="zh-TW" dirty="0" smtClean="0">
                <a:latin typeface="Times New Roman" pitchFamily="18" charset="0"/>
                <a:cs typeface="Times New Roman" pitchFamily="18" charset="0"/>
              </a:rPr>
              <a:t>The Longest Common Subsequence (LCS) of two strings </a:t>
            </a:r>
            <a:r>
              <a:rPr lang="en-US" altLang="zh-TW" i="1" dirty="0" smtClean="0">
                <a:latin typeface="Times New Roman" pitchFamily="18" charset="0"/>
                <a:cs typeface="Times New Roman" pitchFamily="18" charset="0"/>
              </a:rPr>
              <a:t>A, B </a:t>
            </a:r>
            <a:r>
              <a:rPr lang="en-US" altLang="zh-TW" dirty="0" smtClean="0">
                <a:latin typeface="Times New Roman" pitchFamily="18" charset="0"/>
                <a:cs typeface="Times New Roman" pitchFamily="18" charset="0"/>
              </a:rPr>
              <a:t>is a well studied problem having a wide range of applications. When each symbol of the input strings is assigned a positive weight the problem becomes the </a:t>
            </a:r>
            <a:r>
              <a:rPr lang="en-US" altLang="zh-TW" i="1" dirty="0" smtClean="0">
                <a:latin typeface="Times New Roman" pitchFamily="18" charset="0"/>
                <a:cs typeface="Times New Roman" pitchFamily="18" charset="0"/>
              </a:rPr>
              <a:t>Heaviest Common Subsequence </a:t>
            </a:r>
            <a:r>
              <a:rPr lang="en-US" altLang="zh-TW" dirty="0" smtClean="0">
                <a:latin typeface="Times New Roman" pitchFamily="18" charset="0"/>
                <a:cs typeface="Times New Roman" pitchFamily="18" charset="0"/>
              </a:rPr>
              <a:t>(</a:t>
            </a:r>
            <a:r>
              <a:rPr lang="en-US" altLang="zh-TW" i="1" dirty="0" smtClean="0">
                <a:latin typeface="Times New Roman" pitchFamily="18" charset="0"/>
                <a:cs typeface="Times New Roman" pitchFamily="18" charset="0"/>
              </a:rPr>
              <a:t>HCS</a:t>
            </a:r>
            <a:r>
              <a:rPr lang="en-US" altLang="zh-TW" dirty="0" smtClean="0">
                <a:latin typeface="Times New Roman" pitchFamily="18" charset="0"/>
                <a:cs typeface="Times New Roman" pitchFamily="18" charset="0"/>
              </a:rPr>
              <a:t>)</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problem.</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In this paper we consider a different version of weighted LCS on </a:t>
            </a:r>
            <a:r>
              <a:rPr lang="en-US" altLang="zh-TW" i="1" dirty="0" smtClean="0">
                <a:latin typeface="Times New Roman" pitchFamily="18" charset="0"/>
                <a:cs typeface="Times New Roman" pitchFamily="18" charset="0"/>
              </a:rPr>
              <a:t>Position Weight Matrices </a:t>
            </a:r>
            <a:r>
              <a:rPr lang="en-US" altLang="zh-TW" dirty="0" smtClean="0">
                <a:latin typeface="Times New Roman" pitchFamily="18" charset="0"/>
                <a:cs typeface="Times New Roman" pitchFamily="18" charset="0"/>
              </a:rPr>
              <a:t>(</a:t>
            </a:r>
            <a:r>
              <a:rPr lang="en-US" altLang="zh-TW" i="1" dirty="0" smtClean="0">
                <a:latin typeface="Times New Roman" pitchFamily="18" charset="0"/>
                <a:cs typeface="Times New Roman" pitchFamily="18" charset="0"/>
              </a:rPr>
              <a:t>PWM</a:t>
            </a:r>
            <a:r>
              <a:rPr lang="en-US" altLang="zh-TW" dirty="0" smtClean="0">
                <a:latin typeface="Times New Roman" pitchFamily="18" charset="0"/>
                <a:cs typeface="Times New Roman" pitchFamily="18" charset="0"/>
              </a:rPr>
              <a:t>). The Position Weight Matrix was introduced as a tool to handle a set of sequences that are not identical, yet, have many local similarities. Such a weighted sequence is a ‘statistical image’ of this set where we are given the probability of every symbol’s occurrence at every text location. We consider two possible definitions of LCS on PWM. For the first, we solve the LCS problem of z sequences in time O(</a:t>
            </a:r>
            <a:r>
              <a:rPr lang="en-US" altLang="zh-TW" i="1" dirty="0" smtClean="0">
                <a:latin typeface="Times New Roman" pitchFamily="18" charset="0"/>
                <a:cs typeface="Times New Roman" pitchFamily="18" charset="0"/>
              </a:rPr>
              <a:t>zn</a:t>
            </a:r>
            <a:r>
              <a:rPr lang="en-US" altLang="zh-TW" i="1" baseline="30000" dirty="0" smtClean="0">
                <a:latin typeface="Times New Roman" pitchFamily="18" charset="0"/>
                <a:cs typeface="Times New Roman" pitchFamily="18" charset="0"/>
              </a:rPr>
              <a:t>z+1</a:t>
            </a:r>
            <a:r>
              <a:rPr lang="en-US" altLang="zh-TW" dirty="0" smtClean="0">
                <a:latin typeface="Times New Roman" pitchFamily="18" charset="0"/>
                <a:cs typeface="Times New Roman" pitchFamily="18" charset="0"/>
              </a:rPr>
              <a:t>)</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For the second, we consider the log-probability version of the problem, prove </a:t>
            </a:r>
            <a:r>
              <a:rPr lang="en-US" altLang="zh-TW" i="1" dirty="0" smtClean="0">
                <a:latin typeface="Times New Roman" pitchFamily="18" charset="0"/>
                <a:cs typeface="Times New Roman" pitchFamily="18" charset="0"/>
              </a:rPr>
              <a:t>NP</a:t>
            </a:r>
            <a:r>
              <a:rPr lang="en-US" altLang="zh-TW" dirty="0" smtClean="0">
                <a:latin typeface="Times New Roman" pitchFamily="18" charset="0"/>
                <a:cs typeface="Times New Roman" pitchFamily="18" charset="0"/>
              </a:rPr>
              <a:t>-hardness and provide an approximation algorithm.</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endParaRPr lang="zh-TW" altLang="en-US" sz="4000" dirty="0">
              <a:latin typeface="Times New Roman" pitchFamily="18" charset="0"/>
              <a:cs typeface="Times New Roman" pitchFamily="18" charset="0"/>
            </a:endParaRPr>
          </a:p>
        </p:txBody>
      </p:sp>
      <p:pic>
        <p:nvPicPr>
          <p:cNvPr id="4" name="內容版面配置區 3" descr="D2.jpg"/>
          <p:cNvPicPr>
            <a:picLocks noGrp="1" noChangeAspect="1"/>
          </p:cNvPicPr>
          <p:nvPr>
            <p:ph idx="1"/>
          </p:nvPr>
        </p:nvPicPr>
        <p:blipFill>
          <a:blip r:embed="rId2" cstate="print"/>
          <a:stretch>
            <a:fillRect/>
          </a:stretch>
        </p:blipFill>
        <p:spPr>
          <a:xfrm>
            <a:off x="357158" y="2000240"/>
            <a:ext cx="7886700" cy="866775"/>
          </a:xfrm>
        </p:spPr>
      </p:pic>
      <p:pic>
        <p:nvPicPr>
          <p:cNvPr id="5" name="圖片 4" descr="D3.jpg"/>
          <p:cNvPicPr>
            <a:picLocks noChangeAspect="1"/>
          </p:cNvPicPr>
          <p:nvPr/>
        </p:nvPicPr>
        <p:blipFill>
          <a:blip r:embed="rId3" cstate="print"/>
          <a:stretch>
            <a:fillRect/>
          </a:stretch>
        </p:blipFill>
        <p:spPr>
          <a:xfrm>
            <a:off x="428596" y="3929066"/>
            <a:ext cx="8334375" cy="676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sz="2800" dirty="0" smtClean="0">
                <a:latin typeface="Times New Roman" pitchFamily="18" charset="0"/>
                <a:cs typeface="Times New Roman" pitchFamily="18" charset="0"/>
              </a:rPr>
              <a:t>EX: </a:t>
            </a:r>
          </a:p>
          <a:p>
            <a:pPr>
              <a:buNone/>
            </a:pPr>
            <a:r>
              <a:rPr lang="en-US" altLang="zh-TW" sz="2800" dirty="0" smtClean="0">
                <a:latin typeface="Times New Roman" pitchFamily="18" charset="0"/>
                <a:cs typeface="Times New Roman" pitchFamily="18" charset="0"/>
              </a:rPr>
              <a:t>	DNA alphabet </a:t>
            </a:r>
            <a:r>
              <a:rPr lang="zh-TW" altLang="en-US" sz="2800" i="1" dirty="0" smtClean="0">
                <a:latin typeface="Times New Roman" pitchFamily="18" charset="0"/>
                <a:cs typeface="Times New Roman" pitchFamily="18" charset="0"/>
              </a:rPr>
              <a:t>∑</a:t>
            </a:r>
            <a:r>
              <a:rPr lang="zh-TW" altLang="en-US" sz="2800"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a:t>
            </a:r>
            <a:r>
              <a:rPr lang="en-US" altLang="zh-TW" sz="2800" i="1" dirty="0" smtClean="0">
                <a:latin typeface="Times New Roman" pitchFamily="18" charset="0"/>
                <a:cs typeface="Times New Roman" pitchFamily="18" charset="0"/>
              </a:rPr>
              <a:t>A, C, G, T</a:t>
            </a:r>
            <a:r>
              <a:rPr lang="en-US" altLang="zh-TW" sz="2800" dirty="0" smtClean="0">
                <a:latin typeface="Times New Roman" pitchFamily="18" charset="0"/>
                <a:cs typeface="Times New Roman" pitchFamily="18" charset="0"/>
              </a:rPr>
              <a:t>}, </a:t>
            </a:r>
          </a:p>
          <a:p>
            <a:pPr>
              <a:buNone/>
            </a:pPr>
            <a:r>
              <a:rPr lang="en-US" altLang="zh-TW" sz="2800" dirty="0" smtClean="0">
                <a:latin typeface="Times New Roman" pitchFamily="18" charset="0"/>
                <a:cs typeface="Times New Roman" pitchFamily="18" charset="0"/>
              </a:rPr>
              <a:t>	the word =</a:t>
            </a:r>
          </a:p>
          <a:p>
            <a:pPr>
              <a:buNone/>
            </a:pPr>
            <a:r>
              <a:rPr lang="en-US" altLang="zh-TW" sz="2800" dirty="0" smtClean="0">
                <a:latin typeface="Times New Roman" pitchFamily="18" charset="0"/>
                <a:cs typeface="Times New Roman" pitchFamily="18" charset="0"/>
              </a:rPr>
              <a:t>	|(A, 0.5), (C, 0.25), (G, 0.25), (T, 0)|</a:t>
            </a:r>
          </a:p>
          <a:p>
            <a:pPr>
              <a:buNone/>
            </a:pPr>
            <a:r>
              <a:rPr lang="en-US" altLang="zh-TW" sz="2800" dirty="0" smtClean="0">
                <a:latin typeface="Times New Roman" pitchFamily="18" charset="0"/>
                <a:cs typeface="Times New Roman" pitchFamily="18" charset="0"/>
              </a:rPr>
              <a:t>	|(A, 0), (C, 1), (G, 0), (T, 0)|</a:t>
            </a:r>
          </a:p>
          <a:p>
            <a:pPr>
              <a:buNone/>
            </a:pPr>
            <a:r>
              <a:rPr lang="en-US" altLang="zh-TW" sz="2800" dirty="0" smtClean="0">
                <a:latin typeface="Times New Roman" pitchFamily="18" charset="0"/>
                <a:cs typeface="Times New Roman" pitchFamily="18" charset="0"/>
              </a:rPr>
              <a:t>	|(A, 1), (C, 0), (G, 0), (T, 0)|</a:t>
            </a:r>
          </a:p>
          <a:p>
            <a:pPr>
              <a:buNone/>
            </a:pPr>
            <a:r>
              <a:rPr lang="en-US" altLang="zh-TW" sz="2800" dirty="0" smtClean="0">
                <a:latin typeface="Times New Roman" pitchFamily="18" charset="0"/>
                <a:cs typeface="Times New Roman" pitchFamily="18" charset="0"/>
              </a:rPr>
              <a:t>	</a:t>
            </a:r>
            <a:endParaRPr lang="zh-TW" altLang="en-US" sz="28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LCWS</a:t>
            </a:r>
            <a:endParaRPr lang="zh-TW" altLang="en-US" sz="4000" dirty="0">
              <a:latin typeface="Times New Roman" pitchFamily="18" charset="0"/>
              <a:cs typeface="Times New Roman" pitchFamily="18" charset="0"/>
            </a:endParaRPr>
          </a:p>
        </p:txBody>
      </p:sp>
      <p:pic>
        <p:nvPicPr>
          <p:cNvPr id="4" name="內容版面配置區 3" descr="D4.jpg"/>
          <p:cNvPicPr>
            <a:picLocks noGrp="1" noChangeAspect="1"/>
          </p:cNvPicPr>
          <p:nvPr>
            <p:ph idx="1"/>
          </p:nvPr>
        </p:nvPicPr>
        <p:blipFill>
          <a:blip r:embed="rId2" cstate="print"/>
          <a:stretch>
            <a:fillRect/>
          </a:stretch>
        </p:blipFill>
        <p:spPr>
          <a:xfrm>
            <a:off x="428596" y="1928802"/>
            <a:ext cx="8229600" cy="1135441"/>
          </a:xfrm>
        </p:spPr>
      </p:pic>
      <p:pic>
        <p:nvPicPr>
          <p:cNvPr id="5" name="圖片 4" descr="D5.jpg"/>
          <p:cNvPicPr>
            <a:picLocks noChangeAspect="1"/>
          </p:cNvPicPr>
          <p:nvPr/>
        </p:nvPicPr>
        <p:blipFill>
          <a:blip r:embed="rId3" cstate="print"/>
          <a:stretch>
            <a:fillRect/>
          </a:stretch>
        </p:blipFill>
        <p:spPr>
          <a:xfrm>
            <a:off x="428596" y="3929066"/>
            <a:ext cx="8315325" cy="1123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F1.jpg"/>
          <p:cNvPicPr>
            <a:picLocks noGrp="1" noChangeAspect="1"/>
          </p:cNvPicPr>
          <p:nvPr>
            <p:ph idx="1"/>
          </p:nvPr>
        </p:nvPicPr>
        <p:blipFill>
          <a:blip r:embed="rId2" cstate="print"/>
          <a:stretch>
            <a:fillRect/>
          </a:stretch>
        </p:blipFill>
        <p:spPr>
          <a:xfrm>
            <a:off x="2752725" y="2558256"/>
            <a:ext cx="3638550" cy="260985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F2.jpg"/>
          <p:cNvPicPr>
            <a:picLocks noGrp="1" noChangeAspect="1"/>
          </p:cNvPicPr>
          <p:nvPr>
            <p:ph idx="1"/>
          </p:nvPr>
        </p:nvPicPr>
        <p:blipFill>
          <a:blip r:embed="rId2" cstate="print"/>
          <a:stretch>
            <a:fillRect/>
          </a:stretch>
        </p:blipFill>
        <p:spPr>
          <a:xfrm>
            <a:off x="1271587" y="1777206"/>
            <a:ext cx="6600825" cy="417195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dirty="0"/>
          </a:p>
        </p:txBody>
      </p:sp>
      <p:sp>
        <p:nvSpPr>
          <p:cNvPr id="6" name="內容版面配置區 5"/>
          <p:cNvSpPr>
            <a:spLocks noGrp="1"/>
          </p:cNvSpPr>
          <p:nvPr>
            <p:ph idx="1"/>
          </p:nvPr>
        </p:nvSpPr>
        <p:spPr/>
        <p:txBody>
          <a:bodyPr>
            <a:normAutofit/>
          </a:bodyPr>
          <a:lstStyle/>
          <a:p>
            <a:r>
              <a:rPr lang="en-US" altLang="zh-TW" sz="2000" dirty="0" smtClean="0">
                <a:latin typeface="Times New Roman" pitchFamily="18" charset="0"/>
                <a:cs typeface="Times New Roman" pitchFamily="18" charset="0"/>
              </a:rPr>
              <a:t>Filling the table in this fashion implies computing every entry of the table requires O(</a:t>
            </a:r>
            <a:r>
              <a:rPr lang="en-US" altLang="zh-TW" sz="2000" i="1" dirty="0" smtClean="0">
                <a:latin typeface="Times New Roman" pitchFamily="18" charset="0"/>
                <a:cs typeface="Times New Roman" pitchFamily="18" charset="0"/>
              </a:rPr>
              <a:t>n + |Σ|</a:t>
            </a:r>
            <a:r>
              <a:rPr lang="en-US" altLang="zh-TW" sz="2000" dirty="0" smtClean="0">
                <a:latin typeface="Times New Roman" pitchFamily="18" charset="0"/>
                <a:cs typeface="Times New Roman" pitchFamily="18" charset="0"/>
              </a:rPr>
              <a:t>) time for finding the best symbol and all </a:t>
            </a:r>
            <a:r>
              <a:rPr lang="en-US" altLang="zh-TW" sz="2000" i="1" dirty="0" smtClean="0">
                <a:latin typeface="Times New Roman" pitchFamily="18" charset="0"/>
                <a:cs typeface="Times New Roman" pitchFamily="18" charset="0"/>
              </a:rPr>
              <a:t>O</a:t>
            </a:r>
            <a:r>
              <a:rPr lang="en-US" altLang="zh-TW" sz="2000" dirty="0" smtClean="0">
                <a:latin typeface="Times New Roman" pitchFamily="18" charset="0"/>
                <a:cs typeface="Times New Roman" pitchFamily="18" charset="0"/>
              </a:rPr>
              <a:t>(</a:t>
            </a:r>
            <a:r>
              <a:rPr lang="en-US" altLang="zh-TW" sz="2000" i="1" dirty="0" smtClean="0">
                <a:latin typeface="Times New Roman" pitchFamily="18" charset="0"/>
                <a:cs typeface="Times New Roman" pitchFamily="18" charset="0"/>
              </a:rPr>
              <a:t>n</a:t>
            </a:r>
            <a:r>
              <a:rPr lang="en-US" altLang="zh-TW" sz="2000" dirty="0" smtClean="0">
                <a:latin typeface="Times New Roman" pitchFamily="18" charset="0"/>
                <a:cs typeface="Times New Roman" pitchFamily="18" charset="0"/>
              </a:rPr>
              <a:t>)</a:t>
            </a:r>
            <a:r>
              <a:rPr lang="en-US" altLang="zh-TW" sz="2000" i="1" dirty="0" smtClean="0">
                <a:latin typeface="Times New Roman" pitchFamily="18" charset="0"/>
                <a:cs typeface="Times New Roman" pitchFamily="18" charset="0"/>
              </a:rPr>
              <a:t> </a:t>
            </a:r>
            <a:r>
              <a:rPr lang="en-US" altLang="zh-TW" sz="2000" dirty="0" smtClean="0">
                <a:latin typeface="Times New Roman" pitchFamily="18" charset="0"/>
                <a:cs typeface="Times New Roman" pitchFamily="18" charset="0"/>
              </a:rPr>
              <a:t>relevant probabilities, using </a:t>
            </a:r>
            <a:r>
              <a:rPr lang="en-US" altLang="zh-TW" sz="2000" i="1" dirty="0" smtClean="0">
                <a:latin typeface="Times New Roman" pitchFamily="18" charset="0"/>
                <a:cs typeface="Times New Roman" pitchFamily="18" charset="0"/>
              </a:rPr>
              <a:t>Lemma 1. </a:t>
            </a:r>
            <a:r>
              <a:rPr lang="en-US" altLang="zh-TW" sz="2000" dirty="0" smtClean="0">
                <a:latin typeface="Times New Roman" pitchFamily="18" charset="0"/>
                <a:cs typeface="Times New Roman" pitchFamily="18" charset="0"/>
              </a:rPr>
              <a:t>So the time complexity is O(</a:t>
            </a:r>
            <a:r>
              <a:rPr lang="en-US" altLang="zh-TW" sz="2000" i="1" dirty="0" smtClean="0">
                <a:latin typeface="Times New Roman" pitchFamily="18" charset="0"/>
                <a:cs typeface="Times New Roman" pitchFamily="18" charset="0"/>
              </a:rPr>
              <a:t>n</a:t>
            </a:r>
            <a:r>
              <a:rPr lang="en-US" altLang="zh-TW" sz="2000" i="1" baseline="30000" dirty="0" smtClean="0">
                <a:latin typeface="Times New Roman" pitchFamily="18" charset="0"/>
                <a:cs typeface="Times New Roman" pitchFamily="18" charset="0"/>
              </a:rPr>
              <a:t>3</a:t>
            </a:r>
            <a:r>
              <a:rPr lang="en-US" altLang="zh-TW" sz="2000" i="1" dirty="0" smtClean="0">
                <a:latin typeface="Times New Roman" pitchFamily="18" charset="0"/>
                <a:cs typeface="Times New Roman" pitchFamily="18" charset="0"/>
              </a:rPr>
              <a:t> + |Σ|n</a:t>
            </a:r>
            <a:r>
              <a:rPr lang="en-US" altLang="zh-TW" sz="2000" i="1" baseline="30000" dirty="0" smtClean="0">
                <a:latin typeface="Times New Roman" pitchFamily="18" charset="0"/>
                <a:cs typeface="Times New Roman" pitchFamily="18" charset="0"/>
              </a:rPr>
              <a:t>2</a:t>
            </a:r>
            <a:r>
              <a:rPr lang="en-US" altLang="zh-TW" sz="2000" dirty="0" smtClean="0">
                <a:latin typeface="Times New Roman" pitchFamily="18" charset="0"/>
                <a:cs typeface="Times New Roman" pitchFamily="18" charset="0"/>
              </a:rPr>
              <a:t>).</a:t>
            </a:r>
            <a:endParaRPr lang="zh-TW" altLang="en-US" sz="2000" dirty="0">
              <a:latin typeface="Times New Roman" pitchFamily="18" charset="0"/>
              <a:cs typeface="Times New Roman" pitchFamily="18" charset="0"/>
            </a:endParaRPr>
          </a:p>
        </p:txBody>
      </p:sp>
      <p:pic>
        <p:nvPicPr>
          <p:cNvPr id="7" name="圖片 6" descr="L1.jpg"/>
          <p:cNvPicPr>
            <a:picLocks noChangeAspect="1"/>
          </p:cNvPicPr>
          <p:nvPr/>
        </p:nvPicPr>
        <p:blipFill>
          <a:blip r:embed="rId2" cstate="print"/>
          <a:stretch>
            <a:fillRect/>
          </a:stretch>
        </p:blipFill>
        <p:spPr>
          <a:xfrm>
            <a:off x="642910" y="3286124"/>
            <a:ext cx="5962650" cy="733425"/>
          </a:xfrm>
          <a:prstGeom prst="rect">
            <a:avLst/>
          </a:prstGeom>
        </p:spPr>
      </p:pic>
      <p:pic>
        <p:nvPicPr>
          <p:cNvPr id="8" name="圖片 7" descr="T1.jpg"/>
          <p:cNvPicPr>
            <a:picLocks noChangeAspect="1"/>
          </p:cNvPicPr>
          <p:nvPr/>
        </p:nvPicPr>
        <p:blipFill>
          <a:blip r:embed="rId3" cstate="print"/>
          <a:stretch>
            <a:fillRect/>
          </a:stretch>
        </p:blipFill>
        <p:spPr>
          <a:xfrm>
            <a:off x="642910" y="4929198"/>
            <a:ext cx="8324850" cy="4095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LCWS for </a:t>
            </a:r>
            <a:r>
              <a:rPr lang="en-US" altLang="zh-TW" sz="4000" i="1" dirty="0" smtClean="0">
                <a:latin typeface="Times New Roman" pitchFamily="18" charset="0"/>
                <a:cs typeface="Times New Roman" pitchFamily="18" charset="0"/>
              </a:rPr>
              <a:t>z</a:t>
            </a:r>
            <a:r>
              <a:rPr lang="en-US" altLang="zh-TW" sz="4000" dirty="0" smtClean="0">
                <a:latin typeface="Times New Roman" pitchFamily="18" charset="0"/>
                <a:cs typeface="Times New Roman" pitchFamily="18" charset="0"/>
              </a:rPr>
              <a:t> sequences</a:t>
            </a:r>
            <a:endParaRPr lang="zh-TW" altLang="en-US" sz="4000" dirty="0">
              <a:latin typeface="Times New Roman" pitchFamily="18" charset="0"/>
              <a:cs typeface="Times New Roman" pitchFamily="18" charset="0"/>
            </a:endParaRPr>
          </a:p>
        </p:txBody>
      </p:sp>
      <p:pic>
        <p:nvPicPr>
          <p:cNvPr id="4" name="內容版面配置區 3" descr="D6.jpg"/>
          <p:cNvPicPr>
            <a:picLocks noGrp="1" noChangeAspect="1"/>
          </p:cNvPicPr>
          <p:nvPr>
            <p:ph idx="1"/>
          </p:nvPr>
        </p:nvPicPr>
        <p:blipFill>
          <a:blip r:embed="rId2" cstate="print"/>
          <a:stretch>
            <a:fillRect/>
          </a:stretch>
        </p:blipFill>
        <p:spPr>
          <a:xfrm>
            <a:off x="500034" y="1643050"/>
            <a:ext cx="8229600" cy="1174315"/>
          </a:xfrm>
        </p:spPr>
      </p:pic>
      <p:pic>
        <p:nvPicPr>
          <p:cNvPr id="5" name="圖片 4" descr="L2.jpg"/>
          <p:cNvPicPr>
            <a:picLocks noChangeAspect="1"/>
          </p:cNvPicPr>
          <p:nvPr/>
        </p:nvPicPr>
        <p:blipFill>
          <a:blip r:embed="rId3" cstate="print"/>
          <a:stretch>
            <a:fillRect/>
          </a:stretch>
        </p:blipFill>
        <p:spPr>
          <a:xfrm>
            <a:off x="571472" y="3071810"/>
            <a:ext cx="3486150" cy="1857375"/>
          </a:xfrm>
          <a:prstGeom prst="rect">
            <a:avLst/>
          </a:prstGeom>
        </p:spPr>
      </p:pic>
      <p:pic>
        <p:nvPicPr>
          <p:cNvPr id="6" name="圖片 5" descr="T2.jpg"/>
          <p:cNvPicPr>
            <a:picLocks noChangeAspect="1"/>
          </p:cNvPicPr>
          <p:nvPr/>
        </p:nvPicPr>
        <p:blipFill>
          <a:blip r:embed="rId4" cstate="print"/>
          <a:stretch>
            <a:fillRect/>
          </a:stretch>
        </p:blipFill>
        <p:spPr>
          <a:xfrm>
            <a:off x="571472" y="5715016"/>
            <a:ext cx="4876800" cy="2190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The integer model</a:t>
            </a:r>
            <a:endParaRPr lang="zh-TW" altLang="en-US" sz="4000" dirty="0">
              <a:latin typeface="Times New Roman" pitchFamily="18" charset="0"/>
              <a:cs typeface="Times New Roman" pitchFamily="18" charset="0"/>
            </a:endParaRPr>
          </a:p>
        </p:txBody>
      </p:sp>
      <p:pic>
        <p:nvPicPr>
          <p:cNvPr id="4" name="內容版面配置區 3" descr="D7-9.jpg"/>
          <p:cNvPicPr>
            <a:picLocks noGrp="1" noChangeAspect="1"/>
          </p:cNvPicPr>
          <p:nvPr>
            <p:ph idx="1"/>
          </p:nvPr>
        </p:nvPicPr>
        <p:blipFill>
          <a:blip r:embed="rId2" cstate="print"/>
          <a:stretch>
            <a:fillRect/>
          </a:stretch>
        </p:blipFill>
        <p:spPr>
          <a:xfrm>
            <a:off x="500034" y="1714488"/>
            <a:ext cx="8229600" cy="3104804"/>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D10-1.jpg"/>
          <p:cNvPicPr>
            <a:picLocks noGrp="1" noChangeAspect="1"/>
          </p:cNvPicPr>
          <p:nvPr>
            <p:ph idx="1"/>
          </p:nvPr>
        </p:nvPicPr>
        <p:blipFill>
          <a:blip r:embed="rId2" cstate="print"/>
          <a:stretch>
            <a:fillRect/>
          </a:stretch>
        </p:blipFill>
        <p:spPr>
          <a:xfrm>
            <a:off x="500034" y="3143248"/>
            <a:ext cx="6515100" cy="609600"/>
          </a:xfrm>
        </p:spPr>
      </p:pic>
      <p:pic>
        <p:nvPicPr>
          <p:cNvPr id="5" name="圖片 4" descr="T3.jpg"/>
          <p:cNvPicPr>
            <a:picLocks noChangeAspect="1"/>
          </p:cNvPicPr>
          <p:nvPr/>
        </p:nvPicPr>
        <p:blipFill>
          <a:blip r:embed="rId3" cstate="print"/>
          <a:stretch>
            <a:fillRect/>
          </a:stretch>
        </p:blipFill>
        <p:spPr>
          <a:xfrm>
            <a:off x="428596" y="1857364"/>
            <a:ext cx="8353425" cy="409575"/>
          </a:xfrm>
          <a:prstGeom prst="rect">
            <a:avLst/>
          </a:prstGeom>
        </p:spPr>
      </p:pic>
      <p:pic>
        <p:nvPicPr>
          <p:cNvPr id="6" name="圖片 5" descr="D10-2.jpg"/>
          <p:cNvPicPr>
            <a:picLocks noChangeAspect="1"/>
          </p:cNvPicPr>
          <p:nvPr/>
        </p:nvPicPr>
        <p:blipFill>
          <a:blip r:embed="rId4" cstate="print"/>
          <a:stretch>
            <a:fillRect/>
          </a:stretch>
        </p:blipFill>
        <p:spPr>
          <a:xfrm>
            <a:off x="571472" y="3786190"/>
            <a:ext cx="8305800" cy="457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3200" dirty="0" smtClean="0">
                <a:latin typeface="Times New Roman" pitchFamily="18" charset="0"/>
                <a:cs typeface="Times New Roman" pitchFamily="18" charset="0"/>
              </a:rPr>
              <a:t>Longest common integer weighted subsequence with two thresholds (LCIWS2)</a:t>
            </a:r>
            <a:endParaRPr lang="zh-TW" altLang="en-US" sz="3200"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LCIWS2 is NP-hard</a:t>
            </a:r>
          </a:p>
          <a:p>
            <a:endParaRPr lang="en-US" altLang="zh-TW" dirty="0" smtClean="0">
              <a:latin typeface="Times New Roman" pitchFamily="18" charset="0"/>
              <a:cs typeface="Times New Roman" pitchFamily="18" charset="0"/>
            </a:endParaRPr>
          </a:p>
          <a:p>
            <a:r>
              <a:rPr lang="en-US" altLang="zh-TW" smtClean="0">
                <a:latin typeface="Times New Roman" pitchFamily="18" charset="0"/>
                <a:cs typeface="Times New Roman" pitchFamily="18" charset="0"/>
              </a:rPr>
              <a:t>Proved </a:t>
            </a:r>
            <a:r>
              <a:rPr lang="en-US" altLang="zh-TW" dirty="0" smtClean="0">
                <a:latin typeface="Times New Roman" pitchFamily="18" charset="0"/>
                <a:cs typeface="Times New Roman" pitchFamily="18" charset="0"/>
              </a:rPr>
              <a:t>by using a Turing reduction from the Partition problem.</a:t>
            </a:r>
            <a:endParaRPr lang="zh-TW" alt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279</Words>
  <Application>Microsoft Office PowerPoint</Application>
  <PresentationFormat>如螢幕大小 (4:3)</PresentationFormat>
  <Paragraphs>23</Paragraphs>
  <Slides>12</Slides>
  <Notes>1</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Office 佈景主題</vt:lpstr>
      <vt:lpstr>Weighted LCS</vt:lpstr>
      <vt:lpstr>Abstract</vt:lpstr>
      <vt:lpstr>投影片 3</vt:lpstr>
      <vt:lpstr>投影片 4</vt:lpstr>
      <vt:lpstr>LCWS</vt:lpstr>
      <vt:lpstr>投影片 6</vt:lpstr>
      <vt:lpstr>投影片 7</vt:lpstr>
      <vt:lpstr>投影片 8</vt:lpstr>
      <vt:lpstr>LCWS for z sequences</vt:lpstr>
      <vt:lpstr>The integer model</vt:lpstr>
      <vt:lpstr>投影片 11</vt:lpstr>
      <vt:lpstr>Longest common integer weighted subsequence with two thresholds (LCIWS2)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Weighted LCS</dc:title>
  <cp:lastModifiedBy>kai</cp:lastModifiedBy>
  <cp:revision>8</cp:revision>
  <dcterms:modified xsi:type="dcterms:W3CDTF">2010-04-27T13:17:57Z</dcterms:modified>
</cp:coreProperties>
</file>