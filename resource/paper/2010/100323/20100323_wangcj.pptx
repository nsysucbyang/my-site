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7" r:id="rId3"/>
    <p:sldId id="258" r:id="rId4"/>
    <p:sldId id="259" r:id="rId5"/>
    <p:sldId id="260" r:id="rId6"/>
    <p:sldId id="261" r:id="rId7"/>
    <p:sldId id="263" r:id="rId8"/>
    <p:sldId id="262" r:id="rId9"/>
    <p:sldId id="264" r:id="rId10"/>
    <p:sldId id="265" r:id="rId11"/>
    <p:sldId id="266" r:id="rId12"/>
    <p:sldId id="267" r:id="rId13"/>
    <p:sldId id="268" r:id="rId14"/>
    <p:sldId id="269" r:id="rId15"/>
    <p:sldId id="270" r:id="rId16"/>
    <p:sldId id="271" r:id="rId17"/>
    <p:sldId id="272" r:id="rId18"/>
    <p:sldId id="274" r:id="rId19"/>
    <p:sldId id="273" r:id="rId20"/>
    <p:sldId id="275" r:id="rId21"/>
    <p:sldId id="276" r:id="rId22"/>
    <p:sldId id="277" r:id="rId23"/>
    <p:sldId id="278" r:id="rId24"/>
    <p:sldId id="279" r:id="rId25"/>
    <p:sldId id="280" r:id="rId26"/>
    <p:sldId id="281" r:id="rId27"/>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2" d="100"/>
          <a:sy n="102" d="100"/>
        </p:scale>
        <p:origin x="-234"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9C0E23B-F23D-4221-9AAF-F66B5B818F8F}" type="datetimeFigureOut">
              <a:rPr lang="zh-TW" altLang="en-US" smtClean="0"/>
              <a:pPr/>
              <a:t>2010/3/23</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A00D356-5B34-40A5-8D60-541030F05911}"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DA00D356-5B34-40A5-8D60-541030F05911}" type="slidenum">
              <a:rPr lang="zh-TW" altLang="en-US" smtClean="0"/>
              <a:pPr/>
              <a:t>4</a:t>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F7D29560-AE0E-4E46-89C1-B9DC2D3B31BB}" type="datetimeFigureOut">
              <a:rPr lang="zh-TW" altLang="en-US" smtClean="0"/>
              <a:pPr/>
              <a:t>2010/3/23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CFB96D1-6312-4EFD-8B3E-7AD0A05E072E}"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F7D29560-AE0E-4E46-89C1-B9DC2D3B31BB}" type="datetimeFigureOut">
              <a:rPr lang="zh-TW" altLang="en-US" smtClean="0"/>
              <a:pPr/>
              <a:t>2010/3/23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CFB96D1-6312-4EFD-8B3E-7AD0A05E072E}"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F7D29560-AE0E-4E46-89C1-B9DC2D3B31BB}" type="datetimeFigureOut">
              <a:rPr lang="zh-TW" altLang="en-US" smtClean="0"/>
              <a:pPr/>
              <a:t>2010/3/23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CFB96D1-6312-4EFD-8B3E-7AD0A05E072E}"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F7D29560-AE0E-4E46-89C1-B9DC2D3B31BB}" type="datetimeFigureOut">
              <a:rPr lang="zh-TW" altLang="en-US" smtClean="0"/>
              <a:pPr/>
              <a:t>2010/3/23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CFB96D1-6312-4EFD-8B3E-7AD0A05E072E}"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F7D29560-AE0E-4E46-89C1-B9DC2D3B31BB}" type="datetimeFigureOut">
              <a:rPr lang="zh-TW" altLang="en-US" smtClean="0"/>
              <a:pPr/>
              <a:t>2010/3/23</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5CFB96D1-6312-4EFD-8B3E-7AD0A05E072E}"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F7D29560-AE0E-4E46-89C1-B9DC2D3B31BB}" type="datetimeFigureOut">
              <a:rPr lang="zh-TW" altLang="en-US" smtClean="0"/>
              <a:pPr/>
              <a:t>2010/3/23</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5CFB96D1-6312-4EFD-8B3E-7AD0A05E072E}"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F7D29560-AE0E-4E46-89C1-B9DC2D3B31BB}" type="datetimeFigureOut">
              <a:rPr lang="zh-TW" altLang="en-US" smtClean="0"/>
              <a:pPr/>
              <a:t>2010/3/23</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5CFB96D1-6312-4EFD-8B3E-7AD0A05E072E}"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F7D29560-AE0E-4E46-89C1-B9DC2D3B31BB}" type="datetimeFigureOut">
              <a:rPr lang="zh-TW" altLang="en-US" smtClean="0"/>
              <a:pPr/>
              <a:t>2010/3/23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CFB96D1-6312-4EFD-8B3E-7AD0A05E072E}"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F7D29560-AE0E-4E46-89C1-B9DC2D3B31BB}" type="datetimeFigureOut">
              <a:rPr lang="zh-TW" altLang="en-US" smtClean="0"/>
              <a:pPr/>
              <a:t>2010/3/23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CFB96D1-6312-4EFD-8B3E-7AD0A05E072E}"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F7D29560-AE0E-4E46-89C1-B9DC2D3B31BB}" type="datetimeFigureOut">
              <a:rPr lang="zh-TW" altLang="en-US" smtClean="0"/>
              <a:pPr/>
              <a:t>2010/3/23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CFB96D1-6312-4EFD-8B3E-7AD0A05E072E}"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F7D29560-AE0E-4E46-89C1-B9DC2D3B31BB}" type="datetimeFigureOut">
              <a:rPr lang="zh-TW" altLang="en-US" smtClean="0"/>
              <a:pPr/>
              <a:t>2010/3/23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CFB96D1-6312-4EFD-8B3E-7AD0A05E072E}"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D29560-AE0E-4E46-89C1-B9DC2D3B31BB}" type="datetimeFigureOut">
              <a:rPr lang="zh-TW" altLang="en-US" smtClean="0"/>
              <a:pPr/>
              <a:t>2010/3/23</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FB96D1-6312-4EFD-8B3E-7AD0A05E072E}"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a:bodyPr>
          <a:lstStyle/>
          <a:p>
            <a:r>
              <a:rPr lang="en-US" altLang="zh-TW" sz="4000" dirty="0">
                <a:latin typeface="Times New Roman" pitchFamily="18" charset="0"/>
                <a:cs typeface="Times New Roman" pitchFamily="18" charset="0"/>
              </a:rPr>
              <a:t>Mining Closed Sequential Patterns with Time Constraints</a:t>
            </a:r>
            <a:endParaRPr lang="zh-TW" altLang="en-US" sz="4000" dirty="0">
              <a:latin typeface="Times New Roman" pitchFamily="18" charset="0"/>
              <a:cs typeface="Times New Roman" pitchFamily="18" charset="0"/>
            </a:endParaRPr>
          </a:p>
        </p:txBody>
      </p:sp>
      <p:sp>
        <p:nvSpPr>
          <p:cNvPr id="3" name="副標題 2"/>
          <p:cNvSpPr>
            <a:spLocks noGrp="1"/>
          </p:cNvSpPr>
          <p:nvPr>
            <p:ph type="subTitle" idx="1"/>
          </p:nvPr>
        </p:nvSpPr>
        <p:spPr/>
        <p:txBody>
          <a:bodyPr>
            <a:normAutofit/>
          </a:bodyPr>
          <a:lstStyle/>
          <a:p>
            <a:r>
              <a:rPr lang="en-US" altLang="zh-TW" sz="1800" dirty="0" smtClean="0">
                <a:solidFill>
                  <a:schemeClr val="tx1"/>
                </a:solidFill>
                <a:latin typeface="Times New Roman" pitchFamily="18" charset="0"/>
                <a:cs typeface="Times New Roman" pitchFamily="18" charset="0"/>
              </a:rPr>
              <a:t>Ming-Yen Lin</a:t>
            </a:r>
            <a:r>
              <a:rPr lang="en-US" altLang="zh-TW" sz="1800" b="1" dirty="0">
                <a:solidFill>
                  <a:schemeClr val="tx1"/>
                </a:solidFill>
                <a:latin typeface="Times New Roman" pitchFamily="18" charset="0"/>
                <a:cs typeface="Times New Roman" pitchFamily="18" charset="0"/>
              </a:rPr>
              <a:t>(</a:t>
            </a:r>
            <a:r>
              <a:rPr lang="zh-TW" altLang="en-US" sz="1800" b="1" dirty="0">
                <a:solidFill>
                  <a:schemeClr val="tx1"/>
                </a:solidFill>
                <a:latin typeface="Times New Roman" pitchFamily="18" charset="0"/>
                <a:cs typeface="Times New Roman" pitchFamily="18" charset="0"/>
              </a:rPr>
              <a:t>林明言</a:t>
            </a:r>
            <a:r>
              <a:rPr lang="en-US" altLang="zh-TW" sz="1800" b="1" dirty="0">
                <a:solidFill>
                  <a:schemeClr val="tx1"/>
                </a:solidFill>
                <a:latin typeface="Times New Roman" pitchFamily="18" charset="0"/>
                <a:cs typeface="Times New Roman" pitchFamily="18" charset="0"/>
              </a:rPr>
              <a:t>)</a:t>
            </a:r>
            <a:r>
              <a:rPr lang="en-US" altLang="zh-TW" sz="1800" dirty="0" smtClean="0">
                <a:solidFill>
                  <a:schemeClr val="tx1"/>
                </a:solidFill>
                <a:latin typeface="Times New Roman" pitchFamily="18" charset="0"/>
                <a:cs typeface="Times New Roman" pitchFamily="18" charset="0"/>
              </a:rPr>
              <a:t>, Sue-Chen </a:t>
            </a:r>
            <a:r>
              <a:rPr lang="en-US" altLang="zh-TW" sz="1800" dirty="0" err="1" smtClean="0">
                <a:solidFill>
                  <a:schemeClr val="tx1"/>
                </a:solidFill>
                <a:latin typeface="Times New Roman" pitchFamily="18" charset="0"/>
                <a:cs typeface="Times New Roman" pitchFamily="18" charset="0"/>
              </a:rPr>
              <a:t>Hsueh</a:t>
            </a:r>
            <a:r>
              <a:rPr lang="en-US" altLang="zh-TW" sz="1800" b="1" dirty="0">
                <a:solidFill>
                  <a:schemeClr val="tx1"/>
                </a:solidFill>
                <a:latin typeface="Times New Roman" pitchFamily="18" charset="0"/>
                <a:cs typeface="Times New Roman" pitchFamily="18" charset="0"/>
              </a:rPr>
              <a:t>(</a:t>
            </a:r>
            <a:r>
              <a:rPr lang="zh-TW" altLang="en-US" sz="1800" b="1" dirty="0">
                <a:solidFill>
                  <a:schemeClr val="tx1"/>
                </a:solidFill>
                <a:latin typeface="Times New Roman" pitchFamily="18" charset="0"/>
                <a:cs typeface="Times New Roman" pitchFamily="18" charset="0"/>
              </a:rPr>
              <a:t>薛夙珍</a:t>
            </a:r>
            <a:r>
              <a:rPr lang="en-US" altLang="zh-TW" sz="1800" b="1" dirty="0">
                <a:solidFill>
                  <a:schemeClr val="tx1"/>
                </a:solidFill>
                <a:latin typeface="Times New Roman" pitchFamily="18" charset="0"/>
                <a:cs typeface="Times New Roman" pitchFamily="18" charset="0"/>
              </a:rPr>
              <a:t>)</a:t>
            </a:r>
            <a:r>
              <a:rPr lang="en-US" altLang="zh-TW" sz="1800" dirty="0" smtClean="0">
                <a:solidFill>
                  <a:schemeClr val="tx1"/>
                </a:solidFill>
                <a:latin typeface="Times New Roman" pitchFamily="18" charset="0"/>
                <a:cs typeface="Times New Roman" pitchFamily="18" charset="0"/>
              </a:rPr>
              <a:t> and </a:t>
            </a:r>
            <a:r>
              <a:rPr lang="en-US" altLang="zh-TW" sz="1800" dirty="0" err="1" smtClean="0">
                <a:solidFill>
                  <a:schemeClr val="tx1"/>
                </a:solidFill>
                <a:latin typeface="Times New Roman" pitchFamily="18" charset="0"/>
                <a:cs typeface="Times New Roman" pitchFamily="18" charset="0"/>
              </a:rPr>
              <a:t>Chia-Wen</a:t>
            </a:r>
            <a:r>
              <a:rPr lang="en-US" altLang="zh-TW" sz="1800" dirty="0" smtClean="0">
                <a:solidFill>
                  <a:schemeClr val="tx1"/>
                </a:solidFill>
                <a:latin typeface="Times New Roman" pitchFamily="18" charset="0"/>
                <a:cs typeface="Times New Roman" pitchFamily="18" charset="0"/>
              </a:rPr>
              <a:t> Chang</a:t>
            </a:r>
            <a:r>
              <a:rPr lang="en-US" altLang="zh-TW" sz="1800" b="1" dirty="0">
                <a:solidFill>
                  <a:schemeClr val="tx1"/>
                </a:solidFill>
                <a:latin typeface="Times New Roman" pitchFamily="18" charset="0"/>
                <a:cs typeface="Times New Roman" pitchFamily="18" charset="0"/>
              </a:rPr>
              <a:t>(</a:t>
            </a:r>
            <a:r>
              <a:rPr lang="zh-TW" altLang="en-US" sz="1800" b="1" dirty="0">
                <a:solidFill>
                  <a:schemeClr val="tx1"/>
                </a:solidFill>
                <a:latin typeface="Times New Roman" pitchFamily="18" charset="0"/>
                <a:cs typeface="Times New Roman" pitchFamily="18" charset="0"/>
              </a:rPr>
              <a:t>張家汶</a:t>
            </a:r>
            <a:r>
              <a:rPr lang="en-US" altLang="zh-TW" sz="1800" b="1" dirty="0" smtClean="0">
                <a:solidFill>
                  <a:schemeClr val="tx1"/>
                </a:solidFill>
                <a:latin typeface="Times New Roman" pitchFamily="18" charset="0"/>
                <a:cs typeface="Times New Roman" pitchFamily="18" charset="0"/>
              </a:rPr>
              <a:t>)</a:t>
            </a:r>
          </a:p>
          <a:p>
            <a:r>
              <a:rPr lang="en-US" altLang="zh-TW" sz="1800" dirty="0" smtClean="0">
                <a:solidFill>
                  <a:schemeClr val="tx1"/>
                </a:solidFill>
                <a:latin typeface="Times New Roman" pitchFamily="18" charset="0"/>
                <a:cs typeface="Times New Roman" pitchFamily="18" charset="0"/>
              </a:rPr>
              <a:t>Journal of Information Science and Engineering </a:t>
            </a:r>
            <a:r>
              <a:rPr lang="en-US" altLang="zh-TW" sz="1800" dirty="0">
                <a:solidFill>
                  <a:schemeClr val="tx1"/>
                </a:solidFill>
                <a:latin typeface="Times New Roman" pitchFamily="18" charset="0"/>
                <a:cs typeface="Times New Roman" pitchFamily="18" charset="0"/>
              </a:rPr>
              <a:t>24, 33-46 (2008</a:t>
            </a:r>
            <a:r>
              <a:rPr lang="en-US" altLang="zh-TW" sz="1800" dirty="0" smtClean="0">
                <a:solidFill>
                  <a:schemeClr val="tx1"/>
                </a:solidFill>
                <a:latin typeface="Times New Roman" pitchFamily="18" charset="0"/>
                <a:cs typeface="Times New Roman" pitchFamily="18" charset="0"/>
              </a:rPr>
              <a:t>)</a:t>
            </a:r>
          </a:p>
          <a:p>
            <a:pPr>
              <a:lnSpc>
                <a:spcPct val="80000"/>
              </a:lnSpc>
            </a:pPr>
            <a:r>
              <a:rPr lang="en-US" altLang="zh-TW" sz="1800" dirty="0" smtClean="0">
                <a:solidFill>
                  <a:schemeClr val="tx1"/>
                </a:solidFill>
                <a:latin typeface="Times New Roman" pitchFamily="18" charset="0"/>
                <a:cs typeface="Times New Roman" pitchFamily="18" charset="0"/>
              </a:rPr>
              <a:t>Speaker: Chong-</a:t>
            </a:r>
            <a:r>
              <a:rPr lang="en-US" altLang="zh-TW" sz="1800" dirty="0" err="1" smtClean="0">
                <a:solidFill>
                  <a:schemeClr val="tx1"/>
                </a:solidFill>
                <a:latin typeface="Times New Roman" pitchFamily="18" charset="0"/>
                <a:cs typeface="Times New Roman" pitchFamily="18" charset="0"/>
              </a:rPr>
              <a:t>Jie</a:t>
            </a:r>
            <a:r>
              <a:rPr lang="en-US" altLang="zh-TW" sz="1800" dirty="0" smtClean="0">
                <a:solidFill>
                  <a:schemeClr val="tx1"/>
                </a:solidFill>
                <a:latin typeface="Times New Roman" pitchFamily="18" charset="0"/>
                <a:cs typeface="Times New Roman" pitchFamily="18" charset="0"/>
              </a:rPr>
              <a:t> Wang</a:t>
            </a:r>
          </a:p>
          <a:p>
            <a:pPr>
              <a:lnSpc>
                <a:spcPct val="80000"/>
              </a:lnSpc>
            </a:pPr>
            <a:r>
              <a:rPr lang="en-US" altLang="zh-TW" sz="1800" dirty="0" smtClean="0">
                <a:solidFill>
                  <a:schemeClr val="tx1"/>
                </a:solidFill>
                <a:latin typeface="Times New Roman" pitchFamily="18" charset="0"/>
                <a:cs typeface="Times New Roman" pitchFamily="18" charset="0"/>
              </a:rPr>
              <a:t>Date: Mar. 23, 2010</a:t>
            </a:r>
          </a:p>
          <a:p>
            <a:endParaRPr lang="zh-TW" altLang="en-US" sz="2000"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pPr algn="l"/>
            <a:r>
              <a:rPr lang="en-US" altLang="zh-TW" sz="4000" dirty="0" smtClean="0">
                <a:latin typeface="Times New Roman" pitchFamily="18" charset="0"/>
                <a:cs typeface="Times New Roman" pitchFamily="18" charset="0"/>
              </a:rPr>
              <a:t>A</a:t>
            </a:r>
            <a:r>
              <a:rPr lang="pt-BR" altLang="zh-TW" sz="4000" dirty="0" smtClean="0">
                <a:latin typeface="Times New Roman" pitchFamily="18" charset="0"/>
                <a:cs typeface="Times New Roman" pitchFamily="18" charset="0"/>
              </a:rPr>
              <a:t>bstract(1/2)</a:t>
            </a:r>
            <a:endParaRPr lang="zh-TW" altLang="en-US" sz="4000" dirty="0"/>
          </a:p>
        </p:txBody>
      </p:sp>
      <p:sp>
        <p:nvSpPr>
          <p:cNvPr id="3" name="內容版面配置區 2"/>
          <p:cNvSpPr>
            <a:spLocks noGrp="1"/>
          </p:cNvSpPr>
          <p:nvPr>
            <p:ph idx="1"/>
          </p:nvPr>
        </p:nvSpPr>
        <p:spPr/>
        <p:txBody>
          <a:bodyPr>
            <a:noAutofit/>
          </a:bodyPr>
          <a:lstStyle/>
          <a:p>
            <a:r>
              <a:rPr lang="en-US" altLang="zh-TW" sz="2400" dirty="0">
                <a:latin typeface="Times New Roman" pitchFamily="18" charset="0"/>
                <a:cs typeface="Times New Roman" pitchFamily="18" charset="0"/>
              </a:rPr>
              <a:t>The mining of closed sequential patterns has attracted researchers for its </a:t>
            </a:r>
            <a:r>
              <a:rPr lang="en-US" altLang="zh-TW" sz="2400" dirty="0" smtClean="0">
                <a:latin typeface="Times New Roman" pitchFamily="18" charset="0"/>
                <a:cs typeface="Times New Roman" pitchFamily="18" charset="0"/>
              </a:rPr>
              <a:t>capability of </a:t>
            </a:r>
            <a:r>
              <a:rPr lang="en-US" altLang="zh-TW" sz="2400" dirty="0">
                <a:latin typeface="Times New Roman" pitchFamily="18" charset="0"/>
                <a:cs typeface="Times New Roman" pitchFamily="18" charset="0"/>
              </a:rPr>
              <a:t>using compact results to preserving the same expressive power as traditional </a:t>
            </a:r>
            <a:r>
              <a:rPr lang="en-US" altLang="zh-TW" sz="2400" dirty="0" smtClean="0">
                <a:latin typeface="Times New Roman" pitchFamily="18" charset="0"/>
                <a:cs typeface="Times New Roman" pitchFamily="18" charset="0"/>
              </a:rPr>
              <a:t>mining. Many </a:t>
            </a:r>
            <a:r>
              <a:rPr lang="en-US" altLang="zh-TW" sz="2400" dirty="0">
                <a:latin typeface="Times New Roman" pitchFamily="18" charset="0"/>
                <a:cs typeface="Times New Roman" pitchFamily="18" charset="0"/>
              </a:rPr>
              <a:t>studies have shown that constraints are essential for applications of </a:t>
            </a:r>
            <a:r>
              <a:rPr lang="en-US" altLang="zh-TW" sz="2400" dirty="0" smtClean="0">
                <a:latin typeface="Times New Roman" pitchFamily="18" charset="0"/>
                <a:cs typeface="Times New Roman" pitchFamily="18" charset="0"/>
              </a:rPr>
              <a:t>sequential patterns</a:t>
            </a:r>
            <a:r>
              <a:rPr lang="en-US" altLang="zh-TW" sz="2400" dirty="0">
                <a:latin typeface="Times New Roman" pitchFamily="18" charset="0"/>
                <a:cs typeface="Times New Roman" pitchFamily="18" charset="0"/>
              </a:rPr>
              <a:t>. However, time constraints have not been incorporated into closed </a:t>
            </a:r>
            <a:r>
              <a:rPr lang="en-US" altLang="zh-TW" sz="2400" dirty="0" smtClean="0">
                <a:latin typeface="Times New Roman" pitchFamily="18" charset="0"/>
                <a:cs typeface="Times New Roman" pitchFamily="18" charset="0"/>
              </a:rPr>
              <a:t>sequence mining </a:t>
            </a:r>
            <a:r>
              <a:rPr lang="en-US" altLang="zh-TW" sz="2400" dirty="0">
                <a:latin typeface="Times New Roman" pitchFamily="18" charset="0"/>
                <a:cs typeface="Times New Roman" pitchFamily="18" charset="0"/>
              </a:rPr>
              <a:t>yet. Therefore, we propose an algorithm called CTSP for closed sequential </a:t>
            </a:r>
            <a:r>
              <a:rPr lang="en-US" altLang="zh-TW" sz="2400" dirty="0" smtClean="0">
                <a:latin typeface="Times New Roman" pitchFamily="18" charset="0"/>
                <a:cs typeface="Times New Roman" pitchFamily="18" charset="0"/>
              </a:rPr>
              <a:t>pattern mining </a:t>
            </a:r>
            <a:r>
              <a:rPr lang="en-US" altLang="zh-TW" sz="2400" dirty="0">
                <a:latin typeface="Times New Roman" pitchFamily="18" charset="0"/>
                <a:cs typeface="Times New Roman" pitchFamily="18" charset="0"/>
              </a:rPr>
              <a:t>with time constraints. CTSP loads the database into memory and </a:t>
            </a:r>
            <a:r>
              <a:rPr lang="en-US" altLang="zh-TW" sz="2400" dirty="0" smtClean="0">
                <a:latin typeface="Times New Roman" pitchFamily="18" charset="0"/>
                <a:cs typeface="Times New Roman" pitchFamily="18" charset="0"/>
              </a:rPr>
              <a:t>constructs time-indexes </a:t>
            </a:r>
            <a:r>
              <a:rPr lang="en-US" altLang="zh-TW" sz="2400" dirty="0">
                <a:latin typeface="Times New Roman" pitchFamily="18" charset="0"/>
                <a:cs typeface="Times New Roman" pitchFamily="18" charset="0"/>
              </a:rPr>
              <a:t>to facilitate both pattern mining and closure checking, within the </a:t>
            </a:r>
            <a:r>
              <a:rPr lang="en-US" altLang="zh-TW" sz="2400" dirty="0" err="1" smtClean="0">
                <a:latin typeface="Times New Roman" pitchFamily="18" charset="0"/>
                <a:cs typeface="Times New Roman" pitchFamily="18" charset="0"/>
              </a:rPr>
              <a:t>patterngrowth</a:t>
            </a:r>
            <a:r>
              <a:rPr lang="en-US" altLang="zh-TW" sz="2400" dirty="0" smtClean="0">
                <a:latin typeface="Times New Roman" pitchFamily="18" charset="0"/>
                <a:cs typeface="Times New Roman" pitchFamily="18" charset="0"/>
              </a:rPr>
              <a:t> framework</a:t>
            </a:r>
            <a:r>
              <a:rPr lang="en-US" altLang="zh-TW" sz="2400" dirty="0">
                <a:latin typeface="Times New Roman" pitchFamily="18" charset="0"/>
                <a:cs typeface="Times New Roman" pitchFamily="18" charset="0"/>
              </a:rPr>
              <a:t>. </a:t>
            </a:r>
            <a:endParaRPr lang="zh-TW" alt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sz="4000" dirty="0" smtClean="0">
                <a:latin typeface="Times New Roman" pitchFamily="18" charset="0"/>
                <a:cs typeface="Times New Roman" pitchFamily="18" charset="0"/>
              </a:rPr>
              <a:t>A</a:t>
            </a:r>
            <a:r>
              <a:rPr lang="pt-BR" altLang="zh-TW" sz="4000" dirty="0" smtClean="0">
                <a:latin typeface="Times New Roman" pitchFamily="18" charset="0"/>
                <a:cs typeface="Times New Roman" pitchFamily="18" charset="0"/>
              </a:rPr>
              <a:t>bstract(2/2)</a:t>
            </a:r>
            <a:endParaRPr lang="zh-TW" altLang="en-US" sz="4000" dirty="0"/>
          </a:p>
        </p:txBody>
      </p:sp>
      <p:sp>
        <p:nvSpPr>
          <p:cNvPr id="3" name="內容版面配置區 2"/>
          <p:cNvSpPr>
            <a:spLocks noGrp="1"/>
          </p:cNvSpPr>
          <p:nvPr>
            <p:ph idx="1"/>
          </p:nvPr>
        </p:nvSpPr>
        <p:spPr/>
        <p:txBody>
          <a:bodyPr>
            <a:normAutofit/>
          </a:bodyPr>
          <a:lstStyle/>
          <a:p>
            <a:r>
              <a:rPr lang="en-US" altLang="zh-TW" sz="2400" dirty="0" smtClean="0">
                <a:latin typeface="Times New Roman" pitchFamily="18" charset="0"/>
                <a:cs typeface="Times New Roman" pitchFamily="18" charset="0"/>
              </a:rPr>
              <a:t>The index sets are utilized to efficiently mine the patterns without generating any candidate or sub-database. The bidirectional closure checking strategy further speeds up the mining. The comprehensive experiments with both synthetic and real datasets show that CTSP efficiently mines closed sequential patterns satisfying the time constraints, and has good linear scalability with respect to the database size.</a:t>
            </a:r>
            <a:endParaRPr lang="zh-TW" altLang="en-US" sz="24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pPr algn="l"/>
            <a:r>
              <a:rPr lang="en-US" altLang="zh-TW" sz="3200" dirty="0" smtClean="0">
                <a:latin typeface="Times New Roman" pitchFamily="18" charset="0"/>
                <a:cs typeface="Times New Roman" pitchFamily="18" charset="0"/>
              </a:rPr>
              <a:t>Mining sequential patterns with time constraints</a:t>
            </a:r>
            <a:endParaRPr lang="zh-TW" altLang="en-US" sz="3200" dirty="0">
              <a:latin typeface="Times New Roman" pitchFamily="18" charset="0"/>
              <a:cs typeface="Times New Roman" pitchFamily="18" charset="0"/>
            </a:endParaRPr>
          </a:p>
        </p:txBody>
      </p:sp>
      <p:sp>
        <p:nvSpPr>
          <p:cNvPr id="3" name="內容版面配置區 2"/>
          <p:cNvSpPr>
            <a:spLocks noGrp="1"/>
          </p:cNvSpPr>
          <p:nvPr>
            <p:ph idx="1"/>
          </p:nvPr>
        </p:nvSpPr>
        <p:spPr/>
        <p:txBody>
          <a:bodyPr>
            <a:normAutofit/>
          </a:bodyPr>
          <a:lstStyle/>
          <a:p>
            <a:r>
              <a:rPr lang="en-US" altLang="zh-TW" sz="2800" dirty="0">
                <a:latin typeface="Times New Roman" pitchFamily="18" charset="0"/>
                <a:cs typeface="Times New Roman" pitchFamily="18" charset="0"/>
              </a:rPr>
              <a:t>Three time constraints </a:t>
            </a:r>
            <a:r>
              <a:rPr lang="en-US" altLang="zh-TW" sz="2800" dirty="0" smtClean="0">
                <a:latin typeface="Times New Roman" pitchFamily="18" charset="0"/>
                <a:cs typeface="Times New Roman" pitchFamily="18" charset="0"/>
              </a:rPr>
              <a:t>: </a:t>
            </a:r>
            <a:r>
              <a:rPr lang="en-US" altLang="zh-TW" sz="2800" dirty="0">
                <a:latin typeface="Times New Roman" pitchFamily="18" charset="0"/>
                <a:cs typeface="Times New Roman" pitchFamily="18" charset="0"/>
              </a:rPr>
              <a:t>minimum gap, maximum gap and sliding </a:t>
            </a:r>
            <a:r>
              <a:rPr lang="en-US" altLang="zh-TW" sz="2800" dirty="0" smtClean="0">
                <a:latin typeface="Times New Roman" pitchFamily="18" charset="0"/>
                <a:cs typeface="Times New Roman" pitchFamily="18" charset="0"/>
              </a:rPr>
              <a:t>time-window</a:t>
            </a:r>
          </a:p>
          <a:p>
            <a:endParaRPr lang="en-US" altLang="zh-TW" sz="2800" dirty="0" smtClean="0">
              <a:latin typeface="Times New Roman" pitchFamily="18" charset="0"/>
              <a:cs typeface="Times New Roman" pitchFamily="18" charset="0"/>
            </a:endParaRPr>
          </a:p>
          <a:p>
            <a:r>
              <a:rPr lang="en-US" altLang="zh-TW" sz="2800" dirty="0" smtClean="0">
                <a:latin typeface="Times New Roman" pitchFamily="18" charset="0"/>
                <a:cs typeface="Times New Roman" pitchFamily="18" charset="0"/>
              </a:rPr>
              <a:t>pattern&lt;(</a:t>
            </a:r>
            <a:r>
              <a:rPr lang="en-US" altLang="zh-TW" sz="2800" dirty="0">
                <a:latin typeface="Times New Roman" pitchFamily="18" charset="0"/>
                <a:cs typeface="Times New Roman" pitchFamily="18" charset="0"/>
              </a:rPr>
              <a:t>TV)(Audio, Jukebox</a:t>
            </a:r>
            <a:r>
              <a:rPr lang="en-US" altLang="zh-TW" sz="2800" dirty="0" smtClean="0">
                <a:latin typeface="Times New Roman" pitchFamily="18" charset="0"/>
                <a:cs typeface="Times New Roman" pitchFamily="18" charset="0"/>
              </a:rPr>
              <a:t>)&gt;</a:t>
            </a:r>
          </a:p>
          <a:p>
            <a:endParaRPr lang="en-US" altLang="zh-TW" sz="2800" dirty="0">
              <a:latin typeface="Times New Roman" pitchFamily="18" charset="0"/>
              <a:cs typeface="Times New Roman" pitchFamily="18" charset="0"/>
            </a:endParaRPr>
          </a:p>
          <a:p>
            <a:r>
              <a:rPr lang="en-US" altLang="zh-TW" sz="2800" dirty="0" smtClean="0">
                <a:latin typeface="Times New Roman" pitchFamily="18" charset="0"/>
                <a:cs typeface="Times New Roman" pitchFamily="18" charset="0"/>
              </a:rPr>
              <a:t>sequence&lt;</a:t>
            </a:r>
            <a:r>
              <a:rPr lang="en-US" altLang="zh-TW" sz="2800" baseline="-25000" dirty="0" smtClean="0">
                <a:latin typeface="Times New Roman" pitchFamily="18" charset="0"/>
                <a:cs typeface="Times New Roman" pitchFamily="18" charset="0"/>
              </a:rPr>
              <a:t>1</a:t>
            </a:r>
            <a:r>
              <a:rPr lang="en-US" altLang="zh-TW" sz="2800" dirty="0" smtClean="0">
                <a:latin typeface="Times New Roman" pitchFamily="18" charset="0"/>
                <a:cs typeface="Times New Roman" pitchFamily="18" charset="0"/>
              </a:rPr>
              <a:t>(TV)</a:t>
            </a:r>
            <a:r>
              <a:rPr lang="en-US" altLang="zh-TW" sz="2800" baseline="-25000" dirty="0" smtClean="0">
                <a:latin typeface="Times New Roman" pitchFamily="18" charset="0"/>
                <a:cs typeface="Times New Roman" pitchFamily="18" charset="0"/>
              </a:rPr>
              <a:t>7</a:t>
            </a:r>
            <a:r>
              <a:rPr lang="en-US" altLang="zh-TW" sz="2800" dirty="0" smtClean="0">
                <a:latin typeface="Times New Roman" pitchFamily="18" charset="0"/>
                <a:cs typeface="Times New Roman" pitchFamily="18" charset="0"/>
              </a:rPr>
              <a:t>(Audio)</a:t>
            </a:r>
            <a:r>
              <a:rPr lang="en-US" altLang="zh-TW" sz="2800" baseline="-25000" dirty="0" smtClean="0">
                <a:latin typeface="Times New Roman" pitchFamily="18" charset="0"/>
                <a:cs typeface="Times New Roman" pitchFamily="18" charset="0"/>
              </a:rPr>
              <a:t>9</a:t>
            </a:r>
            <a:r>
              <a:rPr lang="en-US" altLang="zh-TW" sz="2800" dirty="0" smtClean="0">
                <a:latin typeface="Times New Roman" pitchFamily="18" charset="0"/>
                <a:cs typeface="Times New Roman" pitchFamily="18" charset="0"/>
              </a:rPr>
              <a:t>(Jukebox</a:t>
            </a:r>
            <a:r>
              <a:rPr lang="en-US" altLang="zh-TW" sz="2800" dirty="0">
                <a:latin typeface="Times New Roman" pitchFamily="18" charset="0"/>
                <a:cs typeface="Times New Roman" pitchFamily="18" charset="0"/>
              </a:rPr>
              <a:t>)&gt;</a:t>
            </a:r>
            <a:endParaRPr lang="zh-TW" alt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pPr algn="l"/>
            <a:r>
              <a:rPr lang="en-US" altLang="zh-TW" sz="4000" dirty="0" smtClean="0">
                <a:latin typeface="Times New Roman" pitchFamily="18" charset="0"/>
                <a:cs typeface="Times New Roman" pitchFamily="18" charset="0"/>
              </a:rPr>
              <a:t>Problem statement</a:t>
            </a:r>
            <a:endParaRPr lang="zh-TW" altLang="en-US" sz="4000" dirty="0">
              <a:latin typeface="Times New Roman" pitchFamily="18" charset="0"/>
              <a:cs typeface="Times New Roman" pitchFamily="18" charset="0"/>
            </a:endParaRPr>
          </a:p>
        </p:txBody>
      </p:sp>
      <p:sp>
        <p:nvSpPr>
          <p:cNvPr id="3" name="內容版面配置區 2"/>
          <p:cNvSpPr>
            <a:spLocks noGrp="1"/>
          </p:cNvSpPr>
          <p:nvPr>
            <p:ph idx="1"/>
          </p:nvPr>
        </p:nvSpPr>
        <p:spPr/>
        <p:txBody>
          <a:bodyPr>
            <a:normAutofit/>
          </a:bodyPr>
          <a:lstStyle/>
          <a:p>
            <a:r>
              <a:rPr lang="en-US" altLang="zh-TW" sz="2800" dirty="0">
                <a:latin typeface="Times New Roman" pitchFamily="18" charset="0"/>
                <a:cs typeface="Times New Roman" pitchFamily="18" charset="0"/>
              </a:rPr>
              <a:t>s</a:t>
            </a:r>
            <a:r>
              <a:rPr lang="en-US" altLang="zh-TW" sz="2800" dirty="0" smtClean="0">
                <a:latin typeface="Times New Roman" pitchFamily="18" charset="0"/>
                <a:cs typeface="Times New Roman" pitchFamily="18" charset="0"/>
              </a:rPr>
              <a:t>equence s = </a:t>
            </a:r>
            <a:r>
              <a:rPr lang="en-US" altLang="zh-TW" sz="2800" dirty="0">
                <a:latin typeface="Times New Roman" pitchFamily="18" charset="0"/>
                <a:cs typeface="Times New Roman" pitchFamily="18" charset="0"/>
              </a:rPr>
              <a:t>&lt;</a:t>
            </a:r>
            <a:r>
              <a:rPr lang="en-US" altLang="zh-TW" sz="2800" i="1" dirty="0" smtClean="0">
                <a:latin typeface="Times New Roman" pitchFamily="18" charset="0"/>
                <a:cs typeface="Times New Roman" pitchFamily="18" charset="0"/>
              </a:rPr>
              <a:t>e</a:t>
            </a:r>
            <a:r>
              <a:rPr lang="en-US" altLang="zh-TW" sz="2800" i="1" baseline="-25000" dirty="0" smtClean="0">
                <a:latin typeface="Times New Roman" pitchFamily="18" charset="0"/>
                <a:cs typeface="Times New Roman" pitchFamily="18" charset="0"/>
              </a:rPr>
              <a:t>1</a:t>
            </a:r>
            <a:r>
              <a:rPr lang="en-US" altLang="zh-TW" sz="2800" i="1" dirty="0" smtClean="0">
                <a:latin typeface="Times New Roman" pitchFamily="18" charset="0"/>
                <a:cs typeface="Times New Roman" pitchFamily="18" charset="0"/>
              </a:rPr>
              <a:t>e</a:t>
            </a:r>
            <a:r>
              <a:rPr lang="en-US" altLang="zh-TW" sz="2800" i="1" baseline="-25000" dirty="0" smtClean="0">
                <a:latin typeface="Times New Roman" pitchFamily="18" charset="0"/>
                <a:cs typeface="Times New Roman" pitchFamily="18" charset="0"/>
              </a:rPr>
              <a:t>2</a:t>
            </a:r>
            <a:r>
              <a:rPr lang="en-US" altLang="zh-TW" sz="2800" i="1" dirty="0" smtClean="0">
                <a:latin typeface="Times New Roman" pitchFamily="18" charset="0"/>
                <a:cs typeface="Times New Roman" pitchFamily="18" charset="0"/>
              </a:rPr>
              <a:t>…</a:t>
            </a:r>
            <a:r>
              <a:rPr lang="en-US" altLang="zh-TW" sz="2800" i="1" dirty="0" err="1" smtClean="0">
                <a:latin typeface="Times New Roman" pitchFamily="18" charset="0"/>
                <a:cs typeface="Times New Roman" pitchFamily="18" charset="0"/>
              </a:rPr>
              <a:t>e</a:t>
            </a:r>
            <a:r>
              <a:rPr lang="en-US" altLang="zh-TW" sz="2800" i="1" baseline="-25000" dirty="0" err="1" smtClean="0">
                <a:latin typeface="Times New Roman" pitchFamily="18" charset="0"/>
                <a:cs typeface="Times New Roman" pitchFamily="18" charset="0"/>
              </a:rPr>
              <a:t>w</a:t>
            </a:r>
            <a:r>
              <a:rPr lang="en-US" altLang="zh-TW" sz="2800" dirty="0" smtClean="0">
                <a:latin typeface="Times New Roman" pitchFamily="18" charset="0"/>
                <a:cs typeface="Times New Roman" pitchFamily="18" charset="0"/>
              </a:rPr>
              <a:t>&gt;</a:t>
            </a:r>
          </a:p>
          <a:p>
            <a:pPr>
              <a:buNone/>
            </a:pPr>
            <a:r>
              <a:rPr lang="en-US" altLang="zh-TW" sz="2800" i="1" dirty="0">
                <a:latin typeface="Times New Roman" pitchFamily="18" charset="0"/>
                <a:cs typeface="Times New Roman" pitchFamily="18" charset="0"/>
              </a:rPr>
              <a:t>	</a:t>
            </a:r>
            <a:r>
              <a:rPr lang="en-US" altLang="zh-TW" sz="2800" i="1" dirty="0" err="1" smtClean="0">
                <a:latin typeface="Times New Roman" pitchFamily="18" charset="0"/>
                <a:cs typeface="Times New Roman" pitchFamily="18" charset="0"/>
              </a:rPr>
              <a:t>e</a:t>
            </a:r>
            <a:r>
              <a:rPr lang="en-US" altLang="zh-TW" sz="2800" i="1" baseline="-25000" dirty="0" err="1" smtClean="0">
                <a:latin typeface="Times New Roman" pitchFamily="18" charset="0"/>
                <a:cs typeface="Times New Roman" pitchFamily="18" charset="0"/>
              </a:rPr>
              <a:t>i</a:t>
            </a:r>
            <a:r>
              <a:rPr lang="en-US" altLang="zh-TW" sz="2800" i="1" dirty="0" smtClean="0">
                <a:latin typeface="Times New Roman" pitchFamily="18" charset="0"/>
                <a:cs typeface="Times New Roman" pitchFamily="18" charset="0"/>
              </a:rPr>
              <a:t> </a:t>
            </a:r>
            <a:r>
              <a:rPr lang="en-US" altLang="zh-TW" sz="2800" dirty="0" smtClean="0">
                <a:latin typeface="Times New Roman" pitchFamily="18" charset="0"/>
                <a:cs typeface="Times New Roman" pitchFamily="18" charset="0"/>
              </a:rPr>
              <a:t>: </a:t>
            </a:r>
            <a:r>
              <a:rPr lang="en-US" altLang="zh-TW" sz="2800" dirty="0" err="1" smtClean="0">
                <a:latin typeface="Times New Roman" pitchFamily="18" charset="0"/>
                <a:cs typeface="Times New Roman" pitchFamily="18" charset="0"/>
              </a:rPr>
              <a:t>itemset</a:t>
            </a:r>
            <a:endParaRPr lang="en-US" altLang="zh-TW" sz="2800" dirty="0" smtClean="0">
              <a:latin typeface="Times New Roman" pitchFamily="18" charset="0"/>
              <a:cs typeface="Times New Roman" pitchFamily="18" charset="0"/>
            </a:endParaRPr>
          </a:p>
          <a:p>
            <a:endParaRPr lang="en-US" altLang="zh-TW" sz="2800" dirty="0" smtClean="0">
              <a:latin typeface="Times New Roman" pitchFamily="18" charset="0"/>
              <a:cs typeface="Times New Roman" pitchFamily="18" charset="0"/>
            </a:endParaRPr>
          </a:p>
          <a:p>
            <a:r>
              <a:rPr lang="en-US" altLang="zh-TW" sz="2800" i="1" dirty="0" smtClean="0">
                <a:latin typeface="Times New Roman" pitchFamily="18" charset="0"/>
                <a:cs typeface="Times New Roman" pitchFamily="18" charset="0"/>
              </a:rPr>
              <a:t>k-</a:t>
            </a:r>
            <a:r>
              <a:rPr lang="en-US" altLang="zh-TW" sz="2800" dirty="0" smtClean="0">
                <a:latin typeface="Times New Roman" pitchFamily="18" charset="0"/>
                <a:cs typeface="Times New Roman" pitchFamily="18" charset="0"/>
              </a:rPr>
              <a:t>sequence : |s| = </a:t>
            </a:r>
            <a:r>
              <a:rPr lang="en-US" altLang="zh-TW" sz="2800" i="1" dirty="0" smtClean="0">
                <a:latin typeface="Times New Roman" pitchFamily="18" charset="0"/>
                <a:cs typeface="Times New Roman" pitchFamily="18" charset="0"/>
              </a:rPr>
              <a:t>k</a:t>
            </a:r>
          </a:p>
          <a:p>
            <a:endParaRPr lang="en-US" altLang="zh-TW" sz="2800" i="1" dirty="0">
              <a:latin typeface="Times New Roman" pitchFamily="18" charset="0"/>
              <a:cs typeface="Times New Roman" pitchFamily="18" charset="0"/>
            </a:endParaRPr>
          </a:p>
          <a:p>
            <a:r>
              <a:rPr lang="en-US" altLang="zh-TW" sz="2800" dirty="0">
                <a:latin typeface="Times New Roman" pitchFamily="18" charset="0"/>
                <a:cs typeface="Times New Roman" pitchFamily="18" charset="0"/>
              </a:rPr>
              <a:t>A </a:t>
            </a:r>
            <a:r>
              <a:rPr lang="en-US" altLang="zh-TW" sz="2800" dirty="0" smtClean="0">
                <a:latin typeface="Times New Roman" pitchFamily="18" charset="0"/>
                <a:cs typeface="Times New Roman" pitchFamily="18" charset="0"/>
              </a:rPr>
              <a:t>data sequence </a:t>
            </a:r>
            <a:r>
              <a:rPr lang="en-US" altLang="zh-TW" sz="2800" i="1" dirty="0" err="1">
                <a:latin typeface="Times New Roman" pitchFamily="18" charset="0"/>
                <a:cs typeface="Times New Roman" pitchFamily="18" charset="0"/>
              </a:rPr>
              <a:t>ds</a:t>
            </a:r>
            <a:r>
              <a:rPr lang="en-US" altLang="zh-TW" sz="2800" i="1" dirty="0">
                <a:latin typeface="Times New Roman" pitchFamily="18" charset="0"/>
                <a:cs typeface="Times New Roman" pitchFamily="18" charset="0"/>
              </a:rPr>
              <a:t> </a:t>
            </a:r>
            <a:r>
              <a:rPr lang="en-US" altLang="zh-TW" sz="2800" dirty="0">
                <a:latin typeface="Times New Roman" pitchFamily="18" charset="0"/>
                <a:cs typeface="Times New Roman" pitchFamily="18" charset="0"/>
              </a:rPr>
              <a:t>has a unique identifier </a:t>
            </a:r>
            <a:r>
              <a:rPr lang="en-US" altLang="zh-TW" sz="2800" dirty="0" err="1">
                <a:latin typeface="Times New Roman" pitchFamily="18" charset="0"/>
                <a:cs typeface="Times New Roman" pitchFamily="18" charset="0"/>
              </a:rPr>
              <a:t>sid</a:t>
            </a:r>
            <a:r>
              <a:rPr lang="en-US" altLang="zh-TW" sz="2800" dirty="0">
                <a:latin typeface="Times New Roman" pitchFamily="18" charset="0"/>
                <a:cs typeface="Times New Roman" pitchFamily="18" charset="0"/>
              </a:rPr>
              <a:t> and is represented</a:t>
            </a:r>
            <a:r>
              <a:rPr lang="en-US" altLang="zh-TW" sz="2800" i="1" dirty="0">
                <a:latin typeface="Times New Roman" pitchFamily="18" charset="0"/>
                <a:cs typeface="Times New Roman" pitchFamily="18" charset="0"/>
              </a:rPr>
              <a:t> </a:t>
            </a:r>
            <a:r>
              <a:rPr lang="en-US" altLang="zh-TW" sz="2800" dirty="0">
                <a:latin typeface="Times New Roman" pitchFamily="18" charset="0"/>
                <a:cs typeface="Times New Roman" pitchFamily="18" charset="0"/>
              </a:rPr>
              <a:t>by &lt;</a:t>
            </a:r>
            <a:r>
              <a:rPr lang="en-US" altLang="zh-TW" sz="2800" i="1" baseline="-25000" dirty="0">
                <a:latin typeface="Times New Roman" pitchFamily="18" charset="0"/>
                <a:cs typeface="Times New Roman" pitchFamily="18" charset="0"/>
              </a:rPr>
              <a:t>t1</a:t>
            </a:r>
            <a:r>
              <a:rPr lang="en-US" altLang="zh-TW" sz="2800" i="1" dirty="0">
                <a:latin typeface="Times New Roman" pitchFamily="18" charset="0"/>
                <a:cs typeface="Times New Roman" pitchFamily="18" charset="0"/>
              </a:rPr>
              <a:t>e</a:t>
            </a:r>
            <a:r>
              <a:rPr lang="en-US" altLang="zh-TW" sz="2800" i="1" baseline="-25000" dirty="0">
                <a:latin typeface="Times New Roman" pitchFamily="18" charset="0"/>
                <a:cs typeface="Times New Roman" pitchFamily="18" charset="0"/>
              </a:rPr>
              <a:t>1</a:t>
            </a:r>
            <a:r>
              <a:rPr lang="en-US" altLang="zh-TW" sz="2800" i="1" dirty="0">
                <a:latin typeface="Times New Roman" pitchFamily="18" charset="0"/>
                <a:cs typeface="Times New Roman" pitchFamily="18" charset="0"/>
              </a:rPr>
              <a:t>’ </a:t>
            </a:r>
            <a:r>
              <a:rPr lang="en-US" altLang="zh-TW" sz="2800" i="1" baseline="-25000" dirty="0">
                <a:latin typeface="Times New Roman" pitchFamily="18" charset="0"/>
                <a:cs typeface="Times New Roman" pitchFamily="18" charset="0"/>
              </a:rPr>
              <a:t>t2</a:t>
            </a:r>
            <a:r>
              <a:rPr lang="en-US" altLang="zh-TW" sz="2800" i="1" dirty="0">
                <a:latin typeface="Times New Roman" pitchFamily="18" charset="0"/>
                <a:cs typeface="Times New Roman" pitchFamily="18" charset="0"/>
              </a:rPr>
              <a:t>e</a:t>
            </a:r>
            <a:r>
              <a:rPr lang="en-US" altLang="zh-TW" sz="2800" i="1" baseline="-25000" dirty="0">
                <a:latin typeface="Times New Roman" pitchFamily="18" charset="0"/>
                <a:cs typeface="Times New Roman" pitchFamily="18" charset="0"/>
              </a:rPr>
              <a:t>2</a:t>
            </a:r>
            <a:r>
              <a:rPr lang="en-US" altLang="zh-TW" sz="2800" i="1" dirty="0">
                <a:latin typeface="Times New Roman" pitchFamily="18" charset="0"/>
                <a:cs typeface="Times New Roman" pitchFamily="18" charset="0"/>
              </a:rPr>
              <a:t>’ … </a:t>
            </a:r>
            <a:r>
              <a:rPr lang="en-US" altLang="zh-TW" sz="2800" i="1" baseline="-25000" dirty="0" err="1" smtClean="0">
                <a:latin typeface="Times New Roman" pitchFamily="18" charset="0"/>
                <a:cs typeface="Times New Roman" pitchFamily="18" charset="0"/>
              </a:rPr>
              <a:t>tn</a:t>
            </a:r>
            <a:r>
              <a:rPr lang="en-US" altLang="zh-TW" sz="2800" i="1" dirty="0" err="1" smtClean="0">
                <a:latin typeface="Times New Roman" pitchFamily="18" charset="0"/>
                <a:cs typeface="Times New Roman" pitchFamily="18" charset="0"/>
              </a:rPr>
              <a:t>e</a:t>
            </a:r>
            <a:r>
              <a:rPr lang="en-US" altLang="zh-TW" sz="2800" i="1" baseline="-25000" dirty="0" err="1" smtClean="0">
                <a:latin typeface="Times New Roman" pitchFamily="18" charset="0"/>
                <a:cs typeface="Times New Roman" pitchFamily="18" charset="0"/>
              </a:rPr>
              <a:t>n</a:t>
            </a:r>
            <a:r>
              <a:rPr lang="en-US" altLang="zh-TW" sz="2800" dirty="0">
                <a:latin typeface="Times New Roman" pitchFamily="18" charset="0"/>
                <a:cs typeface="Times New Roman" pitchFamily="18" charset="0"/>
              </a:rPr>
              <a:t>’&gt;, </a:t>
            </a:r>
            <a:r>
              <a:rPr lang="en-US" altLang="zh-TW" sz="2800" dirty="0" smtClean="0">
                <a:latin typeface="Times New Roman" pitchFamily="18" charset="0"/>
                <a:cs typeface="Times New Roman" pitchFamily="18" charset="0"/>
              </a:rPr>
              <a:t>where element </a:t>
            </a:r>
            <a:r>
              <a:rPr lang="en-US" altLang="zh-TW" sz="2800" i="1" dirty="0" err="1" smtClean="0">
                <a:latin typeface="Times New Roman" pitchFamily="18" charset="0"/>
                <a:cs typeface="Times New Roman" pitchFamily="18" charset="0"/>
              </a:rPr>
              <a:t>e</a:t>
            </a:r>
            <a:r>
              <a:rPr lang="en-US" altLang="zh-TW" sz="2800" i="1" baseline="-25000" dirty="0" err="1" smtClean="0">
                <a:latin typeface="Times New Roman" pitchFamily="18" charset="0"/>
                <a:cs typeface="Times New Roman" pitchFamily="18" charset="0"/>
              </a:rPr>
              <a:t>i</a:t>
            </a:r>
            <a:r>
              <a:rPr lang="en-US" altLang="zh-TW" sz="2800" i="1" dirty="0" smtClean="0">
                <a:latin typeface="Times New Roman" pitchFamily="18" charset="0"/>
                <a:cs typeface="Times New Roman" pitchFamily="18" charset="0"/>
              </a:rPr>
              <a:t>’ </a:t>
            </a:r>
            <a:r>
              <a:rPr lang="en-US" altLang="zh-TW" sz="2800" dirty="0" smtClean="0">
                <a:latin typeface="Times New Roman" pitchFamily="18" charset="0"/>
                <a:cs typeface="Times New Roman" pitchFamily="18" charset="0"/>
              </a:rPr>
              <a:t>occurred </a:t>
            </a:r>
            <a:r>
              <a:rPr lang="en-US" altLang="zh-TW" sz="2800" dirty="0">
                <a:latin typeface="Times New Roman" pitchFamily="18" charset="0"/>
                <a:cs typeface="Times New Roman" pitchFamily="18" charset="0"/>
              </a:rPr>
              <a:t>at time</a:t>
            </a:r>
            <a:r>
              <a:rPr lang="en-US" altLang="zh-TW" sz="2800" i="1" dirty="0">
                <a:latin typeface="Times New Roman" pitchFamily="18" charset="0"/>
                <a:cs typeface="Times New Roman" pitchFamily="18" charset="0"/>
              </a:rPr>
              <a:t> </a:t>
            </a:r>
            <a:r>
              <a:rPr lang="en-US" altLang="zh-TW" sz="2800" i="1" dirty="0" err="1" smtClean="0">
                <a:latin typeface="Times New Roman" pitchFamily="18" charset="0"/>
                <a:cs typeface="Times New Roman" pitchFamily="18" charset="0"/>
              </a:rPr>
              <a:t>t</a:t>
            </a:r>
            <a:r>
              <a:rPr lang="en-US" altLang="zh-TW" sz="2800" i="1" baseline="-25000" dirty="0" err="1" smtClean="0">
                <a:latin typeface="Times New Roman" pitchFamily="18" charset="0"/>
                <a:cs typeface="Times New Roman" pitchFamily="18" charset="0"/>
              </a:rPr>
              <a:t>i</a:t>
            </a:r>
            <a:r>
              <a:rPr lang="en-US" altLang="zh-TW" sz="2800" i="1" dirty="0" smtClean="0">
                <a:latin typeface="Times New Roman" pitchFamily="18" charset="0"/>
                <a:cs typeface="Times New Roman" pitchFamily="18" charset="0"/>
              </a:rPr>
              <a:t> , </a:t>
            </a:r>
            <a:r>
              <a:rPr lang="en-US" altLang="zh-TW" sz="2800" i="1" dirty="0">
                <a:latin typeface="Times New Roman" pitchFamily="18" charset="0"/>
                <a:cs typeface="Times New Roman" pitchFamily="18" charset="0"/>
              </a:rPr>
              <a:t>t</a:t>
            </a:r>
            <a:r>
              <a:rPr lang="en-US" altLang="zh-TW" sz="2800" i="1" baseline="-25000" dirty="0">
                <a:latin typeface="Times New Roman" pitchFamily="18" charset="0"/>
                <a:cs typeface="Times New Roman" pitchFamily="18" charset="0"/>
              </a:rPr>
              <a:t>1</a:t>
            </a:r>
            <a:r>
              <a:rPr lang="en-US" altLang="zh-TW" sz="2800" i="1" dirty="0">
                <a:latin typeface="Times New Roman" pitchFamily="18" charset="0"/>
                <a:cs typeface="Times New Roman" pitchFamily="18" charset="0"/>
              </a:rPr>
              <a:t> &lt; t</a:t>
            </a:r>
            <a:r>
              <a:rPr lang="en-US" altLang="zh-TW" sz="2800" i="1" baseline="-25000" dirty="0">
                <a:latin typeface="Times New Roman" pitchFamily="18" charset="0"/>
                <a:cs typeface="Times New Roman" pitchFamily="18" charset="0"/>
              </a:rPr>
              <a:t>2</a:t>
            </a:r>
            <a:r>
              <a:rPr lang="en-US" altLang="zh-TW" sz="2800" i="1" dirty="0">
                <a:latin typeface="Times New Roman" pitchFamily="18" charset="0"/>
                <a:cs typeface="Times New Roman" pitchFamily="18" charset="0"/>
              </a:rPr>
              <a:t> &lt; … &lt; t</a:t>
            </a:r>
            <a:r>
              <a:rPr lang="en-US" altLang="zh-TW" sz="2800" i="1" baseline="-25000" dirty="0">
                <a:latin typeface="Times New Roman" pitchFamily="18" charset="0"/>
                <a:cs typeface="Times New Roman" pitchFamily="18" charset="0"/>
              </a:rPr>
              <a:t>n</a:t>
            </a:r>
            <a:r>
              <a:rPr lang="en-US" altLang="zh-TW" sz="2800" i="1" dirty="0">
                <a:latin typeface="Times New Roman" pitchFamily="18" charset="0"/>
                <a:cs typeface="Times New Roman" pitchFamily="18" charset="0"/>
              </a:rPr>
              <a:t>.</a:t>
            </a:r>
          </a:p>
          <a:p>
            <a:endParaRPr lang="en-US" altLang="zh-TW"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pPr algn="l"/>
            <a:r>
              <a:rPr lang="en-US" altLang="zh-TW" sz="4000" dirty="0" smtClean="0">
                <a:latin typeface="Times New Roman" pitchFamily="18" charset="0"/>
                <a:cs typeface="Times New Roman" pitchFamily="18" charset="0"/>
              </a:rPr>
              <a:t>Problem statement(cont)</a:t>
            </a:r>
            <a:endParaRPr lang="zh-TW" altLang="en-US" sz="4000" dirty="0"/>
          </a:p>
        </p:txBody>
      </p:sp>
      <p:sp>
        <p:nvSpPr>
          <p:cNvPr id="3" name="內容版面配置區 2"/>
          <p:cNvSpPr>
            <a:spLocks noGrp="1"/>
          </p:cNvSpPr>
          <p:nvPr>
            <p:ph idx="1"/>
          </p:nvPr>
        </p:nvSpPr>
        <p:spPr/>
        <p:txBody>
          <a:bodyPr>
            <a:normAutofit/>
          </a:bodyPr>
          <a:lstStyle/>
          <a:p>
            <a:r>
              <a:rPr lang="en-US" altLang="zh-TW" sz="2800" dirty="0">
                <a:latin typeface="Times New Roman" pitchFamily="18" charset="0"/>
                <a:cs typeface="Times New Roman" pitchFamily="18" charset="0"/>
              </a:rPr>
              <a:t>A sequence </a:t>
            </a:r>
            <a:r>
              <a:rPr lang="en-US" altLang="zh-TW" sz="2800" i="1" dirty="0">
                <a:latin typeface="Times New Roman" pitchFamily="18" charset="0"/>
                <a:cs typeface="Times New Roman" pitchFamily="18" charset="0"/>
              </a:rPr>
              <a:t>s </a:t>
            </a:r>
            <a:r>
              <a:rPr lang="en-US" altLang="zh-TW" sz="2800" dirty="0">
                <a:latin typeface="Times New Roman" pitchFamily="18" charset="0"/>
                <a:cs typeface="Times New Roman" pitchFamily="18" charset="0"/>
              </a:rPr>
              <a:t>in the sequence database DB is a time-constrained sequential </a:t>
            </a:r>
            <a:r>
              <a:rPr lang="en-US" altLang="zh-TW" sz="2800" dirty="0" smtClean="0">
                <a:latin typeface="Times New Roman" pitchFamily="18" charset="0"/>
                <a:cs typeface="Times New Roman" pitchFamily="18" charset="0"/>
              </a:rPr>
              <a:t>pattern (abbreviated </a:t>
            </a:r>
            <a:r>
              <a:rPr lang="en-US" altLang="zh-TW" sz="2800" dirty="0">
                <a:latin typeface="Times New Roman" pitchFamily="18" charset="0"/>
                <a:cs typeface="Times New Roman" pitchFamily="18" charset="0"/>
              </a:rPr>
              <a:t>as time-pattern) if </a:t>
            </a:r>
            <a:r>
              <a:rPr lang="en-US" altLang="zh-TW" sz="2800" i="1" dirty="0">
                <a:latin typeface="Times New Roman" pitchFamily="18" charset="0"/>
                <a:cs typeface="Times New Roman" pitchFamily="18" charset="0"/>
              </a:rPr>
              <a:t>s.sup </a:t>
            </a:r>
            <a:r>
              <a:rPr lang="en-US" altLang="zh-TW" sz="2800" dirty="0">
                <a:latin typeface="Times New Roman" pitchFamily="18" charset="0"/>
                <a:cs typeface="Times New Roman" pitchFamily="18" charset="0"/>
              </a:rPr>
              <a:t>≥</a:t>
            </a:r>
            <a:r>
              <a:rPr lang="en-US" altLang="zh-TW" sz="2800" i="1" dirty="0">
                <a:latin typeface="Times New Roman" pitchFamily="18" charset="0"/>
                <a:cs typeface="Times New Roman" pitchFamily="18" charset="0"/>
              </a:rPr>
              <a:t> </a:t>
            </a:r>
            <a:r>
              <a:rPr lang="en-US" altLang="zh-TW" sz="2800" i="1" dirty="0" err="1">
                <a:latin typeface="Times New Roman" pitchFamily="18" charset="0"/>
                <a:cs typeface="Times New Roman" pitchFamily="18" charset="0"/>
              </a:rPr>
              <a:t>minsup</a:t>
            </a:r>
            <a:r>
              <a:rPr lang="en-US" altLang="zh-TW" sz="2800" i="1" dirty="0">
                <a:latin typeface="Times New Roman" pitchFamily="18" charset="0"/>
                <a:cs typeface="Times New Roman" pitchFamily="18" charset="0"/>
              </a:rPr>
              <a:t>, </a:t>
            </a:r>
            <a:r>
              <a:rPr lang="en-US" altLang="zh-TW" sz="2800" dirty="0">
                <a:latin typeface="Times New Roman" pitchFamily="18" charset="0"/>
                <a:cs typeface="Times New Roman" pitchFamily="18" charset="0"/>
              </a:rPr>
              <a:t>where</a:t>
            </a:r>
            <a:r>
              <a:rPr lang="en-US" altLang="zh-TW" sz="2800" i="1" dirty="0">
                <a:latin typeface="Times New Roman" pitchFamily="18" charset="0"/>
                <a:cs typeface="Times New Roman" pitchFamily="18" charset="0"/>
              </a:rPr>
              <a:t> s.sup </a:t>
            </a:r>
            <a:r>
              <a:rPr lang="en-US" altLang="zh-TW" sz="2800" dirty="0">
                <a:latin typeface="Times New Roman" pitchFamily="18" charset="0"/>
                <a:cs typeface="Times New Roman" pitchFamily="18" charset="0"/>
              </a:rPr>
              <a:t>is the support of the </a:t>
            </a:r>
            <a:r>
              <a:rPr lang="en-US" altLang="zh-TW" sz="2800" dirty="0" smtClean="0">
                <a:latin typeface="Times New Roman" pitchFamily="18" charset="0"/>
                <a:cs typeface="Times New Roman" pitchFamily="18" charset="0"/>
              </a:rPr>
              <a:t>sequence </a:t>
            </a:r>
            <a:r>
              <a:rPr lang="en-US" altLang="zh-TW" sz="2800" i="1" dirty="0" smtClean="0">
                <a:latin typeface="Times New Roman" pitchFamily="18" charset="0"/>
                <a:cs typeface="Times New Roman" pitchFamily="18" charset="0"/>
              </a:rPr>
              <a:t>s </a:t>
            </a:r>
            <a:r>
              <a:rPr lang="en-US" altLang="zh-TW" sz="2800" dirty="0">
                <a:latin typeface="Times New Roman" pitchFamily="18" charset="0"/>
                <a:cs typeface="Times New Roman" pitchFamily="18" charset="0"/>
              </a:rPr>
              <a:t>and</a:t>
            </a:r>
            <a:r>
              <a:rPr lang="en-US" altLang="zh-TW" sz="2800" i="1" dirty="0">
                <a:latin typeface="Times New Roman" pitchFamily="18" charset="0"/>
                <a:cs typeface="Times New Roman" pitchFamily="18" charset="0"/>
              </a:rPr>
              <a:t> </a:t>
            </a:r>
            <a:r>
              <a:rPr lang="en-US" altLang="zh-TW" sz="2800" i="1" dirty="0" err="1">
                <a:latin typeface="Times New Roman" pitchFamily="18" charset="0"/>
                <a:cs typeface="Times New Roman" pitchFamily="18" charset="0"/>
              </a:rPr>
              <a:t>minsup</a:t>
            </a:r>
            <a:r>
              <a:rPr lang="en-US" altLang="zh-TW" sz="2800" i="1" dirty="0">
                <a:latin typeface="Times New Roman" pitchFamily="18" charset="0"/>
                <a:cs typeface="Times New Roman" pitchFamily="18" charset="0"/>
              </a:rPr>
              <a:t> </a:t>
            </a:r>
            <a:r>
              <a:rPr lang="en-US" altLang="zh-TW" sz="2800" dirty="0">
                <a:latin typeface="Times New Roman" pitchFamily="18" charset="0"/>
                <a:cs typeface="Times New Roman" pitchFamily="18" charset="0"/>
              </a:rPr>
              <a:t>is the user specified minimum support threshold.</a:t>
            </a:r>
            <a:endParaRPr lang="zh-TW" alt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pPr algn="l"/>
            <a:r>
              <a:rPr lang="en-US" altLang="zh-TW" sz="4000" dirty="0" smtClean="0">
                <a:latin typeface="Times New Roman" pitchFamily="18" charset="0"/>
                <a:cs typeface="Times New Roman" pitchFamily="18" charset="0"/>
              </a:rPr>
              <a:t>Problem statement(cont)</a:t>
            </a:r>
            <a:endParaRPr lang="zh-TW" altLang="en-US" sz="4000" dirty="0"/>
          </a:p>
        </p:txBody>
      </p:sp>
      <p:sp>
        <p:nvSpPr>
          <p:cNvPr id="3" name="內容版面配置區 2"/>
          <p:cNvSpPr>
            <a:spLocks noGrp="1"/>
          </p:cNvSpPr>
          <p:nvPr>
            <p:ph idx="1"/>
          </p:nvPr>
        </p:nvSpPr>
        <p:spPr/>
        <p:txBody>
          <a:bodyPr>
            <a:normAutofit/>
          </a:bodyPr>
          <a:lstStyle/>
          <a:p>
            <a:r>
              <a:rPr lang="en-US" altLang="zh-TW" sz="2800" dirty="0" smtClean="0">
                <a:latin typeface="Times New Roman" pitchFamily="18" charset="0"/>
                <a:cs typeface="Times New Roman" pitchFamily="18" charset="0"/>
              </a:rPr>
              <a:t>A data sequence </a:t>
            </a:r>
            <a:r>
              <a:rPr lang="en-US" altLang="zh-TW" sz="2800" i="1" dirty="0" err="1" smtClean="0">
                <a:latin typeface="Times New Roman" pitchFamily="18" charset="0"/>
                <a:cs typeface="Times New Roman" pitchFamily="18" charset="0"/>
              </a:rPr>
              <a:t>ds</a:t>
            </a:r>
            <a:r>
              <a:rPr lang="en-US" altLang="zh-TW" sz="2800" i="1" dirty="0" smtClean="0">
                <a:latin typeface="Times New Roman" pitchFamily="18" charset="0"/>
                <a:cs typeface="Times New Roman" pitchFamily="18" charset="0"/>
              </a:rPr>
              <a:t> = </a:t>
            </a:r>
            <a:r>
              <a:rPr lang="en-US" altLang="zh-TW" sz="2800" dirty="0" smtClean="0">
                <a:latin typeface="Times New Roman" pitchFamily="18" charset="0"/>
                <a:cs typeface="Times New Roman" pitchFamily="18" charset="0"/>
              </a:rPr>
              <a:t>&lt;</a:t>
            </a:r>
            <a:r>
              <a:rPr lang="en-US" altLang="zh-TW" sz="2800" i="1" baseline="-25000" dirty="0" smtClean="0">
                <a:latin typeface="Times New Roman" pitchFamily="18" charset="0"/>
                <a:cs typeface="Times New Roman" pitchFamily="18" charset="0"/>
              </a:rPr>
              <a:t>t1</a:t>
            </a:r>
            <a:r>
              <a:rPr lang="en-US" altLang="zh-TW" sz="2800" i="1" dirty="0" smtClean="0">
                <a:latin typeface="Times New Roman" pitchFamily="18" charset="0"/>
                <a:cs typeface="Times New Roman" pitchFamily="18" charset="0"/>
              </a:rPr>
              <a:t>e</a:t>
            </a:r>
            <a:r>
              <a:rPr lang="en-US" altLang="zh-TW" sz="2800" i="1" baseline="-25000" dirty="0" smtClean="0">
                <a:latin typeface="Times New Roman" pitchFamily="18" charset="0"/>
                <a:cs typeface="Times New Roman" pitchFamily="18" charset="0"/>
              </a:rPr>
              <a:t>1</a:t>
            </a:r>
            <a:r>
              <a:rPr lang="en-US" altLang="zh-TW" sz="2800" i="1" dirty="0" smtClean="0">
                <a:latin typeface="Times New Roman" pitchFamily="18" charset="0"/>
                <a:cs typeface="Times New Roman" pitchFamily="18" charset="0"/>
              </a:rPr>
              <a:t>’ </a:t>
            </a:r>
            <a:r>
              <a:rPr lang="en-US" altLang="zh-TW" sz="2800" i="1" baseline="-25000" dirty="0" smtClean="0">
                <a:latin typeface="Times New Roman" pitchFamily="18" charset="0"/>
                <a:cs typeface="Times New Roman" pitchFamily="18" charset="0"/>
              </a:rPr>
              <a:t>t2</a:t>
            </a:r>
            <a:r>
              <a:rPr lang="en-US" altLang="zh-TW" sz="2800" i="1" dirty="0" smtClean="0">
                <a:latin typeface="Times New Roman" pitchFamily="18" charset="0"/>
                <a:cs typeface="Times New Roman" pitchFamily="18" charset="0"/>
              </a:rPr>
              <a:t>e</a:t>
            </a:r>
            <a:r>
              <a:rPr lang="en-US" altLang="zh-TW" sz="2800" i="1" baseline="-25000" dirty="0" smtClean="0">
                <a:latin typeface="Times New Roman" pitchFamily="18" charset="0"/>
                <a:cs typeface="Times New Roman" pitchFamily="18" charset="0"/>
              </a:rPr>
              <a:t>2</a:t>
            </a:r>
            <a:r>
              <a:rPr lang="en-US" altLang="zh-TW" sz="2800" i="1" dirty="0" smtClean="0">
                <a:latin typeface="Times New Roman" pitchFamily="18" charset="0"/>
                <a:cs typeface="Times New Roman" pitchFamily="18" charset="0"/>
              </a:rPr>
              <a:t>’ … </a:t>
            </a:r>
            <a:r>
              <a:rPr lang="en-US" altLang="zh-TW" sz="2800" i="1" baseline="-25000" dirty="0" err="1" smtClean="0">
                <a:latin typeface="Times New Roman" pitchFamily="18" charset="0"/>
                <a:cs typeface="Times New Roman" pitchFamily="18" charset="0"/>
              </a:rPr>
              <a:t>tn</a:t>
            </a:r>
            <a:r>
              <a:rPr lang="en-US" altLang="zh-TW" sz="2800" i="1" dirty="0" err="1" smtClean="0">
                <a:latin typeface="Times New Roman" pitchFamily="18" charset="0"/>
                <a:cs typeface="Times New Roman" pitchFamily="18" charset="0"/>
              </a:rPr>
              <a:t>e</a:t>
            </a:r>
            <a:r>
              <a:rPr lang="en-US" altLang="zh-TW" sz="2800" i="1" baseline="-25000" dirty="0" err="1" smtClean="0">
                <a:latin typeface="Times New Roman" pitchFamily="18" charset="0"/>
                <a:cs typeface="Times New Roman" pitchFamily="18" charset="0"/>
              </a:rPr>
              <a:t>n</a:t>
            </a:r>
            <a:r>
              <a:rPr lang="en-US" altLang="zh-TW" sz="2800" i="1" dirty="0" smtClean="0">
                <a:latin typeface="Times New Roman" pitchFamily="18" charset="0"/>
                <a:cs typeface="Times New Roman" pitchFamily="18" charset="0"/>
              </a:rPr>
              <a:t>’</a:t>
            </a:r>
            <a:r>
              <a:rPr lang="en-US" altLang="zh-TW" sz="2800" dirty="0" smtClean="0">
                <a:latin typeface="Times New Roman" pitchFamily="18" charset="0"/>
                <a:cs typeface="Times New Roman" pitchFamily="18" charset="0"/>
              </a:rPr>
              <a:t>&gt; contains a sequence </a:t>
            </a:r>
            <a:r>
              <a:rPr lang="en-US" altLang="zh-TW" sz="2800" i="1" dirty="0" smtClean="0">
                <a:latin typeface="Times New Roman" pitchFamily="18" charset="0"/>
                <a:cs typeface="Times New Roman" pitchFamily="18" charset="0"/>
              </a:rPr>
              <a:t>s = &lt;e</a:t>
            </a:r>
            <a:r>
              <a:rPr lang="en-US" altLang="zh-TW" sz="2800" i="1" baseline="-25000" dirty="0" smtClean="0">
                <a:latin typeface="Times New Roman" pitchFamily="18" charset="0"/>
                <a:cs typeface="Times New Roman" pitchFamily="18" charset="0"/>
              </a:rPr>
              <a:t>1</a:t>
            </a:r>
            <a:r>
              <a:rPr lang="en-US" altLang="zh-TW" sz="2800" i="1" dirty="0" smtClean="0">
                <a:latin typeface="Times New Roman" pitchFamily="18" charset="0"/>
                <a:cs typeface="Times New Roman" pitchFamily="18" charset="0"/>
              </a:rPr>
              <a:t>e</a:t>
            </a:r>
            <a:r>
              <a:rPr lang="en-US" altLang="zh-TW" sz="2800" i="1" baseline="-25000" dirty="0" smtClean="0">
                <a:latin typeface="Times New Roman" pitchFamily="18" charset="0"/>
                <a:cs typeface="Times New Roman" pitchFamily="18" charset="0"/>
              </a:rPr>
              <a:t>2</a:t>
            </a:r>
            <a:r>
              <a:rPr lang="en-US" altLang="zh-TW" sz="2800" i="1" dirty="0" smtClean="0">
                <a:latin typeface="Times New Roman" pitchFamily="18" charset="0"/>
                <a:cs typeface="Times New Roman" pitchFamily="18" charset="0"/>
              </a:rPr>
              <a:t>…</a:t>
            </a:r>
            <a:r>
              <a:rPr lang="en-US" altLang="zh-TW" sz="2800" i="1" dirty="0" err="1" smtClean="0">
                <a:latin typeface="Times New Roman" pitchFamily="18" charset="0"/>
                <a:cs typeface="Times New Roman" pitchFamily="18" charset="0"/>
              </a:rPr>
              <a:t>e</a:t>
            </a:r>
            <a:r>
              <a:rPr lang="en-US" altLang="zh-TW" sz="2800" i="1" baseline="-25000" dirty="0" err="1" smtClean="0">
                <a:latin typeface="Times New Roman" pitchFamily="18" charset="0"/>
                <a:cs typeface="Times New Roman" pitchFamily="18" charset="0"/>
              </a:rPr>
              <a:t>w</a:t>
            </a:r>
            <a:r>
              <a:rPr lang="en-US" altLang="zh-TW" sz="2800" i="1" dirty="0" smtClean="0">
                <a:latin typeface="Times New Roman" pitchFamily="18" charset="0"/>
                <a:cs typeface="Times New Roman" pitchFamily="18" charset="0"/>
              </a:rPr>
              <a:t>&gt; </a:t>
            </a:r>
            <a:r>
              <a:rPr lang="en-US" altLang="zh-TW" sz="2800" dirty="0" smtClean="0">
                <a:latin typeface="Times New Roman" pitchFamily="18" charset="0"/>
                <a:cs typeface="Times New Roman" pitchFamily="18" charset="0"/>
              </a:rPr>
              <a:t>if there exist integers </a:t>
            </a:r>
            <a:r>
              <a:rPr lang="en-US" altLang="zh-TW" sz="2800" i="1" dirty="0" smtClean="0">
                <a:latin typeface="Times New Roman" pitchFamily="18" charset="0"/>
                <a:cs typeface="Times New Roman" pitchFamily="18" charset="0"/>
              </a:rPr>
              <a:t>l1, u</a:t>
            </a:r>
            <a:r>
              <a:rPr lang="en-US" altLang="zh-TW" sz="2800" dirty="0" smtClean="0">
                <a:latin typeface="Times New Roman" pitchFamily="18" charset="0"/>
                <a:cs typeface="Times New Roman" pitchFamily="18" charset="0"/>
              </a:rPr>
              <a:t>1</a:t>
            </a:r>
            <a:r>
              <a:rPr lang="en-US" altLang="zh-TW" sz="2800" i="1" dirty="0" smtClean="0">
                <a:latin typeface="Times New Roman" pitchFamily="18" charset="0"/>
                <a:cs typeface="Times New Roman" pitchFamily="18" charset="0"/>
              </a:rPr>
              <a:t>, l</a:t>
            </a:r>
            <a:r>
              <a:rPr lang="en-US" altLang="zh-TW" sz="2800" dirty="0" smtClean="0">
                <a:latin typeface="Times New Roman" pitchFamily="18" charset="0"/>
                <a:cs typeface="Times New Roman" pitchFamily="18" charset="0"/>
              </a:rPr>
              <a:t>2</a:t>
            </a:r>
            <a:r>
              <a:rPr lang="en-US" altLang="zh-TW" sz="2800" i="1" dirty="0" smtClean="0">
                <a:latin typeface="Times New Roman" pitchFamily="18" charset="0"/>
                <a:cs typeface="Times New Roman" pitchFamily="18" charset="0"/>
              </a:rPr>
              <a:t>, u</a:t>
            </a:r>
            <a:r>
              <a:rPr lang="en-US" altLang="zh-TW" sz="2800" dirty="0" smtClean="0">
                <a:latin typeface="Times New Roman" pitchFamily="18" charset="0"/>
                <a:cs typeface="Times New Roman" pitchFamily="18" charset="0"/>
              </a:rPr>
              <a:t>2</a:t>
            </a:r>
            <a:r>
              <a:rPr lang="en-US" altLang="zh-TW" sz="2800" i="1" dirty="0" smtClean="0">
                <a:latin typeface="Times New Roman" pitchFamily="18" charset="0"/>
                <a:cs typeface="Times New Roman" pitchFamily="18" charset="0"/>
              </a:rPr>
              <a:t>, …, </a:t>
            </a:r>
            <a:r>
              <a:rPr lang="en-US" altLang="zh-TW" sz="2800" i="1" dirty="0" err="1" smtClean="0">
                <a:latin typeface="Times New Roman" pitchFamily="18" charset="0"/>
                <a:cs typeface="Times New Roman" pitchFamily="18" charset="0"/>
              </a:rPr>
              <a:t>lw</a:t>
            </a:r>
            <a:r>
              <a:rPr lang="en-US" altLang="zh-TW" sz="2800" i="1" dirty="0" smtClean="0">
                <a:latin typeface="Times New Roman" pitchFamily="18" charset="0"/>
                <a:cs typeface="Times New Roman" pitchFamily="18" charset="0"/>
              </a:rPr>
              <a:t>, </a:t>
            </a:r>
            <a:r>
              <a:rPr lang="en-US" altLang="zh-TW" sz="2800" i="1" dirty="0" err="1" smtClean="0">
                <a:latin typeface="Times New Roman" pitchFamily="18" charset="0"/>
                <a:cs typeface="Times New Roman" pitchFamily="18" charset="0"/>
              </a:rPr>
              <a:t>uw</a:t>
            </a:r>
            <a:r>
              <a:rPr lang="en-US" altLang="zh-TW" sz="2800" i="1" dirty="0" smtClean="0">
                <a:latin typeface="Times New Roman" pitchFamily="18" charset="0"/>
                <a:cs typeface="Times New Roman" pitchFamily="18" charset="0"/>
              </a:rPr>
              <a:t> </a:t>
            </a:r>
            <a:r>
              <a:rPr lang="en-US" altLang="zh-TW" sz="2800" dirty="0" smtClean="0">
                <a:latin typeface="Times New Roman" pitchFamily="18" charset="0"/>
                <a:cs typeface="Times New Roman" pitchFamily="18" charset="0"/>
              </a:rPr>
              <a:t>and</a:t>
            </a:r>
            <a:r>
              <a:rPr lang="en-US" altLang="zh-TW" sz="2800" i="1" dirty="0" smtClean="0">
                <a:latin typeface="Times New Roman" pitchFamily="18" charset="0"/>
                <a:cs typeface="Times New Roman" pitchFamily="18" charset="0"/>
              </a:rPr>
              <a:t> </a:t>
            </a:r>
            <a:r>
              <a:rPr lang="en-US" altLang="zh-TW" sz="2800" dirty="0" smtClean="0">
                <a:latin typeface="Times New Roman" pitchFamily="18" charset="0"/>
                <a:cs typeface="Times New Roman" pitchFamily="18" charset="0"/>
              </a:rPr>
              <a:t>1</a:t>
            </a:r>
            <a:r>
              <a:rPr lang="en-US" altLang="zh-TW" sz="2800" i="1" dirty="0" smtClean="0">
                <a:latin typeface="Times New Roman" pitchFamily="18" charset="0"/>
                <a:cs typeface="Times New Roman" pitchFamily="18" charset="0"/>
              </a:rPr>
              <a:t> </a:t>
            </a:r>
            <a:r>
              <a:rPr lang="en-US" altLang="zh-TW" sz="2800" dirty="0" smtClean="0">
                <a:latin typeface="Times New Roman" pitchFamily="18" charset="0"/>
                <a:cs typeface="Times New Roman" pitchFamily="18" charset="0"/>
              </a:rPr>
              <a:t>≤ </a:t>
            </a:r>
            <a:r>
              <a:rPr lang="en-US" altLang="zh-TW" sz="2800" i="1" dirty="0" smtClean="0">
                <a:latin typeface="Times New Roman" pitchFamily="18" charset="0"/>
                <a:cs typeface="Times New Roman" pitchFamily="18" charset="0"/>
              </a:rPr>
              <a:t>l</a:t>
            </a:r>
            <a:r>
              <a:rPr lang="en-US" altLang="zh-TW" sz="2800" dirty="0" smtClean="0">
                <a:latin typeface="Times New Roman" pitchFamily="18" charset="0"/>
                <a:cs typeface="Times New Roman" pitchFamily="18" charset="0"/>
              </a:rPr>
              <a:t>1</a:t>
            </a:r>
            <a:r>
              <a:rPr lang="en-US" altLang="zh-TW" sz="2800" i="1" dirty="0" smtClean="0">
                <a:latin typeface="Times New Roman" pitchFamily="18" charset="0"/>
                <a:cs typeface="Times New Roman" pitchFamily="18" charset="0"/>
              </a:rPr>
              <a:t> ≤ u</a:t>
            </a:r>
            <a:r>
              <a:rPr lang="en-US" altLang="zh-TW" sz="2800" dirty="0" smtClean="0">
                <a:latin typeface="Times New Roman" pitchFamily="18" charset="0"/>
                <a:cs typeface="Times New Roman" pitchFamily="18" charset="0"/>
              </a:rPr>
              <a:t>1</a:t>
            </a:r>
            <a:r>
              <a:rPr lang="en-US" altLang="zh-TW" sz="2800" i="1" dirty="0" smtClean="0">
                <a:latin typeface="Times New Roman" pitchFamily="18" charset="0"/>
                <a:cs typeface="Times New Roman" pitchFamily="18" charset="0"/>
              </a:rPr>
              <a:t> &lt; l</a:t>
            </a:r>
            <a:r>
              <a:rPr lang="en-US" altLang="zh-TW" sz="2800" dirty="0" smtClean="0">
                <a:latin typeface="Times New Roman" pitchFamily="18" charset="0"/>
                <a:cs typeface="Times New Roman" pitchFamily="18" charset="0"/>
              </a:rPr>
              <a:t>2</a:t>
            </a:r>
            <a:r>
              <a:rPr lang="en-US" altLang="zh-TW" sz="2800" i="1" dirty="0" smtClean="0">
                <a:latin typeface="Times New Roman" pitchFamily="18" charset="0"/>
                <a:cs typeface="Times New Roman" pitchFamily="18" charset="0"/>
              </a:rPr>
              <a:t> ≤ u</a:t>
            </a:r>
            <a:r>
              <a:rPr lang="en-US" altLang="zh-TW" sz="2800" dirty="0" smtClean="0">
                <a:latin typeface="Times New Roman" pitchFamily="18" charset="0"/>
                <a:cs typeface="Times New Roman" pitchFamily="18" charset="0"/>
              </a:rPr>
              <a:t>2</a:t>
            </a:r>
            <a:r>
              <a:rPr lang="en-US" altLang="zh-TW" sz="2800" i="1" dirty="0" smtClean="0">
                <a:latin typeface="Times New Roman" pitchFamily="18" charset="0"/>
                <a:cs typeface="Times New Roman" pitchFamily="18" charset="0"/>
              </a:rPr>
              <a:t> &lt; … &lt; </a:t>
            </a:r>
            <a:r>
              <a:rPr lang="en-US" altLang="zh-TW" sz="2800" i="1" dirty="0" err="1" smtClean="0">
                <a:latin typeface="Times New Roman" pitchFamily="18" charset="0"/>
                <a:cs typeface="Times New Roman" pitchFamily="18" charset="0"/>
              </a:rPr>
              <a:t>lw</a:t>
            </a:r>
            <a:r>
              <a:rPr lang="en-US" altLang="zh-TW" sz="2800" i="1" dirty="0" smtClean="0">
                <a:latin typeface="Times New Roman" pitchFamily="18" charset="0"/>
                <a:cs typeface="Times New Roman" pitchFamily="18" charset="0"/>
              </a:rPr>
              <a:t> ≤ </a:t>
            </a:r>
            <a:r>
              <a:rPr lang="en-US" altLang="zh-TW" sz="2800" i="1" dirty="0" err="1" smtClean="0">
                <a:latin typeface="Times New Roman" pitchFamily="18" charset="0"/>
                <a:cs typeface="Times New Roman" pitchFamily="18" charset="0"/>
              </a:rPr>
              <a:t>uw</a:t>
            </a:r>
            <a:r>
              <a:rPr lang="en-US" altLang="zh-TW" sz="2800" i="1" dirty="0" smtClean="0">
                <a:latin typeface="Times New Roman" pitchFamily="18" charset="0"/>
                <a:cs typeface="Times New Roman" pitchFamily="18" charset="0"/>
              </a:rPr>
              <a:t> ≤ n </a:t>
            </a:r>
            <a:r>
              <a:rPr lang="en-US" altLang="zh-TW" sz="2800" dirty="0" smtClean="0">
                <a:latin typeface="Times New Roman" pitchFamily="18" charset="0"/>
                <a:cs typeface="Times New Roman" pitchFamily="18" charset="0"/>
              </a:rPr>
              <a:t>such that the four conditions hold: (1)</a:t>
            </a:r>
            <a:r>
              <a:rPr lang="en-US" altLang="zh-TW" sz="2800" i="1" dirty="0" smtClean="0">
                <a:latin typeface="Times New Roman" pitchFamily="18" charset="0"/>
                <a:cs typeface="Times New Roman" pitchFamily="18" charset="0"/>
              </a:rPr>
              <a:t> </a:t>
            </a:r>
            <a:r>
              <a:rPr lang="en-US" altLang="zh-TW" sz="2800" i="1" dirty="0" err="1" smtClean="0">
                <a:latin typeface="Times New Roman" pitchFamily="18" charset="0"/>
                <a:cs typeface="Times New Roman" pitchFamily="18" charset="0"/>
              </a:rPr>
              <a:t>e</a:t>
            </a:r>
            <a:r>
              <a:rPr lang="en-US" altLang="zh-TW" sz="2800" i="1" baseline="-25000" dirty="0" err="1" smtClean="0">
                <a:latin typeface="Times New Roman" pitchFamily="18" charset="0"/>
                <a:cs typeface="Times New Roman" pitchFamily="18" charset="0"/>
              </a:rPr>
              <a:t>i</a:t>
            </a:r>
            <a:r>
              <a:rPr lang="en-US" altLang="zh-TW" sz="2800" i="1" dirty="0" smtClean="0">
                <a:latin typeface="Times New Roman" pitchFamily="18" charset="0"/>
                <a:cs typeface="Times New Roman" pitchFamily="18" charset="0"/>
              </a:rPr>
              <a:t> ⊆ (</a:t>
            </a:r>
            <a:r>
              <a:rPr lang="en-US" altLang="zh-TW" sz="2800" i="1" dirty="0" err="1" smtClean="0">
                <a:latin typeface="Times New Roman" pitchFamily="18" charset="0"/>
                <a:cs typeface="Times New Roman" pitchFamily="18" charset="0"/>
              </a:rPr>
              <a:t>e</a:t>
            </a:r>
            <a:r>
              <a:rPr lang="en-US" altLang="zh-TW" sz="2800" i="1" baseline="-25000" dirty="0" err="1" smtClean="0">
                <a:latin typeface="Times New Roman" pitchFamily="18" charset="0"/>
                <a:cs typeface="Times New Roman" pitchFamily="18" charset="0"/>
              </a:rPr>
              <a:t>li</a:t>
            </a:r>
            <a:r>
              <a:rPr lang="en-US" altLang="zh-TW" sz="2800" i="1" dirty="0" smtClean="0">
                <a:latin typeface="Times New Roman" pitchFamily="18" charset="0"/>
                <a:cs typeface="Times New Roman" pitchFamily="18" charset="0"/>
              </a:rPr>
              <a:t>’ </a:t>
            </a:r>
            <a:r>
              <a:rPr lang="en-US" altLang="zh-TW" sz="2800" dirty="0" smtClean="0">
                <a:latin typeface="Times New Roman" pitchFamily="18" charset="0"/>
                <a:cs typeface="Times New Roman" pitchFamily="18" charset="0"/>
              </a:rPr>
              <a:t>∪ … ∪ </a:t>
            </a:r>
            <a:r>
              <a:rPr lang="en-US" altLang="zh-TW" sz="2800" i="1" dirty="0" err="1" smtClean="0">
                <a:latin typeface="Times New Roman" pitchFamily="18" charset="0"/>
                <a:cs typeface="Times New Roman" pitchFamily="18" charset="0"/>
              </a:rPr>
              <a:t>e</a:t>
            </a:r>
            <a:r>
              <a:rPr lang="en-US" altLang="zh-TW" sz="2800" i="1" baseline="-25000" dirty="0" err="1" smtClean="0">
                <a:latin typeface="Times New Roman" pitchFamily="18" charset="0"/>
                <a:cs typeface="Times New Roman" pitchFamily="18" charset="0"/>
              </a:rPr>
              <a:t>ui</a:t>
            </a:r>
            <a:r>
              <a:rPr lang="en-US" altLang="zh-TW" sz="2800" i="1" dirty="0" smtClean="0">
                <a:latin typeface="Times New Roman" pitchFamily="18" charset="0"/>
                <a:cs typeface="Times New Roman" pitchFamily="18" charset="0"/>
              </a:rPr>
              <a:t>’), 1 ≤ </a:t>
            </a:r>
            <a:r>
              <a:rPr lang="en-US" altLang="zh-TW" sz="2800" i="1" dirty="0" err="1" smtClean="0">
                <a:latin typeface="Times New Roman" pitchFamily="18" charset="0"/>
                <a:cs typeface="Times New Roman" pitchFamily="18" charset="0"/>
              </a:rPr>
              <a:t>i</a:t>
            </a:r>
            <a:r>
              <a:rPr lang="en-US" altLang="zh-TW" sz="2800" i="1" dirty="0" smtClean="0">
                <a:latin typeface="Times New Roman" pitchFamily="18" charset="0"/>
                <a:cs typeface="Times New Roman" pitchFamily="18" charset="0"/>
              </a:rPr>
              <a:t> ≤ w</a:t>
            </a:r>
            <a:r>
              <a:rPr lang="en-US" altLang="zh-TW" sz="2800" dirty="0" smtClean="0">
                <a:latin typeface="Times New Roman" pitchFamily="18" charset="0"/>
                <a:cs typeface="Times New Roman" pitchFamily="18" charset="0"/>
              </a:rPr>
              <a:t>; (2) </a:t>
            </a:r>
            <a:r>
              <a:rPr lang="en-US" altLang="zh-TW" sz="2800" i="1" dirty="0" err="1" smtClean="0">
                <a:latin typeface="Times New Roman" pitchFamily="18" charset="0"/>
                <a:cs typeface="Times New Roman" pitchFamily="18" charset="0"/>
              </a:rPr>
              <a:t>t</a:t>
            </a:r>
            <a:r>
              <a:rPr lang="en-US" altLang="zh-TW" sz="2800" i="1" baseline="-25000" dirty="0" err="1" smtClean="0">
                <a:latin typeface="Times New Roman" pitchFamily="18" charset="0"/>
                <a:cs typeface="Times New Roman" pitchFamily="18" charset="0"/>
              </a:rPr>
              <a:t>ui</a:t>
            </a:r>
            <a:r>
              <a:rPr lang="en-US" altLang="zh-TW" sz="2800" i="1" dirty="0" smtClean="0">
                <a:latin typeface="Times New Roman" pitchFamily="18" charset="0"/>
                <a:cs typeface="Times New Roman" pitchFamily="18" charset="0"/>
              </a:rPr>
              <a:t> − </a:t>
            </a:r>
            <a:r>
              <a:rPr lang="en-US" altLang="zh-TW" sz="2800" i="1" dirty="0" err="1" smtClean="0">
                <a:latin typeface="Times New Roman" pitchFamily="18" charset="0"/>
                <a:cs typeface="Times New Roman" pitchFamily="18" charset="0"/>
              </a:rPr>
              <a:t>t</a:t>
            </a:r>
            <a:r>
              <a:rPr lang="en-US" altLang="zh-TW" sz="2800" i="1" baseline="-25000" dirty="0" err="1" smtClean="0">
                <a:latin typeface="Times New Roman" pitchFamily="18" charset="0"/>
                <a:cs typeface="Times New Roman" pitchFamily="18" charset="0"/>
              </a:rPr>
              <a:t>li</a:t>
            </a:r>
            <a:r>
              <a:rPr lang="en-US" altLang="zh-TW" sz="2800" i="1" dirty="0" smtClean="0">
                <a:latin typeface="Times New Roman" pitchFamily="18" charset="0"/>
                <a:cs typeface="Times New Roman" pitchFamily="18" charset="0"/>
              </a:rPr>
              <a:t> ≤ </a:t>
            </a:r>
            <a:r>
              <a:rPr lang="en-US" altLang="zh-TW" sz="2800" i="1" dirty="0" err="1" smtClean="0">
                <a:latin typeface="Times New Roman" pitchFamily="18" charset="0"/>
                <a:cs typeface="Times New Roman" pitchFamily="18" charset="0"/>
              </a:rPr>
              <a:t>swin</a:t>
            </a:r>
            <a:r>
              <a:rPr lang="en-US" altLang="zh-TW" sz="2800" i="1" dirty="0" smtClean="0">
                <a:latin typeface="Times New Roman" pitchFamily="18" charset="0"/>
                <a:cs typeface="Times New Roman" pitchFamily="18" charset="0"/>
              </a:rPr>
              <a:t>, 1 ≤ </a:t>
            </a:r>
            <a:r>
              <a:rPr lang="en-US" altLang="zh-TW" sz="2800" i="1" dirty="0" err="1" smtClean="0">
                <a:latin typeface="Times New Roman" pitchFamily="18" charset="0"/>
                <a:cs typeface="Times New Roman" pitchFamily="18" charset="0"/>
              </a:rPr>
              <a:t>i</a:t>
            </a:r>
            <a:r>
              <a:rPr lang="en-US" altLang="zh-TW" sz="2800" i="1" dirty="0" smtClean="0">
                <a:latin typeface="Times New Roman" pitchFamily="18" charset="0"/>
                <a:cs typeface="Times New Roman" pitchFamily="18" charset="0"/>
              </a:rPr>
              <a:t> ≤ w</a:t>
            </a:r>
            <a:r>
              <a:rPr lang="en-US" altLang="zh-TW" sz="2800" dirty="0" smtClean="0">
                <a:latin typeface="Times New Roman" pitchFamily="18" charset="0"/>
                <a:cs typeface="Times New Roman" pitchFamily="18" charset="0"/>
              </a:rPr>
              <a:t>; (3)</a:t>
            </a:r>
            <a:r>
              <a:rPr lang="en-US" altLang="zh-TW" sz="2800" i="1" dirty="0" smtClean="0">
                <a:latin typeface="Times New Roman" pitchFamily="18" charset="0"/>
                <a:cs typeface="Times New Roman" pitchFamily="18" charset="0"/>
              </a:rPr>
              <a:t> </a:t>
            </a:r>
            <a:r>
              <a:rPr lang="en-US" altLang="zh-TW" sz="2800" i="1" dirty="0" err="1" smtClean="0">
                <a:latin typeface="Times New Roman" pitchFamily="18" charset="0"/>
                <a:cs typeface="Times New Roman" pitchFamily="18" charset="0"/>
              </a:rPr>
              <a:t>t</a:t>
            </a:r>
            <a:r>
              <a:rPr lang="en-US" altLang="zh-TW" sz="2800" i="1" baseline="-25000" dirty="0" err="1" smtClean="0">
                <a:latin typeface="Times New Roman" pitchFamily="18" charset="0"/>
                <a:cs typeface="Times New Roman" pitchFamily="18" charset="0"/>
              </a:rPr>
              <a:t>ui</a:t>
            </a:r>
            <a:r>
              <a:rPr lang="en-US" altLang="zh-TW" sz="2800" i="1" dirty="0" smtClean="0">
                <a:latin typeface="Times New Roman" pitchFamily="18" charset="0"/>
                <a:cs typeface="Times New Roman" pitchFamily="18" charset="0"/>
              </a:rPr>
              <a:t> − t</a:t>
            </a:r>
            <a:r>
              <a:rPr lang="en-US" altLang="zh-TW" sz="2800" i="1" baseline="-25000" dirty="0" smtClean="0">
                <a:latin typeface="Times New Roman" pitchFamily="18" charset="0"/>
                <a:cs typeface="Times New Roman" pitchFamily="18" charset="0"/>
              </a:rPr>
              <a:t>li</a:t>
            </a:r>
            <a:r>
              <a:rPr lang="en-US" altLang="zh-TW" sz="2800" i="1" dirty="0" smtClean="0">
                <a:latin typeface="Times New Roman" pitchFamily="18" charset="0"/>
                <a:cs typeface="Times New Roman" pitchFamily="18" charset="0"/>
              </a:rPr>
              <a:t>-1 ≤ </a:t>
            </a:r>
            <a:r>
              <a:rPr lang="en-US" altLang="zh-TW" sz="2800" i="1" dirty="0" err="1" smtClean="0">
                <a:latin typeface="Times New Roman" pitchFamily="18" charset="0"/>
                <a:cs typeface="Times New Roman" pitchFamily="18" charset="0"/>
              </a:rPr>
              <a:t>maxgap</a:t>
            </a:r>
            <a:r>
              <a:rPr lang="en-US" altLang="zh-TW" sz="2800" i="1" dirty="0" smtClean="0">
                <a:latin typeface="Times New Roman" pitchFamily="18" charset="0"/>
                <a:cs typeface="Times New Roman" pitchFamily="18" charset="0"/>
              </a:rPr>
              <a:t>, 2 ≤ </a:t>
            </a:r>
            <a:r>
              <a:rPr lang="en-US" altLang="zh-TW" sz="2800" i="1" dirty="0" err="1" smtClean="0">
                <a:latin typeface="Times New Roman" pitchFamily="18" charset="0"/>
                <a:cs typeface="Times New Roman" pitchFamily="18" charset="0"/>
              </a:rPr>
              <a:t>i</a:t>
            </a:r>
            <a:r>
              <a:rPr lang="en-US" altLang="zh-TW" sz="2800" i="1" dirty="0" smtClean="0">
                <a:latin typeface="Times New Roman" pitchFamily="18" charset="0"/>
                <a:cs typeface="Times New Roman" pitchFamily="18" charset="0"/>
              </a:rPr>
              <a:t> ≤ w</a:t>
            </a:r>
            <a:r>
              <a:rPr lang="en-US" altLang="zh-TW" sz="2800" dirty="0" smtClean="0">
                <a:latin typeface="Times New Roman" pitchFamily="18" charset="0"/>
                <a:cs typeface="Times New Roman" pitchFamily="18" charset="0"/>
              </a:rPr>
              <a:t>; (4) </a:t>
            </a:r>
            <a:r>
              <a:rPr lang="en-US" altLang="zh-TW" sz="2800" i="1" dirty="0" err="1" smtClean="0">
                <a:latin typeface="Times New Roman" pitchFamily="18" charset="0"/>
                <a:cs typeface="Times New Roman" pitchFamily="18" charset="0"/>
              </a:rPr>
              <a:t>t</a:t>
            </a:r>
            <a:r>
              <a:rPr lang="en-US" altLang="zh-TW" sz="2800" i="1" baseline="-25000" dirty="0" err="1" smtClean="0">
                <a:latin typeface="Times New Roman" pitchFamily="18" charset="0"/>
                <a:cs typeface="Times New Roman" pitchFamily="18" charset="0"/>
              </a:rPr>
              <a:t>li</a:t>
            </a:r>
            <a:r>
              <a:rPr lang="en-US" altLang="zh-TW" sz="2800" i="1" dirty="0" smtClean="0">
                <a:latin typeface="Times New Roman" pitchFamily="18" charset="0"/>
                <a:cs typeface="Times New Roman" pitchFamily="18" charset="0"/>
              </a:rPr>
              <a:t> − t</a:t>
            </a:r>
            <a:r>
              <a:rPr lang="en-US" altLang="zh-TW" sz="2800" i="1" baseline="-25000" dirty="0" smtClean="0">
                <a:latin typeface="Times New Roman" pitchFamily="18" charset="0"/>
                <a:cs typeface="Times New Roman" pitchFamily="18" charset="0"/>
              </a:rPr>
              <a:t>ui</a:t>
            </a:r>
            <a:r>
              <a:rPr lang="en-US" altLang="zh-TW" sz="2800" i="1" dirty="0" smtClean="0">
                <a:latin typeface="Times New Roman" pitchFamily="18" charset="0"/>
                <a:cs typeface="Times New Roman" pitchFamily="18" charset="0"/>
              </a:rPr>
              <a:t>-1 ≥ </a:t>
            </a:r>
            <a:r>
              <a:rPr lang="en-US" altLang="zh-TW" sz="2800" i="1" dirty="0" err="1" smtClean="0">
                <a:latin typeface="Times New Roman" pitchFamily="18" charset="0"/>
                <a:cs typeface="Times New Roman" pitchFamily="18" charset="0"/>
              </a:rPr>
              <a:t>mingap</a:t>
            </a:r>
            <a:r>
              <a:rPr lang="en-US" altLang="zh-TW" sz="2800" i="1" dirty="0" smtClean="0">
                <a:latin typeface="Times New Roman" pitchFamily="18" charset="0"/>
                <a:cs typeface="Times New Roman" pitchFamily="18" charset="0"/>
              </a:rPr>
              <a:t>, 2 ≤ </a:t>
            </a:r>
            <a:r>
              <a:rPr lang="en-US" altLang="zh-TW" sz="2800" i="1" dirty="0" err="1" smtClean="0">
                <a:latin typeface="Times New Roman" pitchFamily="18" charset="0"/>
                <a:cs typeface="Times New Roman" pitchFamily="18" charset="0"/>
              </a:rPr>
              <a:t>i</a:t>
            </a:r>
            <a:r>
              <a:rPr lang="en-US" altLang="zh-TW" sz="2800" i="1" dirty="0" smtClean="0">
                <a:latin typeface="Times New Roman" pitchFamily="18" charset="0"/>
                <a:cs typeface="Times New Roman" pitchFamily="18" charset="0"/>
              </a:rPr>
              <a:t> ≤ w.</a:t>
            </a:r>
            <a:endParaRPr lang="zh-TW" alt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pic>
        <p:nvPicPr>
          <p:cNvPr id="4" name="內容版面配置區 3" descr="1.jpg"/>
          <p:cNvPicPr>
            <a:picLocks noGrp="1" noChangeAspect="1"/>
          </p:cNvPicPr>
          <p:nvPr>
            <p:ph idx="1"/>
          </p:nvPr>
        </p:nvPicPr>
        <p:blipFill>
          <a:blip r:embed="rId2" cstate="print"/>
          <a:stretch>
            <a:fillRect/>
          </a:stretch>
        </p:blipFill>
        <p:spPr>
          <a:xfrm>
            <a:off x="523875" y="2601119"/>
            <a:ext cx="8096250" cy="2524125"/>
          </a:xfr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pPr algn="l"/>
            <a:r>
              <a:rPr lang="en-US" altLang="zh-TW" sz="3200" b="1" dirty="0" smtClean="0">
                <a:latin typeface="Times New Roman" pitchFamily="18" charset="0"/>
                <a:cs typeface="Times New Roman" pitchFamily="18" charset="0"/>
              </a:rPr>
              <a:t>CTSP: Close Time-constraint Sequential Pattern Mining</a:t>
            </a:r>
            <a:endParaRPr lang="zh-TW" altLang="en-US" sz="3200" dirty="0">
              <a:latin typeface="Times New Roman" pitchFamily="18" charset="0"/>
              <a:cs typeface="Times New Roman" pitchFamily="18" charset="0"/>
            </a:endParaRPr>
          </a:p>
        </p:txBody>
      </p:sp>
      <p:pic>
        <p:nvPicPr>
          <p:cNvPr id="4" name="內容版面配置區 3" descr="2.jpg"/>
          <p:cNvPicPr>
            <a:picLocks noGrp="1" noChangeAspect="1"/>
          </p:cNvPicPr>
          <p:nvPr>
            <p:ph idx="1"/>
          </p:nvPr>
        </p:nvPicPr>
        <p:blipFill>
          <a:blip r:embed="rId2" cstate="print"/>
          <a:stretch>
            <a:fillRect/>
          </a:stretch>
        </p:blipFill>
        <p:spPr>
          <a:xfrm>
            <a:off x="595312" y="2691606"/>
            <a:ext cx="7953375" cy="2343150"/>
          </a:xfr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3.jpg"/>
          <p:cNvPicPr>
            <a:picLocks noGrp="1" noChangeAspect="1"/>
          </p:cNvPicPr>
          <p:nvPr>
            <p:ph idx="1"/>
          </p:nvPr>
        </p:nvPicPr>
        <p:blipFill>
          <a:blip r:embed="rId2" cstate="print"/>
          <a:stretch>
            <a:fillRect/>
          </a:stretch>
        </p:blipFill>
        <p:spPr>
          <a:xfrm>
            <a:off x="500034" y="1500174"/>
            <a:ext cx="7934325" cy="1790700"/>
          </a:xfrm>
        </p:spPr>
      </p:pic>
      <p:pic>
        <p:nvPicPr>
          <p:cNvPr id="5" name="圖片 4" descr="4.jpg"/>
          <p:cNvPicPr>
            <a:picLocks noChangeAspect="1"/>
          </p:cNvPicPr>
          <p:nvPr/>
        </p:nvPicPr>
        <p:blipFill>
          <a:blip r:embed="rId3" cstate="print"/>
          <a:stretch>
            <a:fillRect/>
          </a:stretch>
        </p:blipFill>
        <p:spPr>
          <a:xfrm>
            <a:off x="500034" y="3357562"/>
            <a:ext cx="7943850" cy="2085975"/>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5.jpg"/>
          <p:cNvPicPr>
            <a:picLocks noGrp="1" noChangeAspect="1"/>
          </p:cNvPicPr>
          <p:nvPr>
            <p:ph idx="1"/>
          </p:nvPr>
        </p:nvPicPr>
        <p:blipFill>
          <a:blip r:embed="rId2" cstate="print"/>
          <a:stretch>
            <a:fillRect/>
          </a:stretch>
        </p:blipFill>
        <p:spPr>
          <a:xfrm>
            <a:off x="595312" y="2372519"/>
            <a:ext cx="7953375" cy="2981325"/>
          </a:xfr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6.jpg"/>
          <p:cNvPicPr>
            <a:picLocks noGrp="1" noChangeAspect="1"/>
          </p:cNvPicPr>
          <p:nvPr>
            <p:ph idx="1"/>
          </p:nvPr>
        </p:nvPicPr>
        <p:blipFill>
          <a:blip r:embed="rId2" cstate="print"/>
          <a:stretch>
            <a:fillRect/>
          </a:stretch>
        </p:blipFill>
        <p:spPr>
          <a:xfrm>
            <a:off x="428596" y="1428736"/>
            <a:ext cx="7943850" cy="1162050"/>
          </a:xfrm>
        </p:spPr>
      </p:pic>
      <p:pic>
        <p:nvPicPr>
          <p:cNvPr id="5" name="圖片 4" descr="7.jpg"/>
          <p:cNvPicPr>
            <a:picLocks noChangeAspect="1"/>
          </p:cNvPicPr>
          <p:nvPr/>
        </p:nvPicPr>
        <p:blipFill>
          <a:blip r:embed="rId3" cstate="print"/>
          <a:stretch>
            <a:fillRect/>
          </a:stretch>
        </p:blipFill>
        <p:spPr>
          <a:xfrm>
            <a:off x="928662" y="3286124"/>
            <a:ext cx="6505575" cy="2219325"/>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8.jpg"/>
          <p:cNvPicPr>
            <a:picLocks noGrp="1" noChangeAspect="1"/>
          </p:cNvPicPr>
          <p:nvPr>
            <p:ph idx="1"/>
          </p:nvPr>
        </p:nvPicPr>
        <p:blipFill>
          <a:blip r:embed="rId2" cstate="print"/>
          <a:stretch>
            <a:fillRect/>
          </a:stretch>
        </p:blipFill>
        <p:spPr>
          <a:xfrm>
            <a:off x="600075" y="1758156"/>
            <a:ext cx="7943850" cy="4210050"/>
          </a:xfr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9.jpg"/>
          <p:cNvPicPr>
            <a:picLocks noGrp="1" noChangeAspect="1"/>
          </p:cNvPicPr>
          <p:nvPr>
            <p:ph idx="1"/>
          </p:nvPr>
        </p:nvPicPr>
        <p:blipFill>
          <a:blip r:embed="rId2" cstate="print"/>
          <a:stretch>
            <a:fillRect/>
          </a:stretch>
        </p:blipFill>
        <p:spPr>
          <a:xfrm>
            <a:off x="652462" y="3215481"/>
            <a:ext cx="7839075" cy="1295400"/>
          </a:xfr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endParaRPr lang="zh-TW" altLang="en-US" dirty="0"/>
          </a:p>
        </p:txBody>
      </p:sp>
      <p:pic>
        <p:nvPicPr>
          <p:cNvPr id="4" name="內容版面配置區 3" descr="10.jpg"/>
          <p:cNvPicPr>
            <a:picLocks noGrp="1" noChangeAspect="1"/>
          </p:cNvPicPr>
          <p:nvPr>
            <p:ph idx="1"/>
          </p:nvPr>
        </p:nvPicPr>
        <p:blipFill>
          <a:blip r:embed="rId2" cstate="print"/>
          <a:stretch>
            <a:fillRect/>
          </a:stretch>
        </p:blipFill>
        <p:spPr>
          <a:xfrm>
            <a:off x="809507" y="1600200"/>
            <a:ext cx="7524985" cy="4525963"/>
          </a:xfr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11.jpg"/>
          <p:cNvPicPr>
            <a:picLocks noGrp="1" noChangeAspect="1"/>
          </p:cNvPicPr>
          <p:nvPr>
            <p:ph idx="1"/>
          </p:nvPr>
        </p:nvPicPr>
        <p:blipFill>
          <a:blip r:embed="rId2" cstate="print"/>
          <a:stretch>
            <a:fillRect/>
          </a:stretch>
        </p:blipFill>
        <p:spPr>
          <a:xfrm>
            <a:off x="987856" y="1600200"/>
            <a:ext cx="7168288" cy="4525963"/>
          </a:xfrm>
        </p:spPr>
      </p:pic>
      <p:pic>
        <p:nvPicPr>
          <p:cNvPr id="5" name="圖片 4" descr="11.jpg"/>
          <p:cNvPicPr>
            <a:picLocks noChangeAspect="1"/>
          </p:cNvPicPr>
          <p:nvPr/>
        </p:nvPicPr>
        <p:blipFill>
          <a:blip r:embed="rId2" cstate="print"/>
          <a:stretch>
            <a:fillRect/>
          </a:stretch>
        </p:blipFill>
        <p:spPr>
          <a:xfrm>
            <a:off x="657225" y="957262"/>
            <a:ext cx="7829550" cy="4943475"/>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pPr algn="l"/>
            <a:r>
              <a:rPr lang="en-US" altLang="zh-TW" sz="4000" dirty="0" smtClean="0">
                <a:latin typeface="Times New Roman" pitchFamily="18" charset="0"/>
                <a:cs typeface="Times New Roman" pitchFamily="18" charset="0"/>
              </a:rPr>
              <a:t>Experimental Evaluations</a:t>
            </a:r>
            <a:endParaRPr lang="zh-TW" altLang="en-US" sz="4000"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r>
              <a:rPr lang="en-US" altLang="zh-TW" dirty="0" smtClean="0">
                <a:latin typeface="Times New Roman" pitchFamily="18" charset="0"/>
                <a:cs typeface="Times New Roman" pitchFamily="18" charset="0"/>
              </a:rPr>
              <a:t>We describe the result of dataset C10T2.5S4I1.25 </a:t>
            </a:r>
            <a:r>
              <a:rPr lang="en-US" altLang="zh-TW" dirty="0" smtClean="0">
                <a:latin typeface="Times New Roman" pitchFamily="18" charset="0"/>
                <a:cs typeface="Times New Roman" pitchFamily="18" charset="0"/>
              </a:rPr>
              <a:t>having 100,000 </a:t>
            </a:r>
            <a:r>
              <a:rPr lang="en-US" altLang="zh-TW" dirty="0" smtClean="0">
                <a:latin typeface="Times New Roman" pitchFamily="18" charset="0"/>
                <a:cs typeface="Times New Roman" pitchFamily="18" charset="0"/>
              </a:rPr>
              <a:t>data sequences (|</a:t>
            </a:r>
            <a:r>
              <a:rPr lang="en-US" altLang="zh-TW" i="1" dirty="0" smtClean="0">
                <a:latin typeface="Times New Roman" pitchFamily="18" charset="0"/>
                <a:cs typeface="Times New Roman" pitchFamily="18" charset="0"/>
              </a:rPr>
              <a:t>DB| </a:t>
            </a:r>
            <a:r>
              <a:rPr lang="en-US" altLang="zh-TW" dirty="0" smtClean="0">
                <a:latin typeface="Times New Roman" pitchFamily="18" charset="0"/>
                <a:cs typeface="Times New Roman" pitchFamily="18" charset="0"/>
              </a:rPr>
              <a:t>= 100</a:t>
            </a:r>
            <a:r>
              <a:rPr lang="en-US" altLang="zh-TW" i="1" dirty="0" smtClean="0">
                <a:latin typeface="Times New Roman" pitchFamily="18" charset="0"/>
                <a:cs typeface="Times New Roman" pitchFamily="18" charset="0"/>
              </a:rPr>
              <a:t>k</a:t>
            </a:r>
            <a:r>
              <a:rPr lang="en-US" altLang="zh-TW" dirty="0" smtClean="0">
                <a:latin typeface="Times New Roman" pitchFamily="18" charset="0"/>
                <a:cs typeface="Times New Roman" pitchFamily="18" charset="0"/>
              </a:rPr>
              <a:t>), with </a:t>
            </a:r>
            <a:r>
              <a:rPr lang="en-US" altLang="zh-TW" i="1" dirty="0" smtClean="0">
                <a:latin typeface="Times New Roman" pitchFamily="18" charset="0"/>
                <a:cs typeface="Times New Roman" pitchFamily="18" charset="0"/>
              </a:rPr>
              <a:t>N</a:t>
            </a:r>
            <a:r>
              <a:rPr lang="en-US" altLang="zh-TW" i="1" baseline="-25000" dirty="0" smtClean="0">
                <a:latin typeface="Times New Roman" pitchFamily="18" charset="0"/>
                <a:cs typeface="Times New Roman" pitchFamily="18" charset="0"/>
              </a:rPr>
              <a:t>s</a:t>
            </a:r>
            <a:r>
              <a:rPr lang="en-US" altLang="zh-TW" i="1" dirty="0" smtClean="0">
                <a:latin typeface="Times New Roman" pitchFamily="18" charset="0"/>
                <a:cs typeface="Times New Roman" pitchFamily="18" charset="0"/>
              </a:rPr>
              <a:t> </a:t>
            </a:r>
            <a:r>
              <a:rPr lang="en-US" altLang="zh-TW" dirty="0" smtClean="0">
                <a:latin typeface="Times New Roman" pitchFamily="18" charset="0"/>
                <a:cs typeface="Times New Roman" pitchFamily="18" charset="0"/>
              </a:rPr>
              <a:t>= 5000</a:t>
            </a:r>
            <a:r>
              <a:rPr lang="en-US" altLang="zh-TW" i="1" dirty="0" smtClean="0">
                <a:latin typeface="Times New Roman" pitchFamily="18" charset="0"/>
                <a:cs typeface="Times New Roman" pitchFamily="18" charset="0"/>
              </a:rPr>
              <a:t>, N</a:t>
            </a:r>
            <a:r>
              <a:rPr lang="en-US" altLang="zh-TW" i="1" baseline="-25000" dirty="0" smtClean="0">
                <a:latin typeface="Times New Roman" pitchFamily="18" charset="0"/>
                <a:cs typeface="Times New Roman" pitchFamily="18" charset="0"/>
              </a:rPr>
              <a:t>I</a:t>
            </a:r>
            <a:r>
              <a:rPr lang="en-US" altLang="zh-TW" i="1" dirty="0" smtClean="0">
                <a:latin typeface="Times New Roman" pitchFamily="18" charset="0"/>
                <a:cs typeface="Times New Roman" pitchFamily="18" charset="0"/>
              </a:rPr>
              <a:t> </a:t>
            </a:r>
            <a:r>
              <a:rPr lang="en-US" altLang="zh-TW" dirty="0" smtClean="0">
                <a:latin typeface="Times New Roman" pitchFamily="18" charset="0"/>
                <a:cs typeface="Times New Roman" pitchFamily="18" charset="0"/>
              </a:rPr>
              <a:t>= 25000 and </a:t>
            </a:r>
            <a:r>
              <a:rPr lang="en-US" altLang="zh-TW" i="1" dirty="0" smtClean="0">
                <a:latin typeface="Times New Roman" pitchFamily="18" charset="0"/>
                <a:cs typeface="Times New Roman" pitchFamily="18" charset="0"/>
              </a:rPr>
              <a:t>N </a:t>
            </a:r>
            <a:r>
              <a:rPr lang="en-US" altLang="zh-TW" dirty="0" smtClean="0">
                <a:latin typeface="Times New Roman" pitchFamily="18" charset="0"/>
                <a:cs typeface="Times New Roman" pitchFamily="18" charset="0"/>
              </a:rPr>
              <a:t>= 10000.</a:t>
            </a:r>
            <a:endParaRPr lang="zh-TW" alt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12.jpg"/>
          <p:cNvPicPr>
            <a:picLocks noGrp="1" noChangeAspect="1"/>
          </p:cNvPicPr>
          <p:nvPr>
            <p:ph idx="1"/>
          </p:nvPr>
        </p:nvPicPr>
        <p:blipFill>
          <a:blip r:embed="rId2" cstate="print"/>
          <a:stretch>
            <a:fillRect/>
          </a:stretch>
        </p:blipFill>
        <p:spPr>
          <a:xfrm>
            <a:off x="1500166" y="1785926"/>
            <a:ext cx="5619750" cy="3800475"/>
          </a:xfr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13.jpg"/>
          <p:cNvPicPr>
            <a:picLocks noGrp="1" noChangeAspect="1"/>
          </p:cNvPicPr>
          <p:nvPr>
            <p:ph idx="1"/>
          </p:nvPr>
        </p:nvPicPr>
        <p:blipFill>
          <a:blip r:embed="rId2" cstate="print"/>
          <a:stretch>
            <a:fillRect/>
          </a:stretch>
        </p:blipFill>
        <p:spPr>
          <a:xfrm>
            <a:off x="1528762" y="1929606"/>
            <a:ext cx="6086475" cy="3867150"/>
          </a:xfr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14.jpg"/>
          <p:cNvPicPr>
            <a:picLocks noGrp="1" noChangeAspect="1"/>
          </p:cNvPicPr>
          <p:nvPr>
            <p:ph idx="1"/>
          </p:nvPr>
        </p:nvPicPr>
        <p:blipFill>
          <a:blip r:embed="rId2" cstate="print"/>
          <a:stretch>
            <a:fillRect/>
          </a:stretch>
        </p:blipFill>
        <p:spPr>
          <a:xfrm>
            <a:off x="1614487" y="1920081"/>
            <a:ext cx="5915025" cy="3886200"/>
          </a:xfr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15.jpg"/>
          <p:cNvPicPr>
            <a:picLocks noGrp="1" noChangeAspect="1"/>
          </p:cNvPicPr>
          <p:nvPr>
            <p:ph idx="1"/>
          </p:nvPr>
        </p:nvPicPr>
        <p:blipFill>
          <a:blip r:embed="rId2" cstate="print"/>
          <a:stretch>
            <a:fillRect/>
          </a:stretch>
        </p:blipFill>
        <p:spPr>
          <a:xfrm>
            <a:off x="1733550" y="1958181"/>
            <a:ext cx="5676900" cy="3810000"/>
          </a:xfr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16.jpg"/>
          <p:cNvPicPr>
            <a:picLocks noGrp="1" noChangeAspect="1"/>
          </p:cNvPicPr>
          <p:nvPr>
            <p:ph idx="1"/>
          </p:nvPr>
        </p:nvPicPr>
        <p:blipFill>
          <a:blip r:embed="rId2" cstate="print"/>
          <a:stretch>
            <a:fillRect/>
          </a:stretch>
        </p:blipFill>
        <p:spPr>
          <a:xfrm>
            <a:off x="995362" y="1886744"/>
            <a:ext cx="7153275" cy="3952875"/>
          </a:xfr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17.jpg"/>
          <p:cNvPicPr>
            <a:picLocks noGrp="1" noChangeAspect="1"/>
          </p:cNvPicPr>
          <p:nvPr>
            <p:ph idx="1"/>
          </p:nvPr>
        </p:nvPicPr>
        <p:blipFill>
          <a:blip r:embed="rId2" cstate="print"/>
          <a:stretch>
            <a:fillRect/>
          </a:stretch>
        </p:blipFill>
        <p:spPr>
          <a:xfrm>
            <a:off x="1381125" y="2148681"/>
            <a:ext cx="6381750" cy="3429000"/>
          </a:xfr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18.jpg"/>
          <p:cNvPicPr>
            <a:picLocks noGrp="1" noChangeAspect="1"/>
          </p:cNvPicPr>
          <p:nvPr>
            <p:ph idx="1"/>
          </p:nvPr>
        </p:nvPicPr>
        <p:blipFill>
          <a:blip r:embed="rId2" cstate="print"/>
          <a:stretch>
            <a:fillRect/>
          </a:stretch>
        </p:blipFill>
        <p:spPr>
          <a:xfrm>
            <a:off x="1047750" y="2024856"/>
            <a:ext cx="7048500" cy="3676650"/>
          </a:xfr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19.jpg"/>
          <p:cNvPicPr>
            <a:picLocks noGrp="1" noChangeAspect="1"/>
          </p:cNvPicPr>
          <p:nvPr>
            <p:ph idx="1"/>
          </p:nvPr>
        </p:nvPicPr>
        <p:blipFill>
          <a:blip r:embed="rId2" cstate="print"/>
          <a:stretch>
            <a:fillRect/>
          </a:stretch>
        </p:blipFill>
        <p:spPr>
          <a:xfrm>
            <a:off x="1733550" y="2120106"/>
            <a:ext cx="5676900" cy="3486150"/>
          </a:xfr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20.jpg"/>
          <p:cNvPicPr>
            <a:picLocks noGrp="1" noChangeAspect="1"/>
          </p:cNvPicPr>
          <p:nvPr>
            <p:ph idx="1"/>
          </p:nvPr>
        </p:nvPicPr>
        <p:blipFill>
          <a:blip r:embed="rId2" cstate="print"/>
          <a:stretch>
            <a:fillRect/>
          </a:stretch>
        </p:blipFill>
        <p:spPr>
          <a:xfrm>
            <a:off x="1000125" y="3182144"/>
            <a:ext cx="7143750" cy="1362075"/>
          </a:xfrm>
        </p:spPr>
      </p:pic>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301</TotalTime>
  <Words>460</Words>
  <Application>Microsoft Office PowerPoint</Application>
  <PresentationFormat>如螢幕大小 (4:3)</PresentationFormat>
  <Paragraphs>30</Paragraphs>
  <Slides>26</Slides>
  <Notes>1</Notes>
  <HiddenSlides>0</HiddenSlides>
  <MMClips>0</MMClips>
  <ScaleCrop>false</ScaleCrop>
  <HeadingPairs>
    <vt:vector size="4" baseType="variant">
      <vt:variant>
        <vt:lpstr>佈景主題</vt:lpstr>
      </vt:variant>
      <vt:variant>
        <vt:i4>1</vt:i4>
      </vt:variant>
      <vt:variant>
        <vt:lpstr>投影片標題</vt:lpstr>
      </vt:variant>
      <vt:variant>
        <vt:i4>26</vt:i4>
      </vt:variant>
    </vt:vector>
  </HeadingPairs>
  <TitlesOfParts>
    <vt:vector size="27" baseType="lpstr">
      <vt:lpstr>Office 佈景主題</vt:lpstr>
      <vt:lpstr>Mining Closed Sequential Patterns with Time Constraints</vt:lpstr>
      <vt:lpstr>Abstract(1/2)</vt:lpstr>
      <vt:lpstr>Abstract(2/2)</vt:lpstr>
      <vt:lpstr>Mining sequential patterns with time constraints</vt:lpstr>
      <vt:lpstr>Problem statement</vt:lpstr>
      <vt:lpstr>Problem statement(cont)</vt:lpstr>
      <vt:lpstr>Problem statement(cont)</vt:lpstr>
      <vt:lpstr>投影片 8</vt:lpstr>
      <vt:lpstr>CTSP: Close Time-constraint Sequential Pattern Mining</vt:lpstr>
      <vt:lpstr>投影片 10</vt:lpstr>
      <vt:lpstr>投影片 11</vt:lpstr>
      <vt:lpstr>投影片 12</vt:lpstr>
      <vt:lpstr>投影片 13</vt:lpstr>
      <vt:lpstr>投影片 14</vt:lpstr>
      <vt:lpstr>投影片 15</vt:lpstr>
      <vt:lpstr>投影片 16</vt:lpstr>
      <vt:lpstr>Experimental Evaluations</vt:lpstr>
      <vt:lpstr>投影片 18</vt:lpstr>
      <vt:lpstr>投影片 19</vt:lpstr>
      <vt:lpstr>投影片 20</vt:lpstr>
      <vt:lpstr>投影片 21</vt:lpstr>
      <vt:lpstr>投影片 22</vt:lpstr>
      <vt:lpstr>投影片 23</vt:lpstr>
      <vt:lpstr>投影片 24</vt:lpstr>
      <vt:lpstr>投影片 25</vt:lpstr>
      <vt:lpstr>投影片 26</vt:lpstr>
    </vt:vector>
  </TitlesOfParts>
  <Company>pplab</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Mining Closed Sequential Patterns with Time Constraints</dc:title>
  <dc:creator>王重傑</dc:creator>
  <cp:lastModifiedBy>王重傑</cp:lastModifiedBy>
  <cp:revision>31</cp:revision>
  <dcterms:created xsi:type="dcterms:W3CDTF">2010-03-23T03:25:10Z</dcterms:created>
  <dcterms:modified xsi:type="dcterms:W3CDTF">2010-03-23T10:11:29Z</dcterms:modified>
</cp:coreProperties>
</file>