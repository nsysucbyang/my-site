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49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252F40-AA11-4BE6-806B-33E53631EECA}" type="datetimeFigureOut">
              <a:rPr lang="zh-TW" altLang="en-US"/>
              <a:pPr>
                <a:defRPr/>
              </a:pPr>
              <a:t>2010/6/7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1079BD-4366-4DE4-A360-29C51458A35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541109-2D7F-4DEF-A0FA-DE3A591B5CDF}" type="datetimeFigureOut">
              <a:rPr lang="zh-TW" altLang="en-US"/>
              <a:pPr>
                <a:defRPr/>
              </a:pPr>
              <a:t>2010/6/7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2FA7C4-2C63-47E1-A5C5-6DE636BCA1A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EB4E89-AAFF-4E21-8CCD-286353E3BA58}" type="datetimeFigureOut">
              <a:rPr lang="zh-TW" altLang="en-US"/>
              <a:pPr>
                <a:defRPr/>
              </a:pPr>
              <a:t>2010/6/7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E0B49-521D-4E49-8133-4D878DE3AAE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B8957-AA4A-407F-B7B3-69EC1480D03E}" type="datetimeFigureOut">
              <a:rPr lang="zh-TW" altLang="en-US"/>
              <a:pPr>
                <a:defRPr/>
              </a:pPr>
              <a:t>2010/6/7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03AA15-B82A-4180-9C23-EFF9BEDDD50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A0D98B-F918-4BB9-BA2E-F21E2C80D3B8}" type="datetimeFigureOut">
              <a:rPr lang="zh-TW" altLang="en-US"/>
              <a:pPr>
                <a:defRPr/>
              </a:pPr>
              <a:t>2010/6/7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D715E-7741-4B62-8FC5-CD8B9FA6D63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7EAE54-F28A-4056-ACAD-F47F109DB318}" type="datetimeFigureOut">
              <a:rPr lang="zh-TW" altLang="en-US"/>
              <a:pPr>
                <a:defRPr/>
              </a:pPr>
              <a:t>2010/6/7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F862CA-7D43-40D0-9428-875233BC94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EB3187-2F4F-42B7-8FCC-927337F216E6}" type="datetimeFigureOut">
              <a:rPr lang="zh-TW" altLang="en-US"/>
              <a:pPr>
                <a:defRPr/>
              </a:pPr>
              <a:t>2010/6/7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B4FE2C-5444-45E9-BA34-E9E28DDD624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25B937-BD42-48F7-A9D1-FC5B2A712513}" type="datetimeFigureOut">
              <a:rPr lang="zh-TW" altLang="en-US"/>
              <a:pPr>
                <a:defRPr/>
              </a:pPr>
              <a:t>2010/6/7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FFFFE8-41AF-4DB9-A0B3-A37478BAD28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2E5714-F7B7-4268-A86F-02C82687C1E3}" type="datetimeFigureOut">
              <a:rPr lang="zh-TW" altLang="en-US"/>
              <a:pPr>
                <a:defRPr/>
              </a:pPr>
              <a:t>2010/6/7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8C2EB5-A523-44C6-A69D-B5C1981FB9D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D86A5E-6451-462A-A5BA-F8438943DC29}" type="datetimeFigureOut">
              <a:rPr lang="zh-TW" altLang="en-US"/>
              <a:pPr>
                <a:defRPr/>
              </a:pPr>
              <a:t>2010/6/7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F6F08F-4100-4AD8-95E6-C064353D24F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4D61FB-C689-4016-90ED-FED2C9E2FA41}" type="datetimeFigureOut">
              <a:rPr lang="zh-TW" altLang="en-US"/>
              <a:pPr>
                <a:defRPr/>
              </a:pPr>
              <a:t>2010/6/7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F2E26B-E5FE-4B72-8129-693827D8FA7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4716554-C13B-4ED6-835E-80F10D6E2AB7}" type="datetimeFigureOut">
              <a:rPr lang="zh-TW" altLang="en-US"/>
              <a:pPr>
                <a:defRPr/>
              </a:pPr>
              <a:t>2010/6/7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8E87E17-136A-4E19-ACA4-FE7D0EB82B0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TW" sz="3200" smtClean="0">
                <a:latin typeface="Times New Roman" pitchFamily="18" charset="0"/>
                <a:cs typeface="Times New Roman" pitchFamily="18" charset="0"/>
              </a:rPr>
              <a:t>HHsvm: fast and accurate classification of profile–profile matches</a:t>
            </a:r>
            <a:br>
              <a:rPr lang="en-US" altLang="zh-TW" sz="320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sz="3200" smtClean="0">
                <a:latin typeface="Times New Roman" pitchFamily="18" charset="0"/>
                <a:cs typeface="Times New Roman" pitchFamily="18" charset="0"/>
              </a:rPr>
              <a:t>identified by HHsearch</a:t>
            </a:r>
            <a:endParaRPr lang="zh-TW" altLang="en-US" sz="320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4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0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Mensur Dlakić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Bioinformatics, Vol. 25, No. 23, pages 3071–3076, 2009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0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Speaker: Chong-Jie Wang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0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Date: June 7, 2010</a:t>
            </a:r>
          </a:p>
          <a:p>
            <a:pPr eaLnBrk="1" hangingPunct="1">
              <a:lnSpc>
                <a:spcPct val="90000"/>
              </a:lnSpc>
            </a:pPr>
            <a:endParaRPr lang="zh-TW" altLang="en-US" sz="200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4000" smtClean="0">
                <a:latin typeface="Times New Roman" pitchFamily="18" charset="0"/>
                <a:cs typeface="Times New Roman" pitchFamily="18" charset="0"/>
              </a:rPr>
              <a:t>Abstract</a:t>
            </a:r>
            <a:endParaRPr lang="zh-TW" altLang="en-US" sz="400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700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Motivation: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Recently developed profile–profile methods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rival structural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comparisons in their ability to detect homology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between distantly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related proteins. Despite this tremendous progress,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many genuine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relationships between protein families cannot be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recognized as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comparisons of their profiles result in scores that are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statistically insignificant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Results: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Using known evolutionary relationships among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proteinsuperfamilies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in SCOP database, support vector machines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were trained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on four sets of discriminatory features derived from the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output of 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HHsearch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. Upon validation, it was shown that the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automatic classification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of all profile–profile matches was superior to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fixed threshold-based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annotation in terms of sensitivity and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specificity. The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effectiveness of this approach was demonstrated by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annotating several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domains of unknown function from the 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Pfam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database.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4000" smtClean="0">
                <a:latin typeface="Times New Roman" pitchFamily="18" charset="0"/>
                <a:cs typeface="Times New Roman" pitchFamily="18" charset="0"/>
              </a:rPr>
              <a:t>HHpred</a:t>
            </a:r>
            <a:endParaRPr lang="zh-TW" altLang="en-US" sz="400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362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z="2000" smtClean="0">
                <a:latin typeface="Times New Roman" pitchFamily="18" charset="0"/>
                <a:cs typeface="Times New Roman" pitchFamily="18" charset="0"/>
              </a:rPr>
              <a:t>http://toolkit.tuebingen.mpg.de/hhpred</a:t>
            </a:r>
            <a:endParaRPr lang="zh-TW" altLang="en-US" sz="200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363" name="圖片 5" descr="HHpred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50" y="2143125"/>
            <a:ext cx="5786438" cy="443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TW" altLang="en-US" smtClean="0"/>
          </a:p>
        </p:txBody>
      </p:sp>
      <p:pic>
        <p:nvPicPr>
          <p:cNvPr id="16386" name="內容版面配置區 3" descr="f1.jpg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500063" y="2000250"/>
            <a:ext cx="8229600" cy="337502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4000" smtClean="0">
                <a:latin typeface="Times New Roman" pitchFamily="18" charset="0"/>
                <a:cs typeface="Times New Roman" pitchFamily="18" charset="0"/>
              </a:rPr>
              <a:t>Training and testing datasets</a:t>
            </a:r>
            <a:endParaRPr lang="zh-TW" altLang="en-US" sz="400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0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SCOP database (v1.69)</a:t>
            </a:r>
          </a:p>
          <a:p>
            <a:pPr eaLnBrk="1" hangingPunct="1"/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-value threshold of 100</a:t>
            </a:r>
          </a:p>
          <a:p>
            <a:pPr eaLnBrk="1" hangingPunct="1"/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probability of correct hits (switch −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) set at 0.001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4000" smtClean="0">
                <a:latin typeface="Times New Roman" pitchFamily="18" charset="0"/>
                <a:cs typeface="Times New Roman" pitchFamily="18" charset="0"/>
              </a:rPr>
              <a:t>Features of 4 HHsvm(1/2)</a:t>
            </a:r>
            <a:endParaRPr lang="zh-TW" altLang="en-US" sz="400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434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HHsvm1 : probability and p-value</a:t>
            </a:r>
          </a:p>
          <a:p>
            <a:pPr eaLnBrk="1" hangingPunct="1"/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HHsvm2 : HHsvm1 with SS and coverage fractions of the query and its matches</a:t>
            </a:r>
          </a:p>
          <a:p>
            <a:pPr eaLnBrk="1" hangingPunct="1"/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HHsvm3 :  HHsvm2 with average information contents of the complete query and its match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Features of 4 HHsvm(1/2)</a:t>
            </a:r>
            <a:endParaRPr lang="zh-TW" altLang="en-US" smtClean="0"/>
          </a:p>
        </p:txBody>
      </p:sp>
      <p:sp>
        <p:nvSpPr>
          <p:cNvPr id="19458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HHsvm4 : HHsvm3 without probability as its feature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TW" altLang="en-US" smtClean="0"/>
          </a:p>
        </p:txBody>
      </p:sp>
      <p:pic>
        <p:nvPicPr>
          <p:cNvPr id="20482" name="圖片 6" descr="t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76475" y="2052638"/>
            <a:ext cx="4591050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TW" altLang="en-US" smtClean="0"/>
          </a:p>
        </p:txBody>
      </p:sp>
      <p:pic>
        <p:nvPicPr>
          <p:cNvPr id="21506" name="內容版面配置區 3" descr="f2.jpg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157413" y="1881188"/>
            <a:ext cx="4829175" cy="39624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TW" altLang="en-US" smtClean="0"/>
          </a:p>
        </p:txBody>
      </p:sp>
      <p:sp>
        <p:nvSpPr>
          <p:cNvPr id="22530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TW" altLang="en-US" smtClean="0"/>
          </a:p>
        </p:txBody>
      </p:sp>
      <p:pic>
        <p:nvPicPr>
          <p:cNvPr id="22531" name="Picture 2" descr="C:\Documents and Settings\tacoman\桌面\20100607報告\t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25" y="2357438"/>
            <a:ext cx="4562475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3200" smtClean="0">
                <a:latin typeface="Times New Roman" pitchFamily="18" charset="0"/>
                <a:cs typeface="Times New Roman" pitchFamily="18" charset="0"/>
              </a:rPr>
              <a:t>Using HHsvm to annotate protein domains of</a:t>
            </a:r>
            <a:br>
              <a:rPr lang="en-US" altLang="zh-TW" sz="320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sz="3200" smtClean="0">
                <a:latin typeface="Times New Roman" pitchFamily="18" charset="0"/>
                <a:cs typeface="Times New Roman" pitchFamily="18" charset="0"/>
              </a:rPr>
              <a:t>unknown function as PD-(D/E)xK nucleases</a:t>
            </a:r>
            <a:endParaRPr lang="zh-TW" altLang="en-US" sz="320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4" name="內容版面配置區 3" descr="st2.jpg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57200" y="1644650"/>
            <a:ext cx="8229600" cy="44370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TW" altLang="en-US" smtClean="0"/>
          </a:p>
        </p:txBody>
      </p:sp>
      <p:pic>
        <p:nvPicPr>
          <p:cNvPr id="24578" name="內容版面配置區 3" descr="f3.jpg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57200" y="2406650"/>
            <a:ext cx="8229600" cy="29130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Thank you!</a:t>
            </a:r>
            <a:endParaRPr lang="zh-TW" altLang="en-US" smtClean="0"/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226</Words>
  <Application>Microsoft Office PowerPoint</Application>
  <PresentationFormat>如螢幕大小 (4:3)</PresentationFormat>
  <Paragraphs>26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簡報設計範本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8" baseType="lpstr">
      <vt:lpstr>Arial</vt:lpstr>
      <vt:lpstr>新細明體</vt:lpstr>
      <vt:lpstr>Calibri</vt:lpstr>
      <vt:lpstr>Times New Roman</vt:lpstr>
      <vt:lpstr>Office 佈景主題</vt:lpstr>
      <vt:lpstr>HHsvm: fast and accurate classification of profile–profile matches identified by HHsearch</vt:lpstr>
      <vt:lpstr>Abstract</vt:lpstr>
      <vt:lpstr>HHpred</vt:lpstr>
      <vt:lpstr>投影片 4</vt:lpstr>
      <vt:lpstr>Training and testing datasets</vt:lpstr>
      <vt:lpstr>Features of 4 HHsvm(1/2)</vt:lpstr>
      <vt:lpstr>Features of 4 HHsvm(1/2)</vt:lpstr>
      <vt:lpstr>投影片 8</vt:lpstr>
      <vt:lpstr>投影片 9</vt:lpstr>
      <vt:lpstr>投影片 10</vt:lpstr>
      <vt:lpstr>Using HHsvm to annotate protein domains of unknown function as PD-(D/E)xK nucleases</vt:lpstr>
      <vt:lpstr>投影片 12</vt:lpstr>
      <vt:lpstr>Thank you!</vt:lpstr>
    </vt:vector>
  </TitlesOfParts>
  <Company>pplab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HHsvm: fast and accurate classification of profile–profile matches identified by HHsearch</dc:title>
  <dc:creator>王重傑</dc:creator>
  <cp:lastModifiedBy>TA</cp:lastModifiedBy>
  <cp:revision>10</cp:revision>
  <dcterms:created xsi:type="dcterms:W3CDTF">2010-06-07T08:55:30Z</dcterms:created>
  <dcterms:modified xsi:type="dcterms:W3CDTF">2010-06-07T13:35:32Z</dcterms:modified>
</cp:coreProperties>
</file>