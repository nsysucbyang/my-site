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1" r:id="rId5"/>
    <p:sldId id="262" r:id="rId6"/>
    <p:sldId id="265" r:id="rId7"/>
    <p:sldId id="259" r:id="rId8"/>
    <p:sldId id="263" r:id="rId9"/>
    <p:sldId id="264" r:id="rId10"/>
    <p:sldId id="266" r:id="rId11"/>
    <p:sldId id="267" r:id="rId12"/>
    <p:sldId id="260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74827-CFF1-440E-A40D-4D73EBB216B8}" type="datetimeFigureOut">
              <a:rPr lang="zh-TW" altLang="en-US" smtClean="0"/>
              <a:pPr/>
              <a:t>2010/9/21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2CD51-F0E4-4D4D-B101-F30B42899F3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2CD51-F0E4-4D4D-B101-F30B42899F3A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2CD51-F0E4-4D4D-B101-F30B42899F3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2CD51-F0E4-4D4D-B101-F30B42899F3A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6E0D9-430A-4B17-92F9-6AD50819A6D2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2B946-3538-4D35-9AAB-B4A87FB895FC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68DC9-4FAB-461E-B70A-DB6CF8FF520D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C61E-42B6-4119-8D62-94447627D223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78058-2E51-4ED9-97B1-4C8A40922E4F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053-013E-4BF2-B0A5-E9B70E4E5458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C71C-7548-40F7-BB4E-66BA1B8F6F11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941C-870D-43C3-B8CF-CDDB9777A606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FE60F-074B-4AFD-87BD-9BF9B90F0448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2E41F-0CB2-4DC0-ABD8-F6DB1054EE13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2B42-2A1B-4B77-A1D2-E65C37E52F08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3A8A5-EED0-4123-B589-F701D8FC64AA}" type="datetime1">
              <a:rPr lang="zh-TW" altLang="en-US" smtClean="0"/>
              <a:t>2010/9/21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27940-80A4-4EDF-A52A-4B9C31CAFBD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en.wikipedia.org/wiki/Relative_Strength_Index" TargetMode="External"/><Relationship Id="rId7" Type="http://schemas.openxmlformats.org/officeDocument/2006/relationships/hyperlink" Target="http://en.wikipedia.org/wiki/Stochastic_oscilla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14282" y="142852"/>
            <a:ext cx="8715436" cy="1755777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cs typeface="Times New Roman" pitchFamily="18" charset="0"/>
              </a:rPr>
              <a:t>Investigating technical trading strategy via an multi-objective evolutionary platform</a:t>
            </a:r>
            <a:endParaRPr lang="zh-TW" altLang="en-US" sz="3600" dirty="0">
              <a:cs typeface="Times New Roman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51520" y="1772816"/>
            <a:ext cx="842968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400" dirty="0" smtClean="0">
                <a:cs typeface="Times New Roman" pitchFamily="18" charset="0"/>
              </a:rPr>
              <a:t>S.C. </a:t>
            </a:r>
            <a:r>
              <a:rPr lang="en-US" altLang="zh-TW" sz="2400" dirty="0" err="1" smtClean="0">
                <a:cs typeface="Times New Roman" pitchFamily="18" charset="0"/>
              </a:rPr>
              <a:t>Chiam</a:t>
            </a:r>
            <a:r>
              <a:rPr lang="en-US" altLang="zh-TW" sz="2400" dirty="0" smtClean="0">
                <a:cs typeface="Times New Roman" pitchFamily="18" charset="0"/>
              </a:rPr>
              <a:t>  (</a:t>
            </a:r>
            <a:r>
              <a:rPr lang="en-US" altLang="zh-TW" sz="2400" dirty="0" err="1" smtClean="0">
                <a:cs typeface="Times New Roman" pitchFamily="18" charset="0"/>
              </a:rPr>
              <a:t>Swee</a:t>
            </a:r>
            <a:r>
              <a:rPr lang="en-US" altLang="zh-TW" sz="2400" dirty="0" smtClean="0">
                <a:cs typeface="Times New Roman" pitchFamily="18" charset="0"/>
              </a:rPr>
              <a:t> Chiang </a:t>
            </a:r>
            <a:r>
              <a:rPr lang="en-US" altLang="zh-TW" sz="2400" dirty="0" err="1" smtClean="0">
                <a:cs typeface="Times New Roman" pitchFamily="18" charset="0"/>
              </a:rPr>
              <a:t>Chiam</a:t>
            </a:r>
            <a:r>
              <a:rPr lang="en-US" altLang="zh-TW" sz="2400" dirty="0" smtClean="0">
                <a:cs typeface="Times New Roman" pitchFamily="18" charset="0"/>
              </a:rPr>
              <a:t>), K.C. Tan (Kay Chen Tan, 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  <a:cs typeface="Times New Roman" pitchFamily="18" charset="0"/>
              </a:rPr>
              <a:t>陳家進</a:t>
            </a:r>
            <a:r>
              <a:rPr lang="en-US" altLang="zh-TW" sz="2400" dirty="0" smtClean="0">
                <a:cs typeface="Times New Roman" pitchFamily="18" charset="0"/>
              </a:rPr>
              <a:t>) , A. Al </a:t>
            </a:r>
            <a:r>
              <a:rPr lang="en-US" altLang="zh-TW" sz="2400" dirty="0" err="1" smtClean="0">
                <a:cs typeface="Times New Roman" pitchFamily="18" charset="0"/>
              </a:rPr>
              <a:t>Mamum</a:t>
            </a:r>
            <a:endParaRPr lang="en-US" altLang="zh-TW" sz="2400" dirty="0" smtClean="0"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2400" dirty="0" smtClean="0">
                <a:cs typeface="Times New Roman" pitchFamily="18" charset="0"/>
              </a:rPr>
              <a:t>Department of Electrical and Computer Engineering National University of Singapore</a:t>
            </a:r>
            <a:endParaRPr lang="zh-TW" altLang="en-US" sz="2400" dirty="0">
              <a:cs typeface="Times New Roman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51520" y="4365104"/>
            <a:ext cx="850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cs typeface="Times New Roman" pitchFamily="18" charset="0"/>
              </a:rPr>
              <a:t>Expert Systems with Applications, Vol. 36 (2009), pp. 10408-10423</a:t>
            </a:r>
            <a:endParaRPr lang="zh-TW" altLang="en-US" sz="2400" dirty="0">
              <a:cs typeface="Times New Roman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76056" y="5301208"/>
            <a:ext cx="371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Presenter: Hung-</a:t>
            </a:r>
            <a:r>
              <a:rPr lang="en-US" altLang="zh-TW" sz="2400" dirty="0" err="1" smtClean="0"/>
              <a:t>Hsin</a:t>
            </a:r>
            <a:r>
              <a:rPr lang="en-US" altLang="zh-TW" sz="2400" dirty="0" smtClean="0"/>
              <a:t> Chen</a:t>
            </a:r>
          </a:p>
          <a:p>
            <a:r>
              <a:rPr lang="en-US" altLang="zh-TW" sz="2400" dirty="0" smtClean="0"/>
              <a:t>Date: Sept. 21, 2010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071546"/>
            <a:ext cx="8715436" cy="5643602"/>
          </a:xfrm>
        </p:spPr>
        <p:txBody>
          <a:bodyPr>
            <a:normAutofit fontScale="70000" lnSpcReduction="20000"/>
          </a:bodyPr>
          <a:lstStyle/>
          <a:p>
            <a:pPr marL="0" algn="just">
              <a:buNone/>
            </a:pPr>
            <a:r>
              <a:rPr lang="en-US" altLang="zh-TW" sz="3400" dirty="0" smtClean="0"/>
              <a:t>Conventional approach in evolutionary technical trading strategies adopted the </a:t>
            </a:r>
            <a:r>
              <a:rPr lang="en-US" altLang="zh-TW" sz="3400" u="sng" dirty="0" smtClean="0"/>
              <a:t>raw excess returns</a:t>
            </a:r>
            <a:r>
              <a:rPr lang="en-US" altLang="zh-TW" sz="3400" dirty="0" smtClean="0"/>
              <a:t> as the sole performance measure, </a:t>
            </a:r>
            <a:r>
              <a:rPr lang="en-US" altLang="zh-TW" sz="3400" u="sng" dirty="0" smtClean="0"/>
              <a:t>without considering the associated risk involved.</a:t>
            </a:r>
            <a:r>
              <a:rPr lang="en-US" altLang="zh-TW" sz="3400" dirty="0" smtClean="0"/>
              <a:t> However, every individual has a different degree of risk averseness and thus different preferences between risk and returns. Acknowledging that these two factors are inherently conflicting in nature, this paper considers the multi-objective evolutionary optimization of technical trading strategies, which </a:t>
            </a:r>
            <a:r>
              <a:rPr lang="en-US" altLang="zh-TW" sz="3400" dirty="0" smtClean="0">
                <a:solidFill>
                  <a:srgbClr val="FF0000"/>
                </a:solidFill>
              </a:rPr>
              <a:t>involves the development of trading rules that are able to yield high returns at minimal risk. </a:t>
            </a:r>
            <a:r>
              <a:rPr lang="en-US" altLang="zh-TW" sz="3400" dirty="0" smtClean="0"/>
              <a:t>Popular technical indicators used commonly in real-world practices are used as the building blocks for the strategies, which allow the examination of their trading characteristics and behaviors on the multi-objective evolutionary platform. While the evolved Pareto front accurately depicts the inherent tradeoff between risk and returns, the experimental results suggest that </a:t>
            </a:r>
            <a:r>
              <a:rPr lang="en-US" altLang="zh-TW" sz="3400" u="sng" dirty="0" smtClean="0"/>
              <a:t>the positive correlation between the returns from the training data and test data</a:t>
            </a:r>
            <a:r>
              <a:rPr lang="en-US" altLang="zh-TW" sz="3400" dirty="0" smtClean="0"/>
              <a:t>, which is generally assumed in the single-objective approach of this optimization problem, </a:t>
            </a:r>
            <a:r>
              <a:rPr lang="en-US" altLang="zh-TW" sz="3400" u="sng" dirty="0" smtClean="0"/>
              <a:t>does not necessarily hold in all cases</a:t>
            </a:r>
            <a:r>
              <a:rPr lang="en-US" altLang="zh-TW" sz="3400" dirty="0" smtClean="0"/>
              <a:t>.</a:t>
            </a:r>
          </a:p>
          <a:p>
            <a:pPr algn="just">
              <a:buNone/>
            </a:pPr>
            <a:endParaRPr lang="zh-TW" altLang="en-US" sz="3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Technical trading strategies (TTS)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1520" y="1047362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Technical indicators </a:t>
            </a:r>
            <a:endParaRPr lang="zh-TW" altLang="en-US" sz="2000" dirty="0" smtClean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975354"/>
            <a:ext cx="3312368" cy="53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79410"/>
            <a:ext cx="7776864" cy="941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395536" y="2348880"/>
            <a:ext cx="79928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Note</a:t>
            </a:r>
            <a:r>
              <a:rPr lang="en-US" altLang="zh-TW" sz="2000" dirty="0" smtClean="0"/>
              <a:t>:</a:t>
            </a:r>
          </a:p>
          <a:p>
            <a:r>
              <a:rPr lang="en-US" altLang="zh-TW" sz="2000" dirty="0" smtClean="0"/>
              <a:t>1. P can refer to the closing, opening, highest, or lowest prices, volumes etc.</a:t>
            </a:r>
          </a:p>
          <a:p>
            <a:r>
              <a:rPr lang="en-US" altLang="zh-TW" sz="2000" dirty="0" smtClean="0"/>
              <a:t>2. D</a:t>
            </a:r>
            <a:r>
              <a:rPr lang="en-US" altLang="zh-TW" sz="2000" u="sng" dirty="0" smtClean="0"/>
              <a:t>aily trading period</a:t>
            </a:r>
            <a:r>
              <a:rPr lang="en-US" altLang="zh-TW" sz="2000" dirty="0" smtClean="0"/>
              <a:t> will be considered in this paper.</a:t>
            </a:r>
            <a:endParaRPr lang="zh-TW" altLang="en-US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861048"/>
            <a:ext cx="6513240" cy="1939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395536" y="3573016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Trading decision D is the combination of a set of </a:t>
            </a:r>
            <a:r>
              <a:rPr lang="en-US" altLang="zh-TW" sz="2000" i="1" dirty="0" smtClean="0">
                <a:solidFill>
                  <a:srgbClr val="0070C0"/>
                </a:solidFill>
              </a:rPr>
              <a:t>m</a:t>
            </a:r>
            <a:r>
              <a:rPr lang="en-US" altLang="zh-TW" sz="2000" dirty="0" smtClean="0">
                <a:solidFill>
                  <a:srgbClr val="0070C0"/>
                </a:solidFill>
              </a:rPr>
              <a:t> TI.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516216" y="4293096"/>
            <a:ext cx="248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where </a:t>
            </a:r>
            <a:br>
              <a:rPr lang="en-US" altLang="zh-TW" dirty="0" smtClean="0"/>
            </a:br>
            <a:r>
              <a:rPr lang="en-US" altLang="zh-TW" dirty="0" smtClean="0"/>
              <a:t>-1 &lt;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Sell_high</a:t>
            </a:r>
            <a:r>
              <a:rPr lang="en-US" altLang="zh-TW" dirty="0" smtClean="0"/>
              <a:t> &lt;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Sell_low</a:t>
            </a:r>
            <a:r>
              <a:rPr lang="en-US" altLang="zh-TW" dirty="0" smtClean="0"/>
              <a:t> &lt; 0  </a:t>
            </a:r>
            <a:br>
              <a:rPr lang="en-US" altLang="zh-TW" dirty="0" smtClean="0"/>
            </a:br>
            <a:r>
              <a:rPr lang="en-US" altLang="zh-TW" dirty="0" smtClean="0"/>
              <a:t>     &lt;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Buy_low</a:t>
            </a:r>
            <a:r>
              <a:rPr lang="en-US" altLang="zh-TW" dirty="0" smtClean="0"/>
              <a:t> &lt;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Buy_high</a:t>
            </a:r>
            <a:r>
              <a:rPr lang="en-US" altLang="zh-TW" dirty="0" smtClean="0"/>
              <a:t>&lt; 1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7544" y="5949280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Long (short) position: buy (sell) when the signal is strong buy (strong sell) and exit when the signal weakened to weak buy (weak sell) or worse.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Technical indicator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12776"/>
            <a:ext cx="2890664" cy="460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Moving average (MA)</a:t>
            </a:r>
            <a:endParaRPr lang="zh-TW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916832"/>
            <a:ext cx="3052589" cy="979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539552" y="3068960"/>
            <a:ext cx="8136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where </a:t>
            </a:r>
            <a:r>
              <a:rPr lang="en-US" altLang="zh-TW" sz="2000" i="1" dirty="0" smtClean="0"/>
              <a:t>p</a:t>
            </a:r>
            <a:r>
              <a:rPr lang="en-US" altLang="zh-TW" sz="2000" i="1" baseline="-25000" dirty="0" smtClean="0"/>
              <a:t>i</a:t>
            </a:r>
            <a:r>
              <a:rPr lang="en-US" altLang="zh-TW" sz="2000" dirty="0" smtClean="0"/>
              <a:t> and </a:t>
            </a:r>
            <a:r>
              <a:rPr lang="en-US" altLang="zh-TW" sz="2000" i="1" dirty="0" err="1" smtClean="0"/>
              <a:t>w</a:t>
            </a:r>
            <a:r>
              <a:rPr lang="en-US" altLang="zh-TW" sz="2000" i="1" baseline="-25000" dirty="0" err="1" smtClean="0"/>
              <a:t>i</a:t>
            </a:r>
            <a:r>
              <a:rPr lang="en-US" altLang="zh-TW" sz="2000" dirty="0" smtClean="0"/>
              <a:t> refers to the closing price and its corresponding weight at time </a:t>
            </a:r>
            <a:r>
              <a:rPr lang="en-US" altLang="zh-TW" sz="2000" i="1" dirty="0" err="1" smtClean="0"/>
              <a:t>i</a:t>
            </a:r>
            <a:r>
              <a:rPr lang="en-US" altLang="zh-TW" sz="2000" dirty="0" smtClean="0"/>
              <a:t>, while </a:t>
            </a:r>
            <a:r>
              <a:rPr lang="en-US" altLang="zh-TW" sz="2000" i="1" dirty="0" smtClean="0"/>
              <a:t>t</a:t>
            </a:r>
            <a:r>
              <a:rPr lang="en-US" altLang="zh-TW" sz="2000" dirty="0" smtClean="0"/>
              <a:t> and </a:t>
            </a:r>
            <a:r>
              <a:rPr lang="en-US" altLang="zh-TW" sz="2000" i="1" dirty="0" smtClean="0"/>
              <a:t>n</a:t>
            </a:r>
            <a:r>
              <a:rPr lang="en-US" altLang="zh-TW" sz="2000" dirty="0" smtClean="0"/>
              <a:t> denotes the current time and the length of the period considered, respectively.</a:t>
            </a:r>
            <a:endParaRPr lang="zh-TW" altLang="en-US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509120"/>
            <a:ext cx="8014370" cy="1021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圖說文字 7"/>
          <p:cNvSpPr/>
          <p:nvPr/>
        </p:nvSpPr>
        <p:spPr>
          <a:xfrm>
            <a:off x="6876256" y="4365104"/>
            <a:ext cx="1656184" cy="360040"/>
          </a:xfrm>
          <a:prstGeom prst="wedgeRoundRectCallout">
            <a:avLst>
              <a:gd name="adj1" fmla="val -39988"/>
              <a:gd name="adj2" fmla="val 7804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Golden cross</a:t>
            </a:r>
            <a:endParaRPr lang="zh-TW" altLang="en-US" dirty="0"/>
          </a:p>
        </p:txBody>
      </p:sp>
      <p:sp>
        <p:nvSpPr>
          <p:cNvPr id="9" name="圓角矩形圖說文字 8"/>
          <p:cNvSpPr/>
          <p:nvPr/>
        </p:nvSpPr>
        <p:spPr>
          <a:xfrm>
            <a:off x="7020272" y="5301208"/>
            <a:ext cx="1440160" cy="432048"/>
          </a:xfrm>
          <a:prstGeom prst="wedgeRoundRectCallout">
            <a:avLst>
              <a:gd name="adj1" fmla="val -57115"/>
              <a:gd name="adj2" fmla="val -36843"/>
              <a:gd name="adj3" fmla="val 16667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Death cross</a:t>
            </a:r>
            <a:endParaRPr lang="zh-TW" altLang="en-US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>
          <a:xfrm>
            <a:off x="179512" y="188640"/>
            <a:ext cx="3312368" cy="4606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Relative strength index (RSI)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620688"/>
            <a:ext cx="5545113" cy="746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539552" y="1340768"/>
            <a:ext cx="7992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where </a:t>
            </a:r>
            <a:r>
              <a:rPr lang="en-US" altLang="zh-TW" sz="2000" i="1" dirty="0" smtClean="0"/>
              <a:t>AG</a:t>
            </a:r>
            <a:r>
              <a:rPr lang="en-US" altLang="zh-TW" sz="2000" dirty="0" smtClean="0"/>
              <a:t> and </a:t>
            </a:r>
            <a:r>
              <a:rPr lang="en-US" altLang="zh-TW" sz="2000" i="1" dirty="0" smtClean="0"/>
              <a:t>AL</a:t>
            </a:r>
            <a:r>
              <a:rPr lang="en-US" altLang="zh-TW" sz="2000" dirty="0" smtClean="0"/>
              <a:t> are </a:t>
            </a:r>
            <a:r>
              <a:rPr lang="en-US" altLang="zh-TW" sz="2000" u="sng" dirty="0" smtClean="0"/>
              <a:t>average price gain </a:t>
            </a:r>
            <a:r>
              <a:rPr lang="en-US" altLang="zh-TW" sz="2000" dirty="0" smtClean="0"/>
              <a:t>and </a:t>
            </a:r>
            <a:r>
              <a:rPr lang="en-US" altLang="zh-TW" sz="2000" u="sng" dirty="0" smtClean="0"/>
              <a:t>price drop </a:t>
            </a:r>
            <a:r>
              <a:rPr lang="en-US" altLang="zh-TW" sz="2000" dirty="0" smtClean="0"/>
              <a:t>from the current time </a:t>
            </a:r>
            <a:r>
              <a:rPr lang="en-US" altLang="zh-TW" sz="2000" i="1" dirty="0" smtClean="0"/>
              <a:t>t</a:t>
            </a:r>
            <a:r>
              <a:rPr lang="en-US" altLang="zh-TW" sz="2000" dirty="0" smtClean="0"/>
              <a:t> to a backward period of length </a:t>
            </a:r>
            <a:r>
              <a:rPr lang="en-US" altLang="zh-TW" sz="2000" i="1" dirty="0" smtClean="0"/>
              <a:t>n</a:t>
            </a:r>
            <a:r>
              <a:rPr lang="en-US" altLang="zh-TW" sz="2000" dirty="0" smtClean="0"/>
              <a:t>.</a:t>
            </a:r>
            <a:endParaRPr lang="zh-TW" altLang="en-US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560" y="2056544"/>
            <a:ext cx="5472608" cy="1156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圖片 8" descr="RSI示意圖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56176" y="2103298"/>
            <a:ext cx="2620379" cy="118168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1520" y="3284984"/>
            <a:ext cx="26418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US" altLang="zh-TW" sz="2000" dirty="0" smtClean="0">
                <a:solidFill>
                  <a:schemeClr val="tx2">
                    <a:lumMod val="60000"/>
                    <a:lumOff val="40000"/>
                  </a:schemeClr>
                </a:solidFill>
                <a:hlinkClick r:id="rId7"/>
              </a:rPr>
              <a:t>Stochastic oscillator, KD</a:t>
            </a:r>
            <a:endParaRPr lang="zh-TW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7544" y="3717032"/>
            <a:ext cx="4839444" cy="2181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字方塊 9"/>
          <p:cNvSpPr txBox="1"/>
          <p:nvPr/>
        </p:nvSpPr>
        <p:spPr>
          <a:xfrm>
            <a:off x="4427984" y="3933056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Sometimes called raw stochastic value (RSV)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67544" y="5842337"/>
            <a:ext cx="7704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where </a:t>
            </a:r>
            <a:r>
              <a:rPr lang="en-US" altLang="zh-TW" sz="2000" i="1" dirty="0" smtClean="0"/>
              <a:t>CL </a:t>
            </a:r>
            <a:r>
              <a:rPr lang="en-US" altLang="zh-TW" sz="2000" dirty="0" smtClean="0"/>
              <a:t>is closing price, </a:t>
            </a:r>
            <a:r>
              <a:rPr lang="en-US" altLang="zh-TW" sz="2000" i="1" dirty="0" smtClean="0"/>
              <a:t>HH</a:t>
            </a:r>
            <a:r>
              <a:rPr lang="en-US" altLang="zh-TW" sz="2000" dirty="0" smtClean="0"/>
              <a:t> and </a:t>
            </a:r>
            <a:r>
              <a:rPr lang="en-US" altLang="zh-TW" sz="2000" i="1" dirty="0" smtClean="0"/>
              <a:t>LL</a:t>
            </a:r>
            <a:r>
              <a:rPr lang="en-US" altLang="zh-TW" sz="2000" dirty="0" smtClean="0"/>
              <a:t> are the price of a stock highest high and the price of a stock lowest low from the current time </a:t>
            </a:r>
            <a:r>
              <a:rPr lang="en-US" altLang="zh-TW" sz="2000" i="1" dirty="0" smtClean="0"/>
              <a:t>t</a:t>
            </a:r>
            <a:r>
              <a:rPr lang="en-US" altLang="zh-TW" sz="2000" dirty="0" smtClean="0"/>
              <a:t> to a backward period of length </a:t>
            </a:r>
            <a:r>
              <a:rPr lang="en-US" altLang="zh-TW" sz="2000" i="1" dirty="0" smtClean="0"/>
              <a:t>n</a:t>
            </a:r>
            <a:r>
              <a:rPr lang="en-US" altLang="zh-TW" sz="2000" dirty="0" smtClean="0"/>
              <a:t>.</a:t>
            </a:r>
            <a:endParaRPr lang="zh-TW" altLang="en-US" sz="2000" dirty="0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605140"/>
            <a:ext cx="4968552" cy="5704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 txBox="1">
            <a:spLocks/>
          </p:cNvSpPr>
          <p:nvPr/>
        </p:nvSpPr>
        <p:spPr>
          <a:xfrm>
            <a:off x="323528" y="-2738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Evolutionary TTS (ETTS)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259632" y="6381328"/>
            <a:ext cx="712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Goal: maximizing total returns and minimizing risk exposure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251520" y="243483"/>
            <a:ext cx="2890664" cy="460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Multiple objective</a:t>
            </a:r>
            <a:endParaRPr lang="zh-TW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077072"/>
            <a:ext cx="5976664" cy="81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7"/>
          <p:cNvSpPr txBox="1"/>
          <p:nvPr/>
        </p:nvSpPr>
        <p:spPr>
          <a:xfrm>
            <a:off x="539552" y="2348880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where </a:t>
            </a:r>
            <a:r>
              <a:rPr lang="en-US" altLang="zh-TW" sz="2000" i="1" dirty="0" smtClean="0"/>
              <a:t>T</a:t>
            </a:r>
            <a:r>
              <a:rPr lang="en-US" altLang="zh-TW" sz="2000" dirty="0" smtClean="0"/>
              <a:t> and n are the period of length and total number of trades, </a:t>
            </a:r>
            <a:r>
              <a:rPr lang="en-US" altLang="zh-TW" sz="2000" i="1" dirty="0" err="1" smtClean="0"/>
              <a:t>P</a:t>
            </a:r>
            <a:r>
              <a:rPr lang="en-US" altLang="zh-TW" sz="2000" i="1" baseline="-25000" dirty="0" err="1" smtClean="0"/>
              <a:t>i,entry</a:t>
            </a:r>
            <a:r>
              <a:rPr lang="en-US" altLang="zh-TW" sz="2000" dirty="0" smtClean="0"/>
              <a:t> and </a:t>
            </a:r>
            <a:r>
              <a:rPr lang="en-US" altLang="zh-TW" sz="2000" i="1" dirty="0" smtClean="0"/>
              <a:t>P</a:t>
            </a:r>
            <a:r>
              <a:rPr lang="en-US" altLang="zh-TW" sz="2000" i="1" baseline="-25000" dirty="0" smtClean="0"/>
              <a:t>i, exit</a:t>
            </a:r>
            <a:r>
              <a:rPr lang="en-US" altLang="zh-TW" sz="2000" dirty="0" smtClean="0"/>
              <a:t> are the prices at which the trading agent enters and exits the market, respectively for the </a:t>
            </a:r>
            <a:r>
              <a:rPr lang="en-US" altLang="zh-TW" sz="2000" i="1" dirty="0" err="1" smtClean="0"/>
              <a:t>i</a:t>
            </a:r>
            <a:r>
              <a:rPr lang="en-US" altLang="zh-TW" sz="2000" dirty="0" err="1" smtClean="0"/>
              <a:t>th</a:t>
            </a:r>
            <a:r>
              <a:rPr lang="en-US" altLang="zh-TW" sz="2000" dirty="0" smtClean="0"/>
              <a:t> trade, and the multiplier </a:t>
            </a:r>
            <a:r>
              <a:rPr lang="en-US" altLang="zh-TW" sz="2000" i="1" dirty="0" smtClean="0"/>
              <a:t>k</a:t>
            </a:r>
            <a:r>
              <a:rPr lang="en-US" altLang="zh-TW" sz="2000" dirty="0" smtClean="0"/>
              <a:t> is to adjust the returns to compensate for the different types of entries.</a:t>
            </a:r>
            <a:endParaRPr lang="zh-TW" altLang="en-US" sz="2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83568" y="4941168"/>
            <a:ext cx="7560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The risk is measured by the proportion of trading days when an open position is maintained in the market.</a:t>
            </a:r>
            <a:endParaRPr lang="zh-TW" altLang="en-US" sz="20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827584" y="603523"/>
            <a:ext cx="7992888" cy="1529333"/>
            <a:chOff x="827584" y="603523"/>
            <a:chExt cx="7992888" cy="152933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27584" y="603523"/>
              <a:ext cx="6076950" cy="145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圓角矩形圖說文字 8"/>
            <p:cNvSpPr/>
            <p:nvPr/>
          </p:nvSpPr>
          <p:spPr>
            <a:xfrm>
              <a:off x="5580112" y="1556792"/>
              <a:ext cx="3240360" cy="576064"/>
            </a:xfrm>
            <a:prstGeom prst="wedgeRoundRectCallout">
              <a:avLst>
                <a:gd name="adj1" fmla="val -47180"/>
                <a:gd name="adj2" fmla="val -105951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This part should be modified as K*(</a:t>
              </a:r>
              <a:r>
                <a:rPr lang="en-US" altLang="zh-TW" i="1" dirty="0" err="1" smtClean="0"/>
                <a:t>P</a:t>
              </a:r>
              <a:r>
                <a:rPr lang="en-US" altLang="zh-TW" i="1" baseline="-25000" dirty="0" err="1" smtClean="0"/>
                <a:t>i,exit</a:t>
              </a:r>
              <a:r>
                <a:rPr lang="en-US" altLang="zh-TW" i="1" dirty="0" smtClean="0"/>
                <a:t>/</a:t>
              </a:r>
              <a:r>
                <a:rPr lang="en-US" altLang="zh-TW" i="1" dirty="0" err="1" smtClean="0"/>
                <a:t>P</a:t>
              </a:r>
              <a:r>
                <a:rPr lang="en-US" altLang="zh-TW" i="1" baseline="-25000" dirty="0" err="1" smtClean="0"/>
                <a:t>i,entry</a:t>
              </a:r>
              <a:r>
                <a:rPr lang="en-US" altLang="zh-TW" dirty="0" smtClean="0"/>
                <a:t> -1)</a:t>
              </a:r>
              <a:endParaRPr lang="zh-TW" altLang="en-US" dirty="0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4860032" y="1124744"/>
              <a:ext cx="158417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624"/>
            <a:ext cx="5724128" cy="3031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 l="4194" r="7168"/>
          <a:stretch>
            <a:fillRect/>
          </a:stretch>
        </p:blipFill>
        <p:spPr bwMode="auto">
          <a:xfrm>
            <a:off x="6084168" y="2276872"/>
            <a:ext cx="2952328" cy="4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流程圖: 程序 8"/>
          <p:cNvSpPr/>
          <p:nvPr/>
        </p:nvSpPr>
        <p:spPr>
          <a:xfrm>
            <a:off x="5940152" y="3789040"/>
            <a:ext cx="2376264" cy="576064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圖說文字 9"/>
          <p:cNvSpPr/>
          <p:nvPr/>
        </p:nvSpPr>
        <p:spPr>
          <a:xfrm>
            <a:off x="1547664" y="2996952"/>
            <a:ext cx="4320480" cy="432048"/>
          </a:xfrm>
          <a:prstGeom prst="wedgeRoundRectCallout">
            <a:avLst>
              <a:gd name="adj1" fmla="val 54313"/>
              <a:gd name="adj2" fmla="val 12800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The weights of TIs in the trading decision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6084168" y="260648"/>
            <a:ext cx="2664296" cy="720080"/>
          </a:xfrm>
          <a:prstGeom prst="wedgeRoundRectCallout">
            <a:avLst>
              <a:gd name="adj1" fmla="val -75393"/>
              <a:gd name="adj2" fmla="val 9141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-1 &lt; </a:t>
            </a:r>
            <a:r>
              <a:rPr lang="en-US" altLang="zh-TW" dirty="0" err="1" smtClean="0">
                <a:solidFill>
                  <a:schemeClr val="tx1"/>
                </a:solidFill>
              </a:rPr>
              <a:t>T</a:t>
            </a:r>
            <a:r>
              <a:rPr lang="en-US" altLang="zh-TW" baseline="-25000" dirty="0" err="1" smtClean="0">
                <a:solidFill>
                  <a:schemeClr val="tx1"/>
                </a:solidFill>
              </a:rPr>
              <a:t>Sell_high</a:t>
            </a:r>
            <a:r>
              <a:rPr lang="en-US" altLang="zh-TW" dirty="0" smtClean="0">
                <a:solidFill>
                  <a:schemeClr val="tx1"/>
                </a:solidFill>
              </a:rPr>
              <a:t> &lt; </a:t>
            </a:r>
            <a:r>
              <a:rPr lang="en-US" altLang="zh-TW" dirty="0" err="1" smtClean="0">
                <a:solidFill>
                  <a:schemeClr val="tx1"/>
                </a:solidFill>
              </a:rPr>
              <a:t>T</a:t>
            </a:r>
            <a:r>
              <a:rPr lang="en-US" altLang="zh-TW" baseline="-25000" dirty="0" err="1" smtClean="0">
                <a:solidFill>
                  <a:schemeClr val="tx1"/>
                </a:solidFill>
              </a:rPr>
              <a:t>Sell_low</a:t>
            </a:r>
            <a:r>
              <a:rPr lang="en-US" altLang="zh-TW" dirty="0" smtClean="0">
                <a:solidFill>
                  <a:schemeClr val="tx1"/>
                </a:solidFill>
              </a:rPr>
              <a:t> &lt; 0 </a:t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     &lt; </a:t>
            </a:r>
            <a:r>
              <a:rPr lang="en-US" altLang="zh-TW" dirty="0" err="1" smtClean="0">
                <a:solidFill>
                  <a:schemeClr val="tx1"/>
                </a:solidFill>
              </a:rPr>
              <a:t>T</a:t>
            </a:r>
            <a:r>
              <a:rPr lang="en-US" altLang="zh-TW" baseline="-25000" dirty="0" err="1" smtClean="0">
                <a:solidFill>
                  <a:schemeClr val="tx1"/>
                </a:solidFill>
              </a:rPr>
              <a:t>Buy_low</a:t>
            </a:r>
            <a:r>
              <a:rPr lang="en-US" altLang="zh-TW" dirty="0" smtClean="0">
                <a:solidFill>
                  <a:schemeClr val="tx1"/>
                </a:solidFill>
              </a:rPr>
              <a:t> &lt; </a:t>
            </a:r>
            <a:r>
              <a:rPr lang="en-US" altLang="zh-TW" dirty="0" err="1" smtClean="0">
                <a:solidFill>
                  <a:schemeClr val="tx1"/>
                </a:solidFill>
              </a:rPr>
              <a:t>T</a:t>
            </a:r>
            <a:r>
              <a:rPr lang="en-US" altLang="zh-TW" baseline="-25000" dirty="0" err="1" smtClean="0">
                <a:solidFill>
                  <a:schemeClr val="tx1"/>
                </a:solidFill>
              </a:rPr>
              <a:t>Buy_high</a:t>
            </a:r>
            <a:r>
              <a:rPr lang="en-US" altLang="zh-TW" dirty="0" smtClean="0">
                <a:solidFill>
                  <a:schemeClr val="tx1"/>
                </a:solidFill>
              </a:rPr>
              <a:t> &lt; 1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3645023"/>
            <a:ext cx="5328592" cy="299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"/>
            <a:ext cx="7452320" cy="480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405" y="4841776"/>
            <a:ext cx="8996595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圖說文字 7"/>
          <p:cNvSpPr/>
          <p:nvPr/>
        </p:nvSpPr>
        <p:spPr>
          <a:xfrm>
            <a:off x="5724128" y="4581128"/>
            <a:ext cx="1944216" cy="432048"/>
          </a:xfrm>
          <a:prstGeom prst="wedgeRoundRectCallout">
            <a:avLst>
              <a:gd name="adj1" fmla="val -112443"/>
              <a:gd name="adj2" fmla="val 5040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Risk exposure</a:t>
            </a:r>
            <a:endParaRPr lang="zh-TW" altLang="en-US" sz="20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022722" cy="2852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2946258"/>
            <a:ext cx="4752528" cy="3911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1043608" y="33265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Buy signal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948264" y="18864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Buy signal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995936" y="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Buy signal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87624" y="134076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Sell signal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5936" y="14847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Sell signal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76256" y="162880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Sell signal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9952" y="69269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Hold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092280" y="83671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Hold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572000" y="3429000"/>
            <a:ext cx="43924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sz="2000" dirty="0" smtClean="0"/>
              <a:t>For simplicity, the trading environment is discrete and deterministic liquid market, where </a:t>
            </a:r>
            <a:r>
              <a:rPr lang="en-US" altLang="zh-TW" sz="2000" dirty="0" smtClean="0">
                <a:solidFill>
                  <a:srgbClr val="00B0F0"/>
                </a:solidFill>
              </a:rPr>
              <a:t>the price is unaffected by the agents’ actions.</a:t>
            </a:r>
            <a:endParaRPr lang="en-US" altLang="zh-TW" sz="2000" dirty="0" smtClean="0"/>
          </a:p>
          <a:p>
            <a:pPr algn="just"/>
            <a:endParaRPr lang="en-US" altLang="zh-TW" sz="2000" dirty="0" smtClean="0">
              <a:solidFill>
                <a:srgbClr val="00B0F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altLang="zh-TW" sz="2000" dirty="0" smtClean="0"/>
              <a:t>Each transaction consists </a:t>
            </a:r>
            <a:r>
              <a:rPr lang="en-US" altLang="zh-TW" sz="2000" dirty="0" smtClean="0">
                <a:solidFill>
                  <a:srgbClr val="00B0F0"/>
                </a:solidFill>
              </a:rPr>
              <a:t>0.5% </a:t>
            </a:r>
            <a:r>
              <a:rPr lang="en-US" altLang="zh-TW" sz="2000" dirty="0" smtClean="0"/>
              <a:t>transaction fee.</a:t>
            </a:r>
            <a:endParaRPr lang="zh-TW" altLang="en-US" sz="2000" dirty="0"/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67544" y="0"/>
            <a:ext cx="8352928" cy="1143000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solidFill>
                  <a:srgbClr val="0070C0"/>
                </a:solidFill>
              </a:rPr>
              <a:t>Pareto fitness ranking</a:t>
            </a:r>
            <a:endParaRPr lang="zh-TW" altLang="en-US" sz="3600" dirty="0">
              <a:solidFill>
                <a:srgbClr val="0070C0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764704"/>
            <a:ext cx="2880320" cy="2446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1124744"/>
            <a:ext cx="2808312" cy="60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文字方塊 11"/>
          <p:cNvSpPr txBox="1"/>
          <p:nvPr/>
        </p:nvSpPr>
        <p:spPr>
          <a:xfrm>
            <a:off x="3995936" y="1916832"/>
            <a:ext cx="46805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Rank of  solution </a:t>
            </a:r>
            <a:r>
              <a:rPr lang="en-US" altLang="zh-TW" sz="2000" i="1" dirty="0" err="1" smtClean="0"/>
              <a:t>i</a:t>
            </a:r>
            <a:r>
              <a:rPr lang="en-US" altLang="zh-TW" sz="2000" dirty="0" smtClean="0"/>
              <a:t> in the population, where </a:t>
            </a:r>
            <a:r>
              <a:rPr lang="en-US" altLang="zh-TW" sz="2000" dirty="0" err="1" smtClean="0"/>
              <a:t>n</a:t>
            </a:r>
            <a:r>
              <a:rPr lang="en-US" altLang="zh-TW" sz="2000" i="1" baseline="-25000" dirty="0" err="1" smtClean="0"/>
              <a:t>i</a:t>
            </a:r>
            <a:r>
              <a:rPr lang="en-US" altLang="zh-TW" sz="2000" dirty="0" smtClean="0"/>
              <a:t> is the number of ETTS dominating the </a:t>
            </a:r>
            <a:r>
              <a:rPr lang="en-US" altLang="zh-TW" sz="2000" i="1" dirty="0" err="1" smtClean="0"/>
              <a:t>i</a:t>
            </a:r>
            <a:r>
              <a:rPr lang="en-US" altLang="zh-TW" sz="2000" dirty="0" err="1" smtClean="0"/>
              <a:t>th</a:t>
            </a:r>
            <a:r>
              <a:rPr lang="en-US" altLang="zh-TW" sz="2000" dirty="0" smtClean="0"/>
              <a:t> ETTS in the population pool.</a:t>
            </a:r>
            <a:endParaRPr lang="zh-TW" altLang="en-US" sz="2000" dirty="0"/>
          </a:p>
        </p:txBody>
      </p:sp>
      <p:sp>
        <p:nvSpPr>
          <p:cNvPr id="13" name="標題 7"/>
          <p:cNvSpPr txBox="1">
            <a:spLocks/>
          </p:cNvSpPr>
          <p:nvPr/>
        </p:nvSpPr>
        <p:spPr>
          <a:xfrm>
            <a:off x="395536" y="2996952"/>
            <a:ext cx="83529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Operators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347864" y="3861048"/>
            <a:ext cx="56166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No variation operators in this paper.</a:t>
            </a:r>
          </a:p>
          <a:p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00B0F0"/>
                </a:solidFill>
              </a:rPr>
              <a:t>Trade-exchange crossover operator.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Indicator level: removing an existing TI or  a random TI is added.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Parameter level: TI’s parameters are subjected to Gaussian mutation.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Threshold level: threshold value are subjected to Gaussian mutation.</a:t>
            </a:r>
            <a:endParaRPr lang="zh-TW" altLang="en-US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3933056"/>
            <a:ext cx="2653709" cy="2924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196752"/>
            <a:ext cx="8640960" cy="748680"/>
          </a:xfrm>
        </p:spPr>
        <p:txBody>
          <a:bodyPr>
            <a:noAutofit/>
          </a:bodyPr>
          <a:lstStyle/>
          <a:p>
            <a:r>
              <a:rPr lang="en-US" altLang="zh-TW" sz="2000" dirty="0" smtClean="0"/>
              <a:t>Daily trading data of the Straits times Index (STI, Singapore)</a:t>
            </a:r>
          </a:p>
          <a:p>
            <a:r>
              <a:rPr lang="en-US" altLang="zh-TW" sz="2000" dirty="0" smtClean="0"/>
              <a:t>Total 3368 trading days were considered from 11-08-1992 to 30-12-2005.</a:t>
            </a:r>
          </a:p>
          <a:p>
            <a:endParaRPr lang="en-US" altLang="zh-TW" sz="20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88840"/>
            <a:ext cx="563696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4560590"/>
            <a:ext cx="5184576" cy="229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7272"/>
            <a:ext cx="4355976" cy="3709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1043608" y="260648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solidFill>
                  <a:srgbClr val="0070C0"/>
                </a:solidFill>
              </a:rPr>
              <a:t>From 02-01-2002 to 30-12-2005</a:t>
            </a:r>
            <a:endParaRPr lang="zh-TW" altLang="en-US" sz="1600" dirty="0">
              <a:solidFill>
                <a:srgbClr val="0070C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98479"/>
            <a:ext cx="4485447" cy="347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6444208" y="1556792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solidFill>
                  <a:schemeClr val="accent6">
                    <a:lumMod val="50000"/>
                  </a:schemeClr>
                </a:solidFill>
              </a:rPr>
              <a:t>The total return of the buy-and-hold strategy is 44%.</a:t>
            </a:r>
            <a:endParaRPr lang="zh-TW" alt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6512" y="3610808"/>
            <a:ext cx="9144000" cy="324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圓角矩形圖說文字 8"/>
          <p:cNvSpPr/>
          <p:nvPr/>
        </p:nvSpPr>
        <p:spPr>
          <a:xfrm>
            <a:off x="2519264" y="5311616"/>
            <a:ext cx="1368152" cy="360040"/>
          </a:xfrm>
          <a:prstGeom prst="wedgeRoundRectCallout">
            <a:avLst>
              <a:gd name="adj1" fmla="val 51155"/>
              <a:gd name="adj2" fmla="val -133199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Lack of solutions here</a:t>
            </a:r>
            <a:endParaRPr lang="zh-TW" altLang="en-US" sz="1400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0"/>
            <a:ext cx="7668344" cy="5820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467544" y="5805264"/>
            <a:ext cx="8676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Coverage function (C):</a:t>
            </a:r>
          </a:p>
          <a:p>
            <a:r>
              <a:rPr lang="en-US" altLang="zh-TW" dirty="0" smtClean="0"/>
              <a:t>C(A, B) = 1 means all the points in B are dominated by, or equal to the points in A.</a:t>
            </a:r>
          </a:p>
          <a:p>
            <a:r>
              <a:rPr lang="en-US" altLang="zh-TW" dirty="0" smtClean="0"/>
              <a:t>C(A, B) = 0 means none of the points in B are covered by the set A.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940152" y="4293096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Hybrid combinations are better than individual TIs.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1560" y="4293096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RSI is the best TI in individual TIs.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8640"/>
            <a:ext cx="6577930" cy="57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96752"/>
            <a:ext cx="447340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683568" y="494116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20 experimental runs</a:t>
            </a:r>
          </a:p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D2 was able to diversify over a larger area of the objective but most of its solutions were dominated by RSI in the low risk-returns regions.</a:t>
            </a:r>
            <a:endParaRPr lang="zh-TW" alt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5976" y="1052736"/>
            <a:ext cx="4608512" cy="3447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8640"/>
            <a:ext cx="7272808" cy="5742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827584" y="5949280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RSI does not have  a stable trend because the solutions generated by RSI are concentrated in the low risk regions.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89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4005064"/>
            <a:ext cx="8820472" cy="2664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56792"/>
            <a:ext cx="8964488" cy="2796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Correlation analysis between training and test performance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352928" cy="372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359024" y="5373216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Positive returns in the training data do not necessarily correspond to positive returns in the test data.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24" y="548680"/>
            <a:ext cx="8316416" cy="627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971600" y="260648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Training Return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87824" y="260648"/>
            <a:ext cx="10963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Training Risk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76056" y="260648"/>
            <a:ext cx="1012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Test Return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20471" y="260648"/>
            <a:ext cx="8079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Test Risk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059832" y="1412776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70C0"/>
                </a:solidFill>
              </a:rPr>
              <a:t>Obvious tradeoff</a:t>
            </a:r>
            <a:endParaRPr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308304" y="3573016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chemeClr val="accent6">
                    <a:lumMod val="75000"/>
                  </a:schemeClr>
                </a:solidFill>
              </a:rPr>
              <a:t>Noisy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68144" y="98072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chemeClr val="accent6">
                    <a:lumMod val="75000"/>
                  </a:schemeClr>
                </a:solidFill>
              </a:rPr>
              <a:t>Low correlation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092280" y="2132856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Positive correlation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32656"/>
            <a:ext cx="7272808" cy="5764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467544" y="116632"/>
            <a:ext cx="8229600" cy="4766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Generalization performance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060848"/>
            <a:ext cx="6984776" cy="3924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395536" y="764704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Experiment period: from 1995 to 2005</a:t>
            </a:r>
          </a:p>
          <a:p>
            <a:pPr>
              <a:buFont typeface="Arial" pitchFamily="34" charset="0"/>
              <a:buChar char="•"/>
            </a:pPr>
            <a:r>
              <a:rPr lang="en-US" altLang="zh-TW" dirty="0" smtClean="0"/>
              <a:t>100 days prior to the first trading day of the training set were also included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85113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356992"/>
            <a:ext cx="7560840" cy="3317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23528" y="2924944"/>
            <a:ext cx="8496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800" dirty="0" smtClean="0"/>
              <a:t>Thank you!!</a:t>
            </a:r>
            <a:endParaRPr lang="zh-TW" altLang="en-US" sz="88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7940-80A4-4EDF-A52A-4B9C31CAFBDE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960</Words>
  <Application>Microsoft Office PowerPoint</Application>
  <PresentationFormat>如螢幕大小 (4:3)</PresentationFormat>
  <Paragraphs>109</Paragraphs>
  <Slides>24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Office 佈景主題</vt:lpstr>
      <vt:lpstr>Investigating technical trading strategy via an multi-objective evolutionary platform</vt:lpstr>
      <vt:lpstr>Abstract</vt:lpstr>
      <vt:lpstr>Technical trading strategies (TTS)</vt:lpstr>
      <vt:lpstr>Technical indicator</vt:lpstr>
      <vt:lpstr>投影片 5</vt:lpstr>
      <vt:lpstr>投影片 6</vt:lpstr>
      <vt:lpstr>投影片 7</vt:lpstr>
      <vt:lpstr>投影片 8</vt:lpstr>
      <vt:lpstr>投影片 9</vt:lpstr>
      <vt:lpstr>投影片 10</vt:lpstr>
      <vt:lpstr>Pareto fitness ranking</vt:lpstr>
      <vt:lpstr>Experimental results</vt:lpstr>
      <vt:lpstr>投影片 13</vt:lpstr>
      <vt:lpstr>投影片 14</vt:lpstr>
      <vt:lpstr>投影片 15</vt:lpstr>
      <vt:lpstr>投影片 16</vt:lpstr>
      <vt:lpstr>投影片 17</vt:lpstr>
      <vt:lpstr>投影片 18</vt:lpstr>
      <vt:lpstr>Correlation analysis between training and test performance</vt:lpstr>
      <vt:lpstr>投影片 20</vt:lpstr>
      <vt:lpstr>投影片 21</vt:lpstr>
      <vt:lpstr>投影片 22</vt:lpstr>
      <vt:lpstr>投影片 23</vt:lpstr>
      <vt:lpstr>投影片 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technical trading strategy via an multi-objective evolutionary platform</dc:title>
  <dc:creator>chenhh</dc:creator>
  <cp:lastModifiedBy>par67vm</cp:lastModifiedBy>
  <cp:revision>184</cp:revision>
  <dcterms:created xsi:type="dcterms:W3CDTF">2010-08-26T02:02:11Z</dcterms:created>
  <dcterms:modified xsi:type="dcterms:W3CDTF">2010-09-21T09:11:30Z</dcterms:modified>
</cp:coreProperties>
</file>