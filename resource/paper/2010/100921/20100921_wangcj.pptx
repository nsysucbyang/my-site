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2" d="100"/>
          <a:sy n="102" d="100"/>
        </p:scale>
        <p:origin x="-234"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2010/9/21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2010/9/21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2010/9/21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2010/9/21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5BBEAD13-0566-4C6C-97E7-55F17F24B09F}" type="datetimeFigureOut">
              <a:rPr lang="zh-TW" altLang="en-US" smtClean="0"/>
              <a:pPr/>
              <a:t>2010/9/21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5BBEAD13-0566-4C6C-97E7-55F17F24B09F}" type="datetimeFigureOut">
              <a:rPr lang="zh-TW" altLang="en-US" smtClean="0"/>
              <a:pPr/>
              <a:t>2010/9/21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BBEAD13-0566-4C6C-97E7-55F17F24B09F}" type="datetimeFigureOut">
              <a:rPr lang="zh-TW" altLang="en-US" smtClean="0"/>
              <a:pPr/>
              <a:t>2010/9/21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2010/9/21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2010/9/21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2010/9/21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2010/9/21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EAD13-0566-4C6C-97E7-55F17F24B09F}" type="datetimeFigureOut">
              <a:rPr lang="zh-TW" altLang="en-US" smtClean="0"/>
              <a:pPr/>
              <a:t>2010/9/21</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Autofit/>
          </a:bodyPr>
          <a:lstStyle/>
          <a:p>
            <a:r>
              <a:rPr lang="en-US" altLang="zh-TW" sz="3600" dirty="0" smtClean="0">
                <a:latin typeface="Times New Roman" pitchFamily="18" charset="0"/>
                <a:cs typeface="Times New Roman" pitchFamily="18" charset="0"/>
              </a:rPr>
              <a:t>Improving the Accuracy of Predicting Disulfide Connectivity by Feature Selection</a:t>
            </a:r>
            <a:endParaRPr lang="zh-TW" altLang="en-US" sz="3600" dirty="0">
              <a:latin typeface="Times New Roman" pitchFamily="18" charset="0"/>
              <a:cs typeface="Times New Roman" pitchFamily="18" charset="0"/>
            </a:endParaRPr>
          </a:p>
        </p:txBody>
      </p:sp>
      <p:sp>
        <p:nvSpPr>
          <p:cNvPr id="3" name="副標題 2"/>
          <p:cNvSpPr>
            <a:spLocks noGrp="1"/>
          </p:cNvSpPr>
          <p:nvPr>
            <p:ph type="subTitle" idx="1"/>
          </p:nvPr>
        </p:nvSpPr>
        <p:spPr/>
        <p:txBody>
          <a:bodyPr>
            <a:normAutofit/>
          </a:bodyPr>
          <a:lstStyle/>
          <a:p>
            <a:r>
              <a:rPr lang="en-US" altLang="zh-TW" sz="1800" dirty="0" smtClean="0">
                <a:solidFill>
                  <a:schemeClr val="tx1"/>
                </a:solidFill>
                <a:latin typeface="Times New Roman" pitchFamily="18" charset="0"/>
                <a:cs typeface="Times New Roman" pitchFamily="18" charset="0"/>
              </a:rPr>
              <a:t>LIN ZHU, JIE YANG, JIANG-NING SONG, KUO-CHEN CHOU, HONG-BIN SHEN</a:t>
            </a:r>
          </a:p>
          <a:p>
            <a:r>
              <a:rPr lang="en-US" altLang="zh-TW" sz="1800" dirty="0" smtClean="0">
                <a:solidFill>
                  <a:schemeClr val="tx1"/>
                </a:solidFill>
                <a:latin typeface="Times New Roman" pitchFamily="18" charset="0"/>
                <a:cs typeface="Times New Roman" pitchFamily="18" charset="0"/>
              </a:rPr>
              <a:t>J </a:t>
            </a:r>
            <a:r>
              <a:rPr lang="en-US" altLang="zh-TW" sz="1800" dirty="0" err="1" smtClean="0">
                <a:solidFill>
                  <a:schemeClr val="tx1"/>
                </a:solidFill>
                <a:latin typeface="Times New Roman" pitchFamily="18" charset="0"/>
                <a:cs typeface="Times New Roman" pitchFamily="18" charset="0"/>
              </a:rPr>
              <a:t>Comput</a:t>
            </a:r>
            <a:r>
              <a:rPr lang="en-US" altLang="zh-TW" sz="1800" dirty="0" smtClean="0">
                <a:solidFill>
                  <a:schemeClr val="tx1"/>
                </a:solidFill>
                <a:latin typeface="Times New Roman" pitchFamily="18" charset="0"/>
                <a:cs typeface="Times New Roman" pitchFamily="18" charset="0"/>
              </a:rPr>
              <a:t> </a:t>
            </a:r>
            <a:r>
              <a:rPr lang="en-US" altLang="zh-TW" sz="1800" dirty="0" err="1" smtClean="0">
                <a:solidFill>
                  <a:schemeClr val="tx1"/>
                </a:solidFill>
                <a:latin typeface="Times New Roman" pitchFamily="18" charset="0"/>
                <a:cs typeface="Times New Roman" pitchFamily="18" charset="0"/>
              </a:rPr>
              <a:t>Chem</a:t>
            </a:r>
            <a:r>
              <a:rPr lang="en-US" altLang="zh-TW" sz="1800" dirty="0" smtClean="0">
                <a:solidFill>
                  <a:schemeClr val="tx1"/>
                </a:solidFill>
                <a:latin typeface="Times New Roman" pitchFamily="18" charset="0"/>
                <a:cs typeface="Times New Roman" pitchFamily="18" charset="0"/>
              </a:rPr>
              <a:t> 31: 1478–1485, 2010</a:t>
            </a:r>
          </a:p>
          <a:p>
            <a:pPr>
              <a:lnSpc>
                <a:spcPct val="80000"/>
              </a:lnSpc>
            </a:pPr>
            <a:r>
              <a:rPr lang="en-US" altLang="zh-TW" sz="1800" dirty="0" smtClean="0">
                <a:solidFill>
                  <a:schemeClr val="tx1"/>
                </a:solidFill>
                <a:latin typeface="Times New Roman" pitchFamily="18" charset="0"/>
                <a:cs typeface="Times New Roman" pitchFamily="18" charset="0"/>
              </a:rPr>
              <a:t>Speaker: Chong-</a:t>
            </a:r>
            <a:r>
              <a:rPr lang="en-US" altLang="zh-TW" sz="1800" dirty="0" err="1" smtClean="0">
                <a:solidFill>
                  <a:schemeClr val="tx1"/>
                </a:solidFill>
                <a:latin typeface="Times New Roman" pitchFamily="18" charset="0"/>
                <a:cs typeface="Times New Roman" pitchFamily="18" charset="0"/>
              </a:rPr>
              <a:t>Jie</a:t>
            </a:r>
            <a:r>
              <a:rPr lang="en-US" altLang="zh-TW" sz="1800" dirty="0" smtClean="0">
                <a:solidFill>
                  <a:schemeClr val="tx1"/>
                </a:solidFill>
                <a:latin typeface="Times New Roman" pitchFamily="18" charset="0"/>
                <a:cs typeface="Times New Roman" pitchFamily="18" charset="0"/>
              </a:rPr>
              <a:t> Wang</a:t>
            </a:r>
          </a:p>
          <a:p>
            <a:pPr>
              <a:lnSpc>
                <a:spcPct val="80000"/>
              </a:lnSpc>
            </a:pPr>
            <a:r>
              <a:rPr lang="en-US" altLang="zh-TW" sz="1800" dirty="0" smtClean="0">
                <a:solidFill>
                  <a:schemeClr val="tx1"/>
                </a:solidFill>
                <a:latin typeface="Times New Roman" pitchFamily="18" charset="0"/>
                <a:cs typeface="Times New Roman" pitchFamily="18" charset="0"/>
              </a:rPr>
              <a:t>Date: August 16, 2010</a:t>
            </a:r>
          </a:p>
          <a:p>
            <a:endParaRPr lang="zh-TW" altLang="en-US" sz="1800"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cs typeface="Times New Roman" pitchFamily="18" charset="0"/>
              </a:rPr>
              <a:t>Abstract(1/3)</a:t>
            </a:r>
            <a:endParaRPr lang="zh-TW" altLang="en-US" dirty="0"/>
          </a:p>
        </p:txBody>
      </p:sp>
      <p:sp>
        <p:nvSpPr>
          <p:cNvPr id="3" name="內容版面配置區 2"/>
          <p:cNvSpPr>
            <a:spLocks noGrp="1"/>
          </p:cNvSpPr>
          <p:nvPr>
            <p:ph idx="1"/>
          </p:nvPr>
        </p:nvSpPr>
        <p:spPr/>
        <p:txBody>
          <a:bodyPr>
            <a:normAutofit fontScale="92500" lnSpcReduction="20000"/>
          </a:bodyPr>
          <a:lstStyle/>
          <a:p>
            <a:r>
              <a:rPr lang="en-US" altLang="zh-TW" dirty="0" smtClean="0">
                <a:latin typeface="Times New Roman" pitchFamily="18" charset="0"/>
                <a:cs typeface="Times New Roman" pitchFamily="18" charset="0"/>
              </a:rPr>
              <a:t>Disulfide bonds are primary covalent cross-links formed between two </a:t>
            </a:r>
            <a:r>
              <a:rPr lang="en-US" altLang="zh-TW" dirty="0" err="1" smtClean="0">
                <a:latin typeface="Times New Roman" pitchFamily="18" charset="0"/>
                <a:cs typeface="Times New Roman" pitchFamily="18" charset="0"/>
              </a:rPr>
              <a:t>cysteine</a:t>
            </a:r>
            <a:r>
              <a:rPr lang="en-US" altLang="zh-TW" dirty="0" smtClean="0">
                <a:latin typeface="Times New Roman" pitchFamily="18" charset="0"/>
                <a:cs typeface="Times New Roman" pitchFamily="18" charset="0"/>
              </a:rPr>
              <a:t> residues in the same or different protein polypeptide chains, which play important roles in the folding and stability of proteins. However, computational prediction of disulfide connectivity directly from protein primary sequences is challenging due to the nonlocal nature of disulfide bonds in the context of sequences, and the number of possible disulfide patterns grows exponentially when the number of </a:t>
            </a:r>
            <a:r>
              <a:rPr lang="en-US" altLang="zh-TW" dirty="0" err="1" smtClean="0">
                <a:latin typeface="Times New Roman" pitchFamily="18" charset="0"/>
                <a:cs typeface="Times New Roman" pitchFamily="18" charset="0"/>
              </a:rPr>
              <a:t>cysteine</a:t>
            </a:r>
            <a:r>
              <a:rPr lang="en-US" altLang="zh-TW" dirty="0" smtClean="0">
                <a:latin typeface="Times New Roman" pitchFamily="18" charset="0"/>
                <a:cs typeface="Times New Roman" pitchFamily="18" charset="0"/>
              </a:rPr>
              <a:t> residues increases. </a:t>
            </a:r>
            <a:endParaRPr lang="zh-TW" altLang="en-US"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cs typeface="Times New Roman" pitchFamily="18" charset="0"/>
              </a:rPr>
              <a:t>Abstract(2/3)</a:t>
            </a:r>
            <a:endParaRPr lang="zh-TW" altLang="en-US" dirty="0"/>
          </a:p>
        </p:txBody>
      </p:sp>
      <p:sp>
        <p:nvSpPr>
          <p:cNvPr id="3" name="內容版面配置區 2"/>
          <p:cNvSpPr>
            <a:spLocks noGrp="1"/>
          </p:cNvSpPr>
          <p:nvPr>
            <p:ph idx="1"/>
          </p:nvPr>
        </p:nvSpPr>
        <p:spPr/>
        <p:txBody>
          <a:bodyPr>
            <a:normAutofit fontScale="92500" lnSpcReduction="20000"/>
          </a:bodyPr>
          <a:lstStyle/>
          <a:p>
            <a:r>
              <a:rPr lang="en-US" altLang="zh-TW" dirty="0" smtClean="0">
                <a:latin typeface="Times New Roman" pitchFamily="18" charset="0"/>
                <a:cs typeface="Times New Roman" pitchFamily="18" charset="0"/>
              </a:rPr>
              <a:t>In the previous studies, disulfide connectivity prediction was usually performed in high-dimensional feature space, which can cause a variety of problems in statistical learning, such as the dimension disaster, </a:t>
            </a:r>
            <a:r>
              <a:rPr lang="en-US" altLang="zh-TW" dirty="0" err="1" smtClean="0">
                <a:latin typeface="Times New Roman" pitchFamily="18" charset="0"/>
                <a:cs typeface="Times New Roman" pitchFamily="18" charset="0"/>
              </a:rPr>
              <a:t>overfitting</a:t>
            </a:r>
            <a:r>
              <a:rPr lang="en-US" altLang="zh-TW" dirty="0" smtClean="0">
                <a:latin typeface="Times New Roman" pitchFamily="18" charset="0"/>
                <a:cs typeface="Times New Roman" pitchFamily="18" charset="0"/>
              </a:rPr>
              <a:t>, and feature redundancy. In this study, we propose an efficient feature selection technique for analyzing the importance of each feature component. On the basis of this approach, we selected the most important features for predicting the connectivity pattern of intra-chain disulfide bonds. </a:t>
            </a:r>
            <a:endParaRPr lang="zh-TW" altLang="en-US"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cs typeface="Times New Roman" pitchFamily="18" charset="0"/>
              </a:rPr>
              <a:t>Abstract(3/3)</a:t>
            </a:r>
            <a:endParaRPr lang="zh-TW" altLang="en-US" dirty="0"/>
          </a:p>
        </p:txBody>
      </p:sp>
      <p:sp>
        <p:nvSpPr>
          <p:cNvPr id="3" name="內容版面配置區 2"/>
          <p:cNvSpPr>
            <a:spLocks noGrp="1"/>
          </p:cNvSpPr>
          <p:nvPr>
            <p:ph idx="1"/>
          </p:nvPr>
        </p:nvSpPr>
        <p:spPr/>
        <p:txBody>
          <a:bodyPr>
            <a:normAutofit fontScale="92500" lnSpcReduction="20000"/>
          </a:bodyPr>
          <a:lstStyle/>
          <a:p>
            <a:r>
              <a:rPr lang="en-US" altLang="zh-TW" dirty="0" smtClean="0">
                <a:latin typeface="Times New Roman" pitchFamily="18" charset="0"/>
                <a:cs typeface="Times New Roman" pitchFamily="18" charset="0"/>
              </a:rPr>
              <a:t>Our results have shown that the high-dimensional features contain redundant information, and the prediction performance can be further improved when these high-dimensional features are reduced to a lower but more compact dimensional space. Our results also indicate that the global protein features contribute little to the formation and prediction of disulfide bonds, while the local sequential and structural information play important roles. All these findings provide important insights for structural studies of disulfide-rich proteins.</a:t>
            </a:r>
            <a:endParaRPr lang="zh-TW" altLang="en-US" dirty="0" smtClean="0">
              <a:latin typeface="Times New Roman" pitchFamily="18" charset="0"/>
              <a:cs typeface="Times New Roman" pitchFamily="18" charset="0"/>
            </a:endParaRPr>
          </a:p>
          <a:p>
            <a:endParaRPr lang="zh-TW" altLang="en-US"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dirty="0" smtClean="0">
                <a:latin typeface="Times New Roman" pitchFamily="18" charset="0"/>
                <a:cs typeface="Times New Roman" pitchFamily="18" charset="0"/>
              </a:rPr>
              <a:t>Dataset</a:t>
            </a:r>
            <a:endParaRPr lang="zh-TW" altLang="en-US" sz="3600"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smtClean="0">
                <a:latin typeface="Times New Roman" pitchFamily="18" charset="0"/>
                <a:cs typeface="Times New Roman" pitchFamily="18" charset="0"/>
              </a:rPr>
              <a:t>Swiss-Prot 39</a:t>
            </a:r>
          </a:p>
          <a:p>
            <a:endParaRPr lang="zh-TW" altLang="en-US" dirty="0"/>
          </a:p>
        </p:txBody>
      </p:sp>
      <p:pic>
        <p:nvPicPr>
          <p:cNvPr id="5" name="圖片 4" descr="t1.jpg"/>
          <p:cNvPicPr>
            <a:picLocks noChangeAspect="1"/>
          </p:cNvPicPr>
          <p:nvPr/>
        </p:nvPicPr>
        <p:blipFill>
          <a:blip r:embed="rId2" cstate="print"/>
          <a:stretch>
            <a:fillRect/>
          </a:stretch>
        </p:blipFill>
        <p:spPr>
          <a:xfrm>
            <a:off x="755576" y="2276872"/>
            <a:ext cx="7267575" cy="40100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cs typeface="Times New Roman" pitchFamily="18" charset="0"/>
              </a:rPr>
              <a:t>Disulfide Connectivity Pattern</a:t>
            </a:r>
            <a:endParaRPr lang="zh-TW" altLang="en-US" dirty="0"/>
          </a:p>
        </p:txBody>
      </p:sp>
      <p:sp>
        <p:nvSpPr>
          <p:cNvPr id="3" name="內容版面配置區 2"/>
          <p:cNvSpPr>
            <a:spLocks noGrp="1"/>
          </p:cNvSpPr>
          <p:nvPr>
            <p:ph idx="1"/>
          </p:nvPr>
        </p:nvSpPr>
        <p:spPr/>
        <p:txBody>
          <a:bodyPr>
            <a:normAutofit/>
          </a:bodyPr>
          <a:lstStyle/>
          <a:p>
            <a:r>
              <a:rPr lang="en-US" altLang="zh-TW" sz="2800" dirty="0" smtClean="0">
                <a:latin typeface="Times New Roman" pitchFamily="18" charset="0"/>
                <a:cs typeface="Times New Roman" pitchFamily="18" charset="0"/>
              </a:rPr>
              <a:t>Number of possible </a:t>
            </a:r>
            <a:r>
              <a:rPr lang="en-US" altLang="zh-TW" sz="2800" dirty="0" err="1" smtClean="0">
                <a:latin typeface="Times New Roman" pitchFamily="18" charset="0"/>
                <a:cs typeface="Times New Roman" pitchFamily="18" charset="0"/>
              </a:rPr>
              <a:t>cystein</a:t>
            </a:r>
            <a:r>
              <a:rPr lang="en-US" altLang="zh-TW" sz="2800" dirty="0" smtClean="0">
                <a:latin typeface="Times New Roman" pitchFamily="18" charset="0"/>
                <a:cs typeface="Times New Roman" pitchFamily="18" charset="0"/>
              </a:rPr>
              <a:t> pairs </a:t>
            </a:r>
            <a:r>
              <a:rPr lang="en-US" altLang="zh-TW" sz="2800" i="1" dirty="0" smtClean="0">
                <a:latin typeface="Times New Roman" pitchFamily="18" charset="0"/>
                <a:cs typeface="Times New Roman" pitchFamily="18" charset="0"/>
              </a:rPr>
              <a:t>N</a:t>
            </a:r>
            <a:r>
              <a:rPr lang="en-US" altLang="zh-TW" sz="2800" dirty="0" smtClean="0">
                <a:latin typeface="Times New Roman" pitchFamily="18" charset="0"/>
                <a:cs typeface="Times New Roman" pitchFamily="18" charset="0"/>
              </a:rPr>
              <a:t> in </a:t>
            </a:r>
            <a:r>
              <a:rPr lang="en-US" altLang="zh-TW" sz="2800" i="1" dirty="0" smtClean="0">
                <a:latin typeface="Times New Roman" pitchFamily="18" charset="0"/>
                <a:cs typeface="Times New Roman" pitchFamily="18" charset="0"/>
              </a:rPr>
              <a:t>M</a:t>
            </a:r>
            <a:r>
              <a:rPr lang="en-US" altLang="zh-TW" sz="2800" dirty="0" smtClean="0">
                <a:latin typeface="Times New Roman" pitchFamily="18" charset="0"/>
                <a:cs typeface="Times New Roman" pitchFamily="18" charset="0"/>
              </a:rPr>
              <a:t> bridges: </a:t>
            </a:r>
          </a:p>
          <a:p>
            <a:pPr lvl="1"/>
            <a:r>
              <a:rPr lang="en-US" altLang="zh-TW" i="1" dirty="0" smtClean="0">
                <a:latin typeface="Times New Roman" pitchFamily="18" charset="0"/>
                <a:cs typeface="Times New Roman" pitchFamily="18" charset="0"/>
              </a:rPr>
              <a:t>N</a:t>
            </a:r>
            <a:r>
              <a:rPr lang="en-US" altLang="zh-TW" dirty="0" smtClean="0">
                <a:latin typeface="Times New Roman" pitchFamily="18" charset="0"/>
                <a:cs typeface="Times New Roman" pitchFamily="18" charset="0"/>
              </a:rPr>
              <a:t> =  </a:t>
            </a:r>
            <a:r>
              <a:rPr lang="en-US" altLang="zh-TW" i="1" dirty="0" smtClean="0">
                <a:latin typeface="Times New Roman" pitchFamily="18" charset="0"/>
                <a:cs typeface="Times New Roman" pitchFamily="18" charset="0"/>
              </a:rPr>
              <a:t>M</a:t>
            </a:r>
            <a:r>
              <a:rPr lang="en-US" altLang="zh-TW" dirty="0" smtClean="0">
                <a:latin typeface="Times New Roman" pitchFamily="18" charset="0"/>
                <a:cs typeface="Times New Roman" pitchFamily="18" charset="0"/>
              </a:rPr>
              <a:t>*(2</a:t>
            </a:r>
            <a:r>
              <a:rPr lang="en-US" altLang="zh-TW" i="1" dirty="0" smtClean="0">
                <a:latin typeface="Times New Roman" pitchFamily="18" charset="0"/>
                <a:cs typeface="Times New Roman" pitchFamily="18" charset="0"/>
              </a:rPr>
              <a:t>M</a:t>
            </a:r>
            <a:r>
              <a:rPr lang="en-US" altLang="zh-TW" dirty="0" smtClean="0">
                <a:latin typeface="Times New Roman" pitchFamily="18" charset="0"/>
                <a:cs typeface="Times New Roman" pitchFamily="18" charset="0"/>
              </a:rPr>
              <a:t>-1)</a:t>
            </a:r>
          </a:p>
          <a:p>
            <a:endParaRPr lang="en-US" altLang="zh-TW" sz="2400" dirty="0" smtClean="0">
              <a:latin typeface="Times New Roman" pitchFamily="18" charset="0"/>
              <a:cs typeface="Times New Roman" pitchFamily="18" charset="0"/>
            </a:endParaRPr>
          </a:p>
          <a:p>
            <a:r>
              <a:rPr lang="en-US" altLang="zh-TW" sz="2800" dirty="0" smtClean="0">
                <a:latin typeface="Times New Roman" pitchFamily="18" charset="0"/>
                <a:cs typeface="Times New Roman" pitchFamily="18" charset="0"/>
              </a:rPr>
              <a:t>the number of possible disulfide connectivity patterns in a protein:</a:t>
            </a:r>
          </a:p>
          <a:p>
            <a:endParaRPr lang="en-US" altLang="zh-TW" sz="2400" dirty="0" smtClean="0">
              <a:latin typeface="Times New Roman" pitchFamily="18" charset="0"/>
              <a:cs typeface="Times New Roman" pitchFamily="18" charset="0"/>
            </a:endParaRPr>
          </a:p>
        </p:txBody>
      </p:sp>
      <p:pic>
        <p:nvPicPr>
          <p:cNvPr id="4" name="圖片 3" descr="eq3.jpg"/>
          <p:cNvPicPr>
            <a:picLocks noChangeAspect="1"/>
          </p:cNvPicPr>
          <p:nvPr/>
        </p:nvPicPr>
        <p:blipFill>
          <a:blip r:embed="rId2" cstate="print"/>
          <a:stretch>
            <a:fillRect/>
          </a:stretch>
        </p:blipFill>
        <p:spPr>
          <a:xfrm>
            <a:off x="1043608" y="4581128"/>
            <a:ext cx="3067050" cy="9239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dirty="0" smtClean="0">
                <a:latin typeface="Times New Roman" pitchFamily="18" charset="0"/>
                <a:cs typeface="Times New Roman" pitchFamily="18" charset="0"/>
              </a:rPr>
              <a:t>Feature presentation</a:t>
            </a:r>
            <a:endParaRPr lang="zh-TW" altLang="en-US" sz="4000" dirty="0">
              <a:latin typeface="Times New Roman" pitchFamily="18" charset="0"/>
              <a:cs typeface="Times New Roman" pitchFamily="18" charset="0"/>
            </a:endParaRPr>
          </a:p>
        </p:txBody>
      </p:sp>
      <p:sp>
        <p:nvSpPr>
          <p:cNvPr id="3" name="內容版面配置區 2"/>
          <p:cNvSpPr>
            <a:spLocks noGrp="1"/>
          </p:cNvSpPr>
          <p:nvPr>
            <p:ph idx="1"/>
          </p:nvPr>
        </p:nvSpPr>
        <p:spPr/>
        <p:txBody>
          <a:bodyPr>
            <a:noAutofit/>
          </a:bodyPr>
          <a:lstStyle/>
          <a:p>
            <a:r>
              <a:rPr lang="en-US" altLang="zh-TW" sz="3000" dirty="0" smtClean="0">
                <a:latin typeface="Times New Roman" pitchFamily="18" charset="0"/>
                <a:cs typeface="Times New Roman" pitchFamily="18" charset="0"/>
              </a:rPr>
              <a:t>amino acid composition : 20</a:t>
            </a:r>
          </a:p>
          <a:p>
            <a:r>
              <a:rPr lang="en-US" altLang="zh-TW" sz="3000" dirty="0" smtClean="0">
                <a:latin typeface="Times New Roman" pitchFamily="18" charset="0"/>
                <a:cs typeface="Times New Roman" pitchFamily="18" charset="0"/>
              </a:rPr>
              <a:t>protein molecular weight :1</a:t>
            </a:r>
          </a:p>
          <a:p>
            <a:r>
              <a:rPr lang="en-US" altLang="zh-TW" sz="3000" dirty="0" smtClean="0">
                <a:latin typeface="Times New Roman" pitchFamily="18" charset="0"/>
                <a:cs typeface="Times New Roman" pitchFamily="18" charset="0"/>
              </a:rPr>
              <a:t>protein sequence length:1</a:t>
            </a:r>
          </a:p>
          <a:p>
            <a:r>
              <a:rPr lang="en-US" altLang="zh-TW" sz="3000" dirty="0" err="1" smtClean="0">
                <a:latin typeface="Times New Roman" pitchFamily="18" charset="0"/>
                <a:cs typeface="Times New Roman" pitchFamily="18" charset="0"/>
              </a:rPr>
              <a:t>cysteine–cysteine</a:t>
            </a:r>
            <a:r>
              <a:rPr lang="en-US" altLang="zh-TW" sz="3000" dirty="0" smtClean="0">
                <a:latin typeface="Times New Roman" pitchFamily="18" charset="0"/>
                <a:cs typeface="Times New Roman" pitchFamily="18" charset="0"/>
              </a:rPr>
              <a:t> coupling effect:520</a:t>
            </a:r>
          </a:p>
          <a:p>
            <a:r>
              <a:rPr lang="en-US" altLang="zh-TW" sz="3000" dirty="0" err="1" smtClean="0">
                <a:latin typeface="Times New Roman" pitchFamily="18" charset="0"/>
                <a:cs typeface="Times New Roman" pitchFamily="18" charset="0"/>
              </a:rPr>
              <a:t>cysteine–cysteine</a:t>
            </a:r>
            <a:r>
              <a:rPr lang="en-US" altLang="zh-TW" sz="3000" dirty="0" smtClean="0">
                <a:latin typeface="Times New Roman" pitchFamily="18" charset="0"/>
                <a:cs typeface="Times New Roman" pitchFamily="18" charset="0"/>
              </a:rPr>
              <a:t> local secondary structural information:78</a:t>
            </a:r>
          </a:p>
          <a:p>
            <a:r>
              <a:rPr lang="en-US" altLang="zh-TW" sz="3000" dirty="0" err="1" smtClean="0">
                <a:latin typeface="Times New Roman" pitchFamily="18" charset="0"/>
                <a:cs typeface="Times New Roman" pitchFamily="18" charset="0"/>
              </a:rPr>
              <a:t>Cysteine</a:t>
            </a:r>
            <a:r>
              <a:rPr lang="en-US" altLang="zh-TW" sz="3000" dirty="0" smtClean="0">
                <a:latin typeface="Times New Roman" pitchFamily="18" charset="0"/>
                <a:cs typeface="Times New Roman" pitchFamily="18" charset="0"/>
              </a:rPr>
              <a:t> ordering:2</a:t>
            </a:r>
          </a:p>
          <a:p>
            <a:r>
              <a:rPr lang="en-US" altLang="zh-TW" sz="3000" dirty="0" smtClean="0">
                <a:latin typeface="Times New Roman" pitchFamily="18" charset="0"/>
                <a:cs typeface="Times New Roman" pitchFamily="18" charset="0"/>
              </a:rPr>
              <a:t>Total </a:t>
            </a:r>
            <a:r>
              <a:rPr lang="en-US" altLang="zh-TW" sz="3000" smtClean="0">
                <a:latin typeface="Times New Roman" pitchFamily="18" charset="0"/>
                <a:cs typeface="Times New Roman" pitchFamily="18" charset="0"/>
              </a:rPr>
              <a:t>623 </a:t>
            </a:r>
            <a:r>
              <a:rPr lang="en-US" altLang="zh-TW" sz="3000" smtClean="0">
                <a:latin typeface="Times New Roman" pitchFamily="18" charset="0"/>
                <a:cs typeface="Times New Roman" pitchFamily="18" charset="0"/>
              </a:rPr>
              <a:t>features</a:t>
            </a:r>
            <a:endParaRPr lang="en-US" altLang="zh-TW" sz="3000" dirty="0" smtClean="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dirty="0" smtClean="0">
                <a:latin typeface="Times New Roman" pitchFamily="18" charset="0"/>
                <a:cs typeface="Times New Roman" pitchFamily="18" charset="0"/>
              </a:rPr>
              <a:t>Feature selection</a:t>
            </a:r>
            <a:endParaRPr lang="zh-TW" altLang="en-US" sz="4000"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a:bodyPr>
          <a:lstStyle/>
          <a:p>
            <a:r>
              <a:rPr lang="en-US" altLang="zh-TW" dirty="0" smtClean="0">
                <a:latin typeface="Times New Roman" pitchFamily="18" charset="0"/>
                <a:cs typeface="Times New Roman" pitchFamily="18" charset="0"/>
              </a:rPr>
              <a:t>Variance score</a:t>
            </a:r>
          </a:p>
          <a:p>
            <a:r>
              <a:rPr lang="en-US" altLang="zh-TW" dirty="0" err="1" smtClean="0">
                <a:latin typeface="Times New Roman" pitchFamily="18" charset="0"/>
                <a:cs typeface="Times New Roman" pitchFamily="18" charset="0"/>
              </a:rPr>
              <a:t>Laplacian</a:t>
            </a:r>
            <a:r>
              <a:rPr lang="en-US" altLang="zh-TW" dirty="0" smtClean="0">
                <a:latin typeface="Times New Roman" pitchFamily="18" charset="0"/>
                <a:cs typeface="Times New Roman" pitchFamily="18" charset="0"/>
              </a:rPr>
              <a:t> score</a:t>
            </a:r>
          </a:p>
          <a:p>
            <a:r>
              <a:rPr lang="en-US" altLang="zh-TW" dirty="0" smtClean="0">
                <a:latin typeface="Times New Roman" pitchFamily="18" charset="0"/>
                <a:cs typeface="Times New Roman" pitchFamily="18" charset="0"/>
              </a:rPr>
              <a:t>Fisher score</a:t>
            </a:r>
          </a:p>
          <a:p>
            <a:endParaRPr lang="en-US" altLang="zh-TW" dirty="0" smtClean="0">
              <a:latin typeface="Times New Roman" pitchFamily="18" charset="0"/>
              <a:cs typeface="Times New Roman" pitchFamily="18" charset="0"/>
            </a:endParaRPr>
          </a:p>
          <a:p>
            <a:r>
              <a:rPr lang="en-US" altLang="zh-TW" dirty="0" smtClean="0">
                <a:latin typeface="Times New Roman" pitchFamily="18" charset="0"/>
                <a:cs typeface="Times New Roman" pitchFamily="18" charset="0"/>
              </a:rPr>
              <a:t>X</a:t>
            </a:r>
            <a:r>
              <a:rPr lang="en-US" altLang="zh-TW" i="1" baseline="-25000" dirty="0" smtClean="0">
                <a:latin typeface="Times New Roman" pitchFamily="18" charset="0"/>
                <a:cs typeface="Times New Roman" pitchFamily="18" charset="0"/>
              </a:rPr>
              <a:t>i</a:t>
            </a:r>
            <a:r>
              <a:rPr lang="en-US" altLang="zh-TW" dirty="0" smtClean="0">
                <a:latin typeface="Times New Roman" pitchFamily="18" charset="0"/>
                <a:cs typeface="Times New Roman" pitchFamily="18" charset="0"/>
              </a:rPr>
              <a:t> : the </a:t>
            </a:r>
            <a:r>
              <a:rPr lang="en-US" altLang="zh-TW" i="1" dirty="0" err="1" smtClean="0">
                <a:latin typeface="Times New Roman" pitchFamily="18" charset="0"/>
                <a:cs typeface="Times New Roman" pitchFamily="18" charset="0"/>
              </a:rPr>
              <a:t>i</a:t>
            </a:r>
            <a:r>
              <a:rPr lang="en-US" altLang="zh-TW" dirty="0" err="1" smtClean="0">
                <a:latin typeface="Times New Roman" pitchFamily="18" charset="0"/>
                <a:cs typeface="Times New Roman" pitchFamily="18" charset="0"/>
              </a:rPr>
              <a:t>th</a:t>
            </a:r>
            <a:r>
              <a:rPr lang="en-US" altLang="zh-TW" dirty="0" smtClean="0">
                <a:latin typeface="Times New Roman" pitchFamily="18" charset="0"/>
                <a:cs typeface="Times New Roman" pitchFamily="18" charset="0"/>
              </a:rPr>
              <a:t> </a:t>
            </a:r>
            <a:r>
              <a:rPr lang="en-US" altLang="zh-TW" dirty="0" err="1" smtClean="0">
                <a:latin typeface="Times New Roman" pitchFamily="18" charset="0"/>
                <a:cs typeface="Times New Roman" pitchFamily="18" charset="0"/>
              </a:rPr>
              <a:t>cysteine</a:t>
            </a:r>
            <a:r>
              <a:rPr lang="en-US" altLang="zh-TW" dirty="0" smtClean="0">
                <a:latin typeface="Times New Roman" pitchFamily="18" charset="0"/>
                <a:cs typeface="Times New Roman" pitchFamily="18" charset="0"/>
              </a:rPr>
              <a:t> pair </a:t>
            </a:r>
            <a:r>
              <a:rPr lang="en-US" altLang="zh-TW" dirty="0" err="1" smtClean="0">
                <a:latin typeface="Times New Roman" pitchFamily="18" charset="0"/>
                <a:cs typeface="Times New Roman" pitchFamily="18" charset="0"/>
              </a:rPr>
              <a:t>presentd</a:t>
            </a:r>
            <a:r>
              <a:rPr lang="en-US" altLang="zh-TW" dirty="0" smtClean="0">
                <a:latin typeface="Times New Roman" pitchFamily="18" charset="0"/>
                <a:cs typeface="Times New Roman" pitchFamily="18" charset="0"/>
              </a:rPr>
              <a:t> by a 623-D vector</a:t>
            </a:r>
            <a:endParaRPr lang="zh-TW" altLang="en-US" dirty="0">
              <a:latin typeface="Times New Roman" pitchFamily="18" charset="0"/>
              <a:cs typeface="Times New Roman" pitchFamily="18" charset="0"/>
            </a:endParaRPr>
          </a:p>
        </p:txBody>
      </p:sp>
      <p:pic>
        <p:nvPicPr>
          <p:cNvPr id="4" name="圖片 3" descr="eq5.jpg"/>
          <p:cNvPicPr>
            <a:picLocks noChangeAspect="1"/>
          </p:cNvPicPr>
          <p:nvPr/>
        </p:nvPicPr>
        <p:blipFill>
          <a:blip r:embed="rId2" cstate="print"/>
          <a:stretch>
            <a:fillRect/>
          </a:stretch>
        </p:blipFill>
        <p:spPr>
          <a:xfrm>
            <a:off x="827584" y="5445224"/>
            <a:ext cx="4048125" cy="4762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dirty="0" smtClean="0">
                <a:latin typeface="Times New Roman" pitchFamily="18" charset="0"/>
                <a:cs typeface="Times New Roman" pitchFamily="18" charset="0"/>
              </a:rPr>
              <a:t>Variance score</a:t>
            </a:r>
            <a:endParaRPr lang="zh-TW" altLang="en-US" sz="4000" dirty="0"/>
          </a:p>
        </p:txBody>
      </p:sp>
      <p:sp>
        <p:nvSpPr>
          <p:cNvPr id="3" name="內容版面配置區 2"/>
          <p:cNvSpPr>
            <a:spLocks noGrp="1"/>
          </p:cNvSpPr>
          <p:nvPr>
            <p:ph idx="1"/>
          </p:nvPr>
        </p:nvSpPr>
        <p:spPr/>
        <p:txBody>
          <a:bodyPr/>
          <a:lstStyle/>
          <a:p>
            <a:endParaRPr lang="en-US" altLang="zh-TW" dirty="0" smtClean="0"/>
          </a:p>
          <a:p>
            <a:endParaRPr lang="en-US" altLang="zh-TW" dirty="0" smtClean="0"/>
          </a:p>
          <a:p>
            <a:r>
              <a:rPr lang="en-US" altLang="zh-TW" i="1" dirty="0" smtClean="0">
                <a:latin typeface="Times New Roman" pitchFamily="18" charset="0"/>
                <a:cs typeface="Times New Roman" pitchFamily="18" charset="0"/>
              </a:rPr>
              <a:t>f </a:t>
            </a:r>
            <a:r>
              <a:rPr lang="en-US" altLang="zh-TW" i="1" baseline="-25000" dirty="0" smtClean="0">
                <a:latin typeface="Times New Roman" pitchFamily="18" charset="0"/>
                <a:cs typeface="Times New Roman" pitchFamily="18" charset="0"/>
              </a:rPr>
              <a:t>m</a:t>
            </a:r>
            <a:r>
              <a:rPr lang="en-US" altLang="zh-TW" dirty="0" smtClean="0">
                <a:latin typeface="Times New Roman" pitchFamily="18" charset="0"/>
                <a:cs typeface="Times New Roman" pitchFamily="18" charset="0"/>
              </a:rPr>
              <a:t> is the mean value of the </a:t>
            </a:r>
            <a:r>
              <a:rPr lang="en-US" altLang="zh-TW" i="1" dirty="0" err="1" smtClean="0">
                <a:latin typeface="Times New Roman" pitchFamily="18" charset="0"/>
                <a:cs typeface="Times New Roman" pitchFamily="18" charset="0"/>
              </a:rPr>
              <a:t>m</a:t>
            </a:r>
            <a:r>
              <a:rPr lang="en-US" altLang="zh-TW" dirty="0" err="1" smtClean="0">
                <a:latin typeface="Times New Roman" pitchFamily="18" charset="0"/>
                <a:cs typeface="Times New Roman" pitchFamily="18" charset="0"/>
              </a:rPr>
              <a:t>th</a:t>
            </a:r>
            <a:r>
              <a:rPr lang="en-US" altLang="zh-TW" dirty="0" smtClean="0">
                <a:latin typeface="Times New Roman" pitchFamily="18" charset="0"/>
                <a:cs typeface="Times New Roman" pitchFamily="18" charset="0"/>
              </a:rPr>
              <a:t> feature.</a:t>
            </a:r>
          </a:p>
          <a:p>
            <a:endParaRPr lang="en-US" altLang="zh-TW" dirty="0" smtClean="0">
              <a:latin typeface="Times New Roman" pitchFamily="18" charset="0"/>
              <a:cs typeface="Times New Roman" pitchFamily="18" charset="0"/>
            </a:endParaRPr>
          </a:p>
          <a:p>
            <a:r>
              <a:rPr lang="en-US" altLang="zh-TW" dirty="0" smtClean="0">
                <a:latin typeface="Times New Roman" pitchFamily="18" charset="0"/>
                <a:cs typeface="Times New Roman" pitchFamily="18" charset="0"/>
              </a:rPr>
              <a:t> The larger the </a:t>
            </a:r>
            <a:r>
              <a:rPr lang="en-US" altLang="zh-TW" i="1" dirty="0" err="1" smtClean="0">
                <a:latin typeface="Times New Roman" pitchFamily="18" charset="0"/>
                <a:cs typeface="Times New Roman" pitchFamily="18" charset="0"/>
              </a:rPr>
              <a:t>V</a:t>
            </a:r>
            <a:r>
              <a:rPr lang="en-US" altLang="zh-TW" i="1" baseline="-25000" dirty="0" err="1" smtClean="0">
                <a:latin typeface="Times New Roman" pitchFamily="18" charset="0"/>
                <a:cs typeface="Times New Roman" pitchFamily="18" charset="0"/>
              </a:rPr>
              <a:t>m</a:t>
            </a:r>
            <a:r>
              <a:rPr lang="en-US" altLang="zh-TW" dirty="0" smtClean="0">
                <a:latin typeface="Times New Roman" pitchFamily="18" charset="0"/>
                <a:cs typeface="Times New Roman" pitchFamily="18" charset="0"/>
              </a:rPr>
              <a:t> value, the more important the </a:t>
            </a:r>
            <a:r>
              <a:rPr lang="en-US" altLang="zh-TW" i="1" dirty="0" err="1" smtClean="0">
                <a:latin typeface="Times New Roman" pitchFamily="18" charset="0"/>
                <a:cs typeface="Times New Roman" pitchFamily="18" charset="0"/>
              </a:rPr>
              <a:t>m</a:t>
            </a:r>
            <a:r>
              <a:rPr lang="en-US" altLang="zh-TW" dirty="0" err="1" smtClean="0">
                <a:latin typeface="Times New Roman" pitchFamily="18" charset="0"/>
                <a:cs typeface="Times New Roman" pitchFamily="18" charset="0"/>
              </a:rPr>
              <a:t>th</a:t>
            </a:r>
            <a:r>
              <a:rPr lang="en-US" altLang="zh-TW" dirty="0" smtClean="0">
                <a:latin typeface="Times New Roman" pitchFamily="18" charset="0"/>
                <a:cs typeface="Times New Roman" pitchFamily="18" charset="0"/>
              </a:rPr>
              <a:t> feature.</a:t>
            </a:r>
            <a:endParaRPr lang="zh-TW" altLang="en-US" dirty="0">
              <a:latin typeface="Times New Roman" pitchFamily="18" charset="0"/>
              <a:cs typeface="Times New Roman" pitchFamily="18" charset="0"/>
            </a:endParaRPr>
          </a:p>
        </p:txBody>
      </p:sp>
      <p:pic>
        <p:nvPicPr>
          <p:cNvPr id="4" name="圖片 3" descr="eq6.jpg"/>
          <p:cNvPicPr>
            <a:picLocks noChangeAspect="1"/>
          </p:cNvPicPr>
          <p:nvPr/>
        </p:nvPicPr>
        <p:blipFill>
          <a:blip r:embed="rId2" cstate="print"/>
          <a:stretch>
            <a:fillRect/>
          </a:stretch>
        </p:blipFill>
        <p:spPr>
          <a:xfrm>
            <a:off x="683568" y="1772816"/>
            <a:ext cx="2914650" cy="6286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err="1" smtClean="0">
                <a:latin typeface="Times New Roman" pitchFamily="18" charset="0"/>
                <a:cs typeface="Times New Roman" pitchFamily="18" charset="0"/>
              </a:rPr>
              <a:t>Laplacian</a:t>
            </a:r>
            <a:r>
              <a:rPr lang="en-US" altLang="zh-TW" dirty="0" smtClean="0">
                <a:latin typeface="Times New Roman" pitchFamily="18" charset="0"/>
                <a:cs typeface="Times New Roman" pitchFamily="18" charset="0"/>
              </a:rPr>
              <a:t> score</a:t>
            </a:r>
            <a:endParaRPr lang="zh-TW" altLang="en-US" dirty="0"/>
          </a:p>
        </p:txBody>
      </p:sp>
      <p:sp>
        <p:nvSpPr>
          <p:cNvPr id="9" name="內容版面配置區 8"/>
          <p:cNvSpPr>
            <a:spLocks noGrp="1"/>
          </p:cNvSpPr>
          <p:nvPr>
            <p:ph idx="1"/>
          </p:nvPr>
        </p:nvSpPr>
        <p:spPr/>
        <p:txBody>
          <a:bodyPr/>
          <a:lstStyle/>
          <a:p>
            <a:r>
              <a:rPr lang="en-US" altLang="zh-TW" dirty="0" smtClean="0">
                <a:latin typeface="Times New Roman" pitchFamily="18" charset="0"/>
                <a:cs typeface="Times New Roman" pitchFamily="18" charset="0"/>
              </a:rPr>
              <a:t>Based on the observation that two data points are more likely to be related to the same class if they are close to each other.</a:t>
            </a:r>
            <a:endParaRPr lang="zh-TW" altLang="en-US" dirty="0">
              <a:latin typeface="Times New Roman" pitchFamily="18" charset="0"/>
              <a:cs typeface="Times New Roman" pitchFamily="18" charset="0"/>
            </a:endParaRPr>
          </a:p>
        </p:txBody>
      </p:sp>
      <p:pic>
        <p:nvPicPr>
          <p:cNvPr id="10" name="圖片 9" descr="eq7.jpg"/>
          <p:cNvPicPr>
            <a:picLocks noChangeAspect="1"/>
          </p:cNvPicPr>
          <p:nvPr/>
        </p:nvPicPr>
        <p:blipFill>
          <a:blip r:embed="rId2" cstate="print"/>
          <a:stretch>
            <a:fillRect/>
          </a:stretch>
        </p:blipFill>
        <p:spPr>
          <a:xfrm>
            <a:off x="827584" y="3284984"/>
            <a:ext cx="3086100" cy="1733550"/>
          </a:xfrm>
          <a:prstGeom prst="rect">
            <a:avLst/>
          </a:prstGeom>
        </p:spPr>
      </p:pic>
      <p:pic>
        <p:nvPicPr>
          <p:cNvPr id="11" name="圖片 10" descr="eq8.jpg"/>
          <p:cNvPicPr>
            <a:picLocks noChangeAspect="1"/>
          </p:cNvPicPr>
          <p:nvPr/>
        </p:nvPicPr>
        <p:blipFill>
          <a:blip r:embed="rId3" cstate="print"/>
          <a:stretch>
            <a:fillRect/>
          </a:stretch>
        </p:blipFill>
        <p:spPr>
          <a:xfrm>
            <a:off x="899592" y="5157192"/>
            <a:ext cx="5638800" cy="1171575"/>
          </a:xfrm>
          <a:prstGeom prst="rect">
            <a:avLst/>
          </a:prstGeom>
        </p:spPr>
      </p:pic>
      <p:pic>
        <p:nvPicPr>
          <p:cNvPr id="12" name="圖片 11" descr="eq9.jpg"/>
          <p:cNvPicPr>
            <a:picLocks noChangeAspect="1"/>
          </p:cNvPicPr>
          <p:nvPr/>
        </p:nvPicPr>
        <p:blipFill>
          <a:blip r:embed="rId4" cstate="print"/>
          <a:stretch>
            <a:fillRect/>
          </a:stretch>
        </p:blipFill>
        <p:spPr>
          <a:xfrm>
            <a:off x="5004048" y="3645024"/>
            <a:ext cx="3038475" cy="11525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dirty="0" smtClean="0">
                <a:latin typeface="Times New Roman" pitchFamily="18" charset="0"/>
                <a:cs typeface="Times New Roman" pitchFamily="18" charset="0"/>
              </a:rPr>
              <a:t>Fisher score</a:t>
            </a:r>
            <a:endParaRPr lang="zh-TW" altLang="en-US" sz="4000" dirty="0"/>
          </a:p>
        </p:txBody>
      </p:sp>
      <p:sp>
        <p:nvSpPr>
          <p:cNvPr id="3" name="內容版面配置區 2"/>
          <p:cNvSpPr>
            <a:spLocks noGrp="1"/>
          </p:cNvSpPr>
          <p:nvPr>
            <p:ph idx="1"/>
          </p:nvPr>
        </p:nvSpPr>
        <p:spPr/>
        <p:txBody>
          <a:bodyPr>
            <a:normAutofit/>
          </a:bodyPr>
          <a:lstStyle/>
          <a:p>
            <a:r>
              <a:rPr lang="en-US" altLang="zh-TW" sz="3000" dirty="0" smtClean="0">
                <a:latin typeface="Times New Roman" pitchFamily="18" charset="0"/>
                <a:cs typeface="Times New Roman" pitchFamily="18" charset="0"/>
              </a:rPr>
              <a:t>Fisher score is a supervised measure with class labels and can be used to seek features that are efficient for the discrimination of different classes.</a:t>
            </a:r>
            <a:endParaRPr lang="zh-TW" altLang="en-US" sz="3000" dirty="0">
              <a:latin typeface="Times New Roman" pitchFamily="18" charset="0"/>
              <a:cs typeface="Times New Roman" pitchFamily="18" charset="0"/>
            </a:endParaRPr>
          </a:p>
        </p:txBody>
      </p:sp>
      <p:pic>
        <p:nvPicPr>
          <p:cNvPr id="4" name="圖片 3" descr="eq10.jpg"/>
          <p:cNvPicPr>
            <a:picLocks noChangeAspect="1"/>
          </p:cNvPicPr>
          <p:nvPr/>
        </p:nvPicPr>
        <p:blipFill>
          <a:blip r:embed="rId2" cstate="print"/>
          <a:stretch>
            <a:fillRect/>
          </a:stretch>
        </p:blipFill>
        <p:spPr>
          <a:xfrm>
            <a:off x="1115616" y="3645024"/>
            <a:ext cx="2476500" cy="14763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descr="f1.jpg"/>
          <p:cNvPicPr>
            <a:picLocks noChangeAspect="1"/>
          </p:cNvPicPr>
          <p:nvPr/>
        </p:nvPicPr>
        <p:blipFill>
          <a:blip r:embed="rId2" cstate="print"/>
          <a:stretch>
            <a:fillRect/>
          </a:stretch>
        </p:blipFill>
        <p:spPr>
          <a:xfrm>
            <a:off x="1838325" y="233362"/>
            <a:ext cx="5467350" cy="63912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dirty="0" smtClean="0">
                <a:latin typeface="Times New Roman" pitchFamily="18" charset="0"/>
                <a:cs typeface="Times New Roman" pitchFamily="18" charset="0"/>
              </a:rPr>
              <a:t>Results and Discussions</a:t>
            </a:r>
            <a:endParaRPr lang="zh-TW" altLang="en-US" sz="4000" dirty="0">
              <a:latin typeface="Times New Roman" pitchFamily="18" charset="0"/>
              <a:cs typeface="Times New Roman" pitchFamily="18" charset="0"/>
            </a:endParaRPr>
          </a:p>
        </p:txBody>
      </p:sp>
      <p:pic>
        <p:nvPicPr>
          <p:cNvPr id="4" name="內容版面配置區 3" descr="t3.jpg"/>
          <p:cNvPicPr>
            <a:picLocks noGrp="1" noChangeAspect="1"/>
          </p:cNvPicPr>
          <p:nvPr>
            <p:ph idx="1"/>
          </p:nvPr>
        </p:nvPicPr>
        <p:blipFill>
          <a:blip r:embed="rId2" cstate="print"/>
          <a:stretch>
            <a:fillRect/>
          </a:stretch>
        </p:blipFill>
        <p:spPr>
          <a:xfrm>
            <a:off x="1304686" y="1600200"/>
            <a:ext cx="6534628" cy="4525963"/>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6" name="內容版面配置區 5" descr="t4.jpg"/>
          <p:cNvPicPr>
            <a:picLocks noGrp="1" noChangeAspect="1"/>
          </p:cNvPicPr>
          <p:nvPr>
            <p:ph idx="1"/>
          </p:nvPr>
        </p:nvPicPr>
        <p:blipFill>
          <a:blip r:embed="rId2" cstate="print"/>
          <a:stretch>
            <a:fillRect/>
          </a:stretch>
        </p:blipFill>
        <p:spPr>
          <a:xfrm>
            <a:off x="457200" y="2222136"/>
            <a:ext cx="8229600" cy="3282091"/>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latin typeface="Times New Roman" pitchFamily="18" charset="0"/>
                <a:cs typeface="Times New Roman" pitchFamily="18" charset="0"/>
              </a:rPr>
              <a:t>The overall importance order of the selected features is as follows: distance of </a:t>
            </a:r>
            <a:r>
              <a:rPr lang="en-US" altLang="zh-TW" dirty="0" err="1" smtClean="0">
                <a:latin typeface="Times New Roman" pitchFamily="18" charset="0"/>
                <a:cs typeface="Times New Roman" pitchFamily="18" charset="0"/>
              </a:rPr>
              <a:t>cysteine</a:t>
            </a:r>
            <a:r>
              <a:rPr lang="en-US" altLang="zh-TW" dirty="0" smtClean="0">
                <a:latin typeface="Times New Roman" pitchFamily="18" charset="0"/>
                <a:cs typeface="Times New Roman" pitchFamily="18" charset="0"/>
              </a:rPr>
              <a:t> &gt; </a:t>
            </a:r>
            <a:r>
              <a:rPr lang="en-US" altLang="zh-TW" dirty="0" err="1" smtClean="0">
                <a:latin typeface="Times New Roman" pitchFamily="18" charset="0"/>
                <a:cs typeface="Times New Roman" pitchFamily="18" charset="0"/>
              </a:rPr>
              <a:t>cysteine</a:t>
            </a:r>
            <a:r>
              <a:rPr lang="en-US" altLang="zh-TW" dirty="0" smtClean="0">
                <a:latin typeface="Times New Roman" pitchFamily="18" charset="0"/>
                <a:cs typeface="Times New Roman" pitchFamily="18" charset="0"/>
              </a:rPr>
              <a:t> ordering &gt; position-specific scoring matrix &gt; predicted secondary structure &gt; amino acid composition.</a:t>
            </a:r>
            <a:endParaRPr lang="zh-TW" altLang="en-US"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descr="t5.jpg"/>
          <p:cNvPicPr>
            <a:picLocks noChangeAspect="1"/>
          </p:cNvPicPr>
          <p:nvPr/>
        </p:nvPicPr>
        <p:blipFill>
          <a:blip r:embed="rId2" cstate="print"/>
          <a:stretch>
            <a:fillRect/>
          </a:stretch>
        </p:blipFill>
        <p:spPr>
          <a:xfrm>
            <a:off x="985837" y="638175"/>
            <a:ext cx="7172325" cy="55816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smtClean="0">
                <a:latin typeface="Times New Roman" pitchFamily="18" charset="0"/>
                <a:cs typeface="Times New Roman" pitchFamily="18" charset="0"/>
              </a:rPr>
              <a:t>Thank you!</a:t>
            </a:r>
            <a:endParaRPr lang="zh-TW" altLang="en-US" dirty="0">
              <a:latin typeface="Times New Roman" pitchFamily="18" charset="0"/>
              <a:cs typeface="Times New Roman" pitchFamily="18" charset="0"/>
            </a:endParaRPr>
          </a:p>
        </p:txBody>
      </p:sp>
      <p:sp>
        <p:nvSpPr>
          <p:cNvPr id="3" name="副標題 2"/>
          <p:cNvSpPr>
            <a:spLocks noGrp="1"/>
          </p:cNvSpPr>
          <p:nvPr>
            <p:ph type="subTitle" idx="1"/>
          </p:nvPr>
        </p:nvSpPr>
        <p:spPr/>
        <p:txBody>
          <a:bodyPr/>
          <a:lstStyle/>
          <a:p>
            <a:endParaRPr lang="zh-TW" altLang="en-US"/>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TotalTime>
  <Words>486</Words>
  <Application>Microsoft Office PowerPoint</Application>
  <PresentationFormat>如螢幕大小 (4:3)</PresentationFormat>
  <Paragraphs>45</Paragraphs>
  <Slides>17</Slides>
  <Notes>0</Notes>
  <HiddenSlides>0</HiddenSlides>
  <MMClips>0</MMClips>
  <ScaleCrop>false</ScaleCrop>
  <HeadingPairs>
    <vt:vector size="4" baseType="variant">
      <vt:variant>
        <vt:lpstr>佈景主題</vt:lpstr>
      </vt:variant>
      <vt:variant>
        <vt:i4>1</vt:i4>
      </vt:variant>
      <vt:variant>
        <vt:lpstr>投影片標題</vt:lpstr>
      </vt:variant>
      <vt:variant>
        <vt:i4>17</vt:i4>
      </vt:variant>
    </vt:vector>
  </HeadingPairs>
  <TitlesOfParts>
    <vt:vector size="18" baseType="lpstr">
      <vt:lpstr>Office 佈景主題</vt:lpstr>
      <vt:lpstr>Improving the Accuracy of Predicting Disulfide Connectivity by Feature Selection</vt:lpstr>
      <vt:lpstr>Abstract(1/3)</vt:lpstr>
      <vt:lpstr>Abstract(2/3)</vt:lpstr>
      <vt:lpstr>Abstract(3/3)</vt:lpstr>
      <vt:lpstr>Dataset</vt:lpstr>
      <vt:lpstr>Disulfide Connectivity Pattern</vt:lpstr>
      <vt:lpstr>Feature presentation</vt:lpstr>
      <vt:lpstr>Feature selection</vt:lpstr>
      <vt:lpstr>Variance score</vt:lpstr>
      <vt:lpstr>Laplacian score</vt:lpstr>
      <vt:lpstr>Fisher score</vt:lpstr>
      <vt:lpstr>投影片 12</vt:lpstr>
      <vt:lpstr>Results and Discussions</vt:lpstr>
      <vt:lpstr>投影片 14</vt:lpstr>
      <vt:lpstr>投影片 15</vt:lpstr>
      <vt:lpstr>投影片 16</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Improving the Accuracy of Predicting Disulfide Connectivity by Feature Selection</dc:title>
  <cp:lastModifiedBy>kai</cp:lastModifiedBy>
  <cp:revision>6</cp:revision>
  <dcterms:modified xsi:type="dcterms:W3CDTF">2010-09-21T13:44:49Z</dcterms:modified>
</cp:coreProperties>
</file>