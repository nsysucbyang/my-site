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  <p:sldId id="264" r:id="rId9"/>
    <p:sldId id="268" r:id="rId10"/>
    <p:sldId id="265" r:id="rId11"/>
    <p:sldId id="266" r:id="rId12"/>
    <p:sldId id="267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2010/3/2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blast.ncbi.nlm.nih.gov/Blast.cg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Gapped BLAST and PSI-BLAST: a new generation of protein database search programs</a:t>
            </a:r>
            <a:endParaRPr lang="zh-TW" altLang="en-US" sz="2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Stephen F. </a:t>
            </a:r>
            <a:r>
              <a:rPr lang="en-US" altLang="zh-TW" dirty="0" err="1" smtClean="0">
                <a:solidFill>
                  <a:schemeClr val="tx1"/>
                </a:solidFill>
              </a:rPr>
              <a:t>Altschul</a:t>
            </a:r>
            <a:r>
              <a:rPr lang="en-US" altLang="zh-TW" dirty="0" smtClean="0">
                <a:solidFill>
                  <a:schemeClr val="tx1"/>
                </a:solidFill>
              </a:rPr>
              <a:t>, Thomas L. Madden, Alejandro A. </a:t>
            </a:r>
            <a:r>
              <a:rPr lang="en-US" altLang="zh-TW" dirty="0" err="1" smtClean="0">
                <a:solidFill>
                  <a:schemeClr val="tx1"/>
                </a:solidFill>
              </a:rPr>
              <a:t>Schäffer</a:t>
            </a:r>
            <a:r>
              <a:rPr lang="en-US" altLang="zh-TW" dirty="0" smtClean="0">
                <a:solidFill>
                  <a:schemeClr val="tx1"/>
                </a:solidFill>
              </a:rPr>
              <a:t>, </a:t>
            </a:r>
            <a:r>
              <a:rPr lang="en-US" altLang="zh-TW" dirty="0" err="1" smtClean="0">
                <a:solidFill>
                  <a:schemeClr val="tx1"/>
                </a:solidFill>
              </a:rPr>
              <a:t>Jinghui</a:t>
            </a:r>
            <a:r>
              <a:rPr lang="en-US" altLang="zh-TW" dirty="0" smtClean="0">
                <a:solidFill>
                  <a:schemeClr val="tx1"/>
                </a:solidFill>
              </a:rPr>
              <a:t> Zhang, </a:t>
            </a:r>
            <a:r>
              <a:rPr lang="en-US" altLang="zh-TW" dirty="0" err="1" smtClean="0">
                <a:solidFill>
                  <a:schemeClr val="tx1"/>
                </a:solidFill>
              </a:rPr>
              <a:t>Zheng</a:t>
            </a:r>
            <a:r>
              <a:rPr lang="en-US" altLang="zh-TW" dirty="0" smtClean="0">
                <a:solidFill>
                  <a:schemeClr val="tx1"/>
                </a:solidFill>
              </a:rPr>
              <a:t> Zhang, Webb Miller and David J. </a:t>
            </a:r>
            <a:r>
              <a:rPr lang="en-US" altLang="zh-TW" dirty="0" err="1" smtClean="0">
                <a:solidFill>
                  <a:schemeClr val="tx1"/>
                </a:solidFill>
              </a:rPr>
              <a:t>Lipman</a:t>
            </a:r>
            <a:endParaRPr lang="en-US" altLang="zh-TW" dirty="0" smtClean="0">
              <a:solidFill>
                <a:schemeClr val="tx1"/>
              </a:solidFill>
            </a:endParaRPr>
          </a:p>
          <a:p>
            <a:endParaRPr lang="en-US" altLang="zh-TW" dirty="0" smtClean="0">
              <a:solidFill>
                <a:schemeClr val="tx1"/>
              </a:solidFill>
            </a:endParaRPr>
          </a:p>
          <a:p>
            <a:r>
              <a:rPr lang="en-US" altLang="zh-TW" dirty="0" smtClean="0">
                <a:solidFill>
                  <a:schemeClr val="tx1"/>
                </a:solidFill>
              </a:rPr>
              <a:t>Nucleic Acids Research, 1997, Vol. 25, No. 17 3389–3402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572264" y="5572140"/>
            <a:ext cx="1960024" cy="56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TW" sz="1400" dirty="0"/>
              <a:t>Presenter : </a:t>
            </a:r>
            <a:r>
              <a:rPr lang="en-US" altLang="zh-TW" sz="1400" dirty="0" err="1"/>
              <a:t>Chih</a:t>
            </a:r>
            <a:r>
              <a:rPr lang="en-US" altLang="zh-TW" sz="1400" dirty="0"/>
              <a:t>-Ying Lin</a:t>
            </a:r>
          </a:p>
          <a:p>
            <a:pPr>
              <a:spcBef>
                <a:spcPct val="20000"/>
              </a:spcBef>
            </a:pPr>
            <a:r>
              <a:rPr lang="en-US" altLang="zh-TW" sz="1400" dirty="0"/>
              <a:t>Date : </a:t>
            </a:r>
            <a:r>
              <a:rPr lang="en-US" sz="1400" dirty="0" smtClean="0"/>
              <a:t>Mar.</a:t>
            </a:r>
            <a:r>
              <a:rPr lang="en-US" altLang="zh-TW" sz="1400" dirty="0" smtClean="0"/>
              <a:t> 2, 2010</a:t>
            </a:r>
            <a:endParaRPr lang="en-US" altLang="zh-TW" dirty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altLang="zh-TW" dirty="0" smtClean="0"/>
              <a:t>	The BLAST programs are widely used tools for searching protein and DNA databases for sequence similarities. For protein comparisons, a variety of definitional, algorithmic and statistical refinements described here permits the execution time of the BLAST programs to be decreased substantially while enhancing their sensitivity to weak similarities. A new criterion for triggering the extension of word hits, combined with a new heuristic for generating gapped alignments, yields a gapped BLAST program that runs at approximately three times the speed of the original. In addition, a method is introduced for automatically combining statistically significant alignments produced by BLAST into a position-specific score matrix, and searching the database using this matrix. The resulting Position-Specific Iterated BLAST (PSI-BLAST) program runs at approximately the same speed per iteration as gapped BLAST, but in many cases is much more sensitive to weak but biologically relevant sequence similarities. PSI-BLAST is used to uncover several new and interesting members of the BRCT </a:t>
            </a:r>
            <a:r>
              <a:rPr lang="en-US" altLang="zh-TW" dirty="0" err="1" smtClean="0"/>
              <a:t>superfamily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BLAST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Remove low-complexity region or sequence repeats in the query sequence.</a:t>
            </a:r>
          </a:p>
          <a:p>
            <a:r>
              <a:rPr lang="en-US" sz="2400" dirty="0" smtClean="0"/>
              <a:t>Make a k-letter word list of the query sequence.</a:t>
            </a:r>
          </a:p>
        </p:txBody>
      </p:sp>
      <p:pic>
        <p:nvPicPr>
          <p:cNvPr id="5" name="Picture 2" descr="C:\Documents and Settings\Sephiroth\桌面\Query_wor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3000372"/>
            <a:ext cx="4000528" cy="335397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BLAST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List the possible matching words.</a:t>
            </a:r>
          </a:p>
          <a:p>
            <a:r>
              <a:rPr lang="en-US" sz="2000" dirty="0" smtClean="0"/>
              <a:t>Organize the remaining high-scoring words into an efficient search tree.</a:t>
            </a:r>
          </a:p>
          <a:p>
            <a:r>
              <a:rPr lang="en-US" sz="2000" dirty="0" smtClean="0"/>
              <a:t>Scan the database sequences for exact match with the remaining high-scoring words.</a:t>
            </a:r>
          </a:p>
          <a:p>
            <a:r>
              <a:rPr lang="en-US" sz="2000" dirty="0" smtClean="0"/>
              <a:t>Extend the exact matches to high-scoring segment pair (HSP). </a:t>
            </a:r>
          </a:p>
          <a:p>
            <a:endParaRPr lang="zh-TW" altLang="en-US" dirty="0"/>
          </a:p>
        </p:txBody>
      </p:sp>
      <p:pic>
        <p:nvPicPr>
          <p:cNvPr id="4" name="Picture 2" descr="C:\Documents and Settings\Sephiroth\桌面\Extension_proces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4000504"/>
            <a:ext cx="4314820" cy="2255474"/>
          </a:xfrm>
          <a:prstGeom prst="rect">
            <a:avLst/>
          </a:prstGeom>
          <a:noFill/>
        </p:spPr>
      </p:pic>
      <p:pic>
        <p:nvPicPr>
          <p:cNvPr id="5" name="Picture 3" descr="C:\Documents and Settings\Sephiroth\桌面\Neighbor_HSP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4" y="3929066"/>
            <a:ext cx="3571900" cy="22713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BLOSUM62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A  R  N  D  C  Q  E  G  H  I  L  K  M  F  P  S  T  W  Y  V  B  Z  X  *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A  4 -1 -2 -2  0 -1 -1  0 -2 -1 -1 -1 -1 -2 -1  1  0 -3 -2  0 -2 -1  0 -4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R -1  5  0 -2 -3  1  0 -2  0 -3 -2  2 -1 -3 -2 -1 -1 -3 -2 -3 -1  0 -1 -4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N -2  0  6  1 -3  0  0  0  1 -3 -3  0 -2 -3 -2  1  0 -4 -2 -3  3  0 -1 -4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D -2 -2  1  6 -3  0  2 -1 -1 -3 -4 -1 -3 -3 -1  0 -1 -4 -3 -3  4  1 -1 -4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C  0 -3 -3 -3  9 -3 -4 -3 -3 -1 -1 -3 -1 -2 -3 -1 -1 -2 -2 -1 -3 -3 -2 -4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Q -1  1  0  0 -3  5  2 -2  0 -3 -2  1  0 -3 -1  0 -1 -2 -1 -2  0  3 -1 -4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E -1  0  0  2 -4  2  5 -2  0 -3 -3  1 -2 -3 -1  0 -1 -3 -2 -2  1  4 -1 -4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G  0 -2  0 -1 -3 -2 -2  6 -2 -4 -4 -2 -3 -3 -2  0 -2 -2 -3 -3 -1 -2 -1 -4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H -2  0  1 -1 -3  0  0 -2  8 -3 -3 -1 -2 -1 -2 -1 -2 -2  2 -3  0  0 -1 -4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I -1 -3 -3 -3 -1 -3 -3 -4 -3  4  2 -3  1  0 -3 -2 -1 -3 -1  3 -3 -3 -1 -4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L -1 -2 -3 -4 -1 -2 -3 -4 -3  2  4 -2  2  0 -3 -2 -1 -2 -1  1 -4 -3 -1 -4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K -1  2  0 -1 -3  1  1 -2 -1 -3 -2  5 -1 -3 -1  0 -1 -3 -2 -2  0  1 -1 -4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M -1 -1 -2 -3 -1  0 -2 -3 -2  1  2 -1  5  0 -2 -1 -1 -1 -1  1 -3 -1 -1 -4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F -2 -3 -3 -3 -2 -3 -3 -3 -1  0  0 -3  0  6 -4 -2 -2  1  3 -1 -3 -3 -1 -4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P -1 -2 -2 -1 -3 -1 -1 -2 -2 -3 -3 -1 -2 -4  7 -1 -1 -4 -3 -2 -2 -1 -2 -4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S  1 -1  1  0 -1  0  0  0 -1 -2 -2  0 -1 -2 -1  4  1 -3 -2 -2  0  0  0 -4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T  0 -1  0 -1 -1 -1 -1 -2 -2 -1 -1 -1 -1 -2 -1  1  5 -2 -2  0 -1 -1  0 -4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W -3 -3 -4 -4 -2 -2 -3 -2 -2 -3 -2 -3 -1  1 -4 -3 -2 11  2 -3 -4 -3 -2 -4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Y -2 -2 -2 -3 -2 -1 -2 -3  2 -1 -1 -2 -1  3 -3 -2 -2  2  7 -1 -3 -2 -1 -4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V  0 -3 -3 -3 -1 -2 -2 -3 -3  3  1 -2  1 -1 -2 -2  0 -3 -1  4 -3 -2 -1 -4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B -2 -1  3  4 -3  0  1 -1  0 -3 -4  0 -3 -3 -2  0 -1 -4 -3 -3  4  1 -1 -4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Z -1  0  0  1 -3  3  4 -2  0 -3 -3  1 -1 -3 -1  0 -1 -3 -2 -2  1  4 -1 -4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X  0 -1 -1 -1 -2 -1 -1 -1 -1 -1 -1 -1 -1 -1 -2  0  0 -2 -1 -1 -1 -1 -1 -4 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* -4 -4 -4 -4 -4 -4 -4 -4 -4 -4 -4 -4 -4 -4 -4 -4 -4 -4 -4 -4 -4 -4 -4  1 </a:t>
            </a:r>
          </a:p>
        </p:txBody>
      </p:sp>
      <p:sp>
        <p:nvSpPr>
          <p:cNvPr id="4" name="矩形 3"/>
          <p:cNvSpPr/>
          <p:nvPr/>
        </p:nvSpPr>
        <p:spPr>
          <a:xfrm>
            <a:off x="4258257" y="4615454"/>
            <a:ext cx="214314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227294" y="2824162"/>
            <a:ext cx="214314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494675" y="3237916"/>
            <a:ext cx="214314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500694" y="4429132"/>
            <a:ext cx="214314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275003" y="4432041"/>
            <a:ext cx="214314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468307" y="2015605"/>
            <a:ext cx="214314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BLAST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List all of the HSPs in the database whose score is high enough to be considered.</a:t>
            </a:r>
          </a:p>
          <a:p>
            <a:r>
              <a:rPr lang="en-US" sz="2200" dirty="0" smtClean="0"/>
              <a:t>Evaluate the significance of the HSP score.</a:t>
            </a:r>
          </a:p>
          <a:p>
            <a:r>
              <a:rPr lang="en-US" sz="2200" dirty="0" smtClean="0"/>
              <a:t>Make two or more HSP regions into a longer alignment.</a:t>
            </a:r>
          </a:p>
          <a:p>
            <a:r>
              <a:rPr lang="en-US" sz="2200" dirty="0" smtClean="0"/>
              <a:t>Show the gapped Smith-Waterman local alignments of the query and each of the matched database sequences. </a:t>
            </a:r>
          </a:p>
          <a:p>
            <a:r>
              <a:rPr lang="en-US" sz="2200" dirty="0" smtClean="0"/>
              <a:t>Report the matches whose expect score is lower than a threshold parameter E. </a:t>
            </a:r>
          </a:p>
          <a:p>
            <a:endParaRPr lang="zh-TW" altLang="en-US" dirty="0"/>
          </a:p>
        </p:txBody>
      </p:sp>
      <p:pic>
        <p:nvPicPr>
          <p:cNvPr id="6146" name="Picture 2" descr="C:\Documents and Settings\Sephiroth\桌面\718ad083e3ace3c6e87520cd4b46e6bb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5357826"/>
            <a:ext cx="3774691" cy="428628"/>
          </a:xfrm>
          <a:prstGeom prst="rect">
            <a:avLst/>
          </a:prstGeom>
          <a:noFill/>
        </p:spPr>
      </p:pic>
      <p:pic>
        <p:nvPicPr>
          <p:cNvPr id="6147" name="Picture 3" descr="C:\Documents and Settings\Sephiroth\桌面\de316fed5dc480dfc40e517108c01d4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1" y="6000768"/>
            <a:ext cx="1949663" cy="357190"/>
          </a:xfrm>
          <a:prstGeom prst="rect">
            <a:avLst/>
          </a:prstGeom>
          <a:noFill/>
        </p:spPr>
      </p:pic>
      <p:pic>
        <p:nvPicPr>
          <p:cNvPr id="6148" name="Picture 4" descr="C:\Documents and Settings\Sephiroth\桌面\2a45877e9334bb9474955816d68d6bd3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1" y="4786322"/>
            <a:ext cx="2286017" cy="3219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PSI-BLAST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Perform </a:t>
            </a:r>
            <a:r>
              <a:rPr lang="en-US" altLang="zh-TW" sz="2800" dirty="0" smtClean="0"/>
              <a:t>initial alignment with BLAST using BLOSUM 62 substitution matrix.</a:t>
            </a:r>
          </a:p>
          <a:p>
            <a:r>
              <a:rPr lang="en-US" altLang="zh-TW" sz="2800" dirty="0" smtClean="0"/>
              <a:t>Construct </a:t>
            </a:r>
            <a:r>
              <a:rPr lang="en-US" altLang="zh-TW" sz="2800" dirty="0" smtClean="0"/>
              <a:t>a multiple alignment from hits.</a:t>
            </a:r>
          </a:p>
          <a:p>
            <a:r>
              <a:rPr lang="en-US" altLang="zh-TW" sz="2800" dirty="0" smtClean="0"/>
              <a:t>Prepare </a:t>
            </a:r>
            <a:r>
              <a:rPr lang="en-US" altLang="zh-TW" sz="2800" dirty="0" smtClean="0"/>
              <a:t>a position </a:t>
            </a:r>
            <a:r>
              <a:rPr lang="en-US" altLang="zh-TW" sz="2800" dirty="0" err="1" smtClean="0"/>
              <a:t>speciﬁc</a:t>
            </a:r>
            <a:r>
              <a:rPr lang="en-US" altLang="zh-TW" sz="2800" dirty="0" smtClean="0"/>
              <a:t> scoring matrix (PSSM).</a:t>
            </a:r>
          </a:p>
          <a:p>
            <a:r>
              <a:rPr lang="en-US" altLang="zh-TW" sz="2800" dirty="0" smtClean="0"/>
              <a:t>Use </a:t>
            </a:r>
            <a:r>
              <a:rPr lang="en-US" altLang="zh-TW" sz="2800" dirty="0" smtClean="0"/>
              <a:t>PSSM </a:t>
            </a:r>
            <a:r>
              <a:rPr lang="en-US" altLang="zh-TW" sz="2800" dirty="0" err="1" smtClean="0"/>
              <a:t>proﬁle</a:t>
            </a:r>
            <a:r>
              <a:rPr lang="en-US" altLang="zh-TW" sz="2800" dirty="0" smtClean="0"/>
              <a:t> as the scoring matrix for a second BLAST (run against database).</a:t>
            </a:r>
          </a:p>
          <a:p>
            <a:r>
              <a:rPr lang="en-US" altLang="zh-TW" sz="2800" dirty="0" smtClean="0"/>
              <a:t>Repeat </a:t>
            </a:r>
            <a:r>
              <a:rPr lang="en-US" altLang="zh-TW" sz="2800" dirty="0" smtClean="0"/>
              <a:t>steps 2-4 until convergence.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PSSM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Run </a:t>
            </a:r>
            <a:r>
              <a:rPr lang="en-US" altLang="zh-TW" dirty="0" smtClean="0"/>
              <a:t>BLAST against the database (local alignment).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Collect </a:t>
            </a:r>
            <a:r>
              <a:rPr lang="en-US" altLang="zh-TW" dirty="0" smtClean="0"/>
              <a:t>database sequence segments with E-value below threshold (default is 0.01).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Remove </a:t>
            </a:r>
            <a:r>
              <a:rPr lang="en-US" altLang="zh-TW" dirty="0" smtClean="0"/>
              <a:t>similar sequences.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zh-TW" dirty="0" smtClean="0"/>
              <a:t>Remove </a:t>
            </a:r>
            <a:r>
              <a:rPr lang="en-US" altLang="zh-TW" dirty="0" smtClean="0"/>
              <a:t>sequence segments identical to a query segment.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zh-TW" dirty="0" smtClean="0"/>
              <a:t>Retain </a:t>
            </a:r>
            <a:r>
              <a:rPr lang="en-US" altLang="zh-TW" dirty="0" smtClean="0"/>
              <a:t>one copy for any rows that are </a:t>
            </a:r>
            <a:r>
              <a:rPr lang="en-US" altLang="zh-TW" i="1" dirty="0" smtClean="0"/>
              <a:t>&gt;98% </a:t>
            </a:r>
            <a:r>
              <a:rPr lang="en-US" altLang="zh-TW" dirty="0" smtClean="0"/>
              <a:t>identical to one another.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Construct the multiple alignment block </a:t>
            </a:r>
            <a:r>
              <a:rPr lang="en-US" altLang="zh-TW" i="1" dirty="0" smtClean="0"/>
              <a:t>M </a:t>
            </a:r>
            <a:r>
              <a:rPr lang="en-US" altLang="zh-TW" dirty="0" smtClean="0"/>
              <a:t>with the remaining segments</a:t>
            </a:r>
            <a:r>
              <a:rPr lang="en-US" altLang="zh-TW" i="1" dirty="0" smtClean="0"/>
              <a:t> (length M = </a:t>
            </a:r>
            <a:r>
              <a:rPr lang="en-US" altLang="zh-TW" i="1" dirty="0" smtClean="0"/>
              <a:t>query length</a:t>
            </a:r>
            <a:r>
              <a:rPr lang="en-US" altLang="zh-TW" i="1" dirty="0" smtClean="0"/>
              <a:t> ).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zh-TW" dirty="0" smtClean="0"/>
              <a:t>Ignore </a:t>
            </a:r>
            <a:r>
              <a:rPr lang="en-US" altLang="zh-TW" dirty="0" err="1" smtClean="0"/>
              <a:t>pairwise</a:t>
            </a:r>
            <a:r>
              <a:rPr lang="en-US" altLang="zh-TW" dirty="0" smtClean="0"/>
              <a:t> alignment columns that involve gap characters inserted into the query.</a:t>
            </a:r>
          </a:p>
          <a:p>
            <a:pPr>
              <a:buNone/>
            </a:pPr>
            <a:endParaRPr lang="en-US" altLang="zh-TW" i="1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</a:t>
            </a:r>
            <a:endParaRPr lang="zh-TW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68441" y="1600200"/>
            <a:ext cx="780711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PSSM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TW" dirty="0" smtClean="0"/>
              <a:t>5. </a:t>
            </a:r>
            <a:r>
              <a:rPr lang="en-US" altLang="zh-TW" sz="2200" dirty="0" smtClean="0"/>
              <a:t>For each column </a:t>
            </a:r>
            <a:r>
              <a:rPr lang="en-US" altLang="zh-TW" sz="2200" i="1" dirty="0" smtClean="0"/>
              <a:t>C:</a:t>
            </a:r>
          </a:p>
          <a:p>
            <a:pPr>
              <a:buNone/>
            </a:pPr>
            <a:r>
              <a:rPr lang="en-US" altLang="zh-TW" sz="2200" dirty="0" smtClean="0"/>
              <a:t>	a</a:t>
            </a:r>
            <a:r>
              <a:rPr lang="en-US" altLang="zh-TW" sz="2200" dirty="0" smtClean="0"/>
              <a:t>) Reduce M to M</a:t>
            </a:r>
            <a:r>
              <a:rPr lang="en-US" altLang="zh-TW" sz="2200" baseline="-25000" dirty="0" smtClean="0"/>
              <a:t>C</a:t>
            </a:r>
            <a:r>
              <a:rPr lang="en-US" altLang="zh-TW" sz="2200" dirty="0" smtClean="0"/>
              <a:t> </a:t>
            </a:r>
            <a:r>
              <a:rPr lang="en-US" altLang="zh-TW" sz="2200" i="1" dirty="0" smtClean="0"/>
              <a:t>(1 ≦ C ≦ query length)</a:t>
            </a:r>
          </a:p>
          <a:p>
            <a:pPr>
              <a:buNone/>
            </a:pPr>
            <a:r>
              <a:rPr lang="en-US" altLang="zh-TW" sz="2200" dirty="0" smtClean="0"/>
              <a:t>		</a:t>
            </a:r>
            <a:r>
              <a:rPr lang="en-US" altLang="zh-TW" sz="2200" dirty="0" err="1" smtClean="0"/>
              <a:t>i</a:t>
            </a:r>
            <a:r>
              <a:rPr lang="en-US" altLang="zh-TW" sz="2200" dirty="0" smtClean="0"/>
              <a:t>. Let </a:t>
            </a:r>
            <a:r>
              <a:rPr lang="en-US" altLang="zh-TW" sz="2200" i="1" dirty="0" smtClean="0"/>
              <a:t>R </a:t>
            </a:r>
            <a:r>
              <a:rPr lang="en-US" altLang="zh-TW" sz="2200" dirty="0" smtClean="0"/>
              <a:t>be the set of sequences with a residue in </a:t>
            </a:r>
            <a:r>
              <a:rPr lang="en-US" altLang="zh-TW" sz="2200" i="1" dirty="0" smtClean="0"/>
              <a:t>C.</a:t>
            </a:r>
          </a:p>
          <a:p>
            <a:pPr>
              <a:buNone/>
            </a:pPr>
            <a:r>
              <a:rPr lang="en-US" altLang="zh-TW" sz="2200" dirty="0" smtClean="0"/>
              <a:t>		ii</a:t>
            </a:r>
            <a:r>
              <a:rPr lang="en-US" altLang="zh-TW" sz="2200" dirty="0" smtClean="0"/>
              <a:t>. Columns of M</a:t>
            </a:r>
            <a:r>
              <a:rPr lang="en-US" altLang="zh-TW" sz="2200" baseline="-25000" dirty="0" smtClean="0"/>
              <a:t>C</a:t>
            </a:r>
            <a:r>
              <a:rPr lang="en-US" altLang="zh-TW" sz="2200" dirty="0" smtClean="0"/>
              <a:t> are columns of M with all sequences in R. In </a:t>
            </a:r>
            <a:r>
              <a:rPr lang="en-US" altLang="zh-TW" sz="2200" dirty="0" smtClean="0"/>
              <a:t>	    other </a:t>
            </a:r>
            <a:r>
              <a:rPr lang="en-US" altLang="zh-TW" sz="2200" dirty="0" smtClean="0"/>
              <a:t>words, M</a:t>
            </a:r>
            <a:r>
              <a:rPr lang="en-US" altLang="zh-TW" sz="2200" baseline="-25000" dirty="0" smtClean="0"/>
              <a:t>C</a:t>
            </a:r>
            <a:r>
              <a:rPr lang="en-US" altLang="zh-TW" sz="2200" dirty="0" smtClean="0"/>
              <a:t> only </a:t>
            </a:r>
            <a:r>
              <a:rPr lang="en-US" altLang="zh-TW" sz="2200" dirty="0" smtClean="0"/>
              <a:t>contains those </a:t>
            </a:r>
            <a:r>
              <a:rPr lang="en-US" altLang="zh-TW" sz="2200" dirty="0" smtClean="0"/>
              <a:t>database sequences in </a:t>
            </a:r>
            <a:r>
              <a:rPr lang="en-US" altLang="zh-TW" sz="2200" dirty="0" smtClean="0"/>
              <a:t>	    R</a:t>
            </a:r>
            <a:r>
              <a:rPr lang="en-US" altLang="zh-TW" sz="2200" dirty="0" smtClean="0"/>
              <a:t>. Therefore, M</a:t>
            </a:r>
            <a:r>
              <a:rPr lang="en-US" altLang="zh-TW" sz="2200" baseline="-25000" dirty="0" smtClean="0"/>
              <a:t>C</a:t>
            </a:r>
            <a:r>
              <a:rPr lang="en-US" altLang="zh-TW" sz="2200" dirty="0" smtClean="0"/>
              <a:t> contains a subset of M’s </a:t>
            </a:r>
            <a:r>
              <a:rPr lang="en-US" altLang="zh-TW" sz="2200" dirty="0" smtClean="0"/>
              <a:t>columns and 	    rows.</a:t>
            </a:r>
            <a:endParaRPr lang="en-US" altLang="zh-TW" sz="2200" dirty="0" smtClean="0"/>
          </a:p>
          <a:p>
            <a:pPr>
              <a:buNone/>
            </a:pPr>
            <a:r>
              <a:rPr lang="en-US" altLang="zh-TW" sz="2200" dirty="0" smtClean="0"/>
              <a:t>	b</a:t>
            </a:r>
            <a:r>
              <a:rPr lang="en-US" altLang="zh-TW" sz="2200" dirty="0" smtClean="0"/>
              <a:t>) Compute weights for each sequence in </a:t>
            </a:r>
            <a:r>
              <a:rPr lang="en-US" altLang="zh-TW" sz="2200" i="1" dirty="0" smtClean="0"/>
              <a:t>R.</a:t>
            </a:r>
            <a:endParaRPr lang="en-US" altLang="zh-TW" sz="2200" i="1" dirty="0" smtClean="0"/>
          </a:p>
          <a:p>
            <a:pPr>
              <a:buNone/>
            </a:pPr>
            <a:r>
              <a:rPr lang="en-US" altLang="zh-TW" sz="2200" dirty="0" smtClean="0"/>
              <a:t>	c</a:t>
            </a:r>
            <a:r>
              <a:rPr lang="en-US" altLang="zh-TW" sz="2200" dirty="0" smtClean="0"/>
              <a:t>) Compute </a:t>
            </a:r>
            <a:r>
              <a:rPr lang="en-US" altLang="zh-TW" sz="2200" i="1" dirty="0" smtClean="0"/>
              <a:t>P</a:t>
            </a:r>
            <a:r>
              <a:rPr lang="en-US" altLang="zh-TW" sz="2200" i="1" baseline="-25000" dirty="0" smtClean="0"/>
              <a:t>i</a:t>
            </a:r>
            <a:r>
              <a:rPr lang="en-US" altLang="zh-TW" sz="2200" i="1" dirty="0" smtClean="0"/>
              <a:t>, </a:t>
            </a:r>
            <a:r>
              <a:rPr lang="en-US" altLang="zh-TW" sz="2200" dirty="0" smtClean="0"/>
              <a:t>the background frequency of residue </a:t>
            </a:r>
            <a:r>
              <a:rPr lang="en-US" altLang="zh-TW" sz="2200" i="1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over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M</a:t>
            </a:r>
            <a:r>
              <a:rPr lang="en-US" altLang="zh-TW" sz="2200" i="1" baseline="-25000" dirty="0" smtClean="0"/>
              <a:t>C</a:t>
            </a:r>
            <a:r>
              <a:rPr lang="en-US" altLang="zh-TW" sz="2200" i="1" dirty="0" smtClean="0"/>
              <a:t>.</a:t>
            </a:r>
          </a:p>
          <a:p>
            <a:pPr>
              <a:buNone/>
            </a:pPr>
            <a:r>
              <a:rPr lang="en-US" altLang="zh-TW" sz="2200" dirty="0" smtClean="0"/>
              <a:t>	d</a:t>
            </a:r>
            <a:r>
              <a:rPr lang="en-US" altLang="zh-TW" sz="2200" dirty="0" smtClean="0"/>
              <a:t>) Compute weighted frequency </a:t>
            </a:r>
            <a:r>
              <a:rPr lang="en-US" altLang="zh-TW" sz="2200" i="1" dirty="0" err="1" smtClean="0"/>
              <a:t>f</a:t>
            </a:r>
            <a:r>
              <a:rPr lang="en-US" altLang="zh-TW" sz="2200" i="1" baseline="-25000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for each residue </a:t>
            </a:r>
            <a:r>
              <a:rPr lang="en-US" altLang="zh-TW" sz="2200" i="1" dirty="0" err="1" smtClean="0"/>
              <a:t>i</a:t>
            </a:r>
            <a:r>
              <a:rPr lang="en-US" altLang="zh-TW" sz="2200" i="1" dirty="0" smtClean="0"/>
              <a:t>.</a:t>
            </a:r>
          </a:p>
          <a:p>
            <a:pPr>
              <a:buNone/>
            </a:pPr>
            <a:r>
              <a:rPr lang="en-US" altLang="zh-TW" sz="2200" dirty="0" smtClean="0"/>
              <a:t>	e</a:t>
            </a:r>
            <a:r>
              <a:rPr lang="en-US" altLang="zh-TW" sz="2200" dirty="0" smtClean="0"/>
              <a:t>) Estimate the relative number of independent observations </a:t>
            </a:r>
            <a:r>
              <a:rPr lang="en-US" altLang="zh-TW" sz="2200" i="1" dirty="0" smtClean="0"/>
              <a:t>N</a:t>
            </a:r>
            <a:r>
              <a:rPr lang="en-US" altLang="zh-TW" sz="2200" i="1" baseline="-25000" dirty="0" smtClean="0"/>
              <a:t>C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as</a:t>
            </a:r>
          </a:p>
          <a:p>
            <a:pPr>
              <a:buNone/>
            </a:pPr>
            <a:r>
              <a:rPr lang="en-US" altLang="zh-TW" sz="2200" dirty="0" smtClean="0"/>
              <a:t> </a:t>
            </a:r>
            <a:r>
              <a:rPr lang="en-US" altLang="zh-TW" sz="2200" dirty="0" smtClean="0"/>
              <a:t>        the </a:t>
            </a:r>
            <a:r>
              <a:rPr lang="en-US" altLang="zh-TW" sz="2200" dirty="0" smtClean="0"/>
              <a:t>mean number of </a:t>
            </a:r>
            <a:r>
              <a:rPr lang="en-US" altLang="zh-TW" sz="2200" dirty="0" smtClean="0"/>
              <a:t>different residue </a:t>
            </a:r>
            <a:r>
              <a:rPr lang="en-US" altLang="zh-TW" sz="2200" dirty="0" smtClean="0"/>
              <a:t>including gap characters.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PSSM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zh-TW" dirty="0" smtClean="0"/>
              <a:t>	</a:t>
            </a:r>
            <a:r>
              <a:rPr lang="en-US" altLang="zh-TW" sz="2200" dirty="0" smtClean="0"/>
              <a:t>f) Compute </a:t>
            </a:r>
            <a:r>
              <a:rPr lang="en-US" altLang="zh-TW" sz="2200" dirty="0" err="1" smtClean="0"/>
              <a:t>psuedocount</a:t>
            </a:r>
            <a:r>
              <a:rPr lang="en-US" altLang="zh-TW" sz="2200" dirty="0" smtClean="0"/>
              <a:t> </a:t>
            </a:r>
            <a:r>
              <a:rPr lang="en-US" altLang="zh-TW" sz="2200" i="1" dirty="0" err="1" smtClean="0"/>
              <a:t>g</a:t>
            </a:r>
            <a:r>
              <a:rPr lang="en-US" altLang="zh-TW" sz="2200" i="1" baseline="-25000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for each residue </a:t>
            </a:r>
            <a:r>
              <a:rPr lang="en-US" altLang="zh-TW" sz="2200" i="1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(expectation based on </a:t>
            </a:r>
            <a:r>
              <a:rPr lang="en-US" altLang="zh-TW" sz="2200" dirty="0" smtClean="0"/>
              <a:t> </a:t>
            </a:r>
          </a:p>
          <a:p>
            <a:pPr>
              <a:buNone/>
            </a:pPr>
            <a:r>
              <a:rPr lang="en-US" altLang="zh-TW" sz="2200" dirty="0" smtClean="0"/>
              <a:t> </a:t>
            </a:r>
            <a:r>
              <a:rPr lang="en-US" altLang="zh-TW" sz="2200" dirty="0" smtClean="0"/>
              <a:t>        score </a:t>
            </a:r>
            <a:r>
              <a:rPr lang="en-US" altLang="zh-TW" sz="2200" dirty="0" smtClean="0"/>
              <a:t>matrix).</a:t>
            </a:r>
          </a:p>
          <a:p>
            <a:pPr>
              <a:buNone/>
            </a:pPr>
            <a:endParaRPr lang="en-US" altLang="zh-TW" sz="2200" i="1" dirty="0" smtClean="0"/>
          </a:p>
          <a:p>
            <a:pPr>
              <a:buNone/>
            </a:pPr>
            <a:r>
              <a:rPr lang="en-US" altLang="zh-TW" sz="2200" dirty="0" smtClean="0"/>
              <a:t>	    </a:t>
            </a:r>
            <a:endParaRPr lang="en-US" altLang="zh-TW" sz="2200" dirty="0" smtClean="0"/>
          </a:p>
          <a:p>
            <a:pPr>
              <a:buNone/>
            </a:pPr>
            <a:r>
              <a:rPr lang="en-US" altLang="zh-TW" sz="2200" dirty="0" smtClean="0"/>
              <a:t> 	    </a:t>
            </a:r>
          </a:p>
          <a:p>
            <a:pPr>
              <a:buNone/>
            </a:pPr>
            <a:r>
              <a:rPr lang="en-US" altLang="zh-TW" sz="2200" dirty="0" smtClean="0"/>
              <a:t>	 </a:t>
            </a:r>
            <a:r>
              <a:rPr lang="en-US" altLang="zh-TW" sz="2200" dirty="0" smtClean="0"/>
              <a:t>   where </a:t>
            </a:r>
            <a:r>
              <a:rPr lang="en-US" altLang="zh-TW" sz="2200" dirty="0" smtClean="0"/>
              <a:t>are the target frequencies implicit in the substitution matrix, </a:t>
            </a:r>
            <a:r>
              <a:rPr lang="en-US" altLang="zh-TW" sz="2200" dirty="0" smtClean="0"/>
              <a:t> </a:t>
            </a:r>
          </a:p>
          <a:p>
            <a:pPr>
              <a:buNone/>
            </a:pPr>
            <a:r>
              <a:rPr lang="en-US" altLang="zh-TW" sz="2200" i="1" dirty="0" smtClean="0"/>
              <a:t> </a:t>
            </a:r>
            <a:r>
              <a:rPr lang="en-US" altLang="zh-TW" sz="2200" i="1" dirty="0" smtClean="0"/>
              <a:t>        </a:t>
            </a:r>
            <a:r>
              <a:rPr lang="en-US" altLang="zh-TW" sz="2200" i="1" dirty="0" err="1" smtClean="0"/>
              <a:t>s</a:t>
            </a:r>
            <a:r>
              <a:rPr lang="en-US" altLang="zh-TW" sz="2200" i="1" baseline="-25000" dirty="0" err="1" smtClean="0"/>
              <a:t>ij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is the substitution </a:t>
            </a:r>
            <a:r>
              <a:rPr lang="en-US" altLang="zh-TW" sz="2200" dirty="0" smtClean="0"/>
              <a:t>matrix score </a:t>
            </a:r>
            <a:r>
              <a:rPr lang="en-US" altLang="zh-TW" sz="2200" dirty="0" smtClean="0"/>
              <a:t>for aligning each pair of amino </a:t>
            </a:r>
            <a:endParaRPr lang="en-US" altLang="zh-TW" sz="2200" dirty="0" smtClean="0"/>
          </a:p>
          <a:p>
            <a:pPr>
              <a:buNone/>
            </a:pPr>
            <a:r>
              <a:rPr lang="en-US" altLang="zh-TW" sz="2200" dirty="0" smtClean="0"/>
              <a:t> </a:t>
            </a:r>
            <a:r>
              <a:rPr lang="en-US" altLang="zh-TW" sz="2200" dirty="0" smtClean="0"/>
              <a:t>        acids </a:t>
            </a:r>
            <a:r>
              <a:rPr lang="en-US" altLang="zh-TW" sz="2200" i="1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and</a:t>
            </a:r>
            <a:r>
              <a:rPr lang="en-US" altLang="zh-TW" sz="2200" i="1" dirty="0" smtClean="0"/>
              <a:t> j, </a:t>
            </a:r>
            <a:r>
              <a:rPr lang="en-US" altLang="zh-TW" sz="2200" dirty="0" smtClean="0"/>
              <a:t>and</a:t>
            </a:r>
            <a:r>
              <a:rPr lang="en-US" altLang="zh-TW" sz="2200" i="1" dirty="0" smtClean="0"/>
              <a:t> </a:t>
            </a:r>
            <a:r>
              <a:rPr lang="en-US" altLang="zh-TW" sz="2200" i="1" dirty="0" smtClean="0"/>
              <a:t>¸</a:t>
            </a:r>
            <a:r>
              <a:rPr lang="el-GR" altLang="zh-TW" sz="2200" i="1" dirty="0" smtClean="0"/>
              <a:t> </a:t>
            </a:r>
            <a:r>
              <a:rPr lang="el-GR" altLang="zh-TW" sz="2200" i="1" dirty="0" smtClean="0"/>
              <a:t>λ</a:t>
            </a:r>
            <a:r>
              <a:rPr lang="en-US" altLang="zh-TW" sz="2200" i="1" baseline="-25000" dirty="0" smtClean="0"/>
              <a:t>u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is a constant parameter for </a:t>
            </a:r>
            <a:r>
              <a:rPr lang="en-US" altLang="zh-TW" sz="2200" dirty="0" err="1" smtClean="0"/>
              <a:t>ungapped</a:t>
            </a:r>
            <a:endParaRPr lang="en-US" altLang="zh-TW" sz="2200" dirty="0" smtClean="0"/>
          </a:p>
          <a:p>
            <a:pPr>
              <a:buNone/>
            </a:pPr>
            <a:r>
              <a:rPr lang="en-US" altLang="zh-TW" sz="2200" dirty="0" smtClean="0"/>
              <a:t>	    alignments.</a:t>
            </a:r>
          </a:p>
          <a:p>
            <a:pPr>
              <a:buNone/>
            </a:pPr>
            <a:r>
              <a:rPr lang="en-US" altLang="zh-TW" sz="2200" dirty="0" smtClean="0"/>
              <a:t>	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68" y="2428868"/>
            <a:ext cx="1928826" cy="1262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PSSM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sz="2200" dirty="0" smtClean="0"/>
              <a:t>	g</a:t>
            </a:r>
            <a:r>
              <a:rPr lang="en-US" altLang="zh-TW" sz="2200" dirty="0" smtClean="0"/>
              <a:t>) Compute </a:t>
            </a:r>
            <a:r>
              <a:rPr lang="en-US" altLang="zh-TW" sz="2200" i="1" dirty="0" err="1" smtClean="0"/>
              <a:t>Q</a:t>
            </a:r>
            <a:r>
              <a:rPr lang="en-US" altLang="zh-TW" sz="2200" i="1" baseline="-25000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as the weighted sum of </a:t>
            </a:r>
            <a:r>
              <a:rPr lang="en-US" altLang="zh-TW" sz="2200" i="1" dirty="0" err="1" smtClean="0"/>
              <a:t>f</a:t>
            </a:r>
            <a:r>
              <a:rPr lang="en-US" altLang="zh-TW" sz="2200" i="1" baseline="-25000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and</a:t>
            </a:r>
            <a:r>
              <a:rPr lang="en-US" altLang="zh-TW" sz="2200" i="1" dirty="0" smtClean="0"/>
              <a:t> </a:t>
            </a:r>
            <a:r>
              <a:rPr lang="en-US" altLang="zh-TW" sz="2200" i="1" dirty="0" err="1" smtClean="0"/>
              <a:t>g</a:t>
            </a:r>
            <a:r>
              <a:rPr lang="en-US" altLang="zh-TW" sz="2200" i="1" baseline="-25000" dirty="0" err="1" smtClean="0"/>
              <a:t>i</a:t>
            </a:r>
            <a:r>
              <a:rPr lang="en-US" altLang="zh-TW" sz="2200" i="1" dirty="0" smtClean="0"/>
              <a:t>.</a:t>
            </a:r>
          </a:p>
          <a:p>
            <a:pPr>
              <a:buNone/>
            </a:pPr>
            <a:endParaRPr lang="en-US" altLang="zh-TW" sz="2200" dirty="0" smtClean="0"/>
          </a:p>
          <a:p>
            <a:pPr>
              <a:buNone/>
            </a:pPr>
            <a:endParaRPr lang="en-US" altLang="zh-TW" sz="2200" dirty="0" smtClean="0"/>
          </a:p>
          <a:p>
            <a:pPr>
              <a:buNone/>
            </a:pPr>
            <a:endParaRPr lang="en-US" altLang="zh-TW" sz="2200" dirty="0" smtClean="0"/>
          </a:p>
          <a:p>
            <a:pPr>
              <a:buNone/>
            </a:pPr>
            <a:endParaRPr lang="en-US" altLang="zh-TW" sz="2200" dirty="0" smtClean="0"/>
          </a:p>
          <a:p>
            <a:pPr>
              <a:buNone/>
            </a:pPr>
            <a:r>
              <a:rPr lang="en-US" altLang="zh-TW" sz="2200" dirty="0" smtClean="0"/>
              <a:t>	h</a:t>
            </a:r>
            <a:r>
              <a:rPr lang="en-US" altLang="zh-TW" sz="2200" dirty="0" smtClean="0"/>
              <a:t>) PSSM score for residue </a:t>
            </a:r>
            <a:r>
              <a:rPr lang="en-US" altLang="zh-TW" sz="2200" i="1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is given </a:t>
            </a:r>
            <a:r>
              <a:rPr lang="en-US" altLang="zh-TW" sz="2200" dirty="0" smtClean="0"/>
              <a:t>by</a:t>
            </a:r>
            <a:endParaRPr lang="en-US" altLang="zh-TW" sz="2200" dirty="0" smtClean="0"/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2285992"/>
            <a:ext cx="2286016" cy="121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4500570"/>
            <a:ext cx="1271596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PERFORMANCE </a:t>
            </a:r>
            <a:r>
              <a:rPr lang="en-US" altLang="zh-TW" b="1" dirty="0" smtClean="0"/>
              <a:t>EVALUATION</a:t>
            </a:r>
            <a:endParaRPr lang="zh-TW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2253368"/>
            <a:ext cx="8665628" cy="3390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PERFORMANCE </a:t>
            </a:r>
            <a:r>
              <a:rPr lang="en-US" altLang="zh-TW" b="1" dirty="0" smtClean="0"/>
              <a:t>EVALUATION</a:t>
            </a:r>
            <a:endParaRPr lang="zh-TW" alt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2598260"/>
            <a:ext cx="8512121" cy="2616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NCBI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</a:t>
            </a:r>
            <a:r>
              <a:rPr lang="en-US" altLang="zh-TW" dirty="0" smtClean="0">
                <a:hlinkClick r:id="rId2"/>
              </a:rPr>
              <a:t>blast.ncbi.nlm.nih.gov/Blast.cgi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&gt;</a:t>
            </a:r>
            <a:r>
              <a:rPr lang="en-US" altLang="zh-TW" dirty="0" smtClean="0"/>
              <a:t>sp|P01403|TXF7_DENAN</a:t>
            </a:r>
            <a:endParaRPr lang="zh-TW" altLang="en-US" dirty="0" smtClean="0"/>
          </a:p>
          <a:p>
            <a:r>
              <a:rPr lang="en-US" altLang="zh-TW" dirty="0" smtClean="0"/>
              <a:t>TMCYSHTTTSRAILTNCGENSCYRKSRRHPPKMVLGRGCGCPPGDDYLEVKCCTSPDKCNY</a:t>
            </a:r>
            <a:endParaRPr lang="zh-TW" altLang="en-US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1402</Words>
  <PresentationFormat>如螢幕大小 (4:3)</PresentationFormat>
  <Paragraphs>98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Gapped BLAST and PSI-BLAST: a new generation of protein database search programs</vt:lpstr>
      <vt:lpstr>ABSTRACT</vt:lpstr>
      <vt:lpstr>BLAST</vt:lpstr>
      <vt:lpstr>BLAST</vt:lpstr>
      <vt:lpstr>BLOSUM62</vt:lpstr>
      <vt:lpstr>BLAST</vt:lpstr>
      <vt:lpstr>PSI-BLAST</vt:lpstr>
      <vt:lpstr>PSSM</vt:lpstr>
      <vt:lpstr>M</vt:lpstr>
      <vt:lpstr>PSSM</vt:lpstr>
      <vt:lpstr>PSSM</vt:lpstr>
      <vt:lpstr>PSSM</vt:lpstr>
      <vt:lpstr>PERFORMANCE EVALUATION</vt:lpstr>
      <vt:lpstr>PERFORMANCE EVALUATION</vt:lpstr>
      <vt:lpstr>NCBI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cp:lastModifiedBy>Sephiroth</cp:lastModifiedBy>
  <cp:revision>65</cp:revision>
  <dcterms:modified xsi:type="dcterms:W3CDTF">2010-03-02T10:28:38Z</dcterms:modified>
</cp:coreProperties>
</file>