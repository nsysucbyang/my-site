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 id="267" r:id="rId12"/>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548" autoAdjust="0"/>
  </p:normalViewPr>
  <p:slideViewPr>
    <p:cSldViewPr>
      <p:cViewPr varScale="1">
        <p:scale>
          <a:sx n="102" d="100"/>
          <a:sy n="102" d="100"/>
        </p:scale>
        <p:origin x="-23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2010/8/16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2010/8/16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2010/8/16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2010/8/16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2010/8/16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2010/8/16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2010/8/16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2010/8/16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2010/8/16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2010/8/16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2010/8/16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2010/8/16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smtClean="0">
                <a:latin typeface="Times New Roman" pitchFamily="18" charset="0"/>
                <a:cs typeface="Times New Roman" pitchFamily="18" charset="0"/>
              </a:rPr>
              <a:t>Predicting disulfide connectivity from protein sequence using</a:t>
            </a:r>
            <a:br>
              <a:rPr lang="en-US" altLang="zh-TW" dirty="0" smtClean="0">
                <a:latin typeface="Times New Roman" pitchFamily="18" charset="0"/>
                <a:cs typeface="Times New Roman" pitchFamily="18" charset="0"/>
              </a:rPr>
            </a:br>
            <a:r>
              <a:rPr lang="en-US" altLang="zh-TW" dirty="0" smtClean="0">
                <a:latin typeface="Times New Roman" pitchFamily="18" charset="0"/>
                <a:cs typeface="Times New Roman" pitchFamily="18" charset="0"/>
              </a:rPr>
              <a:t>multiple sequence feature vectors and secondary structure</a:t>
            </a:r>
            <a:endParaRPr lang="zh-TW" altLang="en-US" dirty="0">
              <a:latin typeface="Times New Roman" pitchFamily="18" charset="0"/>
              <a:cs typeface="Times New Roman" pitchFamily="18" charset="0"/>
            </a:endParaRPr>
          </a:p>
        </p:txBody>
      </p:sp>
      <p:sp>
        <p:nvSpPr>
          <p:cNvPr id="3" name="副標題 2"/>
          <p:cNvSpPr>
            <a:spLocks noGrp="1"/>
          </p:cNvSpPr>
          <p:nvPr>
            <p:ph type="subTitle" idx="1"/>
          </p:nvPr>
        </p:nvSpPr>
        <p:spPr>
          <a:xfrm>
            <a:off x="1331640" y="4293096"/>
            <a:ext cx="6400800" cy="1752600"/>
          </a:xfrm>
        </p:spPr>
        <p:txBody>
          <a:bodyPr>
            <a:normAutofit fontScale="92500" lnSpcReduction="10000"/>
          </a:bodyPr>
          <a:lstStyle/>
          <a:p>
            <a:r>
              <a:rPr lang="en-US" altLang="zh-TW" sz="2000" dirty="0" err="1" smtClean="0">
                <a:solidFill>
                  <a:schemeClr val="tx1"/>
                </a:solidFill>
                <a:latin typeface="Times New Roman" pitchFamily="18" charset="0"/>
                <a:cs typeface="Times New Roman" pitchFamily="18" charset="0"/>
              </a:rPr>
              <a:t>Jiangning</a:t>
            </a:r>
            <a:r>
              <a:rPr lang="en-US" altLang="zh-TW" sz="2000" dirty="0" smtClean="0">
                <a:solidFill>
                  <a:schemeClr val="tx1"/>
                </a:solidFill>
                <a:latin typeface="Times New Roman" pitchFamily="18" charset="0"/>
                <a:cs typeface="Times New Roman" pitchFamily="18" charset="0"/>
              </a:rPr>
              <a:t> Song, </a:t>
            </a:r>
            <a:r>
              <a:rPr lang="en-US" altLang="zh-TW" sz="2000" dirty="0" err="1" smtClean="0">
                <a:solidFill>
                  <a:schemeClr val="tx1"/>
                </a:solidFill>
                <a:latin typeface="Times New Roman" pitchFamily="18" charset="0"/>
                <a:cs typeface="Times New Roman" pitchFamily="18" charset="0"/>
              </a:rPr>
              <a:t>Zheng</a:t>
            </a:r>
            <a:r>
              <a:rPr lang="en-US" altLang="zh-TW" sz="2000" dirty="0" smtClean="0">
                <a:solidFill>
                  <a:schemeClr val="tx1"/>
                </a:solidFill>
                <a:latin typeface="Times New Roman" pitchFamily="18" charset="0"/>
                <a:cs typeface="Times New Roman" pitchFamily="18" charset="0"/>
              </a:rPr>
              <a:t> Yuan, </a:t>
            </a:r>
            <a:r>
              <a:rPr lang="en-US" altLang="zh-TW" sz="2000" dirty="0" err="1" smtClean="0">
                <a:solidFill>
                  <a:schemeClr val="tx1"/>
                </a:solidFill>
                <a:latin typeface="Times New Roman" pitchFamily="18" charset="0"/>
                <a:cs typeface="Times New Roman" pitchFamily="18" charset="0"/>
              </a:rPr>
              <a:t>Hao</a:t>
            </a:r>
            <a:r>
              <a:rPr lang="en-US" altLang="zh-TW" sz="2000" dirty="0" smtClean="0">
                <a:solidFill>
                  <a:schemeClr val="tx1"/>
                </a:solidFill>
                <a:latin typeface="Times New Roman" pitchFamily="18" charset="0"/>
                <a:cs typeface="Times New Roman" pitchFamily="18" charset="0"/>
              </a:rPr>
              <a:t> Tan, Thomas Huber and Kevin </a:t>
            </a:r>
            <a:r>
              <a:rPr lang="en-US" altLang="zh-TW" sz="2000" dirty="0" err="1" smtClean="0">
                <a:solidFill>
                  <a:schemeClr val="tx1"/>
                </a:solidFill>
                <a:latin typeface="Times New Roman" pitchFamily="18" charset="0"/>
                <a:cs typeface="Times New Roman" pitchFamily="18" charset="0"/>
              </a:rPr>
              <a:t>Burrage</a:t>
            </a:r>
            <a:endParaRPr lang="en-US" altLang="zh-TW" sz="2000" dirty="0" smtClean="0">
              <a:solidFill>
                <a:schemeClr val="tx1"/>
              </a:solidFill>
              <a:latin typeface="Times New Roman" pitchFamily="18" charset="0"/>
              <a:cs typeface="Times New Roman" pitchFamily="18" charset="0"/>
            </a:endParaRPr>
          </a:p>
          <a:p>
            <a:r>
              <a:rPr lang="en-US" altLang="zh-TW" sz="2000" dirty="0" smtClean="0">
                <a:solidFill>
                  <a:schemeClr val="tx1"/>
                </a:solidFill>
                <a:latin typeface="Times New Roman" pitchFamily="18" charset="0"/>
                <a:cs typeface="Times New Roman" pitchFamily="18" charset="0"/>
              </a:rPr>
              <a:t>Bioinformatics original paper, </a:t>
            </a:r>
            <a:r>
              <a:rPr lang="pt-BR" altLang="zh-TW" sz="2000" dirty="0" smtClean="0">
                <a:solidFill>
                  <a:schemeClr val="tx1"/>
                </a:solidFill>
                <a:latin typeface="Times New Roman" pitchFamily="18" charset="0"/>
                <a:cs typeface="Times New Roman" pitchFamily="18" charset="0"/>
              </a:rPr>
              <a:t>Vol. 23 no. 23 2007, pages 3147–3154</a:t>
            </a:r>
          </a:p>
          <a:p>
            <a:pPr>
              <a:lnSpc>
                <a:spcPct val="80000"/>
              </a:lnSpc>
            </a:pPr>
            <a:r>
              <a:rPr lang="en-US" altLang="zh-TW" sz="2000" dirty="0" smtClean="0">
                <a:solidFill>
                  <a:schemeClr val="tx1"/>
                </a:solidFill>
                <a:latin typeface="Times New Roman" pitchFamily="18" charset="0"/>
                <a:cs typeface="Times New Roman" pitchFamily="18" charset="0"/>
              </a:rPr>
              <a:t>Speaker: Chong-</a:t>
            </a:r>
            <a:r>
              <a:rPr lang="en-US" altLang="zh-TW" sz="2000" dirty="0" err="1" smtClean="0">
                <a:solidFill>
                  <a:schemeClr val="tx1"/>
                </a:solidFill>
                <a:latin typeface="Times New Roman" pitchFamily="18" charset="0"/>
                <a:cs typeface="Times New Roman" pitchFamily="18" charset="0"/>
              </a:rPr>
              <a:t>Jie</a:t>
            </a:r>
            <a:r>
              <a:rPr lang="en-US" altLang="zh-TW" sz="2000" dirty="0" smtClean="0">
                <a:solidFill>
                  <a:schemeClr val="tx1"/>
                </a:solidFill>
                <a:latin typeface="Times New Roman" pitchFamily="18" charset="0"/>
                <a:cs typeface="Times New Roman" pitchFamily="18" charset="0"/>
              </a:rPr>
              <a:t> Wang</a:t>
            </a:r>
          </a:p>
          <a:p>
            <a:pPr>
              <a:lnSpc>
                <a:spcPct val="80000"/>
              </a:lnSpc>
            </a:pPr>
            <a:r>
              <a:rPr lang="en-US" altLang="zh-TW" sz="2000" dirty="0" smtClean="0">
                <a:solidFill>
                  <a:schemeClr val="tx1"/>
                </a:solidFill>
                <a:latin typeface="Times New Roman" pitchFamily="18" charset="0"/>
                <a:cs typeface="Times New Roman" pitchFamily="18" charset="0"/>
              </a:rPr>
              <a:t>Date: August </a:t>
            </a:r>
            <a:r>
              <a:rPr lang="en-US" altLang="zh-TW" sz="2000" dirty="0" smtClean="0">
                <a:solidFill>
                  <a:schemeClr val="tx1"/>
                </a:solidFill>
                <a:latin typeface="Times New Roman" pitchFamily="18" charset="0"/>
                <a:cs typeface="Times New Roman" pitchFamily="18" charset="0"/>
              </a:rPr>
              <a:t>16</a:t>
            </a:r>
            <a:r>
              <a:rPr lang="en-US" altLang="zh-TW" sz="2000" dirty="0" smtClean="0">
                <a:solidFill>
                  <a:schemeClr val="tx1"/>
                </a:solidFill>
                <a:latin typeface="Times New Roman" pitchFamily="18" charset="0"/>
                <a:cs typeface="Times New Roman" pitchFamily="18" charset="0"/>
              </a:rPr>
              <a:t>, </a:t>
            </a:r>
            <a:r>
              <a:rPr lang="en-US" altLang="zh-TW" sz="2000" dirty="0" smtClean="0">
                <a:solidFill>
                  <a:schemeClr val="tx1"/>
                </a:solidFill>
                <a:latin typeface="Times New Roman" pitchFamily="18" charset="0"/>
                <a:cs typeface="Times New Roman" pitchFamily="18" charset="0"/>
              </a:rPr>
              <a:t>2010</a:t>
            </a:r>
          </a:p>
          <a:p>
            <a:endParaRPr lang="en-US" altLang="zh-TW" sz="2000" dirty="0" smtClean="0">
              <a:solidFill>
                <a:schemeClr val="tx1"/>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smtClean="0">
                <a:latin typeface="Times New Roman" pitchFamily="18" charset="0"/>
                <a:cs typeface="Times New Roman" pitchFamily="18" charset="0"/>
              </a:rPr>
              <a:t>Abstract(1/3)</a:t>
            </a:r>
            <a:endParaRPr lang="zh-TW" altLang="en-US" sz="4000"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fontScale="92500" lnSpcReduction="20000"/>
          </a:bodyPr>
          <a:lstStyle/>
          <a:p>
            <a:r>
              <a:rPr lang="en-US" altLang="zh-TW" b="1" dirty="0" smtClean="0">
                <a:latin typeface="Times New Roman" pitchFamily="18" charset="0"/>
                <a:cs typeface="Times New Roman" pitchFamily="18" charset="0"/>
              </a:rPr>
              <a:t>Motivation</a:t>
            </a:r>
            <a:r>
              <a:rPr lang="en-US" altLang="zh-TW" dirty="0" smtClean="0">
                <a:latin typeface="Times New Roman" pitchFamily="18" charset="0"/>
                <a:cs typeface="Times New Roman" pitchFamily="18" charset="0"/>
              </a:rPr>
              <a:t>: Disulfide bonds are primary covalent </a:t>
            </a:r>
            <a:r>
              <a:rPr lang="en-US" altLang="zh-TW" dirty="0" err="1" smtClean="0">
                <a:latin typeface="Times New Roman" pitchFamily="18" charset="0"/>
                <a:cs typeface="Times New Roman" pitchFamily="18" charset="0"/>
              </a:rPr>
              <a:t>crosslinks</a:t>
            </a:r>
            <a:r>
              <a:rPr lang="en-US" altLang="zh-TW" dirty="0" smtClean="0">
                <a:latin typeface="Times New Roman" pitchFamily="18" charset="0"/>
                <a:cs typeface="Times New Roman" pitchFamily="18" charset="0"/>
              </a:rPr>
              <a:t> between two </a:t>
            </a:r>
            <a:r>
              <a:rPr lang="en-US" altLang="zh-TW" dirty="0" err="1" smtClean="0">
                <a:latin typeface="Times New Roman" pitchFamily="18" charset="0"/>
                <a:cs typeface="Times New Roman" pitchFamily="18" charset="0"/>
              </a:rPr>
              <a:t>cysteine</a:t>
            </a:r>
            <a:r>
              <a:rPr lang="en-US" altLang="zh-TW" dirty="0" smtClean="0">
                <a:latin typeface="Times New Roman" pitchFamily="18" charset="0"/>
                <a:cs typeface="Times New Roman" pitchFamily="18" charset="0"/>
              </a:rPr>
              <a:t> residues in proteins that play critical roles in stabilizing the protein structures and are commonly found in </a:t>
            </a:r>
            <a:r>
              <a:rPr lang="en-US" altLang="zh-TW" dirty="0" err="1" smtClean="0">
                <a:latin typeface="Times New Roman" pitchFamily="18" charset="0"/>
                <a:cs typeface="Times New Roman" pitchFamily="18" charset="0"/>
              </a:rPr>
              <a:t>extracy-toplasmatic</a:t>
            </a:r>
            <a:r>
              <a:rPr lang="en-US" altLang="zh-TW" dirty="0" smtClean="0">
                <a:latin typeface="Times New Roman" pitchFamily="18" charset="0"/>
                <a:cs typeface="Times New Roman" pitchFamily="18" charset="0"/>
              </a:rPr>
              <a:t> or secreted proteins. In protein folding prediction, the localization of disulfide bonds can greatly reduce the search in conformational space. Therefore, there is a great need to develop computational methods capable of accurately predicting disulfide connectivity patterns in proteins that could have potentially important applications.</a:t>
            </a:r>
            <a:endParaRPr lang="zh-TW" altLang="en-US"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cs typeface="Times New Roman" pitchFamily="18" charset="0"/>
              </a:rPr>
              <a:t>Abstract(2/3)</a:t>
            </a:r>
            <a:endParaRPr lang="zh-TW" altLang="en-US" dirty="0"/>
          </a:p>
        </p:txBody>
      </p:sp>
      <p:sp>
        <p:nvSpPr>
          <p:cNvPr id="3" name="內容版面配置區 2"/>
          <p:cNvSpPr>
            <a:spLocks noGrp="1"/>
          </p:cNvSpPr>
          <p:nvPr>
            <p:ph idx="1"/>
          </p:nvPr>
        </p:nvSpPr>
        <p:spPr/>
        <p:txBody>
          <a:bodyPr>
            <a:normAutofit fontScale="85000" lnSpcReduction="20000"/>
          </a:bodyPr>
          <a:lstStyle/>
          <a:p>
            <a:r>
              <a:rPr lang="en-US" altLang="zh-TW" b="1" dirty="0" smtClean="0">
                <a:latin typeface="Times New Roman" pitchFamily="18" charset="0"/>
                <a:cs typeface="Times New Roman" pitchFamily="18" charset="0"/>
              </a:rPr>
              <a:t>Results</a:t>
            </a:r>
            <a:r>
              <a:rPr lang="en-US" altLang="zh-TW" dirty="0" smtClean="0">
                <a:latin typeface="Times New Roman" pitchFamily="18" charset="0"/>
                <a:cs typeface="Times New Roman" pitchFamily="18" charset="0"/>
              </a:rPr>
              <a:t>: We have developed a novel method to predict disulfide connectivity patterns from protein primary sequence, using </a:t>
            </a:r>
            <a:r>
              <a:rPr lang="en-US" altLang="zh-TW" dirty="0" smtClean="0">
                <a:latin typeface="Times New Roman" pitchFamily="18" charset="0"/>
                <a:cs typeface="Times New Roman" pitchFamily="18" charset="0"/>
              </a:rPr>
              <a:t>a support </a:t>
            </a:r>
            <a:r>
              <a:rPr lang="en-US" altLang="zh-TW" dirty="0" smtClean="0">
                <a:latin typeface="Times New Roman" pitchFamily="18" charset="0"/>
                <a:cs typeface="Times New Roman" pitchFamily="18" charset="0"/>
              </a:rPr>
              <a:t>vector regression (SVR) approach based on multiple sequence feature vectors and predicted secondary structure by the PSIPRED program. The results indicate that our method could achieve a prediction accuracy of 74.4% and 77.9%, respectively, when averaged on proteins with two to five disulfide bridges using 4-fold cross-validation, measured on the protein and </a:t>
            </a:r>
            <a:r>
              <a:rPr lang="en-US" altLang="zh-TW" dirty="0" err="1" smtClean="0">
                <a:latin typeface="Times New Roman" pitchFamily="18" charset="0"/>
                <a:cs typeface="Times New Roman" pitchFamily="18" charset="0"/>
              </a:rPr>
              <a:t>cysteine</a:t>
            </a:r>
            <a:r>
              <a:rPr lang="en-US" altLang="zh-TW" dirty="0" smtClean="0">
                <a:latin typeface="Times New Roman" pitchFamily="18" charset="0"/>
                <a:cs typeface="Times New Roman" pitchFamily="18" charset="0"/>
              </a:rPr>
              <a:t> pair on a well-defined non-homologous dataset. We assessed the effects of different sequence encoding schemes on the prediction </a:t>
            </a:r>
            <a:r>
              <a:rPr lang="en-US" altLang="zh-TW" dirty="0" smtClean="0">
                <a:latin typeface="Times New Roman" pitchFamily="18" charset="0"/>
                <a:cs typeface="Times New Roman" pitchFamily="18" charset="0"/>
              </a:rPr>
              <a:t>performance of </a:t>
            </a:r>
            <a:r>
              <a:rPr lang="en-US" altLang="zh-TW" dirty="0" smtClean="0">
                <a:latin typeface="Times New Roman" pitchFamily="18" charset="0"/>
                <a:cs typeface="Times New Roman" pitchFamily="18" charset="0"/>
              </a:rPr>
              <a:t>disulfide connectivity.</a:t>
            </a:r>
            <a:endParaRPr lang="zh-TW" altLang="en-US"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cs typeface="Times New Roman" pitchFamily="18" charset="0"/>
              </a:rPr>
              <a:t>Abstract(3/3)</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dirty="0" smtClean="0">
                <a:latin typeface="Times New Roman" pitchFamily="18" charset="0"/>
                <a:cs typeface="Times New Roman" pitchFamily="18" charset="0"/>
              </a:rPr>
              <a:t>It has been shown that the sequence encoding scheme based on multiple sequence feature vectors coupled with predicted secondary structure can significantly improve the prediction accuracy, thus enabling our method to outperform most of other currently available predictors. Our work provides a complementary approach to the current algorithms that should be useful in computationally assigning disulfide connectivity patterns and helps in the annotation of protein sequences generated by large-scale whole-genome projects.</a:t>
            </a:r>
            <a:endParaRPr lang="zh-TW" altLang="en-US"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smtClean="0">
                <a:latin typeface="Times New Roman" pitchFamily="18" charset="0"/>
                <a:cs typeface="Times New Roman" pitchFamily="18" charset="0"/>
              </a:rPr>
              <a:t>SVR(Support vector regression)</a:t>
            </a:r>
            <a:endParaRPr lang="zh-TW" altLang="en-US" sz="4000"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a:bodyPr>
          <a:lstStyle/>
          <a:p>
            <a:r>
              <a:rPr lang="en-US" altLang="zh-TW" sz="2800" dirty="0" smtClean="0">
                <a:latin typeface="Times New Roman" pitchFamily="18" charset="0"/>
                <a:cs typeface="Times New Roman" pitchFamily="18" charset="0"/>
              </a:rPr>
              <a:t>The objective of the regression problem is to estimate </a:t>
            </a:r>
            <a:r>
              <a:rPr lang="en-US" altLang="zh-TW" sz="2800" dirty="0" smtClean="0">
                <a:latin typeface="Times New Roman" pitchFamily="18" charset="0"/>
                <a:cs typeface="Times New Roman" pitchFamily="18" charset="0"/>
              </a:rPr>
              <a:t>an </a:t>
            </a:r>
            <a:r>
              <a:rPr lang="en-US" altLang="zh-TW" sz="2800" dirty="0" smtClean="0">
                <a:latin typeface="Times New Roman" pitchFamily="18" charset="0"/>
                <a:cs typeface="Times New Roman" pitchFamily="18" charset="0"/>
              </a:rPr>
              <a:t>unknown continuous-valued </a:t>
            </a:r>
            <a:r>
              <a:rPr lang="en-US" altLang="zh-TW" sz="2800" dirty="0" err="1" smtClean="0">
                <a:latin typeface="Times New Roman" pitchFamily="18" charset="0"/>
                <a:cs typeface="Times New Roman" pitchFamily="18" charset="0"/>
              </a:rPr>
              <a:t>functionx</a:t>
            </a:r>
            <a:r>
              <a:rPr lang="en-US" altLang="zh-TW" sz="2800" dirty="0" smtClean="0">
                <a:latin typeface="Times New Roman" pitchFamily="18" charset="0"/>
                <a:cs typeface="Times New Roman" pitchFamily="18" charset="0"/>
              </a:rPr>
              <a:t> </a:t>
            </a:r>
            <a:r>
              <a:rPr lang="en-US" altLang="zh-TW" sz="2800" i="1" dirty="0" smtClean="0">
                <a:latin typeface="Times New Roman" pitchFamily="18" charset="0"/>
                <a:cs typeface="Times New Roman" pitchFamily="18" charset="0"/>
              </a:rPr>
              <a:t>y </a:t>
            </a:r>
            <a:r>
              <a:rPr lang="en-US" altLang="zh-TW" sz="2800" dirty="0" smtClean="0">
                <a:latin typeface="Times New Roman" pitchFamily="18" charset="0"/>
                <a:cs typeface="Times New Roman" pitchFamily="18" charset="0"/>
              </a:rPr>
              <a:t>= </a:t>
            </a:r>
            <a:r>
              <a:rPr lang="en-US" altLang="zh-TW" sz="2800" i="1" dirty="0" smtClean="0">
                <a:latin typeface="Times New Roman" pitchFamily="18" charset="0"/>
                <a:cs typeface="Times New Roman" pitchFamily="18" charset="0"/>
              </a:rPr>
              <a:t>f</a:t>
            </a:r>
            <a:r>
              <a:rPr lang="en-US" altLang="zh-TW" sz="2800" dirty="0" smtClean="0">
                <a:latin typeface="Times New Roman" pitchFamily="18" charset="0"/>
                <a:cs typeface="Times New Roman" pitchFamily="18" charset="0"/>
              </a:rPr>
              <a:t>(</a:t>
            </a:r>
            <a:r>
              <a:rPr lang="en-US" altLang="zh-TW" sz="2800" i="1" dirty="0" smtClean="0">
                <a:latin typeface="Times New Roman" pitchFamily="18" charset="0"/>
                <a:cs typeface="Times New Roman" pitchFamily="18" charset="0"/>
              </a:rPr>
              <a:t>x</a:t>
            </a:r>
            <a:r>
              <a:rPr lang="en-US" altLang="zh-TW" sz="2800" dirty="0" smtClean="0">
                <a:latin typeface="Times New Roman" pitchFamily="18" charset="0"/>
                <a:cs typeface="Times New Roman" pitchFamily="18" charset="0"/>
              </a:rPr>
              <a:t>), </a:t>
            </a:r>
            <a:r>
              <a:rPr lang="en-US" altLang="zh-TW" sz="2800" dirty="0" smtClean="0">
                <a:latin typeface="Times New Roman" pitchFamily="18" charset="0"/>
                <a:cs typeface="Times New Roman" pitchFamily="18" charset="0"/>
              </a:rPr>
              <a:t>which is based on </a:t>
            </a:r>
            <a:r>
              <a:rPr lang="en-US" altLang="zh-TW" sz="2800" dirty="0" smtClean="0">
                <a:latin typeface="Times New Roman" pitchFamily="18" charset="0"/>
                <a:cs typeface="Times New Roman" pitchFamily="18" charset="0"/>
              </a:rPr>
              <a:t>a finite </a:t>
            </a:r>
            <a:r>
              <a:rPr lang="en-US" altLang="zh-TW" sz="2800" dirty="0" smtClean="0">
                <a:latin typeface="Times New Roman" pitchFamily="18" charset="0"/>
                <a:cs typeface="Times New Roman" pitchFamily="18" charset="0"/>
              </a:rPr>
              <a:t>number of samples</a:t>
            </a:r>
            <a:r>
              <a:rPr lang="en-US" altLang="zh-TW" sz="2800" dirty="0" smtClean="0">
                <a:latin typeface="Times New Roman" pitchFamily="18" charset="0"/>
                <a:cs typeface="Times New Roman" pitchFamily="18" charset="0"/>
              </a:rPr>
              <a:t>.</a:t>
            </a:r>
          </a:p>
          <a:p>
            <a:endParaRPr lang="en-US" altLang="zh-TW" sz="2800" dirty="0" smtClean="0">
              <a:latin typeface="Times New Roman" pitchFamily="18" charset="0"/>
              <a:cs typeface="Times New Roman" pitchFamily="18" charset="0"/>
            </a:endParaRPr>
          </a:p>
          <a:p>
            <a:endParaRPr lang="zh-TW" altLang="en-US" sz="28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000" dirty="0" smtClean="0">
                <a:latin typeface="Times New Roman" pitchFamily="18" charset="0"/>
                <a:cs typeface="Times New Roman" pitchFamily="18" charset="0"/>
              </a:rPr>
              <a:t>Sequence encoding schemes</a:t>
            </a:r>
            <a:endParaRPr lang="zh-TW" altLang="en-US" sz="4000"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a:bodyPr>
          <a:lstStyle/>
          <a:p>
            <a:r>
              <a:rPr lang="en-US" altLang="zh-TW" dirty="0" err="1" smtClean="0">
                <a:latin typeface="Times New Roman" pitchFamily="18" charset="0"/>
                <a:cs typeface="Times New Roman" pitchFamily="18" charset="0"/>
              </a:rPr>
              <a:t>Cysteine–cysteine</a:t>
            </a:r>
            <a:r>
              <a:rPr lang="en-US" altLang="zh-TW" dirty="0" smtClean="0">
                <a:latin typeface="Times New Roman" pitchFamily="18" charset="0"/>
                <a:cs typeface="Times New Roman" pitchFamily="18" charset="0"/>
              </a:rPr>
              <a:t> coupling </a:t>
            </a:r>
            <a:r>
              <a:rPr lang="en-US" altLang="zh-TW" dirty="0" smtClean="0">
                <a:latin typeface="Times New Roman" pitchFamily="18" charset="0"/>
                <a:cs typeface="Times New Roman" pitchFamily="18" charset="0"/>
              </a:rPr>
              <a:t>pair:</a:t>
            </a:r>
          </a:p>
          <a:p>
            <a:pPr lvl="1"/>
            <a:r>
              <a:rPr lang="en-US" altLang="zh-TW" dirty="0" smtClean="0">
                <a:latin typeface="Times New Roman" pitchFamily="18" charset="0"/>
                <a:cs typeface="Times New Roman" pitchFamily="18" charset="0"/>
              </a:rPr>
              <a:t>PSSM + SS</a:t>
            </a:r>
          </a:p>
          <a:p>
            <a:pPr>
              <a:buNone/>
            </a:pPr>
            <a:endParaRPr lang="en-US" altLang="zh-TW" dirty="0" smtClean="0">
              <a:latin typeface="Times New Roman" pitchFamily="18" charset="0"/>
              <a:cs typeface="Times New Roman" pitchFamily="18" charset="0"/>
            </a:endParaRPr>
          </a:p>
          <a:p>
            <a:r>
              <a:rPr lang="en-US" altLang="zh-TW" dirty="0" smtClean="0">
                <a:latin typeface="Times New Roman" pitchFamily="18" charset="0"/>
                <a:cs typeface="Times New Roman" pitchFamily="18" charset="0"/>
              </a:rPr>
              <a:t>Amino acid compositions(A</a:t>
            </a:r>
            <a:r>
              <a:rPr lang="en-US" altLang="zh-TW" dirty="0" smtClean="0">
                <a:latin typeface="Times New Roman" pitchFamily="18" charset="0"/>
                <a:cs typeface="Times New Roman" pitchFamily="18" charset="0"/>
              </a:rPr>
              <a:t>)</a:t>
            </a:r>
          </a:p>
          <a:p>
            <a:pPr lvl="1"/>
            <a:r>
              <a:rPr lang="en-US" altLang="zh-TW" dirty="0" err="1" smtClean="0">
                <a:latin typeface="Times New Roman" pitchFamily="18" charset="0"/>
                <a:cs typeface="Times New Roman" pitchFamily="18" charset="0"/>
              </a:rPr>
              <a:t>AA</a:t>
            </a:r>
            <a:r>
              <a:rPr lang="en-US" altLang="zh-TW" i="1" baseline="-25000" dirty="0" err="1" smtClean="0">
                <a:latin typeface="Times New Roman" pitchFamily="18" charset="0"/>
                <a:cs typeface="Times New Roman" pitchFamily="18" charset="0"/>
              </a:rPr>
              <a:t>i</a:t>
            </a:r>
            <a:r>
              <a:rPr lang="en-US" altLang="zh-TW" dirty="0" smtClean="0">
                <a:latin typeface="Times New Roman" pitchFamily="18" charset="0"/>
                <a:cs typeface="Times New Roman" pitchFamily="18" charset="0"/>
              </a:rPr>
              <a:t>: percentage </a:t>
            </a:r>
            <a:r>
              <a:rPr lang="en-US" altLang="zh-TW" dirty="0" smtClean="0">
                <a:latin typeface="Times New Roman" pitchFamily="18" charset="0"/>
                <a:cs typeface="Times New Roman" pitchFamily="18" charset="0"/>
              </a:rPr>
              <a:t>of residue type </a:t>
            </a:r>
            <a:r>
              <a:rPr lang="en-US" altLang="zh-TW" i="1" dirty="0" err="1" smtClean="0">
                <a:latin typeface="Times New Roman" pitchFamily="18" charset="0"/>
                <a:cs typeface="Times New Roman" pitchFamily="18" charset="0"/>
              </a:rPr>
              <a:t>i</a:t>
            </a:r>
            <a:endParaRPr lang="en-US" altLang="zh-TW" i="1" dirty="0" smtClean="0">
              <a:latin typeface="Times New Roman" pitchFamily="18" charset="0"/>
              <a:cs typeface="Times New Roman" pitchFamily="18" charset="0"/>
            </a:endParaRPr>
          </a:p>
          <a:p>
            <a:endParaRPr lang="en-US" altLang="zh-TW" dirty="0" smtClean="0">
              <a:latin typeface="Times New Roman" pitchFamily="18" charset="0"/>
              <a:cs typeface="Times New Roman" pitchFamily="18" charset="0"/>
            </a:endParaRPr>
          </a:p>
          <a:p>
            <a:r>
              <a:rPr lang="en-US" altLang="zh-TW" dirty="0" err="1" smtClean="0">
                <a:latin typeface="Times New Roman" pitchFamily="18" charset="0"/>
                <a:cs typeface="Times New Roman" pitchFamily="18" charset="0"/>
              </a:rPr>
              <a:t>Cysteine</a:t>
            </a:r>
            <a:r>
              <a:rPr lang="en-US" altLang="zh-TW" dirty="0" smtClean="0">
                <a:latin typeface="Times New Roman" pitchFamily="18" charset="0"/>
                <a:cs typeface="Times New Roman" pitchFamily="18" charset="0"/>
              </a:rPr>
              <a:t> separation distance(D</a:t>
            </a:r>
            <a:r>
              <a:rPr lang="en-US" altLang="zh-TW" dirty="0" smtClean="0">
                <a:latin typeface="Times New Roman" pitchFamily="18" charset="0"/>
                <a:cs typeface="Times New Roman" pitchFamily="18" charset="0"/>
              </a:rPr>
              <a:t>)</a:t>
            </a:r>
          </a:p>
          <a:p>
            <a:pPr lvl="1"/>
            <a:r>
              <a:rPr lang="en-US" altLang="zh-TW" dirty="0" smtClean="0">
                <a:latin typeface="Times New Roman" pitchFamily="18" charset="0"/>
                <a:cs typeface="Times New Roman" pitchFamily="18" charset="0"/>
              </a:rPr>
              <a:t>DOC(</a:t>
            </a:r>
            <a:r>
              <a:rPr lang="en-US" altLang="zh-TW" i="1" dirty="0" err="1" smtClean="0">
                <a:latin typeface="Times New Roman" pitchFamily="18" charset="0"/>
                <a:cs typeface="Times New Roman" pitchFamily="18" charset="0"/>
              </a:rPr>
              <a:t>i</a:t>
            </a:r>
            <a:r>
              <a:rPr lang="en-US" altLang="zh-TW" dirty="0" smtClean="0">
                <a:latin typeface="Times New Roman" pitchFamily="18" charset="0"/>
                <a:cs typeface="Times New Roman" pitchFamily="18" charset="0"/>
              </a:rPr>
              <a:t>, </a:t>
            </a:r>
            <a:r>
              <a:rPr lang="en-US" altLang="zh-TW" i="1" dirty="0" smtClean="0">
                <a:latin typeface="Times New Roman" pitchFamily="18" charset="0"/>
                <a:cs typeface="Times New Roman" pitchFamily="18" charset="0"/>
              </a:rPr>
              <a:t>j</a:t>
            </a:r>
            <a:r>
              <a:rPr lang="en-US" altLang="zh-TW" dirty="0" smtClean="0">
                <a:latin typeface="Times New Roman" pitchFamily="18" charset="0"/>
                <a:cs typeface="Times New Roman" pitchFamily="18" charset="0"/>
              </a:rPr>
              <a:t>) = |</a:t>
            </a:r>
            <a:r>
              <a:rPr lang="en-US" altLang="zh-TW" i="1" dirty="0" err="1" smtClean="0">
                <a:latin typeface="Times New Roman" pitchFamily="18" charset="0"/>
                <a:cs typeface="Times New Roman" pitchFamily="18" charset="0"/>
              </a:rPr>
              <a:t>i</a:t>
            </a:r>
            <a:r>
              <a:rPr lang="en-US" altLang="zh-TW" dirty="0" smtClean="0">
                <a:latin typeface="Times New Roman" pitchFamily="18" charset="0"/>
                <a:cs typeface="Times New Roman" pitchFamily="18" charset="0"/>
              </a:rPr>
              <a:t> - </a:t>
            </a:r>
            <a:r>
              <a:rPr lang="en-US" altLang="zh-TW" i="1" dirty="0" smtClean="0">
                <a:latin typeface="Times New Roman" pitchFamily="18" charset="0"/>
                <a:cs typeface="Times New Roman" pitchFamily="18" charset="0"/>
              </a:rPr>
              <a:t>j</a:t>
            </a:r>
            <a:r>
              <a:rPr lang="en-US" altLang="zh-TW" dirty="0" smtClean="0">
                <a:latin typeface="Times New Roman" pitchFamily="18" charset="0"/>
                <a:cs typeface="Times New Roman" pitchFamily="18" charset="0"/>
              </a:rPr>
              <a:t>| </a:t>
            </a:r>
            <a:endParaRPr lang="en-US" altLang="zh-TW" dirty="0" smtClean="0">
              <a:latin typeface="Times New Roman" pitchFamily="18" charset="0"/>
              <a:cs typeface="Times New Roman" pitchFamily="18" charset="0"/>
            </a:endParaRPr>
          </a:p>
          <a:p>
            <a:pPr lvl="1"/>
            <a:endParaRPr lang="en-US" altLang="zh-TW" dirty="0" smtClean="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cs typeface="Times New Roman" pitchFamily="18" charset="0"/>
              </a:rPr>
              <a:t>Sequence encoding schemes</a:t>
            </a:r>
            <a:endParaRPr lang="zh-TW" altLang="en-US" dirty="0"/>
          </a:p>
        </p:txBody>
      </p:sp>
      <p:sp>
        <p:nvSpPr>
          <p:cNvPr id="3" name="內容版面配置區 2"/>
          <p:cNvSpPr>
            <a:spLocks noGrp="1"/>
          </p:cNvSpPr>
          <p:nvPr>
            <p:ph idx="1"/>
          </p:nvPr>
        </p:nvSpPr>
        <p:spPr/>
        <p:txBody>
          <a:bodyPr/>
          <a:lstStyle/>
          <a:p>
            <a:r>
              <a:rPr lang="en-US" altLang="zh-TW" dirty="0" err="1" smtClean="0">
                <a:latin typeface="Times New Roman" pitchFamily="18" charset="0"/>
                <a:cs typeface="Times New Roman" pitchFamily="18" charset="0"/>
              </a:rPr>
              <a:t>Cysteine</a:t>
            </a:r>
            <a:r>
              <a:rPr lang="en-US" altLang="zh-TW" dirty="0" smtClean="0">
                <a:latin typeface="Times New Roman" pitchFamily="18" charset="0"/>
                <a:cs typeface="Times New Roman" pitchFamily="18" charset="0"/>
              </a:rPr>
              <a:t> ordering(O):</a:t>
            </a:r>
          </a:p>
          <a:p>
            <a:pPr lvl="1"/>
            <a:r>
              <a:rPr lang="en-US" altLang="zh-TW" dirty="0" smtClean="0">
                <a:latin typeface="Times New Roman" pitchFamily="18" charset="0"/>
                <a:cs typeface="Times New Roman" pitchFamily="18" charset="0"/>
              </a:rPr>
              <a:t>the sequential order difference between each </a:t>
            </a:r>
            <a:r>
              <a:rPr lang="en-US" altLang="zh-TW" dirty="0" err="1" smtClean="0">
                <a:latin typeface="Times New Roman" pitchFamily="18" charset="0"/>
                <a:cs typeface="Times New Roman" pitchFamily="18" charset="0"/>
              </a:rPr>
              <a:t>cysteine</a:t>
            </a:r>
            <a:r>
              <a:rPr lang="en-US" altLang="zh-TW" dirty="0" smtClean="0">
                <a:latin typeface="Times New Roman" pitchFamily="18" charset="0"/>
                <a:cs typeface="Times New Roman" pitchFamily="18" charset="0"/>
              </a:rPr>
              <a:t> </a:t>
            </a:r>
            <a:r>
              <a:rPr lang="en-US" altLang="zh-TW" dirty="0" smtClean="0">
                <a:latin typeface="Times New Roman" pitchFamily="18" charset="0"/>
                <a:cs typeface="Times New Roman" pitchFamily="18" charset="0"/>
              </a:rPr>
              <a:t>pair</a:t>
            </a:r>
            <a:endParaRPr lang="en-US" altLang="zh-TW" dirty="0" smtClean="0">
              <a:latin typeface="Times New Roman" pitchFamily="18" charset="0"/>
              <a:cs typeface="Times New Roman" pitchFamily="18" charset="0"/>
            </a:endParaRPr>
          </a:p>
          <a:p>
            <a:endParaRPr lang="en-US" altLang="zh-TW" dirty="0" smtClean="0">
              <a:latin typeface="Times New Roman" pitchFamily="18" charset="0"/>
              <a:cs typeface="Times New Roman" pitchFamily="18" charset="0"/>
            </a:endParaRPr>
          </a:p>
          <a:p>
            <a:r>
              <a:rPr lang="en-US" altLang="zh-TW" dirty="0" smtClean="0">
                <a:latin typeface="Times New Roman" pitchFamily="18" charset="0"/>
                <a:cs typeface="Times New Roman" pitchFamily="18" charset="0"/>
              </a:rPr>
              <a:t>Protein molecular weight </a:t>
            </a:r>
            <a:r>
              <a:rPr lang="en-US" altLang="zh-TW" dirty="0" smtClean="0">
                <a:latin typeface="Times New Roman" pitchFamily="18" charset="0"/>
                <a:cs typeface="Times New Roman" pitchFamily="18" charset="0"/>
              </a:rPr>
              <a:t>(W)</a:t>
            </a:r>
          </a:p>
          <a:p>
            <a:endParaRPr lang="en-US" altLang="zh-TW" dirty="0" smtClean="0">
              <a:latin typeface="Times New Roman" pitchFamily="18" charset="0"/>
              <a:cs typeface="Times New Roman" pitchFamily="18" charset="0"/>
            </a:endParaRPr>
          </a:p>
          <a:p>
            <a:r>
              <a:rPr lang="en-US" altLang="zh-TW" dirty="0" smtClean="0">
                <a:latin typeface="Times New Roman" pitchFamily="18" charset="0"/>
                <a:cs typeface="Times New Roman" pitchFamily="18" charset="0"/>
              </a:rPr>
              <a:t>Protein sequence length </a:t>
            </a:r>
            <a:r>
              <a:rPr lang="en-US" altLang="zh-TW" dirty="0" smtClean="0">
                <a:latin typeface="Times New Roman" pitchFamily="18" charset="0"/>
                <a:cs typeface="Times New Roman" pitchFamily="18" charset="0"/>
              </a:rPr>
              <a:t>(L)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descr="fig1.jpg"/>
          <p:cNvPicPr>
            <a:picLocks noChangeAspect="1"/>
          </p:cNvPicPr>
          <p:nvPr/>
        </p:nvPicPr>
        <p:blipFill>
          <a:blip r:embed="rId2" cstate="print"/>
          <a:stretch>
            <a:fillRect/>
          </a:stretch>
        </p:blipFill>
        <p:spPr>
          <a:xfrm>
            <a:off x="852487" y="666750"/>
            <a:ext cx="7439025" cy="5524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cs typeface="Times New Roman" pitchFamily="18" charset="0"/>
              </a:rPr>
              <a:t>Results</a:t>
            </a:r>
            <a:endParaRPr lang="zh-TW" altLang="en-US" dirty="0">
              <a:latin typeface="Times New Roman" pitchFamily="18" charset="0"/>
              <a:cs typeface="Times New Roman" pitchFamily="18" charset="0"/>
            </a:endParaRPr>
          </a:p>
        </p:txBody>
      </p:sp>
      <p:pic>
        <p:nvPicPr>
          <p:cNvPr id="4" name="內容版面配置區 3" descr="table1.jpg"/>
          <p:cNvPicPr>
            <a:picLocks noGrp="1" noChangeAspect="1"/>
          </p:cNvPicPr>
          <p:nvPr>
            <p:ph idx="1"/>
          </p:nvPr>
        </p:nvPicPr>
        <p:blipFill>
          <a:blip r:embed="rId2" cstate="print"/>
          <a:stretch>
            <a:fillRect/>
          </a:stretch>
        </p:blipFill>
        <p:spPr>
          <a:xfrm>
            <a:off x="457200" y="2463388"/>
            <a:ext cx="8229600" cy="2799586"/>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descr="t2.jpg"/>
          <p:cNvPicPr>
            <a:picLocks noChangeAspect="1"/>
          </p:cNvPicPr>
          <p:nvPr/>
        </p:nvPicPr>
        <p:blipFill>
          <a:blip r:embed="rId2" cstate="print"/>
          <a:stretch>
            <a:fillRect/>
          </a:stretch>
        </p:blipFill>
        <p:spPr>
          <a:xfrm>
            <a:off x="0" y="706942"/>
            <a:ext cx="9144000" cy="54441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latin typeface="Times New Roman" pitchFamily="18" charset="0"/>
                <a:cs typeface="Times New Roman" pitchFamily="18" charset="0"/>
              </a:rPr>
              <a:t>Thank you!</a:t>
            </a:r>
            <a:endParaRPr lang="zh-TW" altLang="en-US" dirty="0">
              <a:latin typeface="Times New Roman" pitchFamily="18" charset="0"/>
              <a:cs typeface="Times New Roman" pitchFamily="18" charset="0"/>
            </a:endParaRPr>
          </a:p>
        </p:txBody>
      </p:sp>
      <p:sp>
        <p:nvSpPr>
          <p:cNvPr id="3" name="副標題 2"/>
          <p:cNvSpPr>
            <a:spLocks noGrp="1"/>
          </p:cNvSpPr>
          <p:nvPr>
            <p:ph type="subTitle" idx="1"/>
          </p:nvPr>
        </p:nvSpPr>
        <p:spPr/>
        <p:txBody>
          <a:bodyPr/>
          <a:lstStyle/>
          <a:p>
            <a:endParaRPr lang="zh-TW" altLang="en-US"/>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405</Words>
  <Application>Microsoft Office PowerPoint</Application>
  <PresentationFormat>如螢幕大小 (4:3)</PresentationFormat>
  <Paragraphs>31</Paragraphs>
  <Slides>11</Slides>
  <Notes>0</Notes>
  <HiddenSlides>0</HiddenSlides>
  <MMClips>0</MMClips>
  <ScaleCrop>false</ScaleCrop>
  <HeadingPairs>
    <vt:vector size="4" baseType="variant">
      <vt:variant>
        <vt:lpstr>佈景主題</vt:lpstr>
      </vt:variant>
      <vt:variant>
        <vt:i4>1</vt:i4>
      </vt:variant>
      <vt:variant>
        <vt:lpstr>投影片標題</vt:lpstr>
      </vt:variant>
      <vt:variant>
        <vt:i4>11</vt:i4>
      </vt:variant>
    </vt:vector>
  </HeadingPairs>
  <TitlesOfParts>
    <vt:vector size="12" baseType="lpstr">
      <vt:lpstr>Office 佈景主題</vt:lpstr>
      <vt:lpstr>Predicting disulfide connectivity from protein sequence using multiple sequence feature vectors and secondary structure</vt:lpstr>
      <vt:lpstr>Abstract(1/3)</vt:lpstr>
      <vt:lpstr>Abstract(2/3)</vt:lpstr>
      <vt:lpstr>Abstract(3/3)</vt:lpstr>
      <vt:lpstr>SVR(Support vector regression)</vt:lpstr>
      <vt:lpstr>Sequence encoding schemes</vt:lpstr>
      <vt:lpstr>Sequence encoding schemes</vt:lpstr>
      <vt:lpstr>投影片 8</vt:lpstr>
      <vt:lpstr>Results</vt:lpstr>
      <vt:lpstr>投影片 10</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disulfide connectivity from protein sequence using multiple sequence feature vectors and secondary structure</dc:title>
  <cp:lastModifiedBy>王重傑</cp:lastModifiedBy>
  <cp:revision>10</cp:revision>
  <dcterms:modified xsi:type="dcterms:W3CDTF">2010-08-16T08:05:16Z</dcterms:modified>
</cp:coreProperties>
</file>