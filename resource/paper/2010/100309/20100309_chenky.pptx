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27F94-6321-4DCB-A9A6-CDD66F29E8EB}" type="datetimeFigureOut">
              <a:rPr lang="zh-TW" altLang="en-US" smtClean="0"/>
              <a:pPr/>
              <a:t>2010/3/9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ACE52-1DB9-46AD-906B-9C38F56C8A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7ACE52-1DB9-46AD-906B-9C38F56C8A77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7ACE52-1DB9-46AD-906B-9C38F56C8A77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DF9E-42C3-460D-9BCD-25F04150D6A7}" type="datetimeFigureOut">
              <a:rPr lang="zh-TW" altLang="en-US" smtClean="0"/>
              <a:pPr/>
              <a:t>2010/3/9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F453-5AAA-4FC2-87FA-5D3D25184A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DF9E-42C3-460D-9BCD-25F04150D6A7}" type="datetimeFigureOut">
              <a:rPr lang="zh-TW" altLang="en-US" smtClean="0"/>
              <a:pPr/>
              <a:t>2010/3/9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F453-5AAA-4FC2-87FA-5D3D25184A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DF9E-42C3-460D-9BCD-25F04150D6A7}" type="datetimeFigureOut">
              <a:rPr lang="zh-TW" altLang="en-US" smtClean="0"/>
              <a:pPr/>
              <a:t>2010/3/9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F453-5AAA-4FC2-87FA-5D3D25184A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DF9E-42C3-460D-9BCD-25F04150D6A7}" type="datetimeFigureOut">
              <a:rPr lang="zh-TW" altLang="en-US" smtClean="0"/>
              <a:pPr/>
              <a:t>2010/3/9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F453-5AAA-4FC2-87FA-5D3D25184A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DF9E-42C3-460D-9BCD-25F04150D6A7}" type="datetimeFigureOut">
              <a:rPr lang="zh-TW" altLang="en-US" smtClean="0"/>
              <a:pPr/>
              <a:t>2010/3/9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F453-5AAA-4FC2-87FA-5D3D25184A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DF9E-42C3-460D-9BCD-25F04150D6A7}" type="datetimeFigureOut">
              <a:rPr lang="zh-TW" altLang="en-US" smtClean="0"/>
              <a:pPr/>
              <a:t>2010/3/9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F453-5AAA-4FC2-87FA-5D3D25184A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DF9E-42C3-460D-9BCD-25F04150D6A7}" type="datetimeFigureOut">
              <a:rPr lang="zh-TW" altLang="en-US" smtClean="0"/>
              <a:pPr/>
              <a:t>2010/3/9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F453-5AAA-4FC2-87FA-5D3D25184A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DF9E-42C3-460D-9BCD-25F04150D6A7}" type="datetimeFigureOut">
              <a:rPr lang="zh-TW" altLang="en-US" smtClean="0"/>
              <a:pPr/>
              <a:t>2010/3/9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F453-5AAA-4FC2-87FA-5D3D25184A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DF9E-42C3-460D-9BCD-25F04150D6A7}" type="datetimeFigureOut">
              <a:rPr lang="zh-TW" altLang="en-US" smtClean="0"/>
              <a:pPr/>
              <a:t>2010/3/9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F453-5AAA-4FC2-87FA-5D3D25184A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DF9E-42C3-460D-9BCD-25F04150D6A7}" type="datetimeFigureOut">
              <a:rPr lang="zh-TW" altLang="en-US" smtClean="0"/>
              <a:pPr/>
              <a:t>2010/3/9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F453-5AAA-4FC2-87FA-5D3D25184A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5DF9E-42C3-460D-9BCD-25F04150D6A7}" type="datetimeFigureOut">
              <a:rPr lang="zh-TW" altLang="en-US" smtClean="0"/>
              <a:pPr/>
              <a:t>2010/3/9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F453-5AAA-4FC2-87FA-5D3D25184A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5DF9E-42C3-460D-9BCD-25F04150D6A7}" type="datetimeFigureOut">
              <a:rPr lang="zh-TW" altLang="en-US" smtClean="0"/>
              <a:pPr/>
              <a:t>2010/3/9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2F453-5AAA-4FC2-87FA-5D3D25184A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42910" y="85723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zh-TW" b="1" dirty="0"/>
              <a:t>MOODS: fast search for position weight matrix matches in DNA</a:t>
            </a:r>
            <a:br>
              <a:rPr lang="en-US" altLang="zh-TW" b="1" dirty="0"/>
            </a:br>
            <a:r>
              <a:rPr lang="en-US" altLang="zh-TW" b="1" dirty="0"/>
              <a:t>sequences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57224" y="3214686"/>
            <a:ext cx="7929618" cy="1571636"/>
          </a:xfrm>
        </p:spPr>
        <p:txBody>
          <a:bodyPr/>
          <a:lstStyle/>
          <a:p>
            <a:r>
              <a:rPr lang="en-US" altLang="zh-TW" dirty="0" err="1">
                <a:solidFill>
                  <a:schemeClr val="tx1"/>
                </a:solidFill>
                <a:latin typeface="+mj-lt"/>
                <a:ea typeface="+mj-ea"/>
              </a:rPr>
              <a:t>Janne</a:t>
            </a:r>
            <a:r>
              <a:rPr lang="en-US" altLang="zh-TW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lang="en-US" altLang="zh-TW" dirty="0" err="1" smtClean="0">
                <a:solidFill>
                  <a:schemeClr val="tx1"/>
                </a:solidFill>
                <a:latin typeface="+mj-lt"/>
                <a:ea typeface="+mj-ea"/>
              </a:rPr>
              <a:t>Korhonen</a:t>
            </a:r>
            <a:r>
              <a:rPr lang="en-US" altLang="zh-TW" i="1" dirty="0" smtClean="0">
                <a:solidFill>
                  <a:schemeClr val="tx1"/>
                </a:solidFill>
                <a:latin typeface="+mj-lt"/>
                <a:ea typeface="+mj-ea"/>
              </a:rPr>
              <a:t>, </a:t>
            </a:r>
            <a:r>
              <a:rPr lang="en-US" altLang="zh-TW" i="1" dirty="0">
                <a:solidFill>
                  <a:schemeClr val="tx1"/>
                </a:solidFill>
                <a:latin typeface="+mj-lt"/>
                <a:ea typeface="+mj-ea"/>
              </a:rPr>
              <a:t>Petri </a:t>
            </a:r>
            <a:r>
              <a:rPr lang="en-US" altLang="zh-TW" i="1" dirty="0" err="1" smtClean="0">
                <a:solidFill>
                  <a:schemeClr val="tx1"/>
                </a:solidFill>
                <a:latin typeface="+mj-lt"/>
                <a:ea typeface="+mj-ea"/>
              </a:rPr>
              <a:t>Martinmaki</a:t>
            </a:r>
            <a:r>
              <a:rPr lang="en-US" altLang="zh-TW" i="1" dirty="0" smtClean="0">
                <a:solidFill>
                  <a:schemeClr val="tx1"/>
                </a:solidFill>
                <a:latin typeface="+mj-lt"/>
                <a:ea typeface="+mj-ea"/>
              </a:rPr>
              <a:t>, </a:t>
            </a:r>
            <a:r>
              <a:rPr lang="en-US" altLang="zh-TW" i="1" dirty="0" err="1">
                <a:solidFill>
                  <a:schemeClr val="tx1"/>
                </a:solidFill>
                <a:latin typeface="+mj-lt"/>
                <a:ea typeface="+mj-ea"/>
              </a:rPr>
              <a:t>Cinzia</a:t>
            </a:r>
            <a:r>
              <a:rPr lang="en-US" altLang="zh-TW" i="1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lang="en-US" altLang="zh-TW" i="1" dirty="0" err="1" smtClean="0">
                <a:solidFill>
                  <a:schemeClr val="tx1"/>
                </a:solidFill>
                <a:latin typeface="+mj-lt"/>
                <a:ea typeface="+mj-ea"/>
              </a:rPr>
              <a:t>Pizzi</a:t>
            </a:r>
            <a:r>
              <a:rPr lang="en-US" altLang="zh-TW" i="1" dirty="0" smtClean="0">
                <a:solidFill>
                  <a:schemeClr val="tx1"/>
                </a:solidFill>
                <a:latin typeface="+mj-lt"/>
                <a:ea typeface="+mj-ea"/>
              </a:rPr>
              <a:t>, </a:t>
            </a:r>
            <a:r>
              <a:rPr lang="en-US" altLang="zh-TW" i="1" dirty="0" err="1">
                <a:solidFill>
                  <a:schemeClr val="tx1"/>
                </a:solidFill>
                <a:latin typeface="+mj-lt"/>
                <a:ea typeface="+mj-ea"/>
              </a:rPr>
              <a:t>Pasi</a:t>
            </a:r>
            <a:r>
              <a:rPr lang="en-US" altLang="zh-TW" i="1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lang="en-US" altLang="zh-TW" i="1" dirty="0" err="1" smtClean="0">
                <a:solidFill>
                  <a:schemeClr val="tx1"/>
                </a:solidFill>
                <a:latin typeface="+mj-lt"/>
                <a:ea typeface="+mj-ea"/>
              </a:rPr>
              <a:t>Rastas</a:t>
            </a:r>
            <a:r>
              <a:rPr lang="en-US" altLang="zh-TW" i="1" dirty="0" smtClean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lang="en-US" altLang="zh-TW" i="1" dirty="0">
                <a:solidFill>
                  <a:schemeClr val="tx1"/>
                </a:solidFill>
                <a:latin typeface="+mj-lt"/>
                <a:ea typeface="+mj-ea"/>
              </a:rPr>
              <a:t>and </a:t>
            </a:r>
            <a:r>
              <a:rPr lang="en-US" altLang="zh-TW" i="1" dirty="0" err="1">
                <a:solidFill>
                  <a:schemeClr val="tx1"/>
                </a:solidFill>
                <a:latin typeface="+mj-lt"/>
                <a:ea typeface="+mj-ea"/>
              </a:rPr>
              <a:t>Esko</a:t>
            </a:r>
            <a:r>
              <a:rPr lang="en-US" altLang="zh-TW" i="1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lang="en-US" altLang="zh-TW" i="1" dirty="0" err="1" smtClean="0">
                <a:solidFill>
                  <a:schemeClr val="tx1"/>
                </a:solidFill>
                <a:latin typeface="+mj-lt"/>
                <a:ea typeface="+mj-ea"/>
              </a:rPr>
              <a:t>Ukkonen</a:t>
            </a:r>
            <a:endParaRPr lang="en-US" altLang="zh-TW" i="1" dirty="0" smtClean="0">
              <a:solidFill>
                <a:schemeClr val="tx1"/>
              </a:solidFill>
              <a:latin typeface="+mj-lt"/>
              <a:ea typeface="+mj-ea"/>
            </a:endParaRPr>
          </a:p>
          <a:p>
            <a:r>
              <a:rPr lang="en-US" altLang="zh-TW" sz="2000" dirty="0" smtClean="0">
                <a:solidFill>
                  <a:schemeClr val="tx1"/>
                </a:solidFill>
                <a:latin typeface="+mj-lt"/>
              </a:rPr>
              <a:t>BIOINFORMATICS </a:t>
            </a:r>
            <a:r>
              <a:rPr lang="pt-BR" altLang="zh-TW" sz="2000" i="1" dirty="0">
                <a:solidFill>
                  <a:schemeClr val="tx1"/>
                </a:solidFill>
                <a:latin typeface="+mj-lt"/>
              </a:rPr>
              <a:t>Vol. 25 no. 23 </a:t>
            </a:r>
            <a:r>
              <a:rPr lang="pt-BR" altLang="zh-TW" sz="2000" i="1" dirty="0" smtClean="0">
                <a:solidFill>
                  <a:schemeClr val="tx1"/>
                </a:solidFill>
                <a:latin typeface="+mj-lt"/>
              </a:rPr>
              <a:t>2009</a:t>
            </a:r>
            <a:r>
              <a:rPr lang="pt-BR" altLang="zh-TW" sz="2000" i="1" dirty="0">
                <a:solidFill>
                  <a:schemeClr val="tx1"/>
                </a:solidFill>
                <a:latin typeface="+mj-lt"/>
              </a:rPr>
              <a:t>, pages 3181–3182</a:t>
            </a:r>
            <a:endParaRPr lang="zh-TW" altLang="en-US" sz="2000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" name="副標題 2"/>
          <p:cNvSpPr txBox="1">
            <a:spLocks/>
          </p:cNvSpPr>
          <p:nvPr/>
        </p:nvSpPr>
        <p:spPr>
          <a:xfrm>
            <a:off x="2285984" y="471488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TW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928662" y="4857760"/>
            <a:ext cx="7929618" cy="114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TW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5286380" y="4929198"/>
            <a:ext cx="3643338" cy="1000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TW" sz="2800" dirty="0"/>
              <a:t>Presenter</a:t>
            </a:r>
            <a:r>
              <a:rPr lang="en-US" altLang="zh-TW" sz="2800" dirty="0" smtClean="0"/>
              <a:t>: Kai-Yu Chen</a:t>
            </a:r>
          </a:p>
          <a:p>
            <a:pPr>
              <a:lnSpc>
                <a:spcPct val="80000"/>
              </a:lnSpc>
            </a:pPr>
            <a:r>
              <a:rPr lang="en-US" altLang="zh-TW" sz="2800" dirty="0" smtClean="0"/>
              <a:t>Date: Mar. 9, 2010</a:t>
            </a:r>
            <a:endParaRPr lang="en-US" altLang="zh-TW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Summary: MOODS (</a:t>
            </a:r>
            <a:r>
              <a:rPr lang="en-US" altLang="zh-TW" dirty="0" smtClean="0"/>
              <a:t>Motif </a:t>
            </a:r>
            <a:r>
              <a:rPr lang="en-US" altLang="zh-TW" dirty="0"/>
              <a:t>Occurrence Detection Suite) is a </a:t>
            </a:r>
            <a:r>
              <a:rPr lang="en-US" altLang="zh-TW" dirty="0" smtClean="0"/>
              <a:t>software package </a:t>
            </a:r>
            <a:r>
              <a:rPr lang="en-US" altLang="zh-TW" dirty="0"/>
              <a:t>for matching position weight matrices against </a:t>
            </a:r>
            <a:r>
              <a:rPr lang="en-US" altLang="zh-TW" dirty="0" smtClean="0"/>
              <a:t>DNA sequences</a:t>
            </a:r>
            <a:r>
              <a:rPr lang="en-US" altLang="zh-TW" dirty="0"/>
              <a:t>. MOODS implements state-of-the-art online </a:t>
            </a:r>
            <a:r>
              <a:rPr lang="en-US" altLang="zh-TW" dirty="0" smtClean="0"/>
              <a:t>matching algorithms</a:t>
            </a:r>
            <a:r>
              <a:rPr lang="en-US" altLang="zh-TW" dirty="0"/>
              <a:t>, achieving considerably faster scanning speed </a:t>
            </a:r>
            <a:r>
              <a:rPr lang="en-US" altLang="zh-TW" dirty="0" smtClean="0"/>
              <a:t>than with </a:t>
            </a:r>
            <a:r>
              <a:rPr lang="en-US" altLang="zh-TW" dirty="0"/>
              <a:t>a simple brute-force search. MOODS is written in C++, </a:t>
            </a:r>
            <a:r>
              <a:rPr lang="en-US" altLang="zh-TW" dirty="0" smtClean="0"/>
              <a:t>with bindings </a:t>
            </a:r>
            <a:r>
              <a:rPr lang="en-US" altLang="zh-TW" dirty="0"/>
              <a:t>for the popular </a:t>
            </a:r>
            <a:r>
              <a:rPr lang="en-US" altLang="zh-TW" dirty="0" err="1"/>
              <a:t>BioPerl</a:t>
            </a:r>
            <a:r>
              <a:rPr lang="en-US" altLang="zh-TW" dirty="0"/>
              <a:t> and </a:t>
            </a:r>
            <a:r>
              <a:rPr lang="en-US" altLang="zh-TW" dirty="0" err="1"/>
              <a:t>Biopython</a:t>
            </a:r>
            <a:r>
              <a:rPr lang="en-US" altLang="zh-TW" dirty="0"/>
              <a:t> toolkits. It </a:t>
            </a:r>
            <a:r>
              <a:rPr lang="en-US" altLang="zh-TW" dirty="0" smtClean="0"/>
              <a:t>can easily </a:t>
            </a:r>
            <a:r>
              <a:rPr lang="en-US" altLang="zh-TW" dirty="0"/>
              <a:t>be adapted for different purposes and integrated into </a:t>
            </a:r>
            <a:r>
              <a:rPr lang="en-US" altLang="zh-TW" dirty="0" smtClean="0"/>
              <a:t>existing workflows</a:t>
            </a:r>
            <a:r>
              <a:rPr lang="en-US" altLang="zh-TW" dirty="0"/>
              <a:t>. It can also be used as a C++ library.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857256"/>
          </a:xfrm>
        </p:spPr>
        <p:txBody>
          <a:bodyPr/>
          <a:lstStyle/>
          <a:p>
            <a:r>
              <a:rPr lang="en-US" altLang="zh-TW" b="1" dirty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 lnSpcReduction="10000"/>
          </a:bodyPr>
          <a:lstStyle/>
          <a:p>
            <a:r>
              <a:rPr lang="en-US" altLang="zh-TW" sz="2800" dirty="0"/>
              <a:t>Position weight matrices (PWMs), also known as </a:t>
            </a:r>
            <a:r>
              <a:rPr lang="en-US" altLang="zh-TW" sz="2800" dirty="0" smtClean="0"/>
              <a:t>position-specific scoring </a:t>
            </a:r>
            <a:r>
              <a:rPr lang="en-US" altLang="zh-TW" sz="2800" dirty="0"/>
              <a:t>matrices or weighted </a:t>
            </a:r>
            <a:r>
              <a:rPr lang="en-US" altLang="zh-TW" sz="2800" dirty="0" smtClean="0"/>
              <a:t>patterns </a:t>
            </a:r>
            <a:r>
              <a:rPr lang="en-US" altLang="zh-TW" sz="2800" dirty="0"/>
              <a:t>are a simple, yet </a:t>
            </a:r>
            <a:r>
              <a:rPr lang="en-US" altLang="zh-TW" sz="2800" dirty="0" smtClean="0"/>
              <a:t>important model </a:t>
            </a:r>
            <a:r>
              <a:rPr lang="en-US" altLang="zh-TW" sz="2800" dirty="0"/>
              <a:t>for signals in biological </a:t>
            </a:r>
            <a:r>
              <a:rPr lang="en-US" altLang="zh-TW" sz="2800" dirty="0" smtClean="0"/>
              <a:t>sequences</a:t>
            </a:r>
          </a:p>
          <a:p>
            <a:r>
              <a:rPr lang="en-US" altLang="zh-TW" sz="2800" dirty="0" smtClean="0"/>
              <a:t>They </a:t>
            </a:r>
            <a:r>
              <a:rPr lang="en-US" altLang="zh-TW" sz="2800" dirty="0"/>
              <a:t>are widely used to model transcription </a:t>
            </a:r>
            <a:r>
              <a:rPr lang="en-US" altLang="zh-TW" sz="2800" dirty="0" smtClean="0"/>
              <a:t>factor </a:t>
            </a:r>
            <a:r>
              <a:rPr lang="zh-TW" altLang="en-US" sz="2800" dirty="0" smtClean="0"/>
              <a:t>（轉錄因子）</a:t>
            </a:r>
            <a:r>
              <a:rPr lang="en-US" altLang="zh-TW" sz="2800" dirty="0" smtClean="0"/>
              <a:t> binding sites </a:t>
            </a:r>
            <a:r>
              <a:rPr lang="en-US" altLang="zh-TW" sz="2800" dirty="0"/>
              <a:t>in the DNA</a:t>
            </a:r>
            <a:r>
              <a:rPr lang="en-US" altLang="zh-TW" sz="2800" dirty="0" smtClean="0"/>
              <a:t>.</a:t>
            </a:r>
          </a:p>
          <a:p>
            <a:r>
              <a:rPr lang="en-US" altLang="zh-TW" sz="2800" dirty="0" smtClean="0"/>
              <a:t>PWM search algorithms can be roughly categorized into two groups, </a:t>
            </a:r>
            <a:r>
              <a:rPr lang="en-US" altLang="zh-TW" sz="2800" u="sng" dirty="0" smtClean="0"/>
              <a:t>the index-based algorithms </a:t>
            </a:r>
            <a:r>
              <a:rPr lang="en-US" altLang="zh-TW" sz="2800" dirty="0" smtClean="0"/>
              <a:t>and </a:t>
            </a:r>
            <a:r>
              <a:rPr lang="en-US" altLang="zh-TW" sz="2800" u="sng" dirty="0" smtClean="0"/>
              <a:t>the online algorithms</a:t>
            </a:r>
            <a:endParaRPr lang="en-US" altLang="zh-TW" sz="2800" dirty="0" smtClean="0"/>
          </a:p>
          <a:p>
            <a:pPr>
              <a:buNone/>
            </a:pP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/>
          <a:lstStyle/>
          <a:p>
            <a:r>
              <a:rPr lang="en-US" altLang="zh-TW" sz="2800" dirty="0" smtClean="0"/>
              <a:t>The </a:t>
            </a:r>
            <a:r>
              <a:rPr lang="en-US" altLang="zh-TW" sz="2800" dirty="0"/>
              <a:t>index-based algorithms </a:t>
            </a:r>
            <a:r>
              <a:rPr lang="en-US" altLang="zh-TW" sz="2800" dirty="0" smtClean="0"/>
              <a:t>preprocess the </a:t>
            </a:r>
            <a:r>
              <a:rPr lang="en-US" altLang="zh-TW" sz="2800" dirty="0"/>
              <a:t>target sequence into an index structure, </a:t>
            </a:r>
            <a:r>
              <a:rPr lang="en-US" altLang="zh-TW" sz="2800" dirty="0" smtClean="0"/>
              <a:t>typically </a:t>
            </a:r>
            <a:r>
              <a:rPr lang="en-US" altLang="zh-TW" sz="2800" dirty="0"/>
              <a:t>a suffix tree </a:t>
            </a:r>
            <a:r>
              <a:rPr lang="en-US" altLang="zh-TW" sz="2800" dirty="0" smtClean="0"/>
              <a:t>or a </a:t>
            </a:r>
            <a:r>
              <a:rPr lang="en-US" altLang="zh-TW" sz="2800" dirty="0"/>
              <a:t>suffix array, and </a:t>
            </a:r>
            <a:r>
              <a:rPr lang="en-US" altLang="zh-TW" sz="2800" u="sng" dirty="0"/>
              <a:t>use the index structure to facilitate quick </a:t>
            </a:r>
            <a:r>
              <a:rPr lang="en-US" altLang="zh-TW" sz="2800" u="sng" dirty="0" smtClean="0"/>
              <a:t>search for </a:t>
            </a:r>
            <a:r>
              <a:rPr lang="en-US" altLang="zh-TW" sz="2800" u="sng" dirty="0"/>
              <a:t>matrix </a:t>
            </a:r>
            <a:r>
              <a:rPr lang="en-US" altLang="zh-TW" sz="2800" u="sng" dirty="0" smtClean="0"/>
              <a:t>matches</a:t>
            </a:r>
            <a:r>
              <a:rPr lang="en-US" altLang="zh-TW" sz="2800" dirty="0" smtClean="0"/>
              <a:t>.</a:t>
            </a:r>
          </a:p>
          <a:p>
            <a:r>
              <a:rPr lang="en-US" altLang="zh-TW" sz="2800" dirty="0"/>
              <a:t>The online </a:t>
            </a:r>
            <a:r>
              <a:rPr lang="en-US" altLang="zh-TW" sz="2800" dirty="0" smtClean="0"/>
              <a:t>algorithms perform </a:t>
            </a:r>
            <a:r>
              <a:rPr lang="en-US" altLang="zh-TW" sz="2800" dirty="0"/>
              <a:t>a simple </a:t>
            </a:r>
            <a:r>
              <a:rPr lang="en-US" altLang="zh-TW" sz="2800" u="sng" dirty="0"/>
              <a:t>sequential search</a:t>
            </a:r>
            <a:r>
              <a:rPr lang="en-US" altLang="zh-TW" sz="2800" dirty="0"/>
              <a:t> over the </a:t>
            </a:r>
            <a:r>
              <a:rPr lang="en-US" altLang="zh-TW" sz="2800" dirty="0" smtClean="0"/>
              <a:t>target sequence.</a:t>
            </a:r>
          </a:p>
          <a:p>
            <a:r>
              <a:rPr lang="en-US" altLang="zh-TW" sz="2800" dirty="0" smtClean="0"/>
              <a:t>Index-based algorithms </a:t>
            </a:r>
            <a:r>
              <a:rPr lang="en-US" altLang="zh-TW" sz="2800" dirty="0"/>
              <a:t>require a large amount of time and </a:t>
            </a:r>
            <a:r>
              <a:rPr lang="en-US" altLang="zh-TW" sz="2800" dirty="0" smtClean="0"/>
              <a:t>space for </a:t>
            </a:r>
            <a:r>
              <a:rPr lang="en-US" altLang="zh-TW" sz="2800" dirty="0"/>
              <a:t>the construction of the index </a:t>
            </a:r>
            <a:r>
              <a:rPr lang="en-US" altLang="zh-TW" sz="2800" dirty="0" smtClean="0"/>
              <a:t>structure.</a:t>
            </a:r>
            <a:endParaRPr lang="en-US" altLang="zh-TW" sz="2800" u="sng" dirty="0" smtClean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altLang="zh-TW" b="1" dirty="0"/>
              <a:t>ALGORITHMS AND IMPLEMENTATION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The core of MOODS is formed by the search algorithms </a:t>
            </a:r>
            <a:r>
              <a:rPr lang="en-US" altLang="zh-TW" sz="2800" dirty="0" smtClean="0"/>
              <a:t>themselves , implemented </a:t>
            </a:r>
            <a:r>
              <a:rPr lang="en-US" altLang="zh-TW" sz="2800" dirty="0"/>
              <a:t>in C++ and making use of the C++ Standard </a:t>
            </a:r>
            <a:r>
              <a:rPr lang="en-US" altLang="zh-TW" sz="2800" dirty="0" smtClean="0"/>
              <a:t>Template Library</a:t>
            </a:r>
            <a:r>
              <a:rPr lang="en-US" altLang="zh-TW" sz="2800" dirty="0"/>
              <a:t>. The package contains the following algorithms </a:t>
            </a:r>
            <a:r>
              <a:rPr lang="en-US" altLang="zh-TW" sz="2800" dirty="0" smtClean="0"/>
              <a:t>described and </a:t>
            </a:r>
            <a:r>
              <a:rPr lang="en-US" altLang="zh-TW" sz="2800" dirty="0"/>
              <a:t>experimentally compared in detail in </a:t>
            </a:r>
            <a:r>
              <a:rPr lang="en-US" altLang="zh-TW" sz="2800" dirty="0" err="1"/>
              <a:t>Pizzi</a:t>
            </a:r>
            <a:r>
              <a:rPr lang="en-US" altLang="zh-TW" sz="2800" dirty="0"/>
              <a:t> </a:t>
            </a:r>
            <a:r>
              <a:rPr lang="en-US" altLang="zh-TW" sz="2800" i="1" dirty="0"/>
              <a:t>et al. (2009</a:t>
            </a:r>
            <a:r>
              <a:rPr lang="en-US" altLang="zh-TW" sz="2800" i="1" dirty="0" smtClean="0"/>
              <a:t>):</a:t>
            </a:r>
            <a:br>
              <a:rPr lang="en-US" altLang="zh-TW" sz="2800" i="1" dirty="0" smtClean="0"/>
            </a:br>
            <a:endParaRPr lang="en-US" altLang="zh-TW" sz="2800" i="1" dirty="0" smtClean="0"/>
          </a:p>
          <a:p>
            <a:r>
              <a:rPr lang="en-US" altLang="zh-TW" sz="2800" dirty="0"/>
              <a:t>The </a:t>
            </a:r>
            <a:r>
              <a:rPr lang="en-US" altLang="zh-TW" sz="2800" i="1" dirty="0"/>
              <a:t>naive super-alphabet algorithm (NS</a:t>
            </a:r>
            <a:r>
              <a:rPr lang="en-US" altLang="zh-TW" sz="2800" i="1" dirty="0" smtClean="0"/>
              <a:t>)</a:t>
            </a:r>
          </a:p>
          <a:p>
            <a:r>
              <a:rPr lang="en-US" altLang="zh-TW" sz="2800" dirty="0"/>
              <a:t>The </a:t>
            </a:r>
            <a:r>
              <a:rPr lang="en-US" altLang="zh-TW" sz="2800" i="1" dirty="0" err="1"/>
              <a:t>lookahead</a:t>
            </a:r>
            <a:r>
              <a:rPr lang="en-US" altLang="zh-TW" sz="2800" i="1" dirty="0"/>
              <a:t> filtration algorithm (LF) and its </a:t>
            </a:r>
            <a:r>
              <a:rPr lang="en-US" altLang="zh-TW" sz="2800" i="1" dirty="0" smtClean="0"/>
              <a:t>multi-matrix </a:t>
            </a:r>
            <a:r>
              <a:rPr lang="en-US" altLang="zh-TW" sz="2800" dirty="0" smtClean="0"/>
              <a:t>version </a:t>
            </a:r>
            <a:r>
              <a:rPr lang="en-US" altLang="zh-TW" sz="2800" dirty="0"/>
              <a:t>[multi-matrix </a:t>
            </a:r>
            <a:r>
              <a:rPr lang="en-US" altLang="zh-TW" sz="2800" dirty="0" err="1"/>
              <a:t>lookahead</a:t>
            </a:r>
            <a:r>
              <a:rPr lang="en-US" altLang="zh-TW" sz="2800" dirty="0"/>
              <a:t> filtration algorithm (MLF)].</a:t>
            </a:r>
            <a:endParaRPr lang="en-US" altLang="zh-TW" sz="2800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altLang="zh-TW" i="1" dirty="0" smtClean="0"/>
              <a:t>naive algorithm (NA)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857892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The </a:t>
            </a:r>
            <a:r>
              <a:rPr lang="en-US" altLang="zh-TW" sz="2800" i="1" dirty="0" smtClean="0"/>
              <a:t>naive super-alphabet algorithm (NS), which is as the naive </a:t>
            </a:r>
            <a:r>
              <a:rPr lang="en-US" altLang="zh-TW" sz="2800" dirty="0" smtClean="0"/>
              <a:t>matching algorithm, but uses a large alphabet consisting of </a:t>
            </a:r>
            <a:r>
              <a:rPr lang="en-US" altLang="zh-TW" sz="2800" dirty="0" err="1" smtClean="0"/>
              <a:t>tuples</a:t>
            </a:r>
            <a:r>
              <a:rPr lang="en-US" altLang="zh-TW" sz="2800" dirty="0" smtClean="0"/>
              <a:t> of original alphabet symbols. It works well for very </a:t>
            </a:r>
            <a:r>
              <a:rPr lang="en-US" altLang="zh-TW" sz="2800" smtClean="0"/>
              <a:t>long matrices.</a:t>
            </a:r>
            <a:endParaRPr lang="en-US" altLang="zh-TW" sz="2800" dirty="0" smtClean="0"/>
          </a:p>
          <a:p>
            <a:r>
              <a:rPr lang="en-US" altLang="zh-TW" dirty="0" smtClean="0"/>
              <a:t>Ex. </a:t>
            </a:r>
            <a:br>
              <a:rPr lang="en-US" altLang="zh-TW" dirty="0" smtClean="0"/>
            </a:br>
            <a:endParaRPr lang="en-US" altLang="zh-TW" dirty="0" smtClean="0"/>
          </a:p>
          <a:p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 smtClean="0"/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</p:txBody>
      </p:sp>
      <p:grpSp>
        <p:nvGrpSpPr>
          <p:cNvPr id="4" name="Group 189"/>
          <p:cNvGrpSpPr>
            <a:grpSpLocks/>
          </p:cNvGrpSpPr>
          <p:nvPr/>
        </p:nvGrpSpPr>
        <p:grpSpPr bwMode="auto">
          <a:xfrm>
            <a:off x="642910" y="3286124"/>
            <a:ext cx="3444875" cy="1173163"/>
            <a:chOff x="182" y="1104"/>
            <a:chExt cx="2170" cy="739"/>
          </a:xfrm>
        </p:grpSpPr>
        <p:grpSp>
          <p:nvGrpSpPr>
            <p:cNvPr id="5" name="Group 6"/>
            <p:cNvGrpSpPr>
              <a:grpSpLocks/>
            </p:cNvGrpSpPr>
            <p:nvPr/>
          </p:nvGrpSpPr>
          <p:grpSpPr bwMode="auto">
            <a:xfrm>
              <a:off x="1008" y="1104"/>
              <a:ext cx="1344" cy="739"/>
              <a:chOff x="624" y="2112"/>
              <a:chExt cx="960" cy="739"/>
            </a:xfrm>
          </p:grpSpPr>
          <p:sp>
            <p:nvSpPr>
              <p:cNvPr id="13" name="Text Box 7"/>
              <p:cNvSpPr txBox="1">
                <a:spLocks noChangeArrowheads="1"/>
              </p:cNvSpPr>
              <p:nvPr/>
            </p:nvSpPr>
            <p:spPr bwMode="auto">
              <a:xfrm>
                <a:off x="624" y="2112"/>
                <a:ext cx="960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TW" sz="3200" dirty="0" smtClean="0">
                    <a:latin typeface="Courier New" pitchFamily="1" charset="0"/>
                    <a:ea typeface="新細明體" charset="-120"/>
                  </a:rPr>
                  <a:t>ACCCG</a:t>
                </a:r>
                <a:endParaRPr lang="en-US" altLang="zh-TW" sz="3200" dirty="0">
                  <a:latin typeface="Courier New" pitchFamily="1" charset="0"/>
                  <a:ea typeface="新細明體" charset="-120"/>
                </a:endParaRPr>
              </a:p>
            </p:txBody>
          </p:sp>
          <p:sp>
            <p:nvSpPr>
              <p:cNvPr id="14" name="Text Box 8"/>
              <p:cNvSpPr txBox="1">
                <a:spLocks noChangeArrowheads="1"/>
              </p:cNvSpPr>
              <p:nvPr/>
            </p:nvSpPr>
            <p:spPr bwMode="auto">
              <a:xfrm>
                <a:off x="624" y="2294"/>
                <a:ext cx="960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TW" sz="3200" dirty="0" smtClean="0">
                    <a:latin typeface="Courier New" pitchFamily="1" charset="0"/>
                    <a:ea typeface="新細明體" charset="-120"/>
                  </a:rPr>
                  <a:t>ACCGT</a:t>
                </a:r>
                <a:endParaRPr lang="en-US" altLang="zh-TW" sz="3200" dirty="0">
                  <a:latin typeface="Courier New" pitchFamily="1" charset="0"/>
                  <a:ea typeface="新細明體" charset="-120"/>
                </a:endParaRPr>
              </a:p>
            </p:txBody>
          </p:sp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auto">
              <a:xfrm>
                <a:off x="624" y="2486"/>
                <a:ext cx="960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TW" sz="3200" dirty="0" smtClean="0">
                    <a:latin typeface="Courier New" pitchFamily="1" charset="0"/>
                    <a:ea typeface="新細明體" charset="-120"/>
                  </a:rPr>
                  <a:t>ACTAT</a:t>
                </a:r>
                <a:endParaRPr lang="en-US" altLang="zh-TW" sz="3200" dirty="0">
                  <a:latin typeface="Courier New" pitchFamily="1" charset="0"/>
                  <a:ea typeface="新細明體" charset="-120"/>
                </a:endParaRPr>
              </a:p>
            </p:txBody>
          </p:sp>
        </p:grpSp>
        <p:grpSp>
          <p:nvGrpSpPr>
            <p:cNvPr id="6" name="Group 185"/>
            <p:cNvGrpSpPr>
              <a:grpSpLocks/>
            </p:cNvGrpSpPr>
            <p:nvPr/>
          </p:nvGrpSpPr>
          <p:grpSpPr bwMode="auto">
            <a:xfrm>
              <a:off x="182" y="1344"/>
              <a:ext cx="826" cy="455"/>
              <a:chOff x="182" y="1344"/>
              <a:chExt cx="826" cy="455"/>
            </a:xfrm>
          </p:grpSpPr>
          <p:sp>
            <p:nvSpPr>
              <p:cNvPr id="7" name="Text Box 179"/>
              <p:cNvSpPr txBox="1">
                <a:spLocks noChangeArrowheads="1"/>
              </p:cNvSpPr>
              <p:nvPr/>
            </p:nvSpPr>
            <p:spPr bwMode="auto">
              <a:xfrm>
                <a:off x="182" y="1433"/>
                <a:ext cx="579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600" dirty="0"/>
                  <a:t>Binding </a:t>
                </a:r>
              </a:p>
              <a:p>
                <a:r>
                  <a:rPr lang="en-US" altLang="zh-TW" sz="1600" dirty="0"/>
                  <a:t>sites</a:t>
                </a:r>
              </a:p>
            </p:txBody>
          </p:sp>
          <p:sp>
            <p:nvSpPr>
              <p:cNvPr id="8" name="Line 180"/>
              <p:cNvSpPr>
                <a:spLocks noChangeShapeType="1"/>
              </p:cNvSpPr>
              <p:nvPr/>
            </p:nvSpPr>
            <p:spPr bwMode="auto">
              <a:xfrm flipV="1">
                <a:off x="720" y="1344"/>
                <a:ext cx="288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181"/>
              <p:cNvSpPr>
                <a:spLocks noChangeShapeType="1"/>
              </p:cNvSpPr>
              <p:nvPr/>
            </p:nvSpPr>
            <p:spPr bwMode="auto">
              <a:xfrm flipV="1">
                <a:off x="720" y="1488"/>
                <a:ext cx="28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Line 182"/>
              <p:cNvSpPr>
                <a:spLocks noChangeShapeType="1"/>
              </p:cNvSpPr>
              <p:nvPr/>
            </p:nvSpPr>
            <p:spPr bwMode="auto">
              <a:xfrm>
                <a:off x="720" y="1632"/>
                <a:ext cx="28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1857356" y="4714884"/>
          <a:ext cx="1670180" cy="1463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8363"/>
                <a:gridCol w="278364"/>
                <a:gridCol w="278363"/>
                <a:gridCol w="278363"/>
                <a:gridCol w="278364"/>
                <a:gridCol w="278363"/>
              </a:tblGrid>
              <a:tr h="34290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Box 188"/>
          <p:cNvSpPr txBox="1">
            <a:spLocks noChangeArrowheads="1"/>
          </p:cNvSpPr>
          <p:nvPr/>
        </p:nvSpPr>
        <p:spPr bwMode="auto">
          <a:xfrm>
            <a:off x="1857356" y="6215082"/>
            <a:ext cx="928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 dirty="0"/>
              <a:t>PWM</a:t>
            </a:r>
            <a:endParaRPr lang="en-US" altLang="zh-TW" dirty="0"/>
          </a:p>
        </p:txBody>
      </p:sp>
      <p:sp>
        <p:nvSpPr>
          <p:cNvPr id="24" name="Text Box 188"/>
          <p:cNvSpPr txBox="1">
            <a:spLocks noChangeArrowheads="1"/>
          </p:cNvSpPr>
          <p:nvPr/>
        </p:nvSpPr>
        <p:spPr bwMode="auto">
          <a:xfrm>
            <a:off x="4786314" y="3643314"/>
            <a:ext cx="23574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2400" b="1" dirty="0" smtClean="0">
                <a:latin typeface="Times New Roman" pitchFamily="18" charset="0"/>
                <a:cs typeface="Times New Roman" pitchFamily="18" charset="0"/>
              </a:rPr>
              <a:t>S= CACTCGT               </a:t>
            </a: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 Box 188"/>
          <p:cNvSpPr txBox="1">
            <a:spLocks noChangeArrowheads="1"/>
          </p:cNvSpPr>
          <p:nvPr/>
        </p:nvSpPr>
        <p:spPr bwMode="auto">
          <a:xfrm>
            <a:off x="5214942" y="4071942"/>
            <a:ext cx="2214578" cy="3693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b="1" dirty="0" smtClean="0"/>
              <a:t> 0  0  2  0  0             =2</a:t>
            </a:r>
            <a:endParaRPr lang="en-US" altLang="zh-TW" dirty="0"/>
          </a:p>
        </p:txBody>
      </p:sp>
      <p:sp>
        <p:nvSpPr>
          <p:cNvPr id="28" name="Text Box 188"/>
          <p:cNvSpPr txBox="1">
            <a:spLocks noChangeArrowheads="1"/>
          </p:cNvSpPr>
          <p:nvPr/>
        </p:nvSpPr>
        <p:spPr bwMode="auto">
          <a:xfrm>
            <a:off x="5429256" y="4429132"/>
            <a:ext cx="2000264" cy="369332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b="1" dirty="0" smtClean="0"/>
              <a:t> 3  </a:t>
            </a:r>
            <a:r>
              <a:rPr lang="en-US" altLang="zh-TW" b="1" dirty="0"/>
              <a:t>3</a:t>
            </a:r>
            <a:r>
              <a:rPr lang="en-US" altLang="zh-TW" b="1" dirty="0" smtClean="0"/>
              <a:t>  </a:t>
            </a:r>
            <a:r>
              <a:rPr lang="en-US" altLang="zh-TW" b="1" dirty="0"/>
              <a:t>1</a:t>
            </a:r>
            <a:r>
              <a:rPr lang="en-US" altLang="zh-TW" b="1" dirty="0" smtClean="0"/>
              <a:t>  </a:t>
            </a:r>
            <a:r>
              <a:rPr lang="en-US" altLang="zh-TW" b="1" dirty="0"/>
              <a:t>1</a:t>
            </a:r>
            <a:r>
              <a:rPr lang="en-US" altLang="zh-TW" b="1" dirty="0" smtClean="0"/>
              <a:t>  1         =9</a:t>
            </a:r>
            <a:endParaRPr lang="en-US" altLang="zh-TW" dirty="0"/>
          </a:p>
        </p:txBody>
      </p:sp>
      <p:sp>
        <p:nvSpPr>
          <p:cNvPr id="29" name="Text Box 188"/>
          <p:cNvSpPr txBox="1">
            <a:spLocks noChangeArrowheads="1"/>
          </p:cNvSpPr>
          <p:nvPr/>
        </p:nvSpPr>
        <p:spPr bwMode="auto">
          <a:xfrm>
            <a:off x="5715008" y="4786322"/>
            <a:ext cx="1857388" cy="369332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b="1" dirty="0" smtClean="0"/>
              <a:t> 0  0  2  1  2     =5</a:t>
            </a:r>
            <a:endParaRPr lang="en-US" altLang="zh-TW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4572000" y="4857760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6929454" y="3714752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k=3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altLang="zh-TW" i="1" dirty="0" smtClean="0"/>
              <a:t>naive super-alphabet algorithm (NS)</a:t>
            </a:r>
            <a:endParaRPr lang="zh-TW" altLang="en-US" dirty="0"/>
          </a:p>
        </p:txBody>
      </p:sp>
      <p:pic>
        <p:nvPicPr>
          <p:cNvPr id="4" name="內容版面配置區 3" descr="N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6967" y="1142984"/>
            <a:ext cx="8757033" cy="528641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altLang="zh-TW" i="1" dirty="0" err="1" smtClean="0"/>
              <a:t>lookahead</a:t>
            </a:r>
            <a:r>
              <a:rPr lang="en-US" altLang="zh-TW" i="1" dirty="0" smtClean="0"/>
              <a:t> filtration algorithm (LF)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572164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The general idea of filtration algorithms is to evaluate an </a:t>
            </a:r>
            <a:r>
              <a:rPr lang="en-US" altLang="zh-TW" i="1" dirty="0" smtClean="0"/>
              <a:t>upper bound for the </a:t>
            </a:r>
            <a:r>
              <a:rPr lang="en-US" altLang="zh-TW" dirty="0" smtClean="0"/>
              <a:t>score of each </a:t>
            </a:r>
            <a:r>
              <a:rPr lang="en-US" altLang="zh-TW" i="1" dirty="0" smtClean="0"/>
              <a:t>m–segment of S instead of the accurate score.</a:t>
            </a:r>
            <a:br>
              <a:rPr lang="en-US" altLang="zh-TW" i="1" dirty="0" smtClean="0"/>
            </a:br>
            <a:endParaRPr lang="en-US" altLang="zh-TW" i="1" dirty="0" smtClean="0"/>
          </a:p>
          <a:p>
            <a:r>
              <a:rPr lang="en-US" altLang="zh-TW" dirty="0" smtClean="0"/>
              <a:t>Whenever the upper bound value is </a:t>
            </a:r>
            <a:r>
              <a:rPr lang="en-US" altLang="zh-TW" i="1" dirty="0" smtClean="0"/>
              <a:t>≥ k, we know that also the score itself may be ≥ k.</a:t>
            </a:r>
          </a:p>
          <a:p>
            <a:r>
              <a:rPr lang="en-US" altLang="zh-TW" dirty="0" smtClean="0"/>
              <a:t>But </a:t>
            </a:r>
            <a:r>
              <a:rPr lang="en-US" altLang="zh-TW" u="sng" dirty="0" smtClean="0"/>
              <a:t>if the upper bound is </a:t>
            </a:r>
            <a:r>
              <a:rPr lang="en-US" altLang="zh-TW" i="1" u="sng" dirty="0" smtClean="0"/>
              <a:t>&lt; k</a:t>
            </a:r>
            <a:r>
              <a:rPr lang="en-US" altLang="zh-TW" i="1" dirty="0" smtClean="0"/>
              <a:t>, we know for sure that the score itself </a:t>
            </a:r>
            <a:r>
              <a:rPr lang="en-US" altLang="zh-TW" dirty="0" smtClean="0"/>
              <a:t>must be less than </a:t>
            </a:r>
            <a:r>
              <a:rPr lang="en-US" altLang="zh-TW" i="1" dirty="0" smtClean="0"/>
              <a:t>k, </a:t>
            </a:r>
            <a:r>
              <a:rPr lang="en-US" altLang="zh-TW" i="1" u="sng" dirty="0" smtClean="0"/>
              <a:t>checking is not needed</a:t>
            </a:r>
            <a:r>
              <a:rPr lang="en-US" altLang="zh-TW" i="1" dirty="0" smtClean="0"/>
              <a:t>, and we can continue immediately </a:t>
            </a:r>
            <a:r>
              <a:rPr lang="en-US" altLang="zh-TW" dirty="0" smtClean="0"/>
              <a:t>to the next segment.</a:t>
            </a:r>
            <a:br>
              <a:rPr lang="en-US" altLang="zh-TW" dirty="0" smtClean="0"/>
            </a:br>
            <a:endParaRPr lang="en-US" altLang="zh-TW" dirty="0" smtClean="0"/>
          </a:p>
          <a:p>
            <a:r>
              <a:rPr lang="en-US" altLang="zh-TW" dirty="0" smtClean="0"/>
              <a:t>multi-matrix </a:t>
            </a:r>
            <a:r>
              <a:rPr lang="en-US" altLang="zh-TW" dirty="0" err="1" smtClean="0"/>
              <a:t>lookahead</a:t>
            </a:r>
            <a:r>
              <a:rPr lang="en-US" altLang="zh-TW" dirty="0" smtClean="0"/>
              <a:t> filtration algorithm (MLF)</a:t>
            </a:r>
            <a:endParaRPr lang="zh-TW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DISCUSSION</a:t>
            </a:r>
            <a:endParaRPr lang="zh-TW" altLang="en-US" dirty="0"/>
          </a:p>
        </p:txBody>
      </p:sp>
      <p:pic>
        <p:nvPicPr>
          <p:cNvPr id="4" name="內容版面配置區 3" descr="discussi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301047" y="824424"/>
            <a:ext cx="6557101" cy="5739448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452</Words>
  <Application>Microsoft Office PowerPoint</Application>
  <PresentationFormat>如螢幕大小 (4:3)</PresentationFormat>
  <Paragraphs>70</Paragraphs>
  <Slides>9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MOODS: fast search for position weight matrix matches in DNA sequences</vt:lpstr>
      <vt:lpstr>ABSTRACT</vt:lpstr>
      <vt:lpstr>INTRODUCTION</vt:lpstr>
      <vt:lpstr>INTRODUCTION</vt:lpstr>
      <vt:lpstr>ALGORITHMS AND IMPLEMENTATION</vt:lpstr>
      <vt:lpstr>naive algorithm (NA)</vt:lpstr>
      <vt:lpstr>naive super-alphabet algorithm (NS)</vt:lpstr>
      <vt:lpstr>lookahead filtration algorithm (LF)</vt:lpstr>
      <vt:lpstr>DISCUSSION</vt:lpstr>
    </vt:vector>
  </TitlesOfParts>
  <Company>pplab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MOODS: fast search for position weight matrix matches in DNA sequences</dc:title>
  <dc:creator>kai</dc:creator>
  <cp:lastModifiedBy>kai</cp:lastModifiedBy>
  <cp:revision>23</cp:revision>
  <dcterms:created xsi:type="dcterms:W3CDTF">2010-03-08T14:47:53Z</dcterms:created>
  <dcterms:modified xsi:type="dcterms:W3CDTF">2010-03-09T14:14:37Z</dcterms:modified>
</cp:coreProperties>
</file>